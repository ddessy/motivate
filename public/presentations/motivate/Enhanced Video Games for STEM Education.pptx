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3" r:id="rId4"/>
    <p:sldId id="261" r:id="rId5"/>
    <p:sldId id="264" r:id="rId6"/>
    <p:sldId id="266" r:id="rId7"/>
    <p:sldId id="267" r:id="rId8"/>
    <p:sldId id="265" r:id="rId9"/>
    <p:sldId id="268" r:id="rId10"/>
    <p:sldId id="269" r:id="rId11"/>
    <p:sldId id="270" r:id="rId12"/>
    <p:sldId id="29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91" r:id="rId28"/>
    <p:sldId id="286" r:id="rId29"/>
    <p:sldId id="285" r:id="rId30"/>
    <p:sldId id="292" r:id="rId31"/>
    <p:sldId id="289" r:id="rId32"/>
    <p:sldId id="287" r:id="rId33"/>
    <p:sldId id="288" r:id="rId3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 snapToGrid="0">
      <p:cViewPr>
        <p:scale>
          <a:sx n="75" d="100"/>
          <a:sy n="75" d="100"/>
        </p:scale>
        <p:origin x="120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10FD6-A24E-4196-830F-4BBC9F111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312CF1-F12D-377A-261B-0AEB09500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57A33-93AA-21EB-6391-48DBC4A89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B3B0-892A-4FDB-A41B-BD0389BC32FF}" type="datetimeFigureOut">
              <a:rPr lang="es-ES" smtClean="0"/>
              <a:t>05/10/2025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8056A-A388-A239-D8BA-3D12F22D2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DF24A-EFDC-FFC7-43FA-AEB24962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4EB-3FC2-47B2-9690-0F11440BB1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9282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02A8D-05AC-A1B8-039C-418EC4AE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842CB-386D-35DD-4337-60C3F19C6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80D32-FF89-16BC-3185-79CF82403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B3B0-892A-4FDB-A41B-BD0389BC32FF}" type="datetimeFigureOut">
              <a:rPr lang="es-ES" smtClean="0"/>
              <a:t>05/10/2025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252EB-D2F4-508B-5997-FB9FBF5B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AA6A0-28BE-0785-15B6-FBBCA9449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4EB-3FC2-47B2-9690-0F11440BB1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1789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9CA58-704A-5CDF-75EE-0FFB8E2F1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E9D44-2454-F1E2-C353-EFB0B8B6F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AD5DA-862C-C4FC-DDB3-619094E6D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B3B0-892A-4FDB-A41B-BD0389BC32FF}" type="datetimeFigureOut">
              <a:rPr lang="es-ES" smtClean="0"/>
              <a:t>05/10/2025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8668C-6102-F9F9-FEC0-EE9F29427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FB6C8-CA4D-DC89-8D7E-DD1ECA97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4EB-3FC2-47B2-9690-0F11440BB1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0717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9876D-D16F-FFED-B7AB-DEF82CD32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41233-7A4A-C7AB-C551-EEDE1B9904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185DB-0574-9723-CC8B-9F4D0CBEC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8BC2F-D3AE-B320-7DC9-EA9F269D7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B3B0-892A-4FDB-A41B-BD0389BC32FF}" type="datetimeFigureOut">
              <a:rPr lang="es-ES" smtClean="0"/>
              <a:t>05/10/2025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4097B-00C5-5999-BA84-94E67157B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C6C67-BCA5-CD01-A902-A3FA1A07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4EB-3FC2-47B2-9690-0F11440BB1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6436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2A125-24FD-3D99-574E-4C99E7133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A8DB5-6862-98ED-64BA-BE05FFE20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D82DA-A8A0-247D-6E4B-A310B9383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441608-1937-AA72-05C9-FFDAF60DA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7F2C94-BDD0-A5EF-A891-F7D85787A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C3F6B2-6FDB-F7E4-202C-D23D4B52D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B3B0-892A-4FDB-A41B-BD0389BC32FF}" type="datetimeFigureOut">
              <a:rPr lang="es-ES" smtClean="0"/>
              <a:t>05/10/2025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5EBD2-FA93-5E50-0893-85A22600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1D5689-8A3B-7596-F7C4-84FEDCDE2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4EB-3FC2-47B2-9690-0F11440BB1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9942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48328-84C8-DDEF-86E7-05985BD7B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D623FB-A252-0887-946A-9072A2B3C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B3B0-892A-4FDB-A41B-BD0389BC32FF}" type="datetimeFigureOut">
              <a:rPr lang="es-ES" smtClean="0"/>
              <a:t>05/10/2025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9DA16-0A14-BED2-D9F5-AAF5C5F62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78FBB-1C1C-FA76-8638-0C842DBA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4EB-3FC2-47B2-9690-0F11440BB1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0944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C41BA7-4C43-840F-CE29-1E41A0122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B3B0-892A-4FDB-A41B-BD0389BC32FF}" type="datetimeFigureOut">
              <a:rPr lang="es-ES" smtClean="0"/>
              <a:t>05/10/2025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613B7D-509C-F3AC-79E8-E05AB2011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63D7C-D825-CF25-A34C-4915FCD3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4EB-3FC2-47B2-9690-0F11440BB1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7044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B3D8-6BE4-F932-4FED-2FC93455E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A3199-0F1C-C07A-595C-BC23B798A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19C3D-D0FE-EDE7-1C83-1483CF400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14406-3688-4D8E-4662-0EFD8D43C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B3B0-892A-4FDB-A41B-BD0389BC32FF}" type="datetimeFigureOut">
              <a:rPr lang="es-ES" smtClean="0"/>
              <a:t>05/10/2025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D5390-74E0-0A11-31C6-2D8D538BB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412A1-1D94-1A9F-5506-F4E8947D1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4EB-3FC2-47B2-9690-0F11440BB1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432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D60EB-18B9-EE10-537B-05F639742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BF5A60-E93A-33CD-0259-F09DAB6E2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4744A-258E-CEF0-ED35-C129E168B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71007-5431-AFCD-AA3F-2A7685942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B3B0-892A-4FDB-A41B-BD0389BC32FF}" type="datetimeFigureOut">
              <a:rPr lang="es-ES" smtClean="0"/>
              <a:t>05/10/2025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4F014-EA3A-F411-FEA9-069B325BE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2BD75-A06B-8387-0D76-3D606C02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4EB-3FC2-47B2-9690-0F11440BB1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026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A094-7181-19CA-E809-687D15C0C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EFA4C0-B5FB-81CD-9866-91652673A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BBA6B-D6C8-034B-CE2C-5AB1830D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B3B0-892A-4FDB-A41B-BD0389BC32FF}" type="datetimeFigureOut">
              <a:rPr lang="es-ES" smtClean="0"/>
              <a:t>05/10/2025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36A33-3CB1-D77D-0FDF-C487F33B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7EE05-4B0D-8045-EDCC-6A4056EB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4EB-3FC2-47B2-9690-0F11440BB1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2231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24C712-EA69-6BC2-F1A4-18DA9724E1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2A747-DB48-711B-8D3E-56C9D4301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C6B25-8E74-AAA7-22CD-788A9D256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B3B0-892A-4FDB-A41B-BD0389BC32FF}" type="datetimeFigureOut">
              <a:rPr lang="es-ES" smtClean="0"/>
              <a:t>05/10/2025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E7147-C9AC-7D70-D6EF-789EBAED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141AC-5708-4AD7-827E-AD28C079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4EB-3FC2-47B2-9690-0F11440BB1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0218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620C7C-BE31-AB3A-33D3-1A24DA88E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30E21-50E8-7E81-44B3-02D489A28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519BE-245A-9F7B-ED4A-5947CD1BA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D9B3B0-892A-4FDB-A41B-BD0389BC32FF}" type="datetimeFigureOut">
              <a:rPr lang="es-ES" smtClean="0"/>
              <a:t>05/10/2025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5FC0F-5DA0-32DF-8083-1686640B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5910F-5C6F-765A-E3B9-231E2BC26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5B4EB-3FC2-47B2-9690-0F11440BB1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573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207009"/>
            <a:ext cx="12192000" cy="1275654"/>
          </a:xfrm>
        </p:spPr>
        <p:txBody>
          <a:bodyPr anchor="ctr"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Enhanced Video Games for STEM Education</a:t>
            </a:r>
            <a:endParaRPr lang="en-US" sz="48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595096"/>
            <a:ext cx="12191999" cy="1422272"/>
          </a:xfrm>
        </p:spPr>
        <p:txBody>
          <a:bodyPr anchor="ctr">
            <a:normAutofit/>
          </a:bodyPr>
          <a:lstStyle/>
          <a:p>
            <a:br>
              <a:rPr lang="en-US" i="1" dirty="0"/>
            </a:br>
            <a:endParaRPr lang="en-US" sz="1400" i="1" dirty="0"/>
          </a:p>
          <a:p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 (Body)"/>
              </a:rPr>
              <a:t>Dessislava Vassileva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962401" y="5377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12" name="Об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480688"/>
              </p:ext>
            </p:extLst>
          </p:nvPr>
        </p:nvGraphicFramePr>
        <p:xfrm>
          <a:off x="297386" y="5377934"/>
          <a:ext cx="928511" cy="1139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991868" imgH="2458212" progId="Word.Picture.8">
                  <p:embed/>
                </p:oleObj>
              </mc:Choice>
              <mc:Fallback>
                <p:oleObj name="Picture" r:id="rId2" imgW="1991868" imgH="2458212" progId="Word.Picture.8">
                  <p:embed/>
                  <p:pic>
                    <p:nvPicPr>
                      <p:cNvPr id="12" name="Обект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86" y="5377934"/>
                        <a:ext cx="928511" cy="11395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6934200" y="5476993"/>
            <a:ext cx="1188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sp>
        <p:nvSpPr>
          <p:cNvPr id="4" name="Правоъгълник 3"/>
          <p:cNvSpPr/>
          <p:nvPr/>
        </p:nvSpPr>
        <p:spPr>
          <a:xfrm>
            <a:off x="0" y="4509102"/>
            <a:ext cx="12191999" cy="112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dirty="0"/>
              <a:t> </a:t>
            </a:r>
            <a:r>
              <a:rPr lang="en-US" sz="2600" dirty="0">
                <a:solidFill>
                  <a:schemeClr val="accent2">
                    <a:lumMod val="75000"/>
                  </a:schemeClr>
                </a:solidFill>
                <a:latin typeface="Calibri (Body)"/>
              </a:rPr>
              <a:t>7</a:t>
            </a:r>
            <a:r>
              <a:rPr lang="en-US" sz="2600" baseline="30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2600" dirty="0">
                <a:solidFill>
                  <a:schemeClr val="accent2">
                    <a:lumMod val="75000"/>
                  </a:schemeClr>
                </a:solidFill>
                <a:latin typeface="Calibri (Body)"/>
              </a:rPr>
              <a:t> Int. Scientific Conf. "Innovative STEM Education“ (STEMedu-2025)</a:t>
            </a:r>
          </a:p>
          <a:p>
            <a:pPr algn="ctr"/>
            <a:r>
              <a:rPr lang="en-US" sz="2600" dirty="0">
                <a:solidFill>
                  <a:schemeClr val="accent2">
                    <a:lumMod val="75000"/>
                  </a:schemeClr>
                </a:solidFill>
                <a:latin typeface="Calibri (Body)"/>
              </a:rPr>
              <a:t>Veliko </a:t>
            </a:r>
            <a:r>
              <a:rPr lang="en-US" sz="2600" dirty="0" err="1">
                <a:solidFill>
                  <a:schemeClr val="accent2">
                    <a:lumMod val="75000"/>
                  </a:schemeClr>
                </a:solidFill>
                <a:latin typeface="Calibri (Body)"/>
              </a:rPr>
              <a:t>Tarnovo</a:t>
            </a:r>
            <a:r>
              <a:rPr lang="en-US" sz="2600" dirty="0">
                <a:solidFill>
                  <a:schemeClr val="accent2">
                    <a:lumMod val="75000"/>
                  </a:schemeClr>
                </a:solidFill>
                <a:latin typeface="Calibri (Body)"/>
              </a:rPr>
              <a:t>, Bulgaria</a:t>
            </a:r>
            <a:endParaRPr lang="bg-BG" sz="2600" dirty="0">
              <a:solidFill>
                <a:schemeClr val="accent2">
                  <a:lumMod val="75000"/>
                </a:schemeClr>
              </a:solidFill>
              <a:latin typeface="Calibri (Body)"/>
            </a:endParaRPr>
          </a:p>
        </p:txBody>
      </p:sp>
      <p:sp>
        <p:nvSpPr>
          <p:cNvPr id="10" name="Правоъгълник 9"/>
          <p:cNvSpPr/>
          <p:nvPr/>
        </p:nvSpPr>
        <p:spPr>
          <a:xfrm>
            <a:off x="3818966" y="6326386"/>
            <a:ext cx="433891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October 06, 2025</a:t>
            </a:r>
            <a:endParaRPr lang="bg-BG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196" name="Picture 172" descr="Начало">
            <a:extLst>
              <a:ext uri="{FF2B5EF4-FFF2-40B4-BE49-F238E27FC236}">
                <a16:creationId xmlns:a16="http://schemas.microsoft.com/office/drawing/2014/main" id="{DBD9AA6A-63B1-4718-B938-03E32CA36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3913" y="5589425"/>
            <a:ext cx="1511185" cy="96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4C2B8D-FAA0-4FF2-971C-8D47DC2DCA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53"/>
          <a:stretch>
            <a:fillRect/>
          </a:stretch>
        </p:blipFill>
        <p:spPr>
          <a:xfrm>
            <a:off x="297386" y="2751498"/>
            <a:ext cx="1503825" cy="14222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33E4500-CF62-4158-A022-350C1C4BB95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913" y="2639088"/>
            <a:ext cx="1503825" cy="14360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D4EAF8-CDB1-44E0-B300-7934C745B4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141"/>
            <a:ext cx="12192000" cy="120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927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9A042-4179-231D-5C53-17E8C01BE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Overview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C9318D-2980-8A67-62ED-FD6DD0B21C57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3AA2F80B-9DEE-1608-0381-F025D55FC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2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494BEDBE-7CD8-08A8-5C78-C5F91FB6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81CEA54-447D-D154-92F5-47A21EA036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8E8EEC-D2CC-A6DD-A499-F9D35C0928BA}"/>
              </a:ext>
            </a:extLst>
          </p:cNvPr>
          <p:cNvSpPr txBox="1"/>
          <p:nvPr/>
        </p:nvSpPr>
        <p:spPr>
          <a:xfrm>
            <a:off x="622392" y="1890117"/>
            <a:ext cx="1033212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Enhanced video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games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merge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entertainment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with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pedagogy</a:t>
            </a:r>
            <a:endParaRPr lang="es-ES" sz="3200" b="0" i="0" dirty="0">
              <a:solidFill>
                <a:srgbClr val="333333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Powerful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tools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technology-supported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STEM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education</a:t>
            </a:r>
            <a:endParaRPr lang="es-ES" sz="3200" b="0" i="0" dirty="0">
              <a:solidFill>
                <a:srgbClr val="333333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Leverage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emerging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technologies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VR, AR, and adaptive AI</a:t>
            </a:r>
          </a:p>
          <a:p>
            <a:pPr marL="457200" indent="-4572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Create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immersive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interactive,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student-centered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experiences</a:t>
            </a:r>
            <a:endParaRPr lang="es-ES" sz="3200" b="0" i="0" dirty="0">
              <a:solidFill>
                <a:srgbClr val="333333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Transform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abstract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concepts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into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accessible</a:t>
            </a:r>
            <a:r>
              <a:rPr lang="es-ES" sz="3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learning</a:t>
            </a:r>
            <a:endParaRPr lang="es-ES" sz="3200" b="0" i="0" dirty="0">
              <a:solidFill>
                <a:srgbClr val="333333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164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41CD1-FB80-37ED-591E-4F8BD43A1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38CFE-FCE6-D731-C1A2-3FA7125F1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The Power of Game-Based Learning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5B1534-F9D7-0A59-7B26-AC5FCADF384D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0F2313D0-5F80-2B1A-D88C-28D40F101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3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0E438271-8149-CB04-C386-70953E862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556E722-649E-B4A2-AC85-90301D315C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92C75-E251-5719-A011-891D8A68A923}"/>
              </a:ext>
            </a:extLst>
          </p:cNvPr>
          <p:cNvSpPr txBox="1"/>
          <p:nvPr/>
        </p:nvSpPr>
        <p:spPr>
          <a:xfrm>
            <a:off x="705335" y="1434616"/>
            <a:ext cx="103321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Increases student engagement and motivation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Promotes active learning over passive consumption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Provides immediate feedback and iterative improvement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Enables safe experimentation and failure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Bridges theory with practical application</a:t>
            </a:r>
            <a:endParaRPr lang="es-ES" sz="3000" dirty="0">
              <a:solidFill>
                <a:srgbClr val="333333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BF18D6-AF7C-D9ED-08B6-9CDAA36742F6}"/>
              </a:ext>
            </a:extLst>
          </p:cNvPr>
          <p:cNvSpPr/>
          <p:nvPr/>
        </p:nvSpPr>
        <p:spPr>
          <a:xfrm>
            <a:off x="729673" y="4731615"/>
            <a:ext cx="10307782" cy="1621561"/>
          </a:xfrm>
          <a:prstGeom prst="roundRect">
            <a:avLst/>
          </a:prstGeom>
          <a:gradFill flip="none" rotWithShape="1">
            <a:gsLst>
              <a:gs pos="3000">
                <a:schemeClr val="accent5">
                  <a:lumMod val="5000"/>
                  <a:lumOff val="95000"/>
                </a:schemeClr>
              </a:gs>
              <a:gs pos="100000">
                <a:schemeClr val="accent5">
                  <a:lumMod val="45000"/>
                  <a:lumOff val="55000"/>
                </a:schemeClr>
              </a:gs>
              <a:gs pos="9800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10800000" scaled="1"/>
            <a:tileRect/>
          </a:gradFill>
          <a:ln w="0"/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Example:</a:t>
            </a:r>
          </a:p>
          <a:p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Minecraft Education Edition -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180M+ students worldwide use it for collaborative problem-solving in science, math, and engineering</a:t>
            </a:r>
          </a:p>
          <a:p>
            <a:endParaRPr lang="es-ES" sz="3600" b="1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56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CF34F-8FBE-20E0-907A-31598BDCA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6678-0214-237A-A92B-1BDBDD83A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Minecraft Education Edition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DB9666-5D74-EA96-7426-C57F93183A9B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0D2C3584-15A5-7639-2FC1-5BAEDB564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4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A02BF708-B57B-F7D6-DFDD-9DB3AF4F4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D77EA4C-28B4-E9C1-04D9-D58D75F5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D9EB7-2F4D-DDFD-20A0-5D102AEC710B}"/>
              </a:ext>
            </a:extLst>
          </p:cNvPr>
          <p:cNvSpPr txBox="1"/>
          <p:nvPr/>
        </p:nvSpPr>
        <p:spPr>
          <a:xfrm>
            <a:off x="729674" y="5937161"/>
            <a:ext cx="10224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1" dirty="0">
                <a:solidFill>
                  <a:srgbClr val="666666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Students building molecular structures and exploring chemistry concepts in Minecraft</a:t>
            </a:r>
            <a:endParaRPr lang="es-E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26" name="Picture 2" descr="Minecraft Chemistry Update Goes Live -- THE Journal">
            <a:extLst>
              <a:ext uri="{FF2B5EF4-FFF2-40B4-BE49-F238E27FC236}">
                <a16:creationId xmlns:a16="http://schemas.microsoft.com/office/drawing/2014/main" id="{D18B83F1-1854-0577-1293-E82F36DC3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73" y="1458971"/>
            <a:ext cx="6134100" cy="435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Molecular structures in Minecraft! : r/chemistry">
            <a:extLst>
              <a:ext uri="{FF2B5EF4-FFF2-40B4-BE49-F238E27FC236}">
                <a16:creationId xmlns:a16="http://schemas.microsoft.com/office/drawing/2014/main" id="{8D4A57B3-B2DF-AF30-F2E9-41F1F68BC3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026" y="1513868"/>
            <a:ext cx="3973485" cy="195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ow Minecraft could help teach chemistry's building blocks of life">
            <a:extLst>
              <a:ext uri="{FF2B5EF4-FFF2-40B4-BE49-F238E27FC236}">
                <a16:creationId xmlns:a16="http://schemas.microsoft.com/office/drawing/2014/main" id="{57763C91-3F14-8D5B-C3AD-932DD9191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026" y="3595573"/>
            <a:ext cx="3973485" cy="2233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6640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4C21-9B52-03B7-0478-D90181C3D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712BA-47F5-9028-4DF7-1E35BF5D6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What Makes Games 'Enhanced'?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A3FC7F-0CF6-ED39-9FE0-DB874B68E686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E455F3B-EB0E-C36F-C14F-472EC07DF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5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256A408F-4807-ABEB-24DB-A71A544CD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96FA82F-B728-AFB2-46BC-9A2AEBB90F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6E78E6-EE26-C2EF-FF66-B887D70FA69F}"/>
              </a:ext>
            </a:extLst>
          </p:cNvPr>
          <p:cNvSpPr txBox="1"/>
          <p:nvPr/>
        </p:nvSpPr>
        <p:spPr>
          <a:xfrm>
            <a:off x="622392" y="1890117"/>
            <a:ext cx="1033212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Integration of Virtual Reality (VR) technologies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Augmented Reality (AR) overlays on real environments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Adaptive personalization using AI algorithms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Real-time data analytics and progress tracking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Multi-sensory immersive experiences</a:t>
            </a:r>
            <a:endParaRPr lang="es-ES" sz="3200" dirty="0">
              <a:solidFill>
                <a:srgbClr val="333333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615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B47B3-E63D-BD38-13C9-3E41E31A7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97C56-CD0F-406A-0A81-8E1F1A68A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Virtual Reality in STEM Education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5B7D7-8F3F-37CF-DFDE-48EFFAABBB0E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FFB9747-101F-393E-2AC7-454FAC4E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6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B90A86C0-0D7B-F093-E8C3-07921DA5D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C803272-3E27-A92E-1140-A104FB1AA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C5B59D-D23B-95B3-7B37-149B41DC4B50}"/>
              </a:ext>
            </a:extLst>
          </p:cNvPr>
          <p:cNvSpPr txBox="1"/>
          <p:nvPr/>
        </p:nvSpPr>
        <p:spPr>
          <a:xfrm>
            <a:off x="676032" y="1496925"/>
            <a:ext cx="103321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Fully immersive 3D learning environments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Explore microscopic worlds or vast cosmic structures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Manipulate 3D molecular models and engineering designs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Conduct virtual laboratory experiments safely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Experience spatial reasoning in mathematics and physics</a:t>
            </a:r>
            <a:endParaRPr lang="es-ES" sz="2800" dirty="0">
              <a:solidFill>
                <a:srgbClr val="333333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5D99E8E-AEFD-40CE-A1B7-3195E019141A}"/>
              </a:ext>
            </a:extLst>
          </p:cNvPr>
          <p:cNvSpPr/>
          <p:nvPr/>
        </p:nvSpPr>
        <p:spPr>
          <a:xfrm>
            <a:off x="700370" y="4513135"/>
            <a:ext cx="10307782" cy="1896643"/>
          </a:xfrm>
          <a:prstGeom prst="roundRect">
            <a:avLst/>
          </a:prstGeom>
          <a:gradFill flip="none" rotWithShape="1">
            <a:gsLst>
              <a:gs pos="16000">
                <a:schemeClr val="tx2">
                  <a:lumMod val="10000"/>
                  <a:lumOff val="9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10800000" scaled="0"/>
            <a:tileRect/>
          </a:gradFill>
          <a:ln w="0"/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Labster -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VR biology/chemistry labs used by 400+ universities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ENGAGE -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Virtual classrooms for collaborative STEM learning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Titans of Space -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Explore solar system in VR</a:t>
            </a:r>
          </a:p>
          <a:p>
            <a:endParaRPr lang="es-ES" sz="3600" b="1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65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42A41-CBE5-BA12-A35B-165BCF106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43B90-911A-6B0B-4AFA-EB2CF4284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Labster VR Laboratory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72380E-572F-2743-AE56-EEE47CA37D20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3D1838A-BD76-9F40-1CB7-A871A1DE9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7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12A5450F-A802-1F32-D8E0-12A205F91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60C3D70-B91F-77F8-F32E-30E5F42C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E5C7D-720C-B9A9-EDB5-A950F84223C2}"/>
              </a:ext>
            </a:extLst>
          </p:cNvPr>
          <p:cNvSpPr txBox="1"/>
          <p:nvPr/>
        </p:nvSpPr>
        <p:spPr>
          <a:xfrm>
            <a:off x="729674" y="5937161"/>
            <a:ext cx="10224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1" dirty="0">
                <a:solidFill>
                  <a:srgbClr val="666666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Virtual chemistry lab where students perform experiments safely</a:t>
            </a:r>
          </a:p>
        </p:txBody>
      </p:sp>
      <p:pic>
        <p:nvPicPr>
          <p:cNvPr id="4100" name="Picture 4" descr="Introductory Lab | Labster Virtual Labs">
            <a:extLst>
              <a:ext uri="{FF2B5EF4-FFF2-40B4-BE49-F238E27FC236}">
                <a16:creationId xmlns:a16="http://schemas.microsoft.com/office/drawing/2014/main" id="{B36E350F-270D-8D0D-B59A-1C6AD9A33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73" y="1679452"/>
            <a:ext cx="5996132" cy="3908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Virtual Reality – Educational Development and Technology BLOG">
            <a:extLst>
              <a:ext uri="{FF2B5EF4-FFF2-40B4-BE49-F238E27FC236}">
                <a16:creationId xmlns:a16="http://schemas.microsoft.com/office/drawing/2014/main" id="{B24FD6C8-3F4F-D3AF-7B3E-9E775EEE4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263" y="1679453"/>
            <a:ext cx="4125332" cy="2524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Labster – teaching lab experiments in VR - Digital Innovation and  Transformation">
            <a:extLst>
              <a:ext uri="{FF2B5EF4-FFF2-40B4-BE49-F238E27FC236}">
                <a16:creationId xmlns:a16="http://schemas.microsoft.com/office/drawing/2014/main" id="{C012BE5D-E67F-D882-DB3E-AC68839A1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263" y="4235657"/>
            <a:ext cx="4084249" cy="135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1668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1F6C9-A1B7-0033-9272-58FD3C079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E27B-44E2-400C-43DF-D36DD13F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Augmented Reality Applications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3668CF-6EC8-42D1-EC7B-A153B2C8BA92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376000C-A80F-1EF9-099E-4B3B9B6D6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8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6786BA2A-6916-1C7E-8451-3430D407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426F197-ACD1-E624-8D42-65D802EABB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C71AF2-45E5-354A-3905-5C06B0DB5A10}"/>
              </a:ext>
            </a:extLst>
          </p:cNvPr>
          <p:cNvSpPr txBox="1"/>
          <p:nvPr/>
        </p:nvSpPr>
        <p:spPr>
          <a:xfrm>
            <a:off x="676032" y="1496925"/>
            <a:ext cx="10332120" cy="3639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Overlay digital information on physical objects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Visualize invisible phenomena (magnetic fields, forces)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Interactive 3D models in classroom settings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Location-based learning experiences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Blends real-world context with digital enhancements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endParaRPr lang="es-ES" sz="2800" dirty="0">
              <a:solidFill>
                <a:srgbClr val="333333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DCF5EF6-17EE-E161-812F-1699A5E1DBE5}"/>
              </a:ext>
            </a:extLst>
          </p:cNvPr>
          <p:cNvSpPr/>
          <p:nvPr/>
        </p:nvSpPr>
        <p:spPr>
          <a:xfrm>
            <a:off x="688201" y="4524375"/>
            <a:ext cx="10307782" cy="18122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0800000" scaled="1"/>
            <a:tileRect/>
          </a:gradFill>
          <a:ln w="0"/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Merge Cube -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Hold 3D objects in your hands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Elements 4D -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Combine element blocks to see chemical reactions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SkyView -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Point at sky to identify stars/planets</a:t>
            </a:r>
            <a:endParaRPr lang="es-ES" sz="36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313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21B5F-4AC9-D333-4004-93CBC301B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9214C-29D6-CB0C-EAFA-58BA4FBC5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SkyView AR Experience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812B82-5C9F-E1F3-41C3-CC7A7D23CA7A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09F3E3D6-B7EF-F91E-CF18-421F4206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9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357F19E4-E6E3-62D9-6754-24ED6FFEF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262D743-8453-E1FA-6646-71989491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95CD22-0DF0-AFA3-5DCE-1434D2EBF669}"/>
              </a:ext>
            </a:extLst>
          </p:cNvPr>
          <p:cNvSpPr txBox="1"/>
          <p:nvPr/>
        </p:nvSpPr>
        <p:spPr>
          <a:xfrm>
            <a:off x="729673" y="5937161"/>
            <a:ext cx="10426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1" dirty="0">
                <a:solidFill>
                  <a:srgbClr val="666666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Intuitive stargazing app that uses your camera to precisely spot and identify celestial objects in sky, day or night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8574EE-BF85-169A-193E-B76AC5029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2135014"/>
            <a:ext cx="7379074" cy="36212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E3BB49-29A6-D418-AB56-72E19EDA6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013" y="2135014"/>
            <a:ext cx="4265712" cy="362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64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49EC0-C4A8-7668-EE80-19D980E87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69B18-45C3-A880-8916-0CCC4277C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Adaptive Personalization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6768B8-C2FB-ABDD-3549-C1831867A3EF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F2F24BD-7DBB-E08C-9FD2-ED59CA34D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10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49EDF3FE-3D16-8705-A523-32A3FDB9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508A523-E088-9BF5-3454-E63BE90B67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3EE115-2C1B-7C2D-54A6-50B441904001}"/>
              </a:ext>
            </a:extLst>
          </p:cNvPr>
          <p:cNvSpPr txBox="1"/>
          <p:nvPr/>
        </p:nvSpPr>
        <p:spPr>
          <a:xfrm>
            <a:off x="676032" y="1401675"/>
            <a:ext cx="103321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AI-driven difficulty adjustment based on performance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Personalized learning paths for individual students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Real-time scaffolding and support mechanisms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Learning style adaptation (visual, kinesthetic, logical)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Targeted intervention for struggling concepts</a:t>
            </a:r>
            <a:endParaRPr lang="es-ES" sz="2800" dirty="0">
              <a:solidFill>
                <a:srgbClr val="333333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804B6B-EC7D-3B5F-5669-F829180F1A2E}"/>
              </a:ext>
            </a:extLst>
          </p:cNvPr>
          <p:cNvSpPr/>
          <p:nvPr/>
        </p:nvSpPr>
        <p:spPr>
          <a:xfrm>
            <a:off x="700370" y="4417884"/>
            <a:ext cx="10862980" cy="206219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100000">
                <a:schemeClr val="accent2"/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10800000" scaled="1"/>
            <a:tileRect/>
          </a:gradFill>
          <a:ln w="0"/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Rush for gold – 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Video game for recognizing learning and playing style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Prodigy Math - 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Adjusts to each student's level in real-time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STRAMAG – 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Adaptive game for strategic management in technological entrepreneurship</a:t>
            </a:r>
            <a:endParaRPr lang="es-ES" sz="26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957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6AE2C-F857-DD18-48AE-078507C87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E425-A46B-B820-1BDA-178F5EDF1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Rush for gold 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A4212-2EDC-B742-E1C6-18303398E8A1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9FE0000-79D4-DB90-A6AD-1E63B55F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11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DCBC090C-1481-AF2E-316D-60313FF29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1711599-336B-F7F2-862A-D6EDB5F82B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5493F0-C6C8-F76F-C5F9-D53F3DEF8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72" y="1438088"/>
            <a:ext cx="10224839" cy="45553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BD19F5B-501C-515A-B7E5-B8F03D624A62}"/>
              </a:ext>
            </a:extLst>
          </p:cNvPr>
          <p:cNvSpPr txBox="1"/>
          <p:nvPr/>
        </p:nvSpPr>
        <p:spPr>
          <a:xfrm>
            <a:off x="729673" y="6045527"/>
            <a:ext cx="10426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1" dirty="0">
                <a:solidFill>
                  <a:srgbClr val="666666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Initial game view</a:t>
            </a:r>
          </a:p>
        </p:txBody>
      </p:sp>
    </p:spTree>
    <p:extLst>
      <p:ext uri="{BB962C8B-B14F-4D97-AF65-F5344CB8AC3E}">
        <p14:creationId xmlns:p14="http://schemas.microsoft.com/office/powerpoint/2010/main" val="155517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DA1B7-D545-F796-DD5F-F1C6B5572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67C30-48C9-6001-D9CC-F503D0AF6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STRAMAG 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37FD3B-73F1-1264-3AC4-43C8040ADA10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2262A603-35B4-7E10-4F05-8B74D9DD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12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19FE23F8-6E82-0D26-7A3C-26FC6BBCB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D1E37B6-B89B-B6FF-48F7-C71EB8C4C6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2C5B7A-DA16-E58B-5882-563B631476CC}"/>
              </a:ext>
            </a:extLst>
          </p:cNvPr>
          <p:cNvSpPr txBox="1"/>
          <p:nvPr/>
        </p:nvSpPr>
        <p:spPr>
          <a:xfrm>
            <a:off x="729673" y="6045527"/>
            <a:ext cx="10426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1" dirty="0">
                <a:solidFill>
                  <a:srgbClr val="666666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Inside one of the matching games in the quiz room</a:t>
            </a:r>
          </a:p>
        </p:txBody>
      </p:sp>
      <p:pic>
        <p:nvPicPr>
          <p:cNvPr id="4" name="Картина 18" descr="A room with a computer screen&#10;&#10;AI-generated content may be incorrect.">
            <a:extLst>
              <a:ext uri="{FF2B5EF4-FFF2-40B4-BE49-F238E27FC236}">
                <a16:creationId xmlns:a16="http://schemas.microsoft.com/office/drawing/2014/main" id="{E9B06AF9-44D2-8FDA-D9BC-9A17F1FF91E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72" y="1583140"/>
            <a:ext cx="10224839" cy="427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2089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6DE1-F150-283C-5BC2-1D8AD77BC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ED1ED-BA2B-9175-A278-200539D06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Dynamic Visualization of Abstract Concepts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7A0243-9566-1177-0EF4-967FCA0ACF52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8B420E6C-A6FF-747A-2BCE-0E43EAF69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13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CE143589-B266-9DEE-3085-2696F7C8A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D68FEA7-214A-F98C-4558-71206CB623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324C45-38F9-D8B1-6ABA-3C3B79C32C03}"/>
              </a:ext>
            </a:extLst>
          </p:cNvPr>
          <p:cNvSpPr txBox="1"/>
          <p:nvPr/>
        </p:nvSpPr>
        <p:spPr>
          <a:xfrm>
            <a:off x="676032" y="1496925"/>
            <a:ext cx="10332120" cy="3639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Make invisible processes visible (electron flow, reactions)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Interactive manipulation of mathematical functions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Simulate complex systems (ecosystems, circuits, climate)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Time manipulation for slow/fast phenomena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Multiple perspective viewing of 3D structures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endParaRPr lang="es-ES" sz="2800" dirty="0">
              <a:solidFill>
                <a:srgbClr val="333333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856D7E-7701-8432-B9B5-1E3832C9CD83}"/>
              </a:ext>
            </a:extLst>
          </p:cNvPr>
          <p:cNvSpPr/>
          <p:nvPr/>
        </p:nvSpPr>
        <p:spPr>
          <a:xfrm>
            <a:off x="700370" y="4544704"/>
            <a:ext cx="10307782" cy="187276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0"/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PhET Interactive Simulations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- 150+ science/math sims by University of Colorado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GeoGebra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- Dynamic mathematics visualization tool</a:t>
            </a:r>
          </a:p>
        </p:txBody>
      </p:sp>
    </p:spTree>
    <p:extLst>
      <p:ext uri="{BB962C8B-B14F-4D97-AF65-F5344CB8AC3E}">
        <p14:creationId xmlns:p14="http://schemas.microsoft.com/office/powerpoint/2010/main" val="1311112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240B5-C5C8-11B7-9D66-9DED3DDA9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B6E52-17E5-3C59-817B-9D36D7990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PhET Interactive Simulations 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4CFBAE4-D8E3-C555-08BD-26159C275D81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22D1A3A1-83AA-8DB3-94B4-5D1C17D6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14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5D2AC428-FA14-97FB-C67E-ADAEAFB9B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0C81CEF-BF8F-20BA-0DC8-FE3E529537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pic>
        <p:nvPicPr>
          <p:cNvPr id="7172" name="Picture 4" descr="Introduction to PhET Simulation for STEM Education | GenAI Works">
            <a:extLst>
              <a:ext uri="{FF2B5EF4-FFF2-40B4-BE49-F238E27FC236}">
                <a16:creationId xmlns:a16="http://schemas.microsoft.com/office/drawing/2014/main" id="{6F1570D9-5DF6-FF41-2E5D-098A15335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3782" y="1410801"/>
            <a:ext cx="2726128" cy="2208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PhET Interactive Science and Math Simulations, Now in App Form! – GeekDad">
            <a:extLst>
              <a:ext uri="{FF2B5EF4-FFF2-40B4-BE49-F238E27FC236}">
                <a16:creationId xmlns:a16="http://schemas.microsoft.com/office/drawing/2014/main" id="{273DB983-8962-195D-2107-CFB6D2E6C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72" y="1484692"/>
            <a:ext cx="2900941" cy="218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PhET Simulations | Mathematics, Learning and Technology">
            <a:extLst>
              <a:ext uri="{FF2B5EF4-FFF2-40B4-BE49-F238E27FC236}">
                <a16:creationId xmlns:a16="http://schemas.microsoft.com/office/drawing/2014/main" id="{ED840D85-D55E-9889-ADC7-EDB27F02E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72" y="3872533"/>
            <a:ext cx="4867564" cy="2100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PhET Simulations – Algebra | Mathematics, Learning and Technology">
            <a:extLst>
              <a:ext uri="{FF2B5EF4-FFF2-40B4-BE49-F238E27FC236}">
                <a16:creationId xmlns:a16="http://schemas.microsoft.com/office/drawing/2014/main" id="{E5D200E8-8331-B19A-16A3-0F653A770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910" y="3935241"/>
            <a:ext cx="4719782" cy="2037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How to use PhET Interactive math and science simulations in a Nearpod  lesson – Nearpod: Student Engagement Platform">
            <a:extLst>
              <a:ext uri="{FF2B5EF4-FFF2-40B4-BE49-F238E27FC236}">
                <a16:creationId xmlns:a16="http://schemas.microsoft.com/office/drawing/2014/main" id="{7CF4DC31-57FD-1B37-8EBD-B80A918D1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697" y="1379197"/>
            <a:ext cx="4549994" cy="2208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6E1D0F-A538-C8BB-5F69-43CE9E9B9141}"/>
              </a:ext>
            </a:extLst>
          </p:cNvPr>
          <p:cNvSpPr txBox="1"/>
          <p:nvPr/>
        </p:nvSpPr>
        <p:spPr>
          <a:xfrm>
            <a:off x="729673" y="6109027"/>
            <a:ext cx="10426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1" dirty="0">
                <a:solidFill>
                  <a:srgbClr val="666666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PhET - research-based simulations cover physics, chemistry, biology, earth science, and mathematics</a:t>
            </a:r>
          </a:p>
        </p:txBody>
      </p:sp>
    </p:spTree>
    <p:extLst>
      <p:ext uri="{BB962C8B-B14F-4D97-AF65-F5344CB8AC3E}">
        <p14:creationId xmlns:p14="http://schemas.microsoft.com/office/powerpoint/2010/main" val="207262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E0F8B-D1AF-9352-FD95-A5BD3C8F6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6F744-5A56-5314-2E1E-B44E0D11C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STEM Applications: Mathematics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127A97-9391-0B59-825E-74CC06A5C833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7D975C7-5291-902A-CC6B-6ED2B7404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15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6E2DC0E7-32B8-CB89-4215-3C3F5641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3D4AE68-FBE9-6848-182A-4E6927BCD5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ECC4B-CFFC-1991-3006-93A471EE7828}"/>
              </a:ext>
            </a:extLst>
          </p:cNvPr>
          <p:cNvSpPr txBox="1"/>
          <p:nvPr/>
        </p:nvSpPr>
        <p:spPr>
          <a:xfrm>
            <a:off x="676032" y="1496925"/>
            <a:ext cx="5272186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Geometric constructions in 3D space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Visualization of calculus concepts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Interactive graphing and functions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Probability simulations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Algorithmic thinking games</a:t>
            </a:r>
            <a:endParaRPr lang="es-ES" sz="2800" dirty="0">
              <a:solidFill>
                <a:srgbClr val="333333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00CD9F-C103-69ED-D6A4-864294D8B50B}"/>
              </a:ext>
            </a:extLst>
          </p:cNvPr>
          <p:cNvSpPr/>
          <p:nvPr/>
        </p:nvSpPr>
        <p:spPr>
          <a:xfrm>
            <a:off x="5948218" y="1539237"/>
            <a:ext cx="5272185" cy="430887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0"/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DragonBox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- Algebra through puzzle games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Desmos</a:t>
            </a:r>
            <a:r>
              <a:rPr lang="es-E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- </a:t>
            </a:r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Interactive </a:t>
            </a:r>
            <a:r>
              <a:rPr lang="es-E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graphing</a:t>
            </a:r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calculator</a:t>
            </a:r>
            <a:endParaRPr lang="es-ES" sz="28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Euclidea</a:t>
            </a:r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- </a:t>
            </a:r>
            <a:r>
              <a:rPr lang="es-E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Geometric</a:t>
            </a:r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construction</a:t>
            </a:r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80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puzzles</a:t>
            </a:r>
            <a:endParaRPr lang="es-ES" sz="28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Mathigon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- Interactive textbook with manipulatives</a:t>
            </a:r>
            <a:endParaRPr lang="es-ES" sz="28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73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74DB9-EB78-484A-FA74-D8BEAB184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388EC-FB9D-14F4-7DC4-71B79300D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DragonBox Algebra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DF377B-AF44-8BA6-FD69-AD9CF2588F06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D145D9B1-F1B5-658A-9ED1-D82B07C51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16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5B661C4A-CD96-48E0-59B6-DDF20935F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3861EF4-5F3F-9DB1-EF3C-DB9AD79101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pic>
        <p:nvPicPr>
          <p:cNvPr id="8194" name="Picture 2" descr="DragonBox Algebra 5+ - so easy a 5 y.o. can do it!">
            <a:extLst>
              <a:ext uri="{FF2B5EF4-FFF2-40B4-BE49-F238E27FC236}">
                <a16:creationId xmlns:a16="http://schemas.microsoft.com/office/drawing/2014/main" id="{EC8E51A9-AAE6-91AD-DE63-6D7C80751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73" y="1381184"/>
            <a:ext cx="10224839" cy="456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031556-61A9-5E7A-1BB4-BFB415C51802}"/>
              </a:ext>
            </a:extLst>
          </p:cNvPr>
          <p:cNvSpPr txBox="1"/>
          <p:nvPr/>
        </p:nvSpPr>
        <p:spPr>
          <a:xfrm>
            <a:off x="729673" y="6109027"/>
            <a:ext cx="10426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1" dirty="0">
                <a:solidFill>
                  <a:srgbClr val="666666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DragonBox - </a:t>
            </a:r>
            <a:r>
              <a:rPr lang="pt-BR" b="0" i="1" dirty="0" err="1">
                <a:solidFill>
                  <a:srgbClr val="666666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algebra</a:t>
            </a:r>
            <a:r>
              <a:rPr lang="pt-BR" b="0" i="1" dirty="0">
                <a:solidFill>
                  <a:srgbClr val="666666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as a puzzle game</a:t>
            </a:r>
            <a:endParaRPr lang="en-US" b="0" i="1" dirty="0">
              <a:solidFill>
                <a:srgbClr val="666666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505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CF745-12CB-F728-365E-59D0EC01A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E3221-6715-AD2D-724E-2317C3649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Desmos Graphing Calculator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51C92C-D788-C77A-9C1D-6DB12F28C92A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33AF3A1-8FEE-2973-5197-4FEE6D2A8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17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96794DAE-8268-BAD4-5B96-D42DC6294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D7E1815-0175-A095-A4D8-B5F799F243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pic>
        <p:nvPicPr>
          <p:cNvPr id="9218" name="Picture 2" descr="Desmos Graphing Calculator | Best Science Apps">
            <a:extLst>
              <a:ext uri="{FF2B5EF4-FFF2-40B4-BE49-F238E27FC236}">
                <a16:creationId xmlns:a16="http://schemas.microsoft.com/office/drawing/2014/main" id="{B08CFB03-6C44-068A-2CA6-9A4DDC755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667" y="1480257"/>
            <a:ext cx="6038850" cy="450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5FB0DC-4C8D-3A40-A227-FD1BA7D6C324}"/>
              </a:ext>
            </a:extLst>
          </p:cNvPr>
          <p:cNvSpPr txBox="1"/>
          <p:nvPr/>
        </p:nvSpPr>
        <p:spPr>
          <a:xfrm>
            <a:off x="729673" y="6109027"/>
            <a:ext cx="10426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1" dirty="0">
                <a:solidFill>
                  <a:srgbClr val="666666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Multiple curves in different colors overlapping</a:t>
            </a:r>
          </a:p>
        </p:txBody>
      </p:sp>
    </p:spTree>
    <p:extLst>
      <p:ext uri="{BB962C8B-B14F-4D97-AF65-F5344CB8AC3E}">
        <p14:creationId xmlns:p14="http://schemas.microsoft.com/office/powerpoint/2010/main" val="3363211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171A5-4141-5AB7-DE81-0B4C9D67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C5761-DE88-3950-08F5-DEB8FA79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STEM Applications: Science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9459EF-D331-B2DC-AD54-EEB63F2F0928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F503D0E4-1360-C309-4F3A-A9D8F7A04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18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66B8D4F7-B7A2-5667-12C9-29B54D89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465BA42-8119-FE39-0739-16DBDC4544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902FC-BEF7-C9C0-07C4-53DAE14CB24F}"/>
              </a:ext>
            </a:extLst>
          </p:cNvPr>
          <p:cNvSpPr txBox="1"/>
          <p:nvPr/>
        </p:nvSpPr>
        <p:spPr>
          <a:xfrm>
            <a:off x="676032" y="1496925"/>
            <a:ext cx="5272186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Virtual laboratory experiments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Molecular modeling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Physics simulations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Biological system exploration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Astronomy experiences</a:t>
            </a:r>
            <a:endParaRPr lang="es-ES" sz="2800" dirty="0">
              <a:solidFill>
                <a:srgbClr val="333333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B29BB9-8241-67C9-56E6-EE6007986BB9}"/>
              </a:ext>
            </a:extLst>
          </p:cNvPr>
          <p:cNvSpPr/>
          <p:nvPr/>
        </p:nvSpPr>
        <p:spPr>
          <a:xfrm>
            <a:off x="5948219" y="1539237"/>
            <a:ext cx="5078406" cy="430887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0"/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Foldit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- Protein folding puzzles (real research)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Universe Sandbox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 Physics-based space simulator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Chemist VR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 Virtual chemistry lab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Body VR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 Journey inside human body</a:t>
            </a:r>
            <a:endParaRPr lang="es-ES" sz="28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222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0D0A1-BB94-4CA1-4226-2F48AE129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DA695-7D06-B5B4-1BE2-F9F23599D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Foldit - Protein Folding Game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07E8E7-B8DB-308B-49C8-7CD95A5FA5B9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BE997D9-3EF8-4EC0-6D6A-ED328941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19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7B1E6D0D-B2FE-5311-3C55-C165DCA78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DB3AC0F-7AC3-2E65-EB82-76CE2AA8B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pic>
        <p:nvPicPr>
          <p:cNvPr id="10242" name="Picture 2" descr="A Citizen-Science Computer Game for Protein Design">
            <a:extLst>
              <a:ext uri="{FF2B5EF4-FFF2-40B4-BE49-F238E27FC236}">
                <a16:creationId xmlns:a16="http://schemas.microsoft.com/office/drawing/2014/main" id="{25024D31-5CFD-5C13-5284-15C5AA88E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899" y="1403448"/>
            <a:ext cx="5637213" cy="4528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2FCDEB-DF63-D2DD-39C0-31D11BA5A540}"/>
              </a:ext>
            </a:extLst>
          </p:cNvPr>
          <p:cNvSpPr txBox="1"/>
          <p:nvPr/>
        </p:nvSpPr>
        <p:spPr>
          <a:xfrm>
            <a:off x="729673" y="6109027"/>
            <a:ext cx="10426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1" dirty="0">
                <a:solidFill>
                  <a:srgbClr val="666666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Players try to find the most stable protein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1005675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8C65C-2895-937F-783D-4C782B227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2E663-6B54-7BE8-9196-923D133FE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Universe Sandbox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F5263B-740C-69C2-6E3A-DBBA4A863136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C2D2AEE-CFA1-3692-7872-703ACDFE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20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1E9A2D28-C206-E3DF-7CD1-C934275CB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D1CE022-69DA-0383-8270-5EAEA81FA0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78E44E-BC7E-B844-E76E-E9883240F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775" y="1432034"/>
            <a:ext cx="8198449" cy="46195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992BFA-B802-E870-107B-7FD31DCA3FAB}"/>
              </a:ext>
            </a:extLst>
          </p:cNvPr>
          <p:cNvSpPr txBox="1"/>
          <p:nvPr/>
        </p:nvSpPr>
        <p:spPr>
          <a:xfrm>
            <a:off x="729673" y="6109027"/>
            <a:ext cx="10426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1" dirty="0">
                <a:solidFill>
                  <a:srgbClr val="666666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physics-based space simulator - change Earth's mass and watch orbital mechanics respond in real-time</a:t>
            </a:r>
          </a:p>
        </p:txBody>
      </p:sp>
    </p:spTree>
    <p:extLst>
      <p:ext uri="{BB962C8B-B14F-4D97-AF65-F5344CB8AC3E}">
        <p14:creationId xmlns:p14="http://schemas.microsoft.com/office/powerpoint/2010/main" val="1220730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774B0-6504-E94C-F7D8-F7482ACC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2FFAA-8392-C21C-58DA-35EE63C54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STEM Applications: Technology &amp; Engineering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9453C1-A8F5-C9D2-BEBE-6E4A00A2BF6D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5D614CA-668F-85E7-BA2D-14FE23A12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21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B7BBE202-B1F6-5105-6F52-DC26666DD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A012AB3-0D9E-14AB-F3C0-1F1D3B0B9B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B0853-31CA-6C79-BA7E-3DD280B7480D}"/>
              </a:ext>
            </a:extLst>
          </p:cNvPr>
          <p:cNvSpPr txBox="1"/>
          <p:nvPr/>
        </p:nvSpPr>
        <p:spPr>
          <a:xfrm>
            <a:off x="676032" y="1496925"/>
            <a:ext cx="5272186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Circuit design and programming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3D CAD and prototyping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Robotics simulation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Computational thinking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 problem-solving</a:t>
            </a:r>
            <a:endParaRPr lang="es-ES" sz="2800" dirty="0">
              <a:solidFill>
                <a:srgbClr val="333333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852A66-E2EC-ADC5-DD0A-379033905294}"/>
              </a:ext>
            </a:extLst>
          </p:cNvPr>
          <p:cNvSpPr/>
          <p:nvPr/>
        </p:nvSpPr>
        <p:spPr>
          <a:xfrm>
            <a:off x="5948219" y="1539236"/>
            <a:ext cx="5078406" cy="4566287"/>
          </a:xfrm>
          <a:prstGeom prst="roundRect">
            <a:avLst/>
          </a:prstGeom>
          <a:solidFill>
            <a:srgbClr val="FFFFA7"/>
          </a:solidFill>
          <a:ln w="0"/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CodeCombat -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Learn coding through RPG gameplay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Kerbal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Space Program -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Rocket design &amp; orbital mechanics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CircuitVerse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-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Digital circuit simulator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Tinkercad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-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3D design and circuits</a:t>
            </a:r>
            <a:endParaRPr lang="es-ES" sz="28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391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8E94D-B3C1-D757-B1A6-8E850EA64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3C49-0025-B985-4408-CD4C528F3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CodeCombat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98BFAB-427F-513F-259B-F3A81E79462E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967E191-D2B9-2AF2-28B9-A44DF7ED0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22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C4F1C402-9506-1A91-F6D1-CBC28F3F4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55FB488-755F-D76B-34C2-37F530AC56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pic>
        <p:nvPicPr>
          <p:cNvPr id="12292" name="Picture 4" descr="CodeCombat Multiplayer Tutorial">
            <a:extLst>
              <a:ext uri="{FF2B5EF4-FFF2-40B4-BE49-F238E27FC236}">
                <a16:creationId xmlns:a16="http://schemas.microsoft.com/office/drawing/2014/main" id="{73633282-87D6-65E8-BE0B-D49F6D53F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134" y="1496377"/>
            <a:ext cx="8019065" cy="4510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3762F5-AFB7-E6B7-F11A-5BC72E0566BC}"/>
              </a:ext>
            </a:extLst>
          </p:cNvPr>
          <p:cNvSpPr txBox="1"/>
          <p:nvPr/>
        </p:nvSpPr>
        <p:spPr>
          <a:xfrm>
            <a:off x="729673" y="6109027"/>
            <a:ext cx="10426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1" dirty="0">
                <a:solidFill>
                  <a:srgbClr val="666666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Split-screen interface: game view on left, code editor on right</a:t>
            </a:r>
          </a:p>
        </p:txBody>
      </p:sp>
    </p:spTree>
    <p:extLst>
      <p:ext uri="{BB962C8B-B14F-4D97-AF65-F5344CB8AC3E}">
        <p14:creationId xmlns:p14="http://schemas.microsoft.com/office/powerpoint/2010/main" val="2499832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EF9B5-CCCE-258F-0B16-4AE00263B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FD13C-DD7F-DA92-9F1D-544EF1C0A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 err="1">
                <a:solidFill>
                  <a:srgbClr val="0070C0"/>
                </a:solidFill>
                <a:latin typeface="Calibri (Body)"/>
              </a:rPr>
              <a:t>Tinkercad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651A7F-06BA-7894-EFA5-6E8C68FFF05D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3109102-A40C-BCE2-FD9B-13162C0DF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23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B6C7B935-D101-E756-4D9D-42037E36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2E8B975-7566-D4C1-6AF1-F173B0BA4D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pic>
        <p:nvPicPr>
          <p:cNvPr id="13314" name="Picture 2" descr="How to Use Tinkercad to Test &amp; Implement Your Hardware - Tinkercad">
            <a:extLst>
              <a:ext uri="{FF2B5EF4-FFF2-40B4-BE49-F238E27FC236}">
                <a16:creationId xmlns:a16="http://schemas.microsoft.com/office/drawing/2014/main" id="{CE5E7730-2C34-B8C0-26C6-F179DF2E7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229" y="1432479"/>
            <a:ext cx="6181725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82B9FA-144D-A364-4CF5-5EA1F9854A2D}"/>
              </a:ext>
            </a:extLst>
          </p:cNvPr>
          <p:cNvSpPr txBox="1"/>
          <p:nvPr/>
        </p:nvSpPr>
        <p:spPr>
          <a:xfrm>
            <a:off x="729673" y="6109027"/>
            <a:ext cx="102248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1" dirty="0" err="1">
                <a:solidFill>
                  <a:srgbClr val="666666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Tinkercad</a:t>
            </a:r>
            <a:r>
              <a:rPr lang="en-US" b="0" i="1" dirty="0">
                <a:solidFill>
                  <a:srgbClr val="666666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is web-based, and accessible—students design 3D objects and test circuits virtually</a:t>
            </a:r>
          </a:p>
        </p:txBody>
      </p:sp>
    </p:spTree>
    <p:extLst>
      <p:ext uri="{BB962C8B-B14F-4D97-AF65-F5344CB8AC3E}">
        <p14:creationId xmlns:p14="http://schemas.microsoft.com/office/powerpoint/2010/main" val="2378405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A3C0E-0639-7FEC-44F6-9CF7F0941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D539-B20B-1469-8C39-0B1844ACE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Technological Requirements: Hardware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013F32-186D-8D83-B1A3-D647F89272D5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21798334-9EA3-F2E8-7107-8FC203F9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24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F10E7BCE-9984-A049-BF2E-770F1AC63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6264892-D96E-0F40-6E38-FDCD79921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34EC1-C558-269B-F940-4637FD9E7815}"/>
              </a:ext>
            </a:extLst>
          </p:cNvPr>
          <p:cNvSpPr txBox="1"/>
          <p:nvPr/>
        </p:nvSpPr>
        <p:spPr>
          <a:xfrm>
            <a:off x="729673" y="1862050"/>
            <a:ext cx="1027848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VR headsets (Oculus Quest, HTC </a:t>
            </a:r>
            <a:r>
              <a:rPr lang="en-US" sz="2800" dirty="0" err="1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Vive</a:t>
            </a: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PlayStation VR)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AR-capable devices (tablets, smartphones, HoloLens)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High-performance computers or gaming consoles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controllers and haptic feedback devices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Adequate network infrastructure for cloud processing</a:t>
            </a:r>
            <a:endParaRPr lang="es-ES" sz="2800" dirty="0">
              <a:solidFill>
                <a:srgbClr val="333333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940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0AC16-E0C3-8F32-4EA2-FE80C33D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95FCF-5B8B-9F82-5A26-ACE45C21C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Technological Requirements: Software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B0EDA7-596C-2FC7-65F7-DE4C5E5A0E6B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4F1E085-3925-5B58-6434-9C5B109DD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25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3612FB46-8C4B-8EF8-F4B9-D04D782BC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BA4F525-D009-1B94-C531-2E80D6E9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A4561-2106-8FBF-AFC1-47EF1E8ED479}"/>
              </a:ext>
            </a:extLst>
          </p:cNvPr>
          <p:cNvSpPr txBox="1"/>
          <p:nvPr/>
        </p:nvSpPr>
        <p:spPr>
          <a:xfrm>
            <a:off x="729673" y="1862050"/>
            <a:ext cx="1027848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Educational game platforms and content libraries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Learning management system integration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Analytics and assessment tools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Content creation and customization software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Cross-platform compatibility considerations</a:t>
            </a:r>
            <a:endParaRPr lang="es-ES" sz="2800" dirty="0">
              <a:solidFill>
                <a:srgbClr val="333333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0351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93B0D-7DD1-E1C0-FB65-DC8232432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5238F-2363-D01F-99F2-1F1B759AE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Integration Strategies: Curriculum Design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384A1A1-75EA-9151-AE24-2174B893878C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2F46C200-4EB3-EFF9-A581-F98731844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26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E9CF4A05-2B57-FA20-0815-A5C89DB2D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D00445C-7ED7-BA84-88F6-0CCABDC21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8D8328-48D6-630F-7007-154658E981B6}"/>
              </a:ext>
            </a:extLst>
          </p:cNvPr>
          <p:cNvSpPr txBox="1"/>
          <p:nvPr/>
        </p:nvSpPr>
        <p:spPr>
          <a:xfrm>
            <a:off x="729673" y="1862050"/>
            <a:ext cx="1027848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Align games with learning objectives and standards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Blend game-based and traditional instruction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Design pre- and post-game activities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Create assessment rubrics for game performance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Sequence games within broader unit plans</a:t>
            </a:r>
            <a:endParaRPr lang="es-ES" sz="2800" dirty="0">
              <a:solidFill>
                <a:srgbClr val="333333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122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47026-DD14-3439-4A56-E25B9DC4C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6C3DB-5A86-29F9-E6D4-48B70DB80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9100" y="9144"/>
            <a:ext cx="130048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Integration Strategies: Classroom Implementation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08940D-CDEE-75FB-0BCB-F9E571754BEE}"/>
              </a:ext>
            </a:extLst>
          </p:cNvPr>
          <p:cNvCxnSpPr>
            <a:cxnSpLocks/>
          </p:cNvCxnSpPr>
          <p:nvPr/>
        </p:nvCxnSpPr>
        <p:spPr>
          <a:xfrm>
            <a:off x="381000" y="1334707"/>
            <a:ext cx="11442700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EA9F335-A218-EBC6-EE02-46551D950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27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D204690C-D4B7-2EDD-8D01-6C54E4819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10A1ADA-5DCB-E7B5-A028-36BCC3A8E0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1B3BB-619C-468E-8708-6558984E9411}"/>
              </a:ext>
            </a:extLst>
          </p:cNvPr>
          <p:cNvSpPr txBox="1"/>
          <p:nvPr/>
        </p:nvSpPr>
        <p:spPr>
          <a:xfrm>
            <a:off x="381000" y="1862050"/>
            <a:ext cx="114427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Teacher training and professional development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Establish clear learning goals before gameplay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Facilitate reflection and discussion after sessions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Balance individual and collaborative gameplay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Manage classroom technology and time effectively</a:t>
            </a:r>
            <a:endParaRPr lang="es-ES" sz="2800" dirty="0">
              <a:solidFill>
                <a:srgbClr val="333333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810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71D07-139F-32CA-A49A-CCE35AC41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1C050-AAA5-87D2-456D-6AFC5798E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Cognitive and Affective Outcomes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C8E822-91B3-3A08-786E-861FC04997CB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7AE6788-E303-9DD3-0ABF-CD544DACA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28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F798256B-5941-BE7F-5F84-614CA392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0D838E6-26A4-81D0-4A94-295C5621A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7C60C-4D37-966A-25F3-040BB6BC776F}"/>
              </a:ext>
            </a:extLst>
          </p:cNvPr>
          <p:cNvSpPr txBox="1"/>
          <p:nvPr/>
        </p:nvSpPr>
        <p:spPr>
          <a:xfrm>
            <a:off x="729673" y="1862050"/>
            <a:ext cx="1027848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Enhanced spatial reasoning and visualization skills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Improved retention through experiential learning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Reduced STEM anxiety and increased confidence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Development of metacognitive strategies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Positive attitudes toward STEM subjects and careers</a:t>
            </a:r>
            <a:endParaRPr lang="es-ES" sz="2800" dirty="0">
              <a:solidFill>
                <a:srgbClr val="333333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1337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6A4E8-11D4-81C8-78A5-989B28E77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02D68-5A4E-F91A-5090-C11DDDB8F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Considerations &amp; Solutions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6C9613A-43EB-AD24-0475-01112D513163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EF32C9E-B8D1-8D48-0317-6ED0BBF2D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29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DA4FC8A8-0C81-CB25-0B8A-C81FCF6D5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AAD2838-7976-BEBF-E2A3-BC689F1FEA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FC0D38-2C9B-BA38-EB8C-688BCB0B39CF}"/>
              </a:ext>
            </a:extLst>
          </p:cNvPr>
          <p:cNvSpPr/>
          <p:nvPr/>
        </p:nvSpPr>
        <p:spPr>
          <a:xfrm>
            <a:off x="636245" y="1656971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Hardware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Costs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Start small with mobile AR, seek grants, share resources across classes</a:t>
            </a:r>
            <a:endParaRPr lang="es-E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43B61B-5088-5C5A-2049-4C8311280C8D}"/>
              </a:ext>
            </a:extLst>
          </p:cNvPr>
          <p:cNvSpPr/>
          <p:nvPr/>
        </p:nvSpPr>
        <p:spPr>
          <a:xfrm>
            <a:off x="6053372" y="1656970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Teacher Training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Peer mentoring programs, vendor workshops, gradual implementation</a:t>
            </a:r>
            <a:endParaRPr lang="es-E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516C80-80C7-04AB-EBD7-E778A18A0110}"/>
              </a:ext>
            </a:extLst>
          </p:cNvPr>
          <p:cNvSpPr/>
          <p:nvPr/>
        </p:nvSpPr>
        <p:spPr>
          <a:xfrm>
            <a:off x="622392" y="3961438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Balance &amp;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Distraction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Clear learning objectives, structured reflection time, gameplay limits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E34BCC-3B0C-388F-3DAE-AABC325B94AC}"/>
              </a:ext>
            </a:extLst>
          </p:cNvPr>
          <p:cNvSpPr/>
          <p:nvPr/>
        </p:nvSpPr>
        <p:spPr>
          <a:xfrm>
            <a:off x="6039519" y="3961437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Content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Suitability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Evaluate alignment with standards, pilot test before full deployment</a:t>
            </a:r>
          </a:p>
        </p:txBody>
      </p:sp>
    </p:spTree>
    <p:extLst>
      <p:ext uri="{BB962C8B-B14F-4D97-AF65-F5344CB8AC3E}">
        <p14:creationId xmlns:p14="http://schemas.microsoft.com/office/powerpoint/2010/main" val="2949417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EBA49-895F-A4BD-C838-F4DA84E19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7849F-C88D-7283-F433-63954C2ED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Future Directions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982D98A-2D6D-4EF3-0C1D-585C1B093E97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21E94901-C8A2-9CD0-E5F9-31E602BF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30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898ECE4A-7D64-7297-C3AF-F5D315D8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E130586-D4D2-9AAA-3EFA-5FB9A00B4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6D5237-B6D8-815F-8F54-BC9AA86784C4}"/>
              </a:ext>
            </a:extLst>
          </p:cNvPr>
          <p:cNvSpPr/>
          <p:nvPr/>
        </p:nvSpPr>
        <p:spPr>
          <a:xfrm>
            <a:off x="362619" y="1656971"/>
            <a:ext cx="3599782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0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AI-</a:t>
            </a:r>
            <a:r>
              <a:rPr lang="es-ES" sz="20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Powered</a:t>
            </a:r>
            <a:r>
              <a:rPr lang="es-ES" sz="20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Personal </a:t>
            </a:r>
            <a:r>
              <a:rPr lang="es-ES" sz="20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Tutors</a:t>
            </a:r>
            <a:endParaRPr lang="es-ES" sz="20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Intelligent agents that understand student emotions, provide natural language explanations, and adapt in real-time</a:t>
            </a:r>
            <a:endParaRPr lang="es-ES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6E35C0-B721-8438-EFD0-1FADCF61F053}"/>
              </a:ext>
            </a:extLst>
          </p:cNvPr>
          <p:cNvSpPr/>
          <p:nvPr/>
        </p:nvSpPr>
        <p:spPr>
          <a:xfrm>
            <a:off x="4415072" y="1707863"/>
            <a:ext cx="3585930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0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Metaverse</a:t>
            </a:r>
            <a:r>
              <a:rPr lang="es-ES" sz="20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0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Learning</a:t>
            </a:r>
            <a:r>
              <a:rPr lang="es-ES" sz="20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Spaces</a:t>
            </a: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Persistent virtual campuses where students collaborate globally on STEM projects in shared immersive environments</a:t>
            </a:r>
            <a:endParaRPr lang="es-ES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5874D0-A103-638D-B9BD-C09C90AE0597}"/>
              </a:ext>
            </a:extLst>
          </p:cNvPr>
          <p:cNvSpPr/>
          <p:nvPr/>
        </p:nvSpPr>
        <p:spPr>
          <a:xfrm>
            <a:off x="376472" y="4133034"/>
            <a:ext cx="3585929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0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Collective</a:t>
            </a:r>
            <a:r>
              <a:rPr lang="es-ES" sz="20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0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Intelligence</a:t>
            </a:r>
            <a:r>
              <a:rPr lang="es-ES" sz="20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0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Games</a:t>
            </a:r>
            <a:endParaRPr lang="es-ES" sz="20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Massively multiplayer STEM challenges where thousands of students solve real-world problems together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E2F390-7005-4149-AFDA-10D7E538EE1E}"/>
              </a:ext>
            </a:extLst>
          </p:cNvPr>
          <p:cNvSpPr/>
          <p:nvPr/>
        </p:nvSpPr>
        <p:spPr>
          <a:xfrm>
            <a:off x="8503227" y="4095892"/>
            <a:ext cx="332615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0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Predictive </a:t>
            </a:r>
            <a:r>
              <a:rPr lang="es-ES" sz="20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Learning</a:t>
            </a:r>
            <a:r>
              <a:rPr lang="es-ES" sz="20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0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Analytics</a:t>
            </a:r>
            <a:endParaRPr lang="es-ES" sz="20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Machine learning predicts struggling concepts before failure occurs, enabling proactive intervention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406940F-8BBE-2467-A36F-77A2E59E9BD5}"/>
              </a:ext>
            </a:extLst>
          </p:cNvPr>
          <p:cNvSpPr/>
          <p:nvPr/>
        </p:nvSpPr>
        <p:spPr>
          <a:xfrm>
            <a:off x="8434045" y="1669671"/>
            <a:ext cx="332615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0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Brain-Computer</a:t>
            </a:r>
            <a:r>
              <a:rPr lang="es-ES" sz="20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Interfaces</a:t>
            </a: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Direct neural feedback for enhanced spatial reasoning and accelerated skill acquisition in mathematics and physics</a:t>
            </a:r>
            <a:endParaRPr lang="es-ES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6D3AE1-4309-BF2B-555A-CDC9711415C1}"/>
              </a:ext>
            </a:extLst>
          </p:cNvPr>
          <p:cNvSpPr/>
          <p:nvPr/>
        </p:nvSpPr>
        <p:spPr>
          <a:xfrm>
            <a:off x="4432922" y="4133034"/>
            <a:ext cx="3585930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0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Procedural Content </a:t>
            </a:r>
            <a:r>
              <a:rPr lang="es-ES" sz="20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Generation</a:t>
            </a:r>
            <a:endParaRPr lang="es-ES" sz="20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AI creates unlimited personalized problems, scenarios, and challenges tailored to each student's learning edge</a:t>
            </a:r>
          </a:p>
        </p:txBody>
      </p:sp>
    </p:spTree>
    <p:extLst>
      <p:ext uri="{BB962C8B-B14F-4D97-AF65-F5344CB8AC3E}">
        <p14:creationId xmlns:p14="http://schemas.microsoft.com/office/powerpoint/2010/main" val="7705932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2CD0F-647E-0EF7-5DF4-771A157D6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513FA-5008-A675-6476-BC468DFD6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Conclusions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089A95-50E6-970C-DA5E-138E6CB21C6E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BF45F0D-21CD-3A0B-D6EC-3F2E1C711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31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8CD423B8-2542-DBF5-52A0-6BA6D5CD9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A3A1E47-DDAB-895D-5F93-693314E710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A4A0C-7F04-A4BB-97FD-3288E963BC73}"/>
              </a:ext>
            </a:extLst>
          </p:cNvPr>
          <p:cNvSpPr txBox="1"/>
          <p:nvPr/>
        </p:nvSpPr>
        <p:spPr>
          <a:xfrm>
            <a:off x="729673" y="1752956"/>
            <a:ext cx="1027848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Enhanced video games are powerful tool for STEM learning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They foster engagement, creativity, and deeper understanding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Integration of VR, AR, and AI turns abstract STEM concepts into hands-on experiences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With proper design and curriculum alignment, games become not distractions, but essential educational tools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Challenges exist but solutions are emerging</a:t>
            </a:r>
            <a:endParaRPr lang="es-ES" sz="2800" dirty="0">
              <a:solidFill>
                <a:srgbClr val="333333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914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3D05D-8EAA-B180-F65B-FF7F292D9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92D5E-2112-E79F-9B59-2473B006E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Acknowledgements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6CCEBE-5BA9-91C9-D3D0-63304E7D7D56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E09F2AD-AAB0-8B68-9143-76257D383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32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E25941D3-D990-C225-A499-3ECEBEAC8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A627C3F-5659-F9B2-B0CD-9168334553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11BF5-6849-5EE7-6A2F-E97E4A29C776}"/>
              </a:ext>
            </a:extLst>
          </p:cNvPr>
          <p:cNvSpPr txBox="1"/>
          <p:nvPr/>
        </p:nvSpPr>
        <p:spPr>
          <a:xfrm>
            <a:off x="729673" y="1862050"/>
            <a:ext cx="1027848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research was partially supported by the following projects: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Modeling intelligent tools for adaptive and personalized educational STEM video games (MOTIVATE) – 2024-2026</a:t>
            </a:r>
          </a:p>
          <a:p>
            <a:pPr marL="457200" indent="-4572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Universities for Science, Informatics and </a:t>
            </a:r>
            <a:b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Technologies in </a:t>
            </a:r>
            <a:r>
              <a:rPr lang="en-US" sz="2800" dirty="0" err="1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eSociety</a:t>
            </a: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en-US" sz="2800" dirty="0" err="1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UNITe</a:t>
            </a:r>
            <a:r>
              <a:rPr lang="en-US" sz="2800" dirty="0">
                <a:solidFill>
                  <a:srgbClr val="33333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– 2025-2029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6E8539-6A7C-EAB9-66DF-47657BCE62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480" y="1968066"/>
            <a:ext cx="1266847" cy="12097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7C2904-74B9-DC52-4ABB-9AF25D1CE9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53"/>
          <a:stretch>
            <a:fillRect/>
          </a:stretch>
        </p:blipFill>
        <p:spPr>
          <a:xfrm>
            <a:off x="10086953" y="3444421"/>
            <a:ext cx="1266847" cy="11981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72BB39-1ED3-10C4-8F0E-E9CF7E7F3B95}"/>
              </a:ext>
            </a:extLst>
          </p:cNvPr>
          <p:cNvSpPr txBox="1"/>
          <p:nvPr/>
        </p:nvSpPr>
        <p:spPr>
          <a:xfrm>
            <a:off x="0" y="5416034"/>
            <a:ext cx="12192000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0080" algn="ctr">
              <a:lnSpc>
                <a:spcPct val="9000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70C0"/>
                </a:solidFill>
                <a:latin typeface="Calibri (Body)"/>
                <a:ea typeface="+mj-ea"/>
                <a:cs typeface="+mj-cs"/>
              </a:rPr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10132969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4375D-D1F8-55AD-D277-A52F00D0A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74227D9-F5B3-3816-949E-CCFA4D39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33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71F9B78C-13D8-FDD0-CA05-8EC2083F3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Enhanced Video Games for STEM Education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12A2F8A-DF47-1CA9-2076-CA99CE04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STEMedu-2025</a:t>
            </a:r>
            <a:endParaRPr lang="en-US" dirty="0"/>
          </a:p>
        </p:txBody>
      </p:sp>
      <p:pic>
        <p:nvPicPr>
          <p:cNvPr id="14338" name="Picture 2" descr="Free Vectors | Q&amp;A">
            <a:extLst>
              <a:ext uri="{FF2B5EF4-FFF2-40B4-BE49-F238E27FC236}">
                <a16:creationId xmlns:a16="http://schemas.microsoft.com/office/drawing/2014/main" id="{D5B8436A-C0B8-B002-0BED-9E50A5171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109873"/>
            <a:ext cx="8696325" cy="6134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3002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1414</Words>
  <Application>Microsoft Office PowerPoint</Application>
  <PresentationFormat>Widescreen</PresentationFormat>
  <Paragraphs>281</Paragraphs>
  <Slides>33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Calibri (Body)</vt:lpstr>
      <vt:lpstr>Calibri Light</vt:lpstr>
      <vt:lpstr>Office Theme</vt:lpstr>
      <vt:lpstr>Picture</vt:lpstr>
      <vt:lpstr>Enhanced Video Games for STEM Education</vt:lpstr>
      <vt:lpstr>Overview</vt:lpstr>
      <vt:lpstr>The Power of Game-Based Learning</vt:lpstr>
      <vt:lpstr>Minecraft Education Edition</vt:lpstr>
      <vt:lpstr>What Makes Games 'Enhanced'?</vt:lpstr>
      <vt:lpstr>Virtual Reality in STEM Education</vt:lpstr>
      <vt:lpstr>Labster VR Laboratory</vt:lpstr>
      <vt:lpstr>Augmented Reality Applications</vt:lpstr>
      <vt:lpstr>SkyView AR Experience</vt:lpstr>
      <vt:lpstr>Adaptive Personalization</vt:lpstr>
      <vt:lpstr>Rush for gold </vt:lpstr>
      <vt:lpstr>STRAMAG </vt:lpstr>
      <vt:lpstr>Dynamic Visualization of Abstract Concepts</vt:lpstr>
      <vt:lpstr>PhET Interactive Simulations </vt:lpstr>
      <vt:lpstr>STEM Applications: Mathematics</vt:lpstr>
      <vt:lpstr>DragonBox Algebra</vt:lpstr>
      <vt:lpstr>Desmos Graphing Calculator</vt:lpstr>
      <vt:lpstr>STEM Applications: Science</vt:lpstr>
      <vt:lpstr>Foldit - Protein Folding Game</vt:lpstr>
      <vt:lpstr>Universe Sandbox</vt:lpstr>
      <vt:lpstr>STEM Applications: Technology &amp; Engineering</vt:lpstr>
      <vt:lpstr>CodeCombat</vt:lpstr>
      <vt:lpstr>Tinkercad</vt:lpstr>
      <vt:lpstr>Technological Requirements: Hardware</vt:lpstr>
      <vt:lpstr>Technological Requirements: Software</vt:lpstr>
      <vt:lpstr>Integration Strategies: Curriculum Design</vt:lpstr>
      <vt:lpstr>Integration Strategies: Classroom Implementation</vt:lpstr>
      <vt:lpstr>Cognitive and Affective Outcomes</vt:lpstr>
      <vt:lpstr>Considerations &amp; Solutions</vt:lpstr>
      <vt:lpstr>Future Directions</vt:lpstr>
      <vt:lpstr>Conclusions</vt:lpstr>
      <vt:lpstr>Acknowledgements</vt:lpstr>
      <vt:lpstr>PowerPoint Presentation</vt:lpstr>
    </vt:vector>
  </TitlesOfParts>
  <Company>PAYRETAILERS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Dessislava Vassileva</dc:creator>
  <cp:lastModifiedBy>Dessislava Vassileva</cp:lastModifiedBy>
  <cp:revision>74</cp:revision>
  <dcterms:created xsi:type="dcterms:W3CDTF">2025-10-05T05:36:50Z</dcterms:created>
  <dcterms:modified xsi:type="dcterms:W3CDTF">2025-10-05T22:45:35Z</dcterms:modified>
</cp:coreProperties>
</file>