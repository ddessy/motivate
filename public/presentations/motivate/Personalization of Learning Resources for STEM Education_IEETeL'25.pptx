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7.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97" r:id="rId3"/>
    <p:sldId id="257" r:id="rId4"/>
    <p:sldId id="286" r:id="rId5"/>
    <p:sldId id="293" r:id="rId6"/>
    <p:sldId id="287" r:id="rId7"/>
    <p:sldId id="272" r:id="rId8"/>
    <p:sldId id="281" r:id="rId9"/>
    <p:sldId id="282" r:id="rId10"/>
    <p:sldId id="283" r:id="rId11"/>
    <p:sldId id="284" r:id="rId12"/>
    <p:sldId id="290" r:id="rId13"/>
    <p:sldId id="300" r:id="rId14"/>
    <p:sldId id="301" r:id="rId15"/>
    <p:sldId id="302" r:id="rId16"/>
    <p:sldId id="303" r:id="rId17"/>
    <p:sldId id="298" r:id="rId18"/>
    <p:sldId id="305" r:id="rId19"/>
    <p:sldId id="304" r:id="rId20"/>
    <p:sldId id="306" r:id="rId21"/>
    <p:sldId id="295" r:id="rId22"/>
    <p:sldId id="277" r:id="rId23"/>
    <p:sldId id="264" r:id="rId24"/>
    <p:sldId id="299" r:id="rId25"/>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969275855764163E-2"/>
          <c:y val="4.6447263957770532E-2"/>
          <c:w val="0.89762282951422234"/>
          <c:h val="0.76338170842735764"/>
        </c:manualLayout>
      </c:layout>
      <c:barChart>
        <c:barDir val="col"/>
        <c:grouping val="clustered"/>
        <c:varyColors val="0"/>
        <c:ser>
          <c:idx val="0"/>
          <c:order val="0"/>
          <c:tx>
            <c:strRef>
              <c:f>data!$AE$1</c:f>
              <c:strCache>
                <c:ptCount val="1"/>
                <c:pt idx="0">
                  <c:v>All</c:v>
                </c:pt>
              </c:strCache>
            </c:strRef>
          </c:tx>
          <c:spPr>
            <a:solidFill>
              <a:srgbClr val="ED7D31"/>
            </a:solidFill>
            <a:ln>
              <a:solidFill>
                <a:srgbClr val="ED7D31"/>
              </a:solidFill>
            </a:ln>
            <a:effectLst/>
          </c:spPr>
          <c:invertIfNegative val="0"/>
          <c:cat>
            <c:strRef>
              <c:f>data!$AD$2:$AD$16</c:f>
              <c:strCache>
                <c:ptCount val="15"/>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strCache>
            </c:strRef>
          </c:cat>
          <c:val>
            <c:numRef>
              <c:f>data!$AE$2:$AE$16</c:f>
              <c:numCache>
                <c:formatCode>General</c:formatCode>
                <c:ptCount val="15"/>
                <c:pt idx="0">
                  <c:v>0</c:v>
                </c:pt>
                <c:pt idx="1">
                  <c:v>4</c:v>
                </c:pt>
                <c:pt idx="2">
                  <c:v>7</c:v>
                </c:pt>
                <c:pt idx="3">
                  <c:v>6</c:v>
                </c:pt>
                <c:pt idx="4">
                  <c:v>12</c:v>
                </c:pt>
                <c:pt idx="5">
                  <c:v>8</c:v>
                </c:pt>
                <c:pt idx="6">
                  <c:v>17</c:v>
                </c:pt>
                <c:pt idx="7">
                  <c:v>26</c:v>
                </c:pt>
                <c:pt idx="8">
                  <c:v>37</c:v>
                </c:pt>
                <c:pt idx="9">
                  <c:v>42</c:v>
                </c:pt>
                <c:pt idx="10">
                  <c:v>34</c:v>
                </c:pt>
                <c:pt idx="11">
                  <c:v>44</c:v>
                </c:pt>
                <c:pt idx="12">
                  <c:v>29</c:v>
                </c:pt>
                <c:pt idx="13">
                  <c:v>25</c:v>
                </c:pt>
                <c:pt idx="14">
                  <c:v>33</c:v>
                </c:pt>
              </c:numCache>
            </c:numRef>
          </c:val>
          <c:extLst>
            <c:ext xmlns:c16="http://schemas.microsoft.com/office/drawing/2014/chart" uri="{C3380CC4-5D6E-409C-BE32-E72D297353CC}">
              <c16:uniqueId val="{00000000-D225-41C4-82C2-184D4AD0B482}"/>
            </c:ext>
          </c:extLst>
        </c:ser>
        <c:dLbls>
          <c:showLegendKey val="0"/>
          <c:showVal val="0"/>
          <c:showCatName val="0"/>
          <c:showSerName val="0"/>
          <c:showPercent val="0"/>
          <c:showBubbleSize val="0"/>
        </c:dLbls>
        <c:gapWidth val="150"/>
        <c:axId val="604200224"/>
        <c:axId val="604199240"/>
      </c:barChart>
      <c:catAx>
        <c:axId val="604200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Arial Narrow" panose="020B0606020202030204" pitchFamily="34" charset="0"/>
                <a:ea typeface="+mn-ea"/>
                <a:cs typeface="+mn-cs"/>
              </a:defRPr>
            </a:pPr>
            <a:endParaRPr lang="bg-BG"/>
          </a:p>
        </c:txPr>
        <c:crossAx val="604199240"/>
        <c:crosses val="autoZero"/>
        <c:auto val="1"/>
        <c:lblAlgn val="ctr"/>
        <c:lblOffset val="100"/>
        <c:noMultiLvlLbl val="0"/>
      </c:catAx>
      <c:valAx>
        <c:axId val="604199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Arial Narrow" panose="020B0606020202030204" pitchFamily="34" charset="0"/>
                <a:ea typeface="+mn-ea"/>
                <a:cs typeface="+mn-cs"/>
              </a:defRPr>
            </a:pPr>
            <a:endParaRPr lang="bg-BG"/>
          </a:p>
        </c:txPr>
        <c:crossAx val="604200224"/>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1400">
          <a:solidFill>
            <a:sysClr val="windowText" lastClr="000000"/>
          </a:solidFill>
          <a:latin typeface="Arial Narrow" panose="020B0606020202030204" pitchFamily="34" charset="0"/>
        </a:defRPr>
      </a:pPr>
      <a:endParaRPr lang="bg-BG"/>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Sheet1!$I$13</c:f>
              <c:strCache>
                <c:ptCount val="1"/>
                <c:pt idx="0">
                  <c:v>Count</c:v>
                </c:pt>
              </c:strCache>
            </c:strRef>
          </c:tx>
          <c:spPr>
            <a:solidFill>
              <a:schemeClr val="accent6">
                <a:lumMod val="75000"/>
              </a:schemeClr>
            </a:solidFill>
            <a:ln>
              <a:noFill/>
            </a:ln>
            <a:effectLst/>
          </c:spPr>
          <c:invertIfNegative val="0"/>
          <c:cat>
            <c:numRef>
              <c:f>Sheet1!$H$14:$H$28</c:f>
              <c:numCache>
                <c:formatCode>@</c:formatCode>
                <c:ptCount val="15"/>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numCache>
            </c:numRef>
          </c:cat>
          <c:val>
            <c:numRef>
              <c:f>Sheet1!$I$14:$I$28</c:f>
              <c:numCache>
                <c:formatCode>0</c:formatCode>
                <c:ptCount val="15"/>
                <c:pt idx="0">
                  <c:v>11</c:v>
                </c:pt>
                <c:pt idx="1">
                  <c:v>17</c:v>
                </c:pt>
                <c:pt idx="2">
                  <c:v>14</c:v>
                </c:pt>
                <c:pt idx="3">
                  <c:v>44</c:v>
                </c:pt>
                <c:pt idx="4">
                  <c:v>52</c:v>
                </c:pt>
                <c:pt idx="5">
                  <c:v>69</c:v>
                </c:pt>
                <c:pt idx="6">
                  <c:v>104</c:v>
                </c:pt>
                <c:pt idx="7">
                  <c:v>112</c:v>
                </c:pt>
                <c:pt idx="8">
                  <c:v>171</c:v>
                </c:pt>
                <c:pt idx="9">
                  <c:v>234</c:v>
                </c:pt>
                <c:pt idx="10">
                  <c:v>338</c:v>
                </c:pt>
                <c:pt idx="11">
                  <c:v>465</c:v>
                </c:pt>
                <c:pt idx="12">
                  <c:v>600</c:v>
                </c:pt>
                <c:pt idx="13">
                  <c:v>787</c:v>
                </c:pt>
                <c:pt idx="14">
                  <c:v>998</c:v>
                </c:pt>
              </c:numCache>
            </c:numRef>
          </c:val>
          <c:extLst>
            <c:ext xmlns:c16="http://schemas.microsoft.com/office/drawing/2014/chart" uri="{C3380CC4-5D6E-409C-BE32-E72D297353CC}">
              <c16:uniqueId val="{00000000-DAC3-487B-A379-9CAB4BE85684}"/>
            </c:ext>
          </c:extLst>
        </c:ser>
        <c:dLbls>
          <c:showLegendKey val="0"/>
          <c:showVal val="0"/>
          <c:showCatName val="0"/>
          <c:showSerName val="0"/>
          <c:showPercent val="0"/>
          <c:showBubbleSize val="0"/>
        </c:dLbls>
        <c:gapWidth val="150"/>
        <c:overlap val="-27"/>
        <c:axId val="312898080"/>
        <c:axId val="312898560"/>
      </c:barChart>
      <c:catAx>
        <c:axId val="312898080"/>
        <c:scaling>
          <c:orientation val="minMax"/>
        </c:scaling>
        <c:delete val="0"/>
        <c:axPos val="b"/>
        <c:numFmt formatCode="@"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Arial Narrow" panose="020B0606020202030204" pitchFamily="34" charset="0"/>
                <a:ea typeface="+mn-ea"/>
                <a:cs typeface="+mn-cs"/>
              </a:defRPr>
            </a:pPr>
            <a:endParaRPr lang="bg-BG"/>
          </a:p>
        </c:txPr>
        <c:crossAx val="312898560"/>
        <c:crosses val="autoZero"/>
        <c:auto val="1"/>
        <c:lblAlgn val="ctr"/>
        <c:lblOffset val="100"/>
        <c:noMultiLvlLbl val="0"/>
      </c:catAx>
      <c:valAx>
        <c:axId val="312898560"/>
        <c:scaling>
          <c:orientation val="minMax"/>
          <c:max val="1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ysClr val="windowText" lastClr="000000"/>
                </a:solidFill>
                <a:latin typeface="Arial Narrow" panose="020B0606020202030204" pitchFamily="34" charset="0"/>
                <a:ea typeface="+mn-ea"/>
                <a:cs typeface="+mn-cs"/>
              </a:defRPr>
            </a:pPr>
            <a:endParaRPr lang="bg-BG"/>
          </a:p>
        </c:txPr>
        <c:crossAx val="3128980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400">
          <a:solidFill>
            <a:sysClr val="windowText" lastClr="000000"/>
          </a:solidFill>
          <a:latin typeface="Arial Narrow" panose="020B0606020202030204" pitchFamily="34" charset="0"/>
        </a:defRPr>
      </a:pPr>
      <a:endParaRPr lang="bg-BG"/>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297024915844884"/>
          <c:y val="0.10725054780996413"/>
          <c:w val="0.62063449808987403"/>
          <c:h val="0.82718558401543685"/>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65A-4FA8-A7F3-FE6D13227A4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65A-4FA8-A7F3-FE6D13227A4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65A-4FA8-A7F3-FE6D13227A4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65A-4FA8-A7F3-FE6D13227A4E}"/>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65A-4FA8-A7F3-FE6D13227A4E}"/>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65A-4FA8-A7F3-FE6D13227A4E}"/>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65A-4FA8-A7F3-FE6D13227A4E}"/>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65A-4FA8-A7F3-FE6D13227A4E}"/>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B65A-4FA8-A7F3-FE6D13227A4E}"/>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B65A-4FA8-A7F3-FE6D13227A4E}"/>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B65A-4FA8-A7F3-FE6D13227A4E}"/>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B65A-4FA8-A7F3-FE6D13227A4E}"/>
              </c:ext>
            </c:extLst>
          </c:dPt>
          <c:dPt>
            <c:idx val="12"/>
            <c:bubble3D val="0"/>
            <c:spPr>
              <a:solidFill>
                <a:srgbClr val="FFC000">
                  <a:lumMod val="40000"/>
                  <a:lumOff val="60000"/>
                </a:srgbClr>
              </a:solidFill>
              <a:ln w="19050">
                <a:solidFill>
                  <a:schemeClr val="lt1"/>
                </a:solidFill>
              </a:ln>
              <a:effectLst/>
            </c:spPr>
            <c:extLst>
              <c:ext xmlns:c16="http://schemas.microsoft.com/office/drawing/2014/chart" uri="{C3380CC4-5D6E-409C-BE32-E72D297353CC}">
                <c16:uniqueId val="{00000019-B65A-4FA8-A7F3-FE6D13227A4E}"/>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B65A-4FA8-A7F3-FE6D13227A4E}"/>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B65A-4FA8-A7F3-FE6D13227A4E}"/>
              </c:ext>
            </c:extLst>
          </c:dPt>
          <c:dPt>
            <c:idx val="15"/>
            <c:bubble3D val="0"/>
            <c:spPr>
              <a:solidFill>
                <a:srgbClr val="FFFF00"/>
              </a:solidFill>
              <a:ln w="19050">
                <a:solidFill>
                  <a:schemeClr val="lt1"/>
                </a:solidFill>
              </a:ln>
              <a:effectLst/>
            </c:spPr>
            <c:extLst>
              <c:ext xmlns:c16="http://schemas.microsoft.com/office/drawing/2014/chart" uri="{C3380CC4-5D6E-409C-BE32-E72D297353CC}">
                <c16:uniqueId val="{0000001F-B65A-4FA8-A7F3-FE6D13227A4E}"/>
              </c:ext>
            </c:extLst>
          </c:dPt>
          <c:dPt>
            <c:idx val="16"/>
            <c:bubble3D val="0"/>
            <c:spPr>
              <a:solidFill>
                <a:srgbClr val="5B9BD5">
                  <a:lumMod val="60000"/>
                  <a:lumOff val="40000"/>
                </a:srgbClr>
              </a:solidFill>
              <a:ln w="19050">
                <a:solidFill>
                  <a:schemeClr val="lt1"/>
                </a:solidFill>
              </a:ln>
              <a:effectLst/>
            </c:spPr>
            <c:extLst>
              <c:ext xmlns:c16="http://schemas.microsoft.com/office/drawing/2014/chart" uri="{C3380CC4-5D6E-409C-BE32-E72D297353CC}">
                <c16:uniqueId val="{00000021-B65A-4FA8-A7F3-FE6D13227A4E}"/>
              </c:ext>
            </c:extLst>
          </c:dPt>
          <c:dPt>
            <c:idx val="17"/>
            <c:bubble3D val="0"/>
            <c:spPr>
              <a:solidFill>
                <a:srgbClr val="70AD47">
                  <a:lumMod val="40000"/>
                  <a:lumOff val="60000"/>
                </a:srgbClr>
              </a:solidFill>
              <a:ln w="19050">
                <a:solidFill>
                  <a:schemeClr val="lt1"/>
                </a:solidFill>
              </a:ln>
              <a:effectLst/>
            </c:spPr>
            <c:extLst>
              <c:ext xmlns:c16="http://schemas.microsoft.com/office/drawing/2014/chart" uri="{C3380CC4-5D6E-409C-BE32-E72D297353CC}">
                <c16:uniqueId val="{00000023-B65A-4FA8-A7F3-FE6D13227A4E}"/>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B65A-4FA8-A7F3-FE6D13227A4E}"/>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B65A-4FA8-A7F3-FE6D13227A4E}"/>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B65A-4FA8-A7F3-FE6D13227A4E}"/>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B65A-4FA8-A7F3-FE6D13227A4E}"/>
              </c:ext>
            </c:extLst>
          </c:dPt>
          <c:dLbls>
            <c:dLbl>
              <c:idx val="3"/>
              <c:layout>
                <c:manualLayout>
                  <c:x val="9.709184483612146E-3"/>
                  <c:y val="-3.391307293877559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65A-4FA8-A7F3-FE6D13227A4E}"/>
                </c:ext>
              </c:extLst>
            </c:dLbl>
            <c:dLbl>
              <c:idx val="7"/>
              <c:layout>
                <c:manualLayout>
                  <c:x val="4.6766360847376301E-2"/>
                  <c:y val="-1.2070236463848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B65A-4FA8-A7F3-FE6D13227A4E}"/>
                </c:ext>
              </c:extLst>
            </c:dLbl>
            <c:dLbl>
              <c:idx val="9"/>
              <c:layout>
                <c:manualLayout>
                  <c:x val="-6.0868782037922883E-2"/>
                  <c:y val="4.3508836803281617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3-B65A-4FA8-A7F3-FE6D13227A4E}"/>
                </c:ext>
              </c:extLst>
            </c:dLbl>
            <c:dLbl>
              <c:idx val="20"/>
              <c:layout>
                <c:manualLayout>
                  <c:x val="-1.1558928285463106E-2"/>
                  <c:y val="-0.2373908888824253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29-B65A-4FA8-A7F3-FE6D13227A4E}"/>
                </c:ext>
              </c:extLst>
            </c:dLbl>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Arial Narrow" panose="020B0606020202030204" pitchFamily="34" charset="0"/>
                    <a:ea typeface="+mn-ea"/>
                    <a:cs typeface="+mn-cs"/>
                  </a:defRPr>
                </a:pPr>
                <a:endParaRPr lang="bg-BG"/>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Sheet1!$D$36:$D$57</c:f>
              <c:strCache>
                <c:ptCount val="22"/>
                <c:pt idx="0">
                  <c:v>United States</c:v>
                </c:pt>
                <c:pt idx="1">
                  <c:v>China</c:v>
                </c:pt>
                <c:pt idx="2">
                  <c:v>India</c:v>
                </c:pt>
                <c:pt idx="3">
                  <c:v>United Kingdom</c:v>
                </c:pt>
                <c:pt idx="4">
                  <c:v>Spain</c:v>
                </c:pt>
                <c:pt idx="5">
                  <c:v>Germany</c:v>
                </c:pt>
                <c:pt idx="6">
                  <c:v>Australia</c:v>
                </c:pt>
                <c:pt idx="7">
                  <c:v>Canada</c:v>
                </c:pt>
                <c:pt idx="8">
                  <c:v>Malaysia</c:v>
                </c:pt>
                <c:pt idx="9">
                  <c:v>Indonesia</c:v>
                </c:pt>
                <c:pt idx="10">
                  <c:v>Greece</c:v>
                </c:pt>
                <c:pt idx="11">
                  <c:v>Taiwan</c:v>
                </c:pt>
                <c:pt idx="12">
                  <c:v>Italy</c:v>
                </c:pt>
                <c:pt idx="13">
                  <c:v>Hong Kong</c:v>
                </c:pt>
                <c:pt idx="14">
                  <c:v>Brazil</c:v>
                </c:pt>
                <c:pt idx="15">
                  <c:v>South Korea</c:v>
                </c:pt>
                <c:pt idx="16">
                  <c:v>Portugal</c:v>
                </c:pt>
                <c:pt idx="17">
                  <c:v>Thailand</c:v>
                </c:pt>
                <c:pt idx="18">
                  <c:v>Netherlands</c:v>
                </c:pt>
                <c:pt idx="19">
                  <c:v>Saudi Arabia</c:v>
                </c:pt>
                <c:pt idx="20">
                  <c:v>Turkey</c:v>
                </c:pt>
                <c:pt idx="21">
                  <c:v>Others</c:v>
                </c:pt>
              </c:strCache>
            </c:strRef>
          </c:cat>
          <c:val>
            <c:numRef>
              <c:f>Sheet1!$E$36:$E$57</c:f>
              <c:numCache>
                <c:formatCode>#,##0</c:formatCode>
                <c:ptCount val="22"/>
                <c:pt idx="0">
                  <c:v>1099</c:v>
                </c:pt>
                <c:pt idx="1">
                  <c:v>558</c:v>
                </c:pt>
                <c:pt idx="2">
                  <c:v>330</c:v>
                </c:pt>
                <c:pt idx="3">
                  <c:v>211</c:v>
                </c:pt>
                <c:pt idx="4">
                  <c:v>189</c:v>
                </c:pt>
                <c:pt idx="5">
                  <c:v>171</c:v>
                </c:pt>
                <c:pt idx="6">
                  <c:v>159</c:v>
                </c:pt>
                <c:pt idx="7">
                  <c:v>130</c:v>
                </c:pt>
                <c:pt idx="8">
                  <c:v>129</c:v>
                </c:pt>
                <c:pt idx="9">
                  <c:v>115</c:v>
                </c:pt>
                <c:pt idx="10">
                  <c:v>110</c:v>
                </c:pt>
                <c:pt idx="11">
                  <c:v>109</c:v>
                </c:pt>
                <c:pt idx="12">
                  <c:v>106</c:v>
                </c:pt>
                <c:pt idx="13">
                  <c:v>79</c:v>
                </c:pt>
                <c:pt idx="14">
                  <c:v>74</c:v>
                </c:pt>
                <c:pt idx="15">
                  <c:v>74</c:v>
                </c:pt>
                <c:pt idx="16">
                  <c:v>68</c:v>
                </c:pt>
                <c:pt idx="17">
                  <c:v>67</c:v>
                </c:pt>
                <c:pt idx="18">
                  <c:v>66</c:v>
                </c:pt>
                <c:pt idx="19">
                  <c:v>63</c:v>
                </c:pt>
                <c:pt idx="20">
                  <c:v>60</c:v>
                </c:pt>
                <c:pt idx="21">
                  <c:v>1558</c:v>
                </c:pt>
              </c:numCache>
            </c:numRef>
          </c:val>
          <c:extLst>
            <c:ext xmlns:c16="http://schemas.microsoft.com/office/drawing/2014/chart" uri="{C3380CC4-5D6E-409C-BE32-E72D297353CC}">
              <c16:uniqueId val="{0000002C-B65A-4FA8-A7F3-FE6D13227A4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solidFill>
            <a:sysClr val="windowText" lastClr="000000"/>
          </a:solidFill>
        </a:defRPr>
      </a:pPr>
      <a:endParaRPr lang="bg-BG"/>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8747924766690186"/>
          <c:y val="0.10256937181915242"/>
          <c:w val="0.68514841835573548"/>
          <c:h val="0.81623167213407155"/>
        </c:manualLayout>
      </c:layout>
      <c:pieChart>
        <c:varyColors val="1"/>
        <c:ser>
          <c:idx val="0"/>
          <c:order val="0"/>
          <c:dPt>
            <c:idx val="0"/>
            <c:bubble3D val="0"/>
            <c:spPr>
              <a:solidFill>
                <a:srgbClr val="4472C4">
                  <a:lumMod val="60000"/>
                  <a:lumOff val="40000"/>
                </a:srgbClr>
              </a:solidFill>
              <a:ln w="19050">
                <a:solidFill>
                  <a:schemeClr val="lt1"/>
                </a:solidFill>
              </a:ln>
              <a:effectLst/>
            </c:spPr>
            <c:extLst>
              <c:ext xmlns:c16="http://schemas.microsoft.com/office/drawing/2014/chart" uri="{C3380CC4-5D6E-409C-BE32-E72D297353CC}">
                <c16:uniqueId val="{00000001-4EB5-4255-8549-C59E997E2E6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EB5-4255-8549-C59E997E2E6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EB5-4255-8549-C59E997E2E6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EB5-4255-8549-C59E997E2E6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EB5-4255-8549-C59E997E2E6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4EB5-4255-8549-C59E997E2E6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B5-4255-8549-C59E997E2E6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4EB5-4255-8549-C59E997E2E6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4EB5-4255-8549-C59E997E2E69}"/>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4EB5-4255-8549-C59E997E2E69}"/>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4EB5-4255-8549-C59E997E2E69}"/>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4EB5-4255-8549-C59E997E2E69}"/>
              </c:ext>
            </c:extLst>
          </c:dPt>
          <c:dPt>
            <c:idx val="12"/>
            <c:bubble3D val="0"/>
            <c:spPr>
              <a:solidFill>
                <a:srgbClr val="00B0F0"/>
              </a:solidFill>
              <a:ln w="19050">
                <a:solidFill>
                  <a:schemeClr val="lt1"/>
                </a:solidFill>
              </a:ln>
              <a:effectLst/>
            </c:spPr>
            <c:extLst>
              <c:ext xmlns:c16="http://schemas.microsoft.com/office/drawing/2014/chart" uri="{C3380CC4-5D6E-409C-BE32-E72D297353CC}">
                <c16:uniqueId val="{00000019-4EB5-4255-8549-C59E997E2E69}"/>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4EB5-4255-8549-C59E997E2E69}"/>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4EB5-4255-8549-C59E997E2E69}"/>
              </c:ext>
            </c:extLst>
          </c:dPt>
          <c:dPt>
            <c:idx val="15"/>
            <c:bubble3D val="0"/>
            <c:spPr>
              <a:solidFill>
                <a:srgbClr val="FFFF00"/>
              </a:solidFill>
              <a:ln w="19050">
                <a:solidFill>
                  <a:schemeClr val="lt1"/>
                </a:solidFill>
              </a:ln>
              <a:effectLst/>
            </c:spPr>
            <c:extLst>
              <c:ext xmlns:c16="http://schemas.microsoft.com/office/drawing/2014/chart" uri="{C3380CC4-5D6E-409C-BE32-E72D297353CC}">
                <c16:uniqueId val="{0000001F-4EB5-4255-8549-C59E997E2E69}"/>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4EB5-4255-8549-C59E997E2E69}"/>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4EB5-4255-8549-C59E997E2E69}"/>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4EB5-4255-8549-C59E997E2E69}"/>
              </c:ext>
            </c:extLst>
          </c:dPt>
          <c:dPt>
            <c:idx val="19"/>
            <c:bubble3D val="0"/>
            <c:spPr>
              <a:solidFill>
                <a:srgbClr val="FFC000">
                  <a:lumMod val="40000"/>
                  <a:lumOff val="60000"/>
                </a:srgbClr>
              </a:solidFill>
              <a:ln w="19050">
                <a:solidFill>
                  <a:schemeClr val="lt1"/>
                </a:solidFill>
              </a:ln>
              <a:effectLst/>
            </c:spPr>
            <c:extLst>
              <c:ext xmlns:c16="http://schemas.microsoft.com/office/drawing/2014/chart" uri="{C3380CC4-5D6E-409C-BE32-E72D297353CC}">
                <c16:uniqueId val="{00000027-4EB5-4255-8549-C59E997E2E69}"/>
              </c:ext>
            </c:extLst>
          </c:dPt>
          <c:dLbls>
            <c:dLbl>
              <c:idx val="3"/>
              <c:tx>
                <c:rich>
                  <a:bodyPr rot="0" spcFirstLastPara="1" vertOverflow="ellipsis" vert="horz" wrap="square" anchor="ctr" anchorCtr="1"/>
                  <a:lstStyle/>
                  <a:p>
                    <a:pPr>
                      <a:defRPr sz="1400" b="0" i="0" u="none" strike="noStrike" kern="1200" baseline="0">
                        <a:solidFill>
                          <a:schemeClr val="tx2"/>
                        </a:solidFill>
                        <a:latin typeface="Arial Narrow" panose="020B0606020202030204" pitchFamily="34" charset="0"/>
                        <a:ea typeface="+mn-ea"/>
                        <a:cs typeface="+mn-cs"/>
                      </a:defRPr>
                    </a:pPr>
                    <a:fld id="{0C8D608E-0F94-4E3F-83C1-D2B9DDDA2948}" type="CATEGORYNAME">
                      <a:rPr lang="en-US">
                        <a:solidFill>
                          <a:schemeClr val="accent4">
                            <a:lumMod val="20000"/>
                            <a:lumOff val="80000"/>
                          </a:schemeClr>
                        </a:solidFill>
                      </a:rPr>
                      <a:pPr>
                        <a:defRPr>
                          <a:solidFill>
                            <a:schemeClr val="tx2"/>
                          </a:solidFill>
                        </a:defRPr>
                      </a:pPr>
                      <a:t>[CATEGORY NAME]</a:t>
                    </a:fld>
                    <a:r>
                      <a:rPr lang="en-US" baseline="0" dirty="0">
                        <a:solidFill>
                          <a:schemeClr val="accent4">
                            <a:lumMod val="20000"/>
                            <a:lumOff val="80000"/>
                          </a:schemeClr>
                        </a:solidFill>
                      </a:rPr>
                      <a:t>
</a:t>
                    </a:r>
                    <a:fld id="{5FCA3323-0EFF-4F08-8EF8-B03C91F7F91D}" type="PERCENTAGE">
                      <a:rPr lang="en-US" baseline="0">
                        <a:solidFill>
                          <a:schemeClr val="accent4">
                            <a:lumMod val="20000"/>
                            <a:lumOff val="80000"/>
                          </a:schemeClr>
                        </a:solidFill>
                      </a:rPr>
                      <a:pPr>
                        <a:defRPr>
                          <a:solidFill>
                            <a:schemeClr val="tx2"/>
                          </a:solidFill>
                        </a:defRPr>
                      </a:pPr>
                      <a:t>[PERCENTAGE]</a:t>
                    </a:fld>
                    <a:endParaRPr lang="en-US" baseline="0" dirty="0">
                      <a:solidFill>
                        <a:schemeClr val="accent4">
                          <a:lumMod val="20000"/>
                          <a:lumOff val="80000"/>
                        </a:schemeClr>
                      </a:solidFill>
                    </a:endParaRPr>
                  </a:p>
                </c:rich>
              </c:tx>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Arial Narrow" panose="020B0606020202030204" pitchFamily="34" charset="0"/>
                      <a:ea typeface="+mn-ea"/>
                      <a:cs typeface="+mn-cs"/>
                    </a:defRPr>
                  </a:pPr>
                  <a:endParaRPr lang="bg-BG"/>
                </a:p>
              </c:tx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EB5-4255-8549-C59E997E2E69}"/>
                </c:ext>
              </c:extLst>
            </c:dLbl>
            <c:spPr>
              <a:noFill/>
              <a:ln>
                <a:noFill/>
              </a:ln>
              <a:effectLst/>
            </c:spPr>
            <c:txPr>
              <a:bodyPr rot="0" spcFirstLastPara="1" vertOverflow="ellipsis" vert="horz" wrap="square" anchor="ctr" anchorCtr="1"/>
              <a:lstStyle/>
              <a:p>
                <a:pPr>
                  <a:defRPr sz="1400" b="0" i="0" u="none" strike="noStrike" kern="1200" baseline="0">
                    <a:solidFill>
                      <a:schemeClr val="accent1">
                        <a:lumMod val="50000"/>
                      </a:schemeClr>
                    </a:solidFill>
                    <a:latin typeface="Arial Narrow" panose="020B0606020202030204" pitchFamily="34" charset="0"/>
                    <a:ea typeface="+mn-ea"/>
                    <a:cs typeface="+mn-cs"/>
                  </a:defRPr>
                </a:pPr>
                <a:endParaRPr lang="bg-BG"/>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data!$A$128:$A$147</c:f>
              <c:strCache>
                <c:ptCount val="20"/>
                <c:pt idx="0">
                  <c:v>USA</c:v>
                </c:pt>
                <c:pt idx="1">
                  <c:v>Germany</c:v>
                </c:pt>
                <c:pt idx="2">
                  <c:v>China</c:v>
                </c:pt>
                <c:pt idx="3">
                  <c:v>United Kingdom</c:v>
                </c:pt>
                <c:pt idx="4">
                  <c:v>Spain</c:v>
                </c:pt>
                <c:pt idx="5">
                  <c:v>Australia</c:v>
                </c:pt>
                <c:pt idx="6">
                  <c:v>Italy </c:v>
                </c:pt>
                <c:pt idx="7">
                  <c:v>Japan</c:v>
                </c:pt>
                <c:pt idx="8">
                  <c:v>Canada</c:v>
                </c:pt>
                <c:pt idx="9">
                  <c:v>Netherlands</c:v>
                </c:pt>
                <c:pt idx="10">
                  <c:v>Ireland</c:v>
                </c:pt>
                <c:pt idx="11">
                  <c:v>Greece</c:v>
                </c:pt>
                <c:pt idx="12">
                  <c:v>India</c:v>
                </c:pt>
                <c:pt idx="13">
                  <c:v>Russia</c:v>
                </c:pt>
                <c:pt idx="14">
                  <c:v>Switzerland</c:v>
                </c:pt>
                <c:pt idx="15">
                  <c:v>Romania</c:v>
                </c:pt>
                <c:pt idx="16">
                  <c:v>Thailand</c:v>
                </c:pt>
                <c:pt idx="17">
                  <c:v>Denmark</c:v>
                </c:pt>
                <c:pt idx="18">
                  <c:v>Sweden</c:v>
                </c:pt>
                <c:pt idx="19">
                  <c:v>Others</c:v>
                </c:pt>
              </c:strCache>
            </c:strRef>
          </c:cat>
          <c:val>
            <c:numRef>
              <c:f>data!$B$128:$B$147</c:f>
              <c:numCache>
                <c:formatCode>General</c:formatCode>
                <c:ptCount val="20"/>
                <c:pt idx="0">
                  <c:v>176</c:v>
                </c:pt>
                <c:pt idx="1">
                  <c:v>32</c:v>
                </c:pt>
                <c:pt idx="2">
                  <c:v>28</c:v>
                </c:pt>
                <c:pt idx="3">
                  <c:v>26</c:v>
                </c:pt>
                <c:pt idx="4">
                  <c:v>20</c:v>
                </c:pt>
                <c:pt idx="5">
                  <c:v>14</c:v>
                </c:pt>
                <c:pt idx="6">
                  <c:v>14</c:v>
                </c:pt>
                <c:pt idx="7">
                  <c:v>14</c:v>
                </c:pt>
                <c:pt idx="8">
                  <c:v>13</c:v>
                </c:pt>
                <c:pt idx="9">
                  <c:v>12</c:v>
                </c:pt>
                <c:pt idx="10">
                  <c:v>11</c:v>
                </c:pt>
                <c:pt idx="11">
                  <c:v>9</c:v>
                </c:pt>
                <c:pt idx="12">
                  <c:v>9</c:v>
                </c:pt>
                <c:pt idx="13">
                  <c:v>8</c:v>
                </c:pt>
                <c:pt idx="14">
                  <c:v>8</c:v>
                </c:pt>
                <c:pt idx="15">
                  <c:v>6</c:v>
                </c:pt>
                <c:pt idx="16">
                  <c:v>6</c:v>
                </c:pt>
                <c:pt idx="17">
                  <c:v>5</c:v>
                </c:pt>
                <c:pt idx="18">
                  <c:v>5</c:v>
                </c:pt>
                <c:pt idx="19">
                  <c:v>84</c:v>
                </c:pt>
              </c:numCache>
            </c:numRef>
          </c:val>
          <c:extLst>
            <c:ext xmlns:c16="http://schemas.microsoft.com/office/drawing/2014/chart" uri="{C3380CC4-5D6E-409C-BE32-E72D297353CC}">
              <c16:uniqueId val="{00000028-4EB5-4255-8549-C59E997E2E6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sz="1400">
          <a:latin typeface="Arial Narrow" panose="020B0606020202030204" pitchFamily="34" charset="0"/>
        </a:defRPr>
      </a:pPr>
      <a:endParaRPr lang="bg-BG"/>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169458820983535"/>
          <c:y val="6.1690473767556285E-2"/>
          <c:w val="0.87276660082934154"/>
          <c:h val="0.71384912112193599"/>
        </c:manualLayout>
      </c:layout>
      <c:barChart>
        <c:barDir val="col"/>
        <c:grouping val="clustered"/>
        <c:varyColors val="0"/>
        <c:ser>
          <c:idx val="0"/>
          <c:order val="0"/>
          <c:tx>
            <c:strRef>
              <c:f>data!$E$70</c:f>
              <c:strCache>
                <c:ptCount val="1"/>
                <c:pt idx="0">
                  <c:v>All</c:v>
                </c:pt>
              </c:strCache>
            </c:strRef>
          </c:tx>
          <c:spPr>
            <a:solidFill>
              <a:schemeClr val="accent6">
                <a:lumMod val="50000"/>
              </a:schemeClr>
            </a:solidFill>
            <a:ln>
              <a:solidFill>
                <a:schemeClr val="accent6">
                  <a:lumMod val="50000"/>
                </a:schemeClr>
              </a:solidFill>
            </a:ln>
            <a:effectLst/>
          </c:spPr>
          <c:invertIfNegative val="0"/>
          <c:cat>
            <c:strRef>
              <c:f>data!$D$71:$D$74</c:f>
              <c:strCache>
                <c:ptCount val="4"/>
                <c:pt idx="0">
                  <c:v>Article</c:v>
                </c:pt>
                <c:pt idx="1">
                  <c:v>Proceeding Paper</c:v>
                </c:pt>
                <c:pt idx="2">
                  <c:v>Review Article</c:v>
                </c:pt>
                <c:pt idx="3">
                  <c:v>Book Chapter</c:v>
                </c:pt>
              </c:strCache>
            </c:strRef>
          </c:cat>
          <c:val>
            <c:numRef>
              <c:f>data!$E$71:$E$74</c:f>
              <c:numCache>
                <c:formatCode>General</c:formatCode>
                <c:ptCount val="4"/>
                <c:pt idx="0">
                  <c:v>171</c:v>
                </c:pt>
                <c:pt idx="1">
                  <c:v>138</c:v>
                </c:pt>
                <c:pt idx="2">
                  <c:v>20</c:v>
                </c:pt>
                <c:pt idx="3">
                  <c:v>5</c:v>
                </c:pt>
              </c:numCache>
            </c:numRef>
          </c:val>
          <c:extLst>
            <c:ext xmlns:c16="http://schemas.microsoft.com/office/drawing/2014/chart" uri="{C3380CC4-5D6E-409C-BE32-E72D297353CC}">
              <c16:uniqueId val="{00000000-D847-40DC-B564-DEF1633394D1}"/>
            </c:ext>
          </c:extLst>
        </c:ser>
        <c:ser>
          <c:idx val="1"/>
          <c:order val="1"/>
          <c:tx>
            <c:strRef>
              <c:f>data!$F$70</c:f>
              <c:strCache>
                <c:ptCount val="1"/>
                <c:pt idx="0">
                  <c:v>OA (41.6%)</c:v>
                </c:pt>
              </c:strCache>
            </c:strRef>
          </c:tx>
          <c:spPr>
            <a:solidFill>
              <a:schemeClr val="accent6"/>
            </a:solidFill>
            <a:ln>
              <a:solidFill>
                <a:schemeClr val="accent6"/>
              </a:solidFill>
            </a:ln>
            <a:effectLst/>
          </c:spPr>
          <c:invertIfNegative val="0"/>
          <c:cat>
            <c:strRef>
              <c:f>data!$D$71:$D$74</c:f>
              <c:strCache>
                <c:ptCount val="4"/>
                <c:pt idx="0">
                  <c:v>Article</c:v>
                </c:pt>
                <c:pt idx="1">
                  <c:v>Proceeding Paper</c:v>
                </c:pt>
                <c:pt idx="2">
                  <c:v>Review Article</c:v>
                </c:pt>
                <c:pt idx="3">
                  <c:v>Book Chapter</c:v>
                </c:pt>
              </c:strCache>
            </c:strRef>
          </c:cat>
          <c:val>
            <c:numRef>
              <c:f>data!$F$71:$F$74</c:f>
              <c:numCache>
                <c:formatCode>General</c:formatCode>
                <c:ptCount val="4"/>
                <c:pt idx="0">
                  <c:v>102</c:v>
                </c:pt>
                <c:pt idx="1">
                  <c:v>21</c:v>
                </c:pt>
                <c:pt idx="2">
                  <c:v>13</c:v>
                </c:pt>
                <c:pt idx="3">
                  <c:v>0</c:v>
                </c:pt>
              </c:numCache>
            </c:numRef>
          </c:val>
          <c:extLst>
            <c:ext xmlns:c16="http://schemas.microsoft.com/office/drawing/2014/chart" uri="{C3380CC4-5D6E-409C-BE32-E72D297353CC}">
              <c16:uniqueId val="{00000001-D847-40DC-B564-DEF1633394D1}"/>
            </c:ext>
          </c:extLst>
        </c:ser>
        <c:dLbls>
          <c:showLegendKey val="0"/>
          <c:showVal val="0"/>
          <c:showCatName val="0"/>
          <c:showSerName val="0"/>
          <c:showPercent val="0"/>
          <c:showBubbleSize val="0"/>
        </c:dLbls>
        <c:gapWidth val="219"/>
        <c:overlap val="-27"/>
        <c:axId val="506839632"/>
        <c:axId val="506841272"/>
      </c:barChart>
      <c:catAx>
        <c:axId val="506839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ysClr val="windowText" lastClr="000000"/>
                </a:solidFill>
                <a:latin typeface="Arial Narrow" panose="020B0606020202030204" pitchFamily="34" charset="0"/>
                <a:ea typeface="+mn-ea"/>
                <a:cs typeface="+mn-cs"/>
              </a:defRPr>
            </a:pPr>
            <a:endParaRPr lang="bg-BG"/>
          </a:p>
        </c:txPr>
        <c:crossAx val="506841272"/>
        <c:crosses val="autoZero"/>
        <c:auto val="1"/>
        <c:lblAlgn val="ctr"/>
        <c:lblOffset val="100"/>
        <c:noMultiLvlLbl val="0"/>
      </c:catAx>
      <c:valAx>
        <c:axId val="506841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ysClr val="windowText" lastClr="000000"/>
                </a:solidFill>
                <a:latin typeface="Arial Narrow" panose="020B0606020202030204" pitchFamily="34" charset="0"/>
                <a:ea typeface="+mn-ea"/>
                <a:cs typeface="+mn-cs"/>
              </a:defRPr>
            </a:pPr>
            <a:endParaRPr lang="bg-BG"/>
          </a:p>
        </c:txPr>
        <c:crossAx val="506839632"/>
        <c:crosses val="autoZero"/>
        <c:crossBetween val="between"/>
      </c:valAx>
      <c:spPr>
        <a:noFill/>
        <a:ln>
          <a:noFill/>
        </a:ln>
        <a:effectLst/>
      </c:spPr>
    </c:plotArea>
    <c:legend>
      <c:legendPos val="b"/>
      <c:layout>
        <c:manualLayout>
          <c:xMode val="edge"/>
          <c:yMode val="edge"/>
          <c:x val="0.45859546632529419"/>
          <c:y val="0.1194211312791563"/>
          <c:w val="0.42594378827646545"/>
          <c:h val="7.8125546806649168E-2"/>
        </c:manualLayout>
      </c:layout>
      <c:overlay val="0"/>
      <c:spPr>
        <a:noFill/>
        <a:ln>
          <a:noFill/>
        </a:ln>
        <a:effectLst/>
      </c:spPr>
      <c:txPr>
        <a:bodyPr rot="0" spcFirstLastPara="1" vertOverflow="ellipsis" vert="horz" wrap="square" anchor="ctr" anchorCtr="1"/>
        <a:lstStyle/>
        <a:p>
          <a:pPr>
            <a:defRPr sz="2000" b="0" i="0" u="none" strike="noStrike" kern="1200" baseline="0">
              <a:solidFill>
                <a:sysClr val="windowText" lastClr="000000"/>
              </a:solidFill>
              <a:latin typeface="Arial Narrow" panose="020B0606020202030204" pitchFamily="34" charset="0"/>
              <a:ea typeface="+mn-ea"/>
              <a:cs typeface="+mn-cs"/>
            </a:defRPr>
          </a:pPr>
          <a:endParaRPr lang="bg-BG"/>
        </a:p>
      </c:txPr>
    </c:legend>
    <c:plotVisOnly val="1"/>
    <c:dispBlanksAs val="gap"/>
    <c:showDLblsOverMax val="0"/>
  </c:chart>
  <c:spPr>
    <a:noFill/>
    <a:ln>
      <a:noFill/>
    </a:ln>
    <a:effectLst/>
  </c:spPr>
  <c:txPr>
    <a:bodyPr/>
    <a:lstStyle/>
    <a:p>
      <a:pPr>
        <a:defRPr sz="2000">
          <a:solidFill>
            <a:sysClr val="windowText" lastClr="000000"/>
          </a:solidFill>
          <a:latin typeface="Arial Narrow" panose="020B0606020202030204" pitchFamily="34" charset="0"/>
        </a:defRPr>
      </a:pPr>
      <a:endParaRPr lang="bg-BG"/>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244360077781947"/>
          <c:y val="3.1556844567932126E-2"/>
          <c:w val="0.87486187531170445"/>
          <c:h val="0.84516982482014547"/>
        </c:manualLayout>
      </c:layout>
      <c:barChart>
        <c:barDir val="col"/>
        <c:grouping val="clustered"/>
        <c:varyColors val="0"/>
        <c:ser>
          <c:idx val="0"/>
          <c:order val="0"/>
          <c:tx>
            <c:strRef>
              <c:f>Sheet1!$S$3</c:f>
              <c:strCache>
                <c:ptCount val="1"/>
                <c:pt idx="0">
                  <c:v>All</c:v>
                </c:pt>
              </c:strCache>
            </c:strRef>
          </c:tx>
          <c:spPr>
            <a:solidFill>
              <a:schemeClr val="accent6">
                <a:lumMod val="75000"/>
              </a:schemeClr>
            </a:solidFill>
            <a:ln>
              <a:solidFill>
                <a:schemeClr val="accent6">
                  <a:lumMod val="75000"/>
                </a:schemeClr>
              </a:solidFill>
            </a:ln>
            <a:effectLst/>
          </c:spPr>
          <c:invertIfNegative val="0"/>
          <c:cat>
            <c:strRef>
              <c:f>Sheet1!$R$4:$R$7</c:f>
              <c:strCache>
                <c:ptCount val="4"/>
                <c:pt idx="0">
                  <c:v>Article</c:v>
                </c:pt>
                <c:pt idx="1">
                  <c:v>Proceeding Paper</c:v>
                </c:pt>
                <c:pt idx="2">
                  <c:v>Book </c:v>
                </c:pt>
                <c:pt idx="3">
                  <c:v>Book series</c:v>
                </c:pt>
              </c:strCache>
            </c:strRef>
          </c:cat>
          <c:val>
            <c:numRef>
              <c:f>Sheet1!$S$4:$S$7</c:f>
              <c:numCache>
                <c:formatCode>General</c:formatCode>
                <c:ptCount val="4"/>
                <c:pt idx="0">
                  <c:v>2236</c:v>
                </c:pt>
                <c:pt idx="1">
                  <c:v>1033</c:v>
                </c:pt>
                <c:pt idx="2">
                  <c:v>451</c:v>
                </c:pt>
                <c:pt idx="3">
                  <c:v>313</c:v>
                </c:pt>
              </c:numCache>
            </c:numRef>
          </c:val>
          <c:extLst>
            <c:ext xmlns:c16="http://schemas.microsoft.com/office/drawing/2014/chart" uri="{C3380CC4-5D6E-409C-BE32-E72D297353CC}">
              <c16:uniqueId val="{00000000-555E-4AED-93C4-E8B70BAD6C68}"/>
            </c:ext>
          </c:extLst>
        </c:ser>
        <c:ser>
          <c:idx val="1"/>
          <c:order val="1"/>
          <c:tx>
            <c:strRef>
              <c:f>Sheet1!$T$3</c:f>
              <c:strCache>
                <c:ptCount val="1"/>
                <c:pt idx="0">
                  <c:v>OA (38.1%)</c:v>
                </c:pt>
              </c:strCache>
            </c:strRef>
          </c:tx>
          <c:spPr>
            <a:solidFill>
              <a:schemeClr val="accent6">
                <a:lumMod val="40000"/>
                <a:lumOff val="60000"/>
              </a:schemeClr>
            </a:solidFill>
            <a:ln>
              <a:solidFill>
                <a:srgbClr val="70AD47"/>
              </a:solidFill>
            </a:ln>
            <a:effectLst/>
          </c:spPr>
          <c:invertIfNegative val="0"/>
          <c:cat>
            <c:strRef>
              <c:f>Sheet1!$R$4:$R$7</c:f>
              <c:strCache>
                <c:ptCount val="4"/>
                <c:pt idx="0">
                  <c:v>Article</c:v>
                </c:pt>
                <c:pt idx="1">
                  <c:v>Proceeding Paper</c:v>
                </c:pt>
                <c:pt idx="2">
                  <c:v>Book </c:v>
                </c:pt>
                <c:pt idx="3">
                  <c:v>Book series</c:v>
                </c:pt>
              </c:strCache>
            </c:strRef>
          </c:cat>
          <c:val>
            <c:numRef>
              <c:f>Sheet1!$T$4:$T$7</c:f>
              <c:numCache>
                <c:formatCode>General</c:formatCode>
                <c:ptCount val="4"/>
                <c:pt idx="0">
                  <c:v>1312</c:v>
                </c:pt>
                <c:pt idx="1">
                  <c:v>187</c:v>
                </c:pt>
                <c:pt idx="2">
                  <c:v>23</c:v>
                </c:pt>
                <c:pt idx="3">
                  <c:v>15</c:v>
                </c:pt>
              </c:numCache>
            </c:numRef>
          </c:val>
          <c:extLst>
            <c:ext xmlns:c16="http://schemas.microsoft.com/office/drawing/2014/chart" uri="{C3380CC4-5D6E-409C-BE32-E72D297353CC}">
              <c16:uniqueId val="{00000001-555E-4AED-93C4-E8B70BAD6C68}"/>
            </c:ext>
          </c:extLst>
        </c:ser>
        <c:dLbls>
          <c:showLegendKey val="0"/>
          <c:showVal val="0"/>
          <c:showCatName val="0"/>
          <c:showSerName val="0"/>
          <c:showPercent val="0"/>
          <c:showBubbleSize val="0"/>
        </c:dLbls>
        <c:gapWidth val="219"/>
        <c:overlap val="-27"/>
        <c:axId val="421974360"/>
        <c:axId val="421973376"/>
      </c:barChart>
      <c:catAx>
        <c:axId val="421974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2">
                    <a:lumMod val="10000"/>
                  </a:schemeClr>
                </a:solidFill>
                <a:latin typeface="Arial Narrow" panose="020B0606020202030204" pitchFamily="34" charset="0"/>
                <a:ea typeface="+mn-ea"/>
                <a:cs typeface="+mn-cs"/>
              </a:defRPr>
            </a:pPr>
            <a:endParaRPr lang="bg-BG"/>
          </a:p>
        </c:txPr>
        <c:crossAx val="421973376"/>
        <c:crosses val="autoZero"/>
        <c:auto val="1"/>
        <c:lblAlgn val="ctr"/>
        <c:lblOffset val="100"/>
        <c:noMultiLvlLbl val="0"/>
      </c:catAx>
      <c:valAx>
        <c:axId val="421973376"/>
        <c:scaling>
          <c:orientation val="minMax"/>
          <c:max val="24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2">
                    <a:lumMod val="10000"/>
                  </a:schemeClr>
                </a:solidFill>
                <a:latin typeface="Arial Narrow" panose="020B0606020202030204" pitchFamily="34" charset="0"/>
                <a:ea typeface="+mn-ea"/>
                <a:cs typeface="+mn-cs"/>
              </a:defRPr>
            </a:pPr>
            <a:endParaRPr lang="bg-BG"/>
          </a:p>
        </c:txPr>
        <c:crossAx val="421974360"/>
        <c:crosses val="autoZero"/>
        <c:crossBetween val="between"/>
        <c:majorUnit val="200"/>
      </c:valAx>
      <c:spPr>
        <a:noFill/>
        <a:ln>
          <a:noFill/>
        </a:ln>
        <a:effectLst/>
      </c:spPr>
    </c:plotArea>
    <c:legend>
      <c:legendPos val="b"/>
      <c:legendEntry>
        <c:idx val="0"/>
        <c:txPr>
          <a:bodyPr rot="0" spcFirstLastPara="1" vertOverflow="ellipsis" vert="horz" wrap="square" anchor="ctr" anchorCtr="1"/>
          <a:lstStyle/>
          <a:p>
            <a:pPr>
              <a:defRPr sz="2000" b="0" i="0" u="none" strike="noStrike" kern="1200" baseline="0">
                <a:solidFill>
                  <a:schemeClr val="tx1">
                    <a:lumMod val="65000"/>
                    <a:lumOff val="35000"/>
                  </a:schemeClr>
                </a:solidFill>
                <a:latin typeface="Arial Narrow" panose="020B0606020202030204" pitchFamily="34" charset="0"/>
                <a:ea typeface="+mn-ea"/>
                <a:cs typeface="+mn-cs"/>
              </a:defRPr>
            </a:pPr>
            <a:endParaRPr lang="bg-BG"/>
          </a:p>
        </c:txPr>
      </c:legendEntry>
      <c:legendEntry>
        <c:idx val="1"/>
        <c:txPr>
          <a:bodyPr rot="0" spcFirstLastPara="1" vertOverflow="ellipsis" vert="horz" wrap="square" anchor="ctr" anchorCtr="1"/>
          <a:lstStyle/>
          <a:p>
            <a:pPr>
              <a:defRPr sz="2000" b="0" i="0" u="none" strike="noStrike" kern="1200" baseline="0">
                <a:solidFill>
                  <a:schemeClr val="tx1">
                    <a:lumMod val="65000"/>
                    <a:lumOff val="35000"/>
                  </a:schemeClr>
                </a:solidFill>
                <a:latin typeface="Arial Narrow" panose="020B0606020202030204" pitchFamily="34" charset="0"/>
                <a:ea typeface="+mn-ea"/>
                <a:cs typeface="+mn-cs"/>
              </a:defRPr>
            </a:pPr>
            <a:endParaRPr lang="bg-BG"/>
          </a:p>
        </c:txPr>
      </c:legendEntry>
      <c:layout>
        <c:manualLayout>
          <c:xMode val="edge"/>
          <c:yMode val="edge"/>
          <c:x val="0.50528910744078226"/>
          <c:y val="6.9985526044341426E-2"/>
          <c:w val="0.41649129989099481"/>
          <c:h val="0.13564779455981177"/>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Arial Narrow" panose="020B0606020202030204" pitchFamily="34" charset="0"/>
              <a:ea typeface="+mn-ea"/>
              <a:cs typeface="+mn-cs"/>
            </a:defRPr>
          </a:pPr>
          <a:endParaRPr lang="bg-BG"/>
        </a:p>
      </c:txPr>
    </c:legend>
    <c:plotVisOnly val="1"/>
    <c:dispBlanksAs val="gap"/>
    <c:showDLblsOverMax val="0"/>
  </c:chart>
  <c:spPr>
    <a:noFill/>
    <a:ln w="9525" cap="flat" cmpd="sng" algn="ctr">
      <a:noFill/>
      <a:round/>
    </a:ln>
    <a:effectLst/>
  </c:spPr>
  <c:txPr>
    <a:bodyPr/>
    <a:lstStyle/>
    <a:p>
      <a:pPr>
        <a:defRPr sz="1600">
          <a:latin typeface="Arial Narrow" panose="020B0606020202030204" pitchFamily="34" charset="0"/>
        </a:defRPr>
      </a:pPr>
      <a:endParaRPr lang="bg-BG"/>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383666729200695E-2"/>
          <c:y val="5.1642646923374634E-2"/>
          <c:w val="0.91232206964416007"/>
          <c:h val="0.78425897513110698"/>
        </c:manualLayout>
      </c:layout>
      <c:barChart>
        <c:barDir val="col"/>
        <c:grouping val="clustered"/>
        <c:varyColors val="0"/>
        <c:ser>
          <c:idx val="0"/>
          <c:order val="0"/>
          <c:tx>
            <c:strRef>
              <c:f>data!$E$97</c:f>
              <c:strCache>
                <c:ptCount val="1"/>
                <c:pt idx="0">
                  <c:v>All (327)</c:v>
                </c:pt>
              </c:strCache>
            </c:strRef>
          </c:tx>
          <c:spPr>
            <a:solidFill>
              <a:schemeClr val="accent6">
                <a:lumMod val="50000"/>
              </a:schemeClr>
            </a:solidFill>
            <a:ln>
              <a:solidFill>
                <a:schemeClr val="accent6">
                  <a:lumMod val="50000"/>
                </a:schemeClr>
              </a:solidFill>
            </a:ln>
            <a:effectLst/>
          </c:spPr>
          <c:invertIfNegative val="0"/>
          <c:cat>
            <c:strRef>
              <c:f>data!$D$98:$D$105</c:f>
              <c:strCache>
                <c:ptCount val="8"/>
                <c:pt idx="0">
                  <c:v>Education/ Educational Research</c:v>
                </c:pt>
                <c:pt idx="1">
                  <c:v>Computer Science</c:v>
                </c:pt>
                <c:pt idx="2">
                  <c:v>Engineering</c:v>
                </c:pt>
                <c:pt idx="3">
                  <c:v>Science Technology Other Topics</c:v>
                </c:pt>
                <c:pt idx="4">
                  <c:v>Robotics</c:v>
                </c:pt>
                <c:pt idx="5">
                  <c:v>Chemistry</c:v>
                </c:pt>
                <c:pt idx="6">
                  <c:v>Mathematics</c:v>
                </c:pt>
                <c:pt idx="7">
                  <c:v>Physics</c:v>
                </c:pt>
              </c:strCache>
            </c:strRef>
          </c:cat>
          <c:val>
            <c:numRef>
              <c:f>data!$E$98:$E$105</c:f>
              <c:numCache>
                <c:formatCode>General</c:formatCode>
                <c:ptCount val="8"/>
                <c:pt idx="0">
                  <c:v>185</c:v>
                </c:pt>
                <c:pt idx="1">
                  <c:v>125</c:v>
                </c:pt>
                <c:pt idx="2">
                  <c:v>70</c:v>
                </c:pt>
                <c:pt idx="3">
                  <c:v>47</c:v>
                </c:pt>
                <c:pt idx="4">
                  <c:v>7</c:v>
                </c:pt>
                <c:pt idx="5">
                  <c:v>6</c:v>
                </c:pt>
                <c:pt idx="6">
                  <c:v>6</c:v>
                </c:pt>
                <c:pt idx="7">
                  <c:v>3</c:v>
                </c:pt>
              </c:numCache>
            </c:numRef>
          </c:val>
          <c:extLst>
            <c:ext xmlns:c16="http://schemas.microsoft.com/office/drawing/2014/chart" uri="{C3380CC4-5D6E-409C-BE32-E72D297353CC}">
              <c16:uniqueId val="{00000000-60FA-443F-8606-15637719C4A9}"/>
            </c:ext>
          </c:extLst>
        </c:ser>
        <c:ser>
          <c:idx val="1"/>
          <c:order val="1"/>
          <c:tx>
            <c:strRef>
              <c:f>data!$F$97</c:f>
              <c:strCache>
                <c:ptCount val="1"/>
                <c:pt idx="0">
                  <c:v>Open access (136)</c:v>
                </c:pt>
              </c:strCache>
            </c:strRef>
          </c:tx>
          <c:spPr>
            <a:solidFill>
              <a:schemeClr val="accent6"/>
            </a:solidFill>
            <a:ln>
              <a:solidFill>
                <a:schemeClr val="accent6"/>
              </a:solidFill>
            </a:ln>
            <a:effectLst/>
          </c:spPr>
          <c:invertIfNegative val="0"/>
          <c:cat>
            <c:strRef>
              <c:f>data!$D$98:$D$105</c:f>
              <c:strCache>
                <c:ptCount val="8"/>
                <c:pt idx="0">
                  <c:v>Education/ Educational Research</c:v>
                </c:pt>
                <c:pt idx="1">
                  <c:v>Computer Science</c:v>
                </c:pt>
                <c:pt idx="2">
                  <c:v>Engineering</c:v>
                </c:pt>
                <c:pt idx="3">
                  <c:v>Science Technology Other Topics</c:v>
                </c:pt>
                <c:pt idx="4">
                  <c:v>Robotics</c:v>
                </c:pt>
                <c:pt idx="5">
                  <c:v>Chemistry</c:v>
                </c:pt>
                <c:pt idx="6">
                  <c:v>Mathematics</c:v>
                </c:pt>
                <c:pt idx="7">
                  <c:v>Physics</c:v>
                </c:pt>
              </c:strCache>
            </c:strRef>
          </c:cat>
          <c:val>
            <c:numRef>
              <c:f>data!$F$98:$F$105</c:f>
              <c:numCache>
                <c:formatCode>General</c:formatCode>
                <c:ptCount val="8"/>
                <c:pt idx="0">
                  <c:v>60</c:v>
                </c:pt>
                <c:pt idx="1">
                  <c:v>37</c:v>
                </c:pt>
                <c:pt idx="2">
                  <c:v>12</c:v>
                </c:pt>
                <c:pt idx="3">
                  <c:v>42</c:v>
                </c:pt>
                <c:pt idx="4">
                  <c:v>2</c:v>
                </c:pt>
                <c:pt idx="5">
                  <c:v>3</c:v>
                </c:pt>
                <c:pt idx="6">
                  <c:v>2</c:v>
                </c:pt>
                <c:pt idx="7">
                  <c:v>2</c:v>
                </c:pt>
              </c:numCache>
            </c:numRef>
          </c:val>
          <c:extLst>
            <c:ext xmlns:c16="http://schemas.microsoft.com/office/drawing/2014/chart" uri="{C3380CC4-5D6E-409C-BE32-E72D297353CC}">
              <c16:uniqueId val="{00000001-60FA-443F-8606-15637719C4A9}"/>
            </c:ext>
          </c:extLst>
        </c:ser>
        <c:dLbls>
          <c:showLegendKey val="0"/>
          <c:showVal val="0"/>
          <c:showCatName val="0"/>
          <c:showSerName val="0"/>
          <c:showPercent val="0"/>
          <c:showBubbleSize val="0"/>
        </c:dLbls>
        <c:gapWidth val="219"/>
        <c:overlap val="-27"/>
        <c:axId val="475910616"/>
        <c:axId val="475923080"/>
      </c:barChart>
      <c:catAx>
        <c:axId val="475910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2">
                    <a:lumMod val="10000"/>
                  </a:schemeClr>
                </a:solidFill>
                <a:latin typeface="Arial Narrow" panose="020B0606020202030204" pitchFamily="34" charset="0"/>
                <a:ea typeface="+mn-ea"/>
                <a:cs typeface="+mn-cs"/>
              </a:defRPr>
            </a:pPr>
            <a:endParaRPr lang="bg-BG"/>
          </a:p>
        </c:txPr>
        <c:crossAx val="475923080"/>
        <c:crosses val="autoZero"/>
        <c:auto val="1"/>
        <c:lblAlgn val="ctr"/>
        <c:lblOffset val="100"/>
        <c:noMultiLvlLbl val="0"/>
      </c:catAx>
      <c:valAx>
        <c:axId val="475923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Narrow" panose="020B0606020202030204" pitchFamily="34" charset="0"/>
                <a:ea typeface="+mn-ea"/>
                <a:cs typeface="+mn-cs"/>
              </a:defRPr>
            </a:pPr>
            <a:endParaRPr lang="bg-BG"/>
          </a:p>
        </c:txPr>
        <c:crossAx val="475910616"/>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2000" b="1" i="0" u="none" strike="noStrike" kern="1200" baseline="0">
                <a:solidFill>
                  <a:schemeClr val="accent1">
                    <a:lumMod val="50000"/>
                  </a:schemeClr>
                </a:solidFill>
                <a:latin typeface="Arial Narrow" panose="020B0606020202030204" pitchFamily="34" charset="0"/>
                <a:ea typeface="+mn-ea"/>
                <a:cs typeface="+mn-cs"/>
              </a:defRPr>
            </a:pPr>
            <a:endParaRPr lang="bg-BG"/>
          </a:p>
        </c:txPr>
      </c:legendEntry>
      <c:legendEntry>
        <c:idx val="1"/>
        <c:txPr>
          <a:bodyPr rot="0" spcFirstLastPara="1" vertOverflow="ellipsis" vert="horz" wrap="square" anchor="ctr" anchorCtr="1"/>
          <a:lstStyle/>
          <a:p>
            <a:pPr>
              <a:defRPr sz="2000" b="1" i="0" u="none" strike="noStrike" kern="1200" baseline="0">
                <a:solidFill>
                  <a:schemeClr val="accent1">
                    <a:lumMod val="50000"/>
                  </a:schemeClr>
                </a:solidFill>
                <a:latin typeface="Arial Narrow" panose="020B0606020202030204" pitchFamily="34" charset="0"/>
                <a:ea typeface="+mn-ea"/>
                <a:cs typeface="+mn-cs"/>
              </a:defRPr>
            </a:pPr>
            <a:endParaRPr lang="bg-BG"/>
          </a:p>
        </c:txPr>
      </c:legendEntry>
      <c:layout>
        <c:manualLayout>
          <c:xMode val="edge"/>
          <c:yMode val="edge"/>
          <c:x val="0.6189973931548326"/>
          <c:y val="5.3805927091779275E-2"/>
          <c:w val="0.37854403328424058"/>
          <c:h val="0.24260950860181857"/>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accent1">
                  <a:lumMod val="50000"/>
                </a:schemeClr>
              </a:solidFill>
              <a:latin typeface="Arial Narrow" panose="020B0606020202030204" pitchFamily="34" charset="0"/>
              <a:ea typeface="+mn-ea"/>
              <a:cs typeface="+mn-cs"/>
            </a:defRPr>
          </a:pPr>
          <a:endParaRPr lang="bg-BG"/>
        </a:p>
      </c:txPr>
    </c:legend>
    <c:plotVisOnly val="1"/>
    <c:dispBlanksAs val="gap"/>
    <c:showDLblsOverMax val="0"/>
  </c:chart>
  <c:spPr>
    <a:noFill/>
    <a:ln w="9525" cap="flat" cmpd="sng" algn="ctr">
      <a:noFill/>
      <a:round/>
    </a:ln>
    <a:effectLst/>
  </c:spPr>
  <c:txPr>
    <a:bodyPr/>
    <a:lstStyle/>
    <a:p>
      <a:pPr>
        <a:defRPr sz="1200">
          <a:latin typeface="Arial Narrow" panose="020B0606020202030204" pitchFamily="34" charset="0"/>
        </a:defRPr>
      </a:pPr>
      <a:endParaRPr lang="bg-BG"/>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23140857392826"/>
          <c:y val="3.3831177891652464E-2"/>
          <c:w val="0.86521303587051623"/>
          <c:h val="0.58665094429959319"/>
        </c:manualLayout>
      </c:layout>
      <c:barChart>
        <c:barDir val="col"/>
        <c:grouping val="clustered"/>
        <c:varyColors val="0"/>
        <c:ser>
          <c:idx val="0"/>
          <c:order val="0"/>
          <c:tx>
            <c:strRef>
              <c:f>Sheet1!$M$2</c:f>
              <c:strCache>
                <c:ptCount val="1"/>
                <c:pt idx="0">
                  <c:v>All (4034)</c:v>
                </c:pt>
              </c:strCache>
            </c:strRef>
          </c:tx>
          <c:spPr>
            <a:solidFill>
              <a:schemeClr val="accent6">
                <a:lumMod val="75000"/>
              </a:schemeClr>
            </a:solidFill>
            <a:ln>
              <a:solidFill>
                <a:schemeClr val="accent6">
                  <a:lumMod val="75000"/>
                </a:schemeClr>
              </a:solidFill>
            </a:ln>
            <a:effectLst/>
          </c:spPr>
          <c:invertIfNegative val="0"/>
          <c:cat>
            <c:strRef>
              <c:f>Sheet1!$L$3:$L$7</c:f>
              <c:strCache>
                <c:ptCount val="5"/>
                <c:pt idx="0">
                  <c:v>Computer Science</c:v>
                </c:pt>
                <c:pt idx="1">
                  <c:v>Engineering</c:v>
                </c:pt>
                <c:pt idx="2">
                  <c:v>Mathematics</c:v>
                </c:pt>
                <c:pt idx="3">
                  <c:v>Physics and Astronomy</c:v>
                </c:pt>
                <c:pt idx="4">
                  <c:v>Chemistry</c:v>
                </c:pt>
              </c:strCache>
            </c:strRef>
          </c:cat>
          <c:val>
            <c:numRef>
              <c:f>Sheet1!$M$3:$M$7</c:f>
              <c:numCache>
                <c:formatCode>General</c:formatCode>
                <c:ptCount val="5"/>
                <c:pt idx="0">
                  <c:v>2749</c:v>
                </c:pt>
                <c:pt idx="1">
                  <c:v>1547</c:v>
                </c:pt>
                <c:pt idx="2">
                  <c:v>518</c:v>
                </c:pt>
                <c:pt idx="3">
                  <c:v>264</c:v>
                </c:pt>
                <c:pt idx="4">
                  <c:v>282</c:v>
                </c:pt>
              </c:numCache>
            </c:numRef>
          </c:val>
          <c:extLst>
            <c:ext xmlns:c16="http://schemas.microsoft.com/office/drawing/2014/chart" uri="{C3380CC4-5D6E-409C-BE32-E72D297353CC}">
              <c16:uniqueId val="{00000000-DFD5-4142-B2B8-8C0C36C319C3}"/>
            </c:ext>
          </c:extLst>
        </c:ser>
        <c:ser>
          <c:idx val="1"/>
          <c:order val="1"/>
          <c:tx>
            <c:strRef>
              <c:f>Sheet1!$N$2</c:f>
              <c:strCache>
                <c:ptCount val="1"/>
                <c:pt idx="0">
                  <c:v>Open Access (1537)</c:v>
                </c:pt>
              </c:strCache>
            </c:strRef>
          </c:tx>
          <c:spPr>
            <a:solidFill>
              <a:schemeClr val="accent6">
                <a:lumMod val="40000"/>
                <a:lumOff val="60000"/>
              </a:schemeClr>
            </a:solidFill>
            <a:ln>
              <a:solidFill>
                <a:srgbClr val="70AD47"/>
              </a:solidFill>
            </a:ln>
            <a:effectLst/>
          </c:spPr>
          <c:invertIfNegative val="0"/>
          <c:cat>
            <c:strRef>
              <c:f>Sheet1!$L$3:$L$7</c:f>
              <c:strCache>
                <c:ptCount val="5"/>
                <c:pt idx="0">
                  <c:v>Computer Science</c:v>
                </c:pt>
                <c:pt idx="1">
                  <c:v>Engineering</c:v>
                </c:pt>
                <c:pt idx="2">
                  <c:v>Mathematics</c:v>
                </c:pt>
                <c:pt idx="3">
                  <c:v>Physics and Astronomy</c:v>
                </c:pt>
                <c:pt idx="4">
                  <c:v>Chemistry</c:v>
                </c:pt>
              </c:strCache>
            </c:strRef>
          </c:cat>
          <c:val>
            <c:numRef>
              <c:f>Sheet1!$N$3:$N$7</c:f>
              <c:numCache>
                <c:formatCode>General</c:formatCode>
                <c:ptCount val="5"/>
                <c:pt idx="0">
                  <c:v>1090</c:v>
                </c:pt>
                <c:pt idx="1">
                  <c:v>528</c:v>
                </c:pt>
                <c:pt idx="2">
                  <c:v>168</c:v>
                </c:pt>
                <c:pt idx="3">
                  <c:v>149</c:v>
                </c:pt>
              </c:numCache>
            </c:numRef>
          </c:val>
          <c:extLst>
            <c:ext xmlns:c16="http://schemas.microsoft.com/office/drawing/2014/chart" uri="{C3380CC4-5D6E-409C-BE32-E72D297353CC}">
              <c16:uniqueId val="{00000001-DFD5-4142-B2B8-8C0C36C319C3}"/>
            </c:ext>
          </c:extLst>
        </c:ser>
        <c:dLbls>
          <c:showLegendKey val="0"/>
          <c:showVal val="0"/>
          <c:showCatName val="0"/>
          <c:showSerName val="0"/>
          <c:showPercent val="0"/>
          <c:showBubbleSize val="0"/>
        </c:dLbls>
        <c:gapWidth val="219"/>
        <c:overlap val="-27"/>
        <c:axId val="360225312"/>
        <c:axId val="360225792"/>
      </c:barChart>
      <c:catAx>
        <c:axId val="360225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Arial Narrow" panose="020B0606020202030204" pitchFamily="34" charset="0"/>
                <a:ea typeface="+mn-ea"/>
                <a:cs typeface="+mn-cs"/>
              </a:defRPr>
            </a:pPr>
            <a:endParaRPr lang="bg-BG"/>
          </a:p>
        </c:txPr>
        <c:crossAx val="360225792"/>
        <c:crosses val="autoZero"/>
        <c:auto val="1"/>
        <c:lblAlgn val="ctr"/>
        <c:lblOffset val="100"/>
        <c:noMultiLvlLbl val="0"/>
      </c:catAx>
      <c:valAx>
        <c:axId val="360225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Arial Narrow" panose="020B0606020202030204" pitchFamily="34" charset="0"/>
                <a:ea typeface="+mn-ea"/>
                <a:cs typeface="+mn-cs"/>
              </a:defRPr>
            </a:pPr>
            <a:endParaRPr lang="bg-BG"/>
          </a:p>
        </c:txPr>
        <c:crossAx val="360225312"/>
        <c:crosses val="autoZero"/>
        <c:crossBetween val="between"/>
      </c:valAx>
      <c:spPr>
        <a:noFill/>
        <a:ln>
          <a:noFill/>
        </a:ln>
        <a:effectLst/>
      </c:spPr>
    </c:plotArea>
    <c:legend>
      <c:legendPos val="b"/>
      <c:layout>
        <c:manualLayout>
          <c:xMode val="edge"/>
          <c:yMode val="edge"/>
          <c:x val="0.46629568030644963"/>
          <c:y val="2.2103827125284685E-2"/>
          <c:w val="0.51815214831983636"/>
          <c:h val="0.22455344123651211"/>
        </c:manualLayout>
      </c:layout>
      <c:overlay val="0"/>
      <c:spPr>
        <a:noFill/>
        <a:ln>
          <a:noFill/>
        </a:ln>
        <a:effectLst/>
      </c:spPr>
      <c:txPr>
        <a:bodyPr rot="0" spcFirstLastPara="1" vertOverflow="ellipsis" vert="horz" wrap="square" anchor="ctr" anchorCtr="1"/>
        <a:lstStyle/>
        <a:p>
          <a:pPr>
            <a:defRPr sz="2000" b="1" i="0" u="none" strike="noStrike" kern="1200" baseline="0">
              <a:solidFill>
                <a:sysClr val="windowText" lastClr="000000"/>
              </a:solidFill>
              <a:latin typeface="Arial Narrow" panose="020B0606020202030204" pitchFamily="34" charset="0"/>
              <a:ea typeface="+mn-ea"/>
              <a:cs typeface="+mn-cs"/>
            </a:defRPr>
          </a:pPr>
          <a:endParaRPr lang="bg-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solidFill>
        <a:schemeClr val="tx1">
          <a:lumMod val="15000"/>
          <a:lumOff val="85000"/>
        </a:schemeClr>
      </a:solidFill>
      <a:round/>
    </a:ln>
    <a:effectLst/>
  </c:spPr>
  <c:txPr>
    <a:bodyPr/>
    <a:lstStyle/>
    <a:p>
      <a:pPr>
        <a:defRPr sz="1400">
          <a:solidFill>
            <a:sysClr val="windowText" lastClr="000000"/>
          </a:solidFill>
          <a:latin typeface="Arial Narrow" panose="020B0606020202030204" pitchFamily="34" charset="0"/>
        </a:defRPr>
      </a:pPr>
      <a:endParaRPr lang="bg-BG"/>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9525" y="6460989"/>
            <a:ext cx="2743200" cy="365125"/>
          </a:xfrm>
        </p:spPr>
        <p:txBody>
          <a:bodyPr/>
          <a:lstStyle/>
          <a:p>
            <a:fld id="{F7D586C1-05D1-4801-A7FF-1CE646E130B0}" type="datetimeFigureOut">
              <a:rPr lang="bg-BG" smtClean="0"/>
              <a:t>20.6.2025 г.</a:t>
            </a:fld>
            <a:endParaRPr lang="bg-BG" dirty="0"/>
          </a:p>
        </p:txBody>
      </p:sp>
      <p:sp>
        <p:nvSpPr>
          <p:cNvPr id="5" name="Footer Placeholder 4"/>
          <p:cNvSpPr>
            <a:spLocks noGrp="1"/>
          </p:cNvSpPr>
          <p:nvPr>
            <p:ph type="ftr" sz="quarter" idx="11"/>
          </p:nvPr>
        </p:nvSpPr>
        <p:spPr>
          <a:xfrm>
            <a:off x="1876424" y="5410201"/>
            <a:ext cx="5124886" cy="365125"/>
          </a:xfrm>
        </p:spPr>
        <p:txBody>
          <a:bodyPr/>
          <a:lstStyle/>
          <a:p>
            <a:r>
              <a:rPr lang="en-US" dirty="0"/>
              <a:t>www.mis4tel-conference.net</a:t>
            </a:r>
            <a:endParaRPr lang="bg-BG" dirty="0"/>
          </a:p>
        </p:txBody>
      </p:sp>
      <p:sp>
        <p:nvSpPr>
          <p:cNvPr id="6" name="Slide Number Placeholder 5"/>
          <p:cNvSpPr>
            <a:spLocks noGrp="1"/>
          </p:cNvSpPr>
          <p:nvPr>
            <p:ph type="sldNum" sz="quarter" idx="12"/>
          </p:nvPr>
        </p:nvSpPr>
        <p:spPr>
          <a:xfrm>
            <a:off x="9896911" y="5410199"/>
            <a:ext cx="771089" cy="365125"/>
          </a:xfrm>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3141531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75000"/>
            <a:duotone>
              <a:schemeClr val="accent5">
                <a:shade val="45000"/>
                <a:satMod val="135000"/>
              </a:schemeClr>
              <a:prstClr val="white"/>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0" y="6492875"/>
            <a:ext cx="2743200" cy="365125"/>
          </a:xfrm>
        </p:spPr>
        <p:txBody>
          <a:bodyPr/>
          <a:lstStyle/>
          <a:p>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10276322" y="5883273"/>
            <a:ext cx="771089" cy="365125"/>
          </a:xfrm>
        </p:spPr>
        <p:txBody>
          <a:bodyPr/>
          <a:lstStyle/>
          <a:p>
            <a:fld id="{9D4EE202-9885-4834-AE6C-1D62DA0C72C8}" type="slidenum">
              <a:rPr lang="bg-BG" smtClean="0"/>
              <a:t>‹#›</a:t>
            </a:fld>
            <a:endParaRPr lang="bg-BG"/>
          </a:p>
        </p:txBody>
      </p:sp>
      <p:pic>
        <p:nvPicPr>
          <p:cNvPr id="7" name="Picture 6">
            <a:extLst>
              <a:ext uri="{FF2B5EF4-FFF2-40B4-BE49-F238E27FC236}">
                <a16:creationId xmlns:a16="http://schemas.microsoft.com/office/drawing/2014/main" id="{67E46058-7CF9-A7E4-3FC7-CF5E111E495C}"/>
              </a:ext>
            </a:extLst>
          </p:cNvPr>
          <p:cNvPicPr>
            <a:picLocks noChangeAspect="1"/>
          </p:cNvPicPr>
          <p:nvPr userDrawn="1"/>
        </p:nvPicPr>
        <p:blipFill>
          <a:blip r:embed="rId3"/>
          <a:stretch>
            <a:fillRect/>
          </a:stretch>
        </p:blipFill>
        <p:spPr>
          <a:xfrm>
            <a:off x="8670175" y="38484"/>
            <a:ext cx="3473680" cy="747188"/>
          </a:xfrm>
          <a:prstGeom prst="rect">
            <a:avLst/>
          </a:prstGeom>
        </p:spPr>
      </p:pic>
      <p:pic>
        <p:nvPicPr>
          <p:cNvPr id="8" name="Picture 7">
            <a:extLst>
              <a:ext uri="{FF2B5EF4-FFF2-40B4-BE49-F238E27FC236}">
                <a16:creationId xmlns:a16="http://schemas.microsoft.com/office/drawing/2014/main" id="{37D3888E-63FB-8E40-E7BD-36E0CCFB0890}"/>
              </a:ext>
            </a:extLst>
          </p:cNvPr>
          <p:cNvPicPr>
            <a:picLocks noChangeAspect="1"/>
          </p:cNvPicPr>
          <p:nvPr userDrawn="1"/>
        </p:nvPicPr>
        <p:blipFill>
          <a:blip r:embed="rId4"/>
          <a:stretch>
            <a:fillRect/>
          </a:stretch>
        </p:blipFill>
        <p:spPr>
          <a:xfrm>
            <a:off x="97307" y="78837"/>
            <a:ext cx="2645893" cy="1213209"/>
          </a:xfrm>
          <a:prstGeom prst="rect">
            <a:avLst/>
          </a:prstGeom>
        </p:spPr>
      </p:pic>
    </p:spTree>
    <p:extLst>
      <p:ext uri="{BB962C8B-B14F-4D97-AF65-F5344CB8AC3E}">
        <p14:creationId xmlns:p14="http://schemas.microsoft.com/office/powerpoint/2010/main" val="25481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0" y="6486389"/>
            <a:ext cx="2743200" cy="365125"/>
          </a:xfrm>
        </p:spPr>
        <p:txBody>
          <a:bodyPr/>
          <a:lstStyle/>
          <a:p>
            <a:endParaRPr lang="bg-BG" dirty="0"/>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487023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0" y="6457206"/>
            <a:ext cx="2743200" cy="365125"/>
          </a:xfrm>
        </p:spPr>
        <p:txBody>
          <a:bodyPr/>
          <a:lstStyle/>
          <a:p>
            <a:endParaRPr lang="bg-BG" dirty="0"/>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2539745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0" y="6492875"/>
            <a:ext cx="2743200" cy="365125"/>
          </a:xfrm>
        </p:spPr>
        <p:txBody>
          <a:bodyPr/>
          <a:lstStyle/>
          <a:p>
            <a:endParaRPr lang="bg-BG" dirty="0"/>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367957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0" y="6488668"/>
            <a:ext cx="2743200" cy="365125"/>
          </a:xfrm>
        </p:spPr>
        <p:txBody>
          <a:bodyPr/>
          <a:lstStyle/>
          <a:p>
            <a:r>
              <a:rPr lang="en-US" dirty="0"/>
              <a:t>20.06.2025</a:t>
            </a:r>
            <a:endParaRPr lang="bg-BG" dirty="0"/>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9D4EE202-9885-4834-AE6C-1D62DA0C72C8}" type="slidenum">
              <a:rPr lang="bg-BG" smtClean="0"/>
              <a:t>‹#›</a:t>
            </a:fld>
            <a:endParaRPr lang="bg-BG"/>
          </a:p>
        </p:txBody>
      </p:sp>
      <p:sp>
        <p:nvSpPr>
          <p:cNvPr id="7" name="TextBox 6">
            <a:extLst>
              <a:ext uri="{FF2B5EF4-FFF2-40B4-BE49-F238E27FC236}">
                <a16:creationId xmlns:a16="http://schemas.microsoft.com/office/drawing/2014/main" id="{21AA3C55-0066-A15F-93AC-B2F5DCBAD801}"/>
              </a:ext>
            </a:extLst>
          </p:cNvPr>
          <p:cNvSpPr txBox="1"/>
          <p:nvPr userDrawn="1"/>
        </p:nvSpPr>
        <p:spPr>
          <a:xfrm>
            <a:off x="4948168" y="6488668"/>
            <a:ext cx="6099242" cy="369332"/>
          </a:xfrm>
          <a:prstGeom prst="rect">
            <a:avLst/>
          </a:prstGeom>
          <a:noFill/>
        </p:spPr>
        <p:txBody>
          <a:bodyPr wrap="square">
            <a:spAutoFit/>
          </a:bodyPr>
          <a:lstStyle/>
          <a:p>
            <a:r>
              <a:rPr lang="en-US" dirty="0"/>
              <a:t>www.mis4tel-conference.net</a:t>
            </a:r>
          </a:p>
        </p:txBody>
      </p:sp>
    </p:spTree>
    <p:extLst>
      <p:ext uri="{BB962C8B-B14F-4D97-AF65-F5344CB8AC3E}">
        <p14:creationId xmlns:p14="http://schemas.microsoft.com/office/powerpoint/2010/main" val="3980716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0" y="6492875"/>
            <a:ext cx="2743200" cy="365125"/>
          </a:xfrm>
        </p:spPr>
        <p:txBody>
          <a:bodyPr/>
          <a:lstStyle/>
          <a:p>
            <a:endParaRPr lang="bg-BG" dirty="0"/>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306323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138547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732835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1807141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2490289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57233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D586C1-05D1-4801-A7FF-1CE646E130B0}" type="datetimeFigureOut">
              <a:rPr lang="bg-BG" smtClean="0"/>
              <a:t>20.6.2025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2008825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7D586C1-05D1-4801-A7FF-1CE646E130B0}" type="datetimeFigureOut">
              <a:rPr lang="bg-BG" smtClean="0"/>
              <a:t>20.6.2025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510468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7D586C1-05D1-4801-A7FF-1CE646E130B0}" type="datetimeFigureOut">
              <a:rPr lang="bg-BG" smtClean="0"/>
              <a:t>20.6.2025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2485420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586C1-05D1-4801-A7FF-1CE646E130B0}" type="datetimeFigureOut">
              <a:rPr lang="bg-BG" smtClean="0"/>
              <a:t>20.6.2025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3467189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586C1-05D1-4801-A7FF-1CE646E130B0}" type="datetimeFigureOut">
              <a:rPr lang="bg-BG" smtClean="0"/>
              <a:t>20.6.2025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9D4EE202-9885-4834-AE6C-1D62DA0C72C8}" type="slidenum">
              <a:rPr lang="bg-BG" smtClean="0"/>
              <a:t>‹#›</a:t>
            </a:fld>
            <a:endParaRPr lang="bg-BG"/>
          </a:p>
        </p:txBody>
      </p:sp>
    </p:spTree>
    <p:extLst>
      <p:ext uri="{BB962C8B-B14F-4D97-AF65-F5344CB8AC3E}">
        <p14:creationId xmlns:p14="http://schemas.microsoft.com/office/powerpoint/2010/main" val="364903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userDrawn="1"/>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7D586C1-05D1-4801-A7FF-1CE646E130B0}" type="datetimeFigureOut">
              <a:rPr lang="bg-BG" smtClean="0"/>
              <a:t>20.6.2025 г.</a:t>
            </a:fld>
            <a:endParaRPr lang="bg-BG"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4EE202-9885-4834-AE6C-1D62DA0C72C8}" type="slidenum">
              <a:rPr lang="bg-BG" smtClean="0"/>
              <a:t>‹#›</a:t>
            </a:fld>
            <a:endParaRPr lang="bg-BG"/>
          </a:p>
        </p:txBody>
      </p:sp>
    </p:spTree>
    <p:extLst>
      <p:ext uri="{BB962C8B-B14F-4D97-AF65-F5344CB8AC3E}">
        <p14:creationId xmlns:p14="http://schemas.microsoft.com/office/powerpoint/2010/main" val="3930050194"/>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576" y="1753294"/>
            <a:ext cx="11773466" cy="1509109"/>
          </a:xfrm>
        </p:spPr>
        <p:txBody>
          <a:bodyPr>
            <a:noAutofit/>
          </a:bodyPr>
          <a:lstStyle/>
          <a:p>
            <a:pPr algn="ctr">
              <a:lnSpc>
                <a:spcPct val="100000"/>
              </a:lnSpc>
            </a:pPr>
            <a:r>
              <a:rPr lang="en-US" sz="4400" b="1" dirty="0">
                <a:solidFill>
                  <a:schemeClr val="accent5">
                    <a:lumMod val="50000"/>
                  </a:schemeClr>
                </a:solidFill>
              </a:rPr>
              <a:t>Personalization of Learning Resources </a:t>
            </a:r>
            <a:br>
              <a:rPr lang="en-US" sz="4400" b="1" dirty="0">
                <a:solidFill>
                  <a:schemeClr val="accent5">
                    <a:lumMod val="50000"/>
                  </a:schemeClr>
                </a:solidFill>
              </a:rPr>
            </a:br>
            <a:r>
              <a:rPr lang="en-US" sz="4400" b="1" dirty="0">
                <a:solidFill>
                  <a:schemeClr val="accent5">
                    <a:lumMod val="50000"/>
                  </a:schemeClr>
                </a:solidFill>
              </a:rPr>
              <a:t>FOR STEM Education</a:t>
            </a:r>
            <a:endParaRPr lang="bg-BG" sz="4400" b="1" dirty="0">
              <a:solidFill>
                <a:schemeClr val="accent5">
                  <a:lumMod val="50000"/>
                </a:schemeClr>
              </a:solidFill>
            </a:endParaRPr>
          </a:p>
        </p:txBody>
      </p:sp>
      <p:sp>
        <p:nvSpPr>
          <p:cNvPr id="3" name="Subtitle 2"/>
          <p:cNvSpPr>
            <a:spLocks noGrp="1"/>
          </p:cNvSpPr>
          <p:nvPr>
            <p:ph type="subTitle" idx="1"/>
          </p:nvPr>
        </p:nvSpPr>
        <p:spPr>
          <a:xfrm>
            <a:off x="975947" y="3701562"/>
            <a:ext cx="10146322" cy="2296504"/>
          </a:xfrm>
        </p:spPr>
        <p:txBody>
          <a:bodyPr>
            <a:normAutofit/>
          </a:bodyPr>
          <a:lstStyle/>
          <a:p>
            <a:pPr algn="ctr"/>
            <a:r>
              <a:rPr lang="en-US" sz="2400" b="1" dirty="0">
                <a:solidFill>
                  <a:schemeClr val="accent5">
                    <a:lumMod val="50000"/>
                  </a:schemeClr>
                </a:solidFill>
              </a:rPr>
              <a:t>Valentina Terzieva</a:t>
            </a:r>
            <a:r>
              <a:rPr lang="en-US" sz="2400" b="1" baseline="30000" dirty="0">
                <a:solidFill>
                  <a:schemeClr val="accent5">
                    <a:lumMod val="50000"/>
                  </a:schemeClr>
                </a:solidFill>
              </a:rPr>
              <a:t>1</a:t>
            </a:r>
            <a:r>
              <a:rPr lang="en-US" sz="2400" b="1" dirty="0">
                <a:solidFill>
                  <a:schemeClr val="accent5">
                    <a:lumMod val="50000"/>
                  </a:schemeClr>
                </a:solidFill>
              </a:rPr>
              <a:t> Elena Paunova-Hubenova</a:t>
            </a:r>
            <a:r>
              <a:rPr lang="en-US" sz="2400" b="1" baseline="30000" dirty="0">
                <a:solidFill>
                  <a:schemeClr val="accent5">
                    <a:lumMod val="50000"/>
                  </a:schemeClr>
                </a:solidFill>
              </a:rPr>
              <a:t>1</a:t>
            </a:r>
            <a:r>
              <a:rPr lang="en-US" sz="2400" b="1" dirty="0">
                <a:solidFill>
                  <a:schemeClr val="accent5">
                    <a:lumMod val="50000"/>
                  </a:schemeClr>
                </a:solidFill>
              </a:rPr>
              <a:t>, Boyan Bontchev</a:t>
            </a:r>
            <a:r>
              <a:rPr lang="en-US" sz="2400" b="1" baseline="30000" dirty="0">
                <a:solidFill>
                  <a:schemeClr val="accent5">
                    <a:lumMod val="50000"/>
                  </a:schemeClr>
                </a:solidFill>
              </a:rPr>
              <a:t>2</a:t>
            </a:r>
            <a:endParaRPr lang="bg-BG" sz="2400" b="1" dirty="0">
              <a:solidFill>
                <a:schemeClr val="accent5">
                  <a:lumMod val="50000"/>
                </a:schemeClr>
              </a:solidFill>
            </a:endParaRPr>
          </a:p>
          <a:p>
            <a:pPr algn="ctr"/>
            <a:r>
              <a:rPr lang="en-US" i="1" baseline="30000" dirty="0">
                <a:solidFill>
                  <a:schemeClr val="accent5">
                    <a:lumMod val="50000"/>
                  </a:schemeClr>
                </a:solidFill>
              </a:rPr>
              <a:t>1</a:t>
            </a:r>
            <a:r>
              <a:rPr lang="en-US" i="1" dirty="0">
                <a:solidFill>
                  <a:schemeClr val="accent5">
                    <a:lumMod val="50000"/>
                  </a:schemeClr>
                </a:solidFill>
              </a:rPr>
              <a:t>Institute of Information and Communication Technologies, </a:t>
            </a:r>
            <a:br>
              <a:rPr lang="en-US" i="1" dirty="0">
                <a:solidFill>
                  <a:schemeClr val="accent5">
                    <a:lumMod val="50000"/>
                  </a:schemeClr>
                </a:solidFill>
              </a:rPr>
            </a:br>
            <a:r>
              <a:rPr lang="en-US" i="1" dirty="0">
                <a:solidFill>
                  <a:schemeClr val="accent5">
                    <a:lumMod val="50000"/>
                  </a:schemeClr>
                </a:solidFill>
              </a:rPr>
              <a:t>Bulgarian Academy of Science</a:t>
            </a:r>
          </a:p>
          <a:p>
            <a:pPr algn="ctr"/>
            <a:r>
              <a:rPr lang="en-US" i="1" baseline="30000" dirty="0">
                <a:solidFill>
                  <a:schemeClr val="accent5">
                    <a:lumMod val="50000"/>
                  </a:schemeClr>
                </a:solidFill>
              </a:rPr>
              <a:t>2</a:t>
            </a:r>
            <a:r>
              <a:rPr lang="en-US" i="1" dirty="0">
                <a:solidFill>
                  <a:schemeClr val="accent5">
                    <a:lumMod val="50000"/>
                  </a:schemeClr>
                </a:solidFill>
              </a:rPr>
              <a:t>Faculty of Mathematics and Informatics, </a:t>
            </a:r>
            <a:br>
              <a:rPr lang="en-US" i="1" dirty="0">
                <a:solidFill>
                  <a:schemeClr val="accent5">
                    <a:lumMod val="50000"/>
                  </a:schemeClr>
                </a:solidFill>
              </a:rPr>
            </a:br>
            <a:r>
              <a:rPr lang="en-US" i="1" dirty="0">
                <a:solidFill>
                  <a:schemeClr val="accent5">
                    <a:lumMod val="50000"/>
                  </a:schemeClr>
                </a:solidFill>
              </a:rPr>
              <a:t>Sofia University “St Kliment </a:t>
            </a:r>
            <a:r>
              <a:rPr lang="en-US" i="1" dirty="0" err="1">
                <a:solidFill>
                  <a:schemeClr val="accent5">
                    <a:lumMod val="50000"/>
                  </a:schemeClr>
                </a:solidFill>
              </a:rPr>
              <a:t>Ohridski</a:t>
            </a:r>
            <a:r>
              <a:rPr lang="en-US" i="1" dirty="0">
                <a:solidFill>
                  <a:schemeClr val="accent5">
                    <a:lumMod val="50000"/>
                  </a:schemeClr>
                </a:solidFill>
              </a:rPr>
              <a:t>” </a:t>
            </a:r>
            <a:endParaRPr lang="en-US" i="1" baseline="30000" dirty="0">
              <a:solidFill>
                <a:schemeClr val="accent5">
                  <a:lumMod val="50000"/>
                </a:schemeClr>
              </a:solidFill>
            </a:endParaRPr>
          </a:p>
          <a:p>
            <a:pPr algn="ctr"/>
            <a:endParaRPr lang="bg-BG" i="1" dirty="0">
              <a:solidFill>
                <a:schemeClr val="accent5">
                  <a:lumMod val="50000"/>
                </a:schemeClr>
              </a:solidFill>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2097" t="8372" r="4143" b="10986"/>
          <a:stretch/>
        </p:blipFill>
        <p:spPr>
          <a:xfrm>
            <a:off x="7760955" y="251446"/>
            <a:ext cx="4278087" cy="925045"/>
          </a:xfrm>
          <a:prstGeom prst="rect">
            <a:avLst/>
          </a:prstGeom>
        </p:spPr>
      </p:pic>
      <p:pic>
        <p:nvPicPr>
          <p:cNvPr id="6" name="Picture 5">
            <a:extLst>
              <a:ext uri="{FF2B5EF4-FFF2-40B4-BE49-F238E27FC236}">
                <a16:creationId xmlns:a16="http://schemas.microsoft.com/office/drawing/2014/main" id="{D76F2201-C6F9-BE6F-6264-42B194AFB15B}"/>
              </a:ext>
            </a:extLst>
          </p:cNvPr>
          <p:cNvPicPr>
            <a:picLocks noChangeAspect="1"/>
          </p:cNvPicPr>
          <p:nvPr/>
        </p:nvPicPr>
        <p:blipFill>
          <a:blip r:embed="rId3"/>
          <a:stretch>
            <a:fillRect/>
          </a:stretch>
        </p:blipFill>
        <p:spPr>
          <a:xfrm>
            <a:off x="480646" y="5017942"/>
            <a:ext cx="1757190" cy="925200"/>
          </a:xfrm>
          <a:prstGeom prst="rect">
            <a:avLst/>
          </a:prstGeom>
        </p:spPr>
      </p:pic>
      <p:pic>
        <p:nvPicPr>
          <p:cNvPr id="9" name="Picture 8">
            <a:extLst>
              <a:ext uri="{FF2B5EF4-FFF2-40B4-BE49-F238E27FC236}">
                <a16:creationId xmlns:a16="http://schemas.microsoft.com/office/drawing/2014/main" id="{7677B020-6B77-F796-4B6D-098AAA486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7364" y="251446"/>
            <a:ext cx="2757543" cy="822960"/>
          </a:xfrm>
          <a:prstGeom prst="rect">
            <a:avLst/>
          </a:prstGeom>
        </p:spPr>
      </p:pic>
      <p:sp>
        <p:nvSpPr>
          <p:cNvPr id="10" name="TextBox 9">
            <a:extLst>
              <a:ext uri="{FF2B5EF4-FFF2-40B4-BE49-F238E27FC236}">
                <a16:creationId xmlns:a16="http://schemas.microsoft.com/office/drawing/2014/main" id="{A20E109D-0110-92BF-B3DA-0FC07BD5DB7F}"/>
              </a:ext>
            </a:extLst>
          </p:cNvPr>
          <p:cNvSpPr txBox="1"/>
          <p:nvPr/>
        </p:nvSpPr>
        <p:spPr>
          <a:xfrm>
            <a:off x="4690807" y="6109738"/>
            <a:ext cx="2810386" cy="646331"/>
          </a:xfrm>
          <a:prstGeom prst="rect">
            <a:avLst/>
          </a:prstGeom>
          <a:noFill/>
        </p:spPr>
        <p:txBody>
          <a:bodyPr wrap="none" rtlCol="0">
            <a:spAutoFit/>
          </a:bodyPr>
          <a:lstStyle/>
          <a:p>
            <a:pPr algn="ctr"/>
            <a:r>
              <a:rPr lang="en-US" i="1" cap="all" dirty="0" err="1">
                <a:solidFill>
                  <a:schemeClr val="accent1">
                    <a:lumMod val="75000"/>
                  </a:schemeClr>
                </a:solidFill>
              </a:rPr>
              <a:t>IEETeL</a:t>
            </a:r>
            <a:br>
              <a:rPr lang="en-US" i="1" cap="all" dirty="0">
                <a:solidFill>
                  <a:schemeClr val="accent1">
                    <a:lumMod val="75000"/>
                  </a:schemeClr>
                </a:solidFill>
              </a:rPr>
            </a:br>
            <a:r>
              <a:rPr lang="en-US" i="1" cap="all" dirty="0">
                <a:solidFill>
                  <a:schemeClr val="accent1">
                    <a:lumMod val="75000"/>
                  </a:schemeClr>
                </a:solidFill>
              </a:rPr>
              <a:t>June 25-27, Lille, France </a:t>
            </a:r>
          </a:p>
        </p:txBody>
      </p:sp>
      <p:grpSp>
        <p:nvGrpSpPr>
          <p:cNvPr id="11" name="Group 10">
            <a:extLst>
              <a:ext uri="{FF2B5EF4-FFF2-40B4-BE49-F238E27FC236}">
                <a16:creationId xmlns:a16="http://schemas.microsoft.com/office/drawing/2014/main" id="{9E2CA2B8-2B3D-43CF-AF06-F4DBB47D34AF}"/>
              </a:ext>
            </a:extLst>
          </p:cNvPr>
          <p:cNvGrpSpPr/>
          <p:nvPr/>
        </p:nvGrpSpPr>
        <p:grpSpPr>
          <a:xfrm>
            <a:off x="10549372" y="4963017"/>
            <a:ext cx="838209" cy="1035049"/>
            <a:chOff x="0" y="0"/>
            <a:chExt cx="838741" cy="1035408"/>
          </a:xfrm>
        </p:grpSpPr>
        <p:sp>
          <p:nvSpPr>
            <p:cNvPr id="12" name="Rectangle 11">
              <a:extLst>
                <a:ext uri="{FF2B5EF4-FFF2-40B4-BE49-F238E27FC236}">
                  <a16:creationId xmlns:a16="http://schemas.microsoft.com/office/drawing/2014/main" id="{1A13F9E5-E32A-48AB-91E5-1408C3F0CB9C}"/>
                </a:ext>
              </a:extLst>
            </p:cNvPr>
            <p:cNvSpPr/>
            <p:nvPr/>
          </p:nvSpPr>
          <p:spPr>
            <a:xfrm>
              <a:off x="0" y="0"/>
              <a:ext cx="23646" cy="95125"/>
            </a:xfrm>
            <a:prstGeom prst="rect">
              <a:avLst/>
            </a:prstGeom>
            <a:ln>
              <a:noFill/>
            </a:ln>
          </p:spPr>
          <p:txBody>
            <a:bodyPr vert="horz" lIns="0" tIns="0" rIns="0" bIns="0" rtlCol="0">
              <a:noAutofit/>
            </a:bodyPr>
            <a:lstStyle/>
            <a:p>
              <a:pPr marL="137160" indent="457200" algn="just">
                <a:lnSpc>
                  <a:spcPct val="107000"/>
                </a:lnSpc>
                <a:spcAft>
                  <a:spcPts val="800"/>
                </a:spcAft>
              </a:pPr>
              <a:r>
                <a:rPr lang="bg-BG" sz="500" kern="100">
                  <a:solidFill>
                    <a:srgbClr val="000000"/>
                  </a:solidFill>
                  <a:effectLst/>
                  <a:latin typeface="Arial" panose="020B0604020202020204" pitchFamily="34" charset="0"/>
                  <a:ea typeface="Arial" panose="020B0604020202020204" pitchFamily="34" charset="0"/>
                </a:rPr>
                <a:t> </a:t>
              </a:r>
              <a:endParaRPr lang="bg-BG" sz="1200" kern="100">
                <a:solidFill>
                  <a:srgbClr val="000000"/>
                </a:solidFill>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CAA4D6E2-4867-46BB-B4F2-C9D716BA0C2F}"/>
                </a:ext>
              </a:extLst>
            </p:cNvPr>
            <p:cNvPicPr/>
            <p:nvPr/>
          </p:nvPicPr>
          <p:blipFill>
            <a:blip r:embed="rId5"/>
            <a:stretch>
              <a:fillRect/>
            </a:stretch>
          </p:blipFill>
          <p:spPr>
            <a:xfrm>
              <a:off x="0" y="397"/>
              <a:ext cx="838741" cy="1035011"/>
            </a:xfrm>
            <a:prstGeom prst="rect">
              <a:avLst/>
            </a:prstGeom>
          </p:spPr>
        </p:pic>
      </p:grpSp>
      <p:pic>
        <p:nvPicPr>
          <p:cNvPr id="5" name="Picture 4">
            <a:extLst>
              <a:ext uri="{FF2B5EF4-FFF2-40B4-BE49-F238E27FC236}">
                <a16:creationId xmlns:a16="http://schemas.microsoft.com/office/drawing/2014/main" id="{477156FF-F05B-C9E4-1A10-68DC00FCDDF6}"/>
              </a:ext>
            </a:extLst>
          </p:cNvPr>
          <p:cNvPicPr>
            <a:picLocks noChangeAspect="1"/>
          </p:cNvPicPr>
          <p:nvPr/>
        </p:nvPicPr>
        <p:blipFill>
          <a:blip r:embed="rId6"/>
          <a:stretch>
            <a:fillRect/>
          </a:stretch>
        </p:blipFill>
        <p:spPr>
          <a:xfrm>
            <a:off x="265576" y="170566"/>
            <a:ext cx="2645893" cy="1213209"/>
          </a:xfrm>
          <a:prstGeom prst="rect">
            <a:avLst/>
          </a:prstGeom>
        </p:spPr>
      </p:pic>
    </p:spTree>
    <p:extLst>
      <p:ext uri="{BB962C8B-B14F-4D97-AF65-F5344CB8AC3E}">
        <p14:creationId xmlns:p14="http://schemas.microsoft.com/office/powerpoint/2010/main" val="2907024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EB87-56F6-9052-B7B8-8E3A5780DCD6}"/>
              </a:ext>
            </a:extLst>
          </p:cNvPr>
          <p:cNvSpPr>
            <a:spLocks noGrp="1"/>
          </p:cNvSpPr>
          <p:nvPr>
            <p:ph type="title"/>
          </p:nvPr>
        </p:nvSpPr>
        <p:spPr>
          <a:xfrm>
            <a:off x="2708030" y="278966"/>
            <a:ext cx="5890848" cy="787833"/>
          </a:xfrm>
        </p:spPr>
        <p:txBody>
          <a:bodyPr/>
          <a:lstStyle/>
          <a:p>
            <a:pPr algn="ctr"/>
            <a:r>
              <a:rPr lang="en-US" sz="4000" dirty="0">
                <a:solidFill>
                  <a:schemeClr val="accent5">
                    <a:lumMod val="50000"/>
                  </a:schemeClr>
                </a:solidFill>
              </a:rPr>
              <a:t>Agenda</a:t>
            </a:r>
          </a:p>
        </p:txBody>
      </p:sp>
      <p:sp>
        <p:nvSpPr>
          <p:cNvPr id="3" name="Content Placeholder 2">
            <a:extLst>
              <a:ext uri="{FF2B5EF4-FFF2-40B4-BE49-F238E27FC236}">
                <a16:creationId xmlns:a16="http://schemas.microsoft.com/office/drawing/2014/main" id="{F527CC81-FB0F-D011-2155-EC1DF0DF764D}"/>
              </a:ext>
            </a:extLst>
          </p:cNvPr>
          <p:cNvSpPr>
            <a:spLocks noGrp="1"/>
          </p:cNvSpPr>
          <p:nvPr>
            <p:ph idx="1"/>
          </p:nvPr>
        </p:nvSpPr>
        <p:spPr>
          <a:xfrm>
            <a:off x="1141412" y="1951892"/>
            <a:ext cx="10174288" cy="4627141"/>
          </a:xfrm>
        </p:spPr>
        <p:txBody>
          <a:bodyPr>
            <a:normAutofit fontScale="92500" lnSpcReduction="20000"/>
          </a:bodyPr>
          <a:lstStyle/>
          <a:p>
            <a:r>
              <a:rPr lang="en-US" sz="2800" dirty="0">
                <a:solidFill>
                  <a:schemeClr val="accent1">
                    <a:lumMod val="50000"/>
                  </a:schemeClr>
                </a:solidFill>
              </a:rPr>
              <a:t>Introduction to STEM</a:t>
            </a:r>
          </a:p>
          <a:p>
            <a:r>
              <a:rPr lang="en-US" sz="2800" dirty="0">
                <a:solidFill>
                  <a:schemeClr val="accent1">
                    <a:lumMod val="50000"/>
                  </a:schemeClr>
                </a:solidFill>
              </a:rPr>
              <a:t>Research publications about STEM education</a:t>
            </a:r>
          </a:p>
          <a:p>
            <a:r>
              <a:rPr lang="en-US" sz="2800" dirty="0">
                <a:solidFill>
                  <a:schemeClr val="accent1">
                    <a:lumMod val="50000"/>
                  </a:schemeClr>
                </a:solidFill>
              </a:rPr>
              <a:t>Personalized education</a:t>
            </a:r>
          </a:p>
          <a:p>
            <a:r>
              <a:rPr lang="en-US" sz="2800" dirty="0">
                <a:solidFill>
                  <a:schemeClr val="accent1">
                    <a:lumMod val="50000"/>
                  </a:schemeClr>
                </a:solidFill>
              </a:rPr>
              <a:t>Personalized STEM education</a:t>
            </a:r>
          </a:p>
          <a:p>
            <a:r>
              <a:rPr lang="en-US" sz="2800" dirty="0">
                <a:solidFill>
                  <a:srgbClr val="002060"/>
                </a:solidFill>
              </a:rPr>
              <a:t>A taxonomy of personalization of learning resources applicable in STEM education</a:t>
            </a:r>
          </a:p>
          <a:p>
            <a:r>
              <a:rPr lang="en-US" sz="2800" dirty="0">
                <a:solidFill>
                  <a:srgbClr val="002060"/>
                </a:solidFill>
              </a:rPr>
              <a:t>Approaches for player-centric personalization in games for STEM</a:t>
            </a:r>
          </a:p>
          <a:p>
            <a:r>
              <a:rPr lang="en-US" sz="2800" dirty="0">
                <a:solidFill>
                  <a:srgbClr val="002060"/>
                </a:solidFill>
              </a:rPr>
              <a:t>Example – personalization of STEM video games</a:t>
            </a:r>
          </a:p>
          <a:p>
            <a:r>
              <a:rPr lang="en-US" sz="2800" dirty="0">
                <a:solidFill>
                  <a:srgbClr val="002060"/>
                </a:solidFill>
              </a:rPr>
              <a:t>Conclusions</a:t>
            </a:r>
            <a:endParaRPr lang="en-US" sz="2800" dirty="0">
              <a:solidFill>
                <a:schemeClr val="accent1">
                  <a:lumMod val="50000"/>
                </a:schemeClr>
              </a:solidFill>
            </a:endParaRPr>
          </a:p>
          <a:p>
            <a:endParaRPr lang="en-US" dirty="0"/>
          </a:p>
        </p:txBody>
      </p:sp>
    </p:spTree>
    <p:extLst>
      <p:ext uri="{BB962C8B-B14F-4D97-AF65-F5344CB8AC3E}">
        <p14:creationId xmlns:p14="http://schemas.microsoft.com/office/powerpoint/2010/main" val="2212710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0558" y="-1080"/>
            <a:ext cx="5580953" cy="1116063"/>
          </a:xfrm>
        </p:spPr>
        <p:txBody>
          <a:bodyPr>
            <a:normAutofit/>
          </a:bodyPr>
          <a:lstStyle/>
          <a:p>
            <a:pPr algn="ctr"/>
            <a:r>
              <a:rPr lang="en-US" sz="4000" dirty="0">
                <a:solidFill>
                  <a:schemeClr val="accent5">
                    <a:lumMod val="50000"/>
                  </a:schemeClr>
                </a:solidFill>
              </a:rPr>
              <a:t>Introduction to STEM</a:t>
            </a:r>
            <a:endParaRPr lang="bg-BG" sz="4000" dirty="0">
              <a:solidFill>
                <a:schemeClr val="accent5">
                  <a:lumMod val="50000"/>
                </a:schemeClr>
              </a:solidFill>
            </a:endParaRPr>
          </a:p>
        </p:txBody>
      </p:sp>
      <p:sp>
        <p:nvSpPr>
          <p:cNvPr id="3" name="Content Placeholder 2"/>
          <p:cNvSpPr>
            <a:spLocks noGrp="1"/>
          </p:cNvSpPr>
          <p:nvPr>
            <p:ph idx="1"/>
          </p:nvPr>
        </p:nvSpPr>
        <p:spPr>
          <a:xfrm>
            <a:off x="65705" y="1749669"/>
            <a:ext cx="7106882" cy="5029200"/>
          </a:xfrm>
        </p:spPr>
        <p:txBody>
          <a:bodyPr>
            <a:normAutofit/>
          </a:bodyPr>
          <a:lstStyle/>
          <a:p>
            <a:r>
              <a:rPr lang="en-US" sz="2800" dirty="0">
                <a:solidFill>
                  <a:schemeClr val="accent1">
                    <a:lumMod val="50000"/>
                  </a:schemeClr>
                </a:solidFill>
              </a:rPr>
              <a:t>STEM – Science, Technology, Engineering, and Mathematics</a:t>
            </a:r>
          </a:p>
          <a:p>
            <a:r>
              <a:rPr lang="en-GB" sz="2800" dirty="0">
                <a:solidFill>
                  <a:schemeClr val="accent1">
                    <a:lumMod val="50000"/>
                  </a:schemeClr>
                </a:solidFill>
              </a:rPr>
              <a:t>STEM education promotes: </a:t>
            </a:r>
          </a:p>
          <a:p>
            <a:pPr lvl="1"/>
            <a:r>
              <a:rPr lang="en-GB" sz="2400" dirty="0">
                <a:solidFill>
                  <a:schemeClr val="accent1">
                    <a:lumMod val="50000"/>
                  </a:schemeClr>
                </a:solidFill>
              </a:rPr>
              <a:t>creative and innovative thinking</a:t>
            </a:r>
          </a:p>
          <a:p>
            <a:pPr lvl="1"/>
            <a:r>
              <a:rPr lang="en-GB" sz="2400" dirty="0">
                <a:solidFill>
                  <a:schemeClr val="accent1">
                    <a:lumMod val="50000"/>
                  </a:schemeClr>
                </a:solidFill>
              </a:rPr>
              <a:t>critical thinking and problem-solving</a:t>
            </a:r>
          </a:p>
          <a:p>
            <a:pPr lvl="1"/>
            <a:r>
              <a:rPr lang="en-GB" sz="2400" dirty="0">
                <a:solidFill>
                  <a:schemeClr val="accent1">
                    <a:lumMod val="50000"/>
                  </a:schemeClr>
                </a:solidFill>
              </a:rPr>
              <a:t>communication and collaboration</a:t>
            </a:r>
          </a:p>
          <a:p>
            <a:pPr lvl="1"/>
            <a:r>
              <a:rPr lang="en-GB" sz="2400" dirty="0">
                <a:solidFill>
                  <a:schemeClr val="accent1">
                    <a:lumMod val="50000"/>
                  </a:schemeClr>
                </a:solidFill>
              </a:rPr>
              <a:t>information management</a:t>
            </a:r>
          </a:p>
          <a:p>
            <a:pPr lvl="1"/>
            <a:r>
              <a:rPr lang="en-GB" sz="2400" dirty="0">
                <a:solidFill>
                  <a:schemeClr val="accent1">
                    <a:lumMod val="50000"/>
                  </a:schemeClr>
                </a:solidFill>
              </a:rPr>
              <a:t>effective and efficient use of technology</a:t>
            </a:r>
          </a:p>
          <a:p>
            <a:pPr lvl="1"/>
            <a:r>
              <a:rPr lang="en-GB" sz="2400" dirty="0">
                <a:solidFill>
                  <a:schemeClr val="accent1">
                    <a:lumMod val="50000"/>
                  </a:schemeClr>
                </a:solidFill>
              </a:rPr>
              <a:t>career and life skills, cultural awareness, etc. </a:t>
            </a:r>
          </a:p>
        </p:txBody>
      </p:sp>
      <p:pic>
        <p:nvPicPr>
          <p:cNvPr id="7" name="Picture 6">
            <a:extLst>
              <a:ext uri="{FF2B5EF4-FFF2-40B4-BE49-F238E27FC236}">
                <a16:creationId xmlns:a16="http://schemas.microsoft.com/office/drawing/2014/main" id="{3174AAD8-CCBF-F001-953D-3002047760E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829" t="16584" r="8237" b="11820"/>
          <a:stretch/>
        </p:blipFill>
        <p:spPr bwMode="auto">
          <a:xfrm>
            <a:off x="6928339" y="821453"/>
            <a:ext cx="5114065" cy="5783430"/>
          </a:xfrm>
          <a:prstGeom prst="rect">
            <a:avLst/>
          </a:prstGeom>
          <a:ln>
            <a:noFill/>
          </a:ln>
          <a:extLst>
            <a:ext uri="{53640926-AAD7-44D8-BBD7-CCE9431645EC}">
              <a14:shadowObscured xmlns:a14="http://schemas.microsoft.com/office/drawing/2010/main"/>
            </a:ext>
          </a:extLst>
        </p:spPr>
      </p:pic>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3</a:t>
            </a:fld>
            <a:endParaRPr lang="bg-BG" sz="1400"/>
          </a:p>
        </p:txBody>
      </p:sp>
    </p:spTree>
    <p:extLst>
      <p:ext uri="{BB962C8B-B14F-4D97-AF65-F5344CB8AC3E}">
        <p14:creationId xmlns:p14="http://schemas.microsoft.com/office/powerpoint/2010/main" val="160668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46" y="520262"/>
            <a:ext cx="6635679" cy="1009599"/>
          </a:xfrm>
        </p:spPr>
        <p:txBody>
          <a:bodyPr>
            <a:normAutofit fontScale="90000"/>
          </a:bodyPr>
          <a:lstStyle/>
          <a:p>
            <a:pPr algn="ctr"/>
            <a:r>
              <a:rPr lang="en-US" sz="4400" dirty="0">
                <a:solidFill>
                  <a:srgbClr val="002060"/>
                </a:solidFill>
              </a:rPr>
              <a:t>Publications About STEM education (2010 – 2024)</a:t>
            </a:r>
          </a:p>
        </p:txBody>
      </p:sp>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4</a:t>
            </a:fld>
            <a:endParaRPr lang="bg-BG" sz="1400"/>
          </a:p>
        </p:txBody>
      </p:sp>
      <p:graphicFrame>
        <p:nvGraphicFramePr>
          <p:cNvPr id="12" name="Chart 11"/>
          <p:cNvGraphicFramePr>
            <a:graphicFrameLocks/>
          </p:cNvGraphicFramePr>
          <p:nvPr>
            <p:extLst/>
          </p:nvPr>
        </p:nvGraphicFramePr>
        <p:xfrm>
          <a:off x="5909482" y="2620370"/>
          <a:ext cx="6158414" cy="4154066"/>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le 1">
            <a:extLst>
              <a:ext uri="{FF2B5EF4-FFF2-40B4-BE49-F238E27FC236}">
                <a16:creationId xmlns:a16="http://schemas.microsoft.com/office/drawing/2014/main" id="{18ED533D-9B64-4E96-AFBA-F721F891819A}"/>
              </a:ext>
            </a:extLst>
          </p:cNvPr>
          <p:cNvSpPr txBox="1">
            <a:spLocks/>
          </p:cNvSpPr>
          <p:nvPr/>
        </p:nvSpPr>
        <p:spPr>
          <a:xfrm>
            <a:off x="8326615" y="1940222"/>
            <a:ext cx="3292991" cy="5879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cap="none" dirty="0">
                <a:solidFill>
                  <a:schemeClr val="accent5">
                    <a:lumMod val="50000"/>
                  </a:schemeClr>
                </a:solidFill>
                <a:latin typeface="+mn-lt"/>
              </a:rPr>
              <a:t>Web of Science</a:t>
            </a:r>
            <a:endParaRPr lang="bg-BG" sz="2800" cap="none" dirty="0">
              <a:solidFill>
                <a:schemeClr val="accent5">
                  <a:lumMod val="50000"/>
                </a:schemeClr>
              </a:solidFill>
            </a:endParaRPr>
          </a:p>
        </p:txBody>
      </p:sp>
      <p:sp>
        <p:nvSpPr>
          <p:cNvPr id="14" name="Title 1">
            <a:extLst>
              <a:ext uri="{FF2B5EF4-FFF2-40B4-BE49-F238E27FC236}">
                <a16:creationId xmlns:a16="http://schemas.microsoft.com/office/drawing/2014/main" id="{18ED533D-9B64-4E96-AFBA-F721F891819A}"/>
              </a:ext>
            </a:extLst>
          </p:cNvPr>
          <p:cNvSpPr txBox="1">
            <a:spLocks/>
          </p:cNvSpPr>
          <p:nvPr/>
        </p:nvSpPr>
        <p:spPr>
          <a:xfrm>
            <a:off x="1735214" y="1940222"/>
            <a:ext cx="2328867" cy="5879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800" cap="none" dirty="0">
                <a:solidFill>
                  <a:schemeClr val="accent5">
                    <a:lumMod val="50000"/>
                  </a:schemeClr>
                </a:solidFill>
                <a:latin typeface="+mn-lt"/>
              </a:rPr>
              <a:t>Scopus</a:t>
            </a:r>
            <a:endParaRPr lang="bg-BG" sz="2800" cap="none" dirty="0">
              <a:solidFill>
                <a:schemeClr val="accent5">
                  <a:lumMod val="50000"/>
                </a:schemeClr>
              </a:solidFill>
            </a:endParaRPr>
          </a:p>
        </p:txBody>
      </p:sp>
      <p:graphicFrame>
        <p:nvGraphicFramePr>
          <p:cNvPr id="15" name="Chart 14">
            <a:extLst>
              <a:ext uri="{FF2B5EF4-FFF2-40B4-BE49-F238E27FC236}">
                <a16:creationId xmlns:a16="http://schemas.microsoft.com/office/drawing/2014/main" id="{3E739036-77FF-CA36-5ACD-299EA79715B8}"/>
              </a:ext>
            </a:extLst>
          </p:cNvPr>
          <p:cNvGraphicFramePr>
            <a:graphicFrameLocks/>
          </p:cNvGraphicFramePr>
          <p:nvPr>
            <p:extLst/>
          </p:nvPr>
        </p:nvGraphicFramePr>
        <p:xfrm>
          <a:off x="149595" y="2528152"/>
          <a:ext cx="5759887" cy="410331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2343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1E06FBB-1F95-46E6-BC05-BA9304C8A384}"/>
              </a:ext>
            </a:extLst>
          </p:cNvPr>
          <p:cNvSpPr>
            <a:spLocks noGrp="1"/>
          </p:cNvSpPr>
          <p:nvPr>
            <p:ph type="title"/>
          </p:nvPr>
        </p:nvSpPr>
        <p:spPr>
          <a:xfrm>
            <a:off x="2901462" y="90987"/>
            <a:ext cx="5565530" cy="1113326"/>
          </a:xfrm>
        </p:spPr>
        <p:txBody>
          <a:bodyPr>
            <a:noAutofit/>
          </a:bodyPr>
          <a:lstStyle/>
          <a:p>
            <a:pPr algn="ctr"/>
            <a:r>
              <a:rPr lang="en-US" dirty="0">
                <a:solidFill>
                  <a:schemeClr val="accent5">
                    <a:lumMod val="50000"/>
                  </a:schemeClr>
                </a:solidFill>
              </a:rPr>
              <a:t>STEM in SCOPUS and </a:t>
            </a:r>
            <a:r>
              <a:rPr lang="en-US" dirty="0" err="1">
                <a:solidFill>
                  <a:schemeClr val="accent5">
                    <a:lumMod val="50000"/>
                  </a:schemeClr>
                </a:solidFill>
              </a:rPr>
              <a:t>WoS</a:t>
            </a:r>
            <a:r>
              <a:rPr lang="en-US" dirty="0">
                <a:solidFill>
                  <a:schemeClr val="accent5">
                    <a:lumMod val="50000"/>
                  </a:schemeClr>
                </a:solidFill>
              </a:rPr>
              <a:t> </a:t>
            </a:r>
            <a:br>
              <a:rPr lang="en-US" dirty="0">
                <a:solidFill>
                  <a:schemeClr val="accent5">
                    <a:lumMod val="50000"/>
                  </a:schemeClr>
                </a:solidFill>
              </a:rPr>
            </a:br>
            <a:r>
              <a:rPr lang="en-US" dirty="0">
                <a:solidFill>
                  <a:schemeClr val="accent5">
                    <a:lumMod val="50000"/>
                  </a:schemeClr>
                </a:solidFill>
              </a:rPr>
              <a:t>by countries</a:t>
            </a:r>
            <a:endParaRPr lang="bg-BG" dirty="0">
              <a:solidFill>
                <a:schemeClr val="accent5">
                  <a:lumMod val="50000"/>
                </a:schemeClr>
              </a:solidFill>
            </a:endParaRPr>
          </a:p>
        </p:txBody>
      </p:sp>
      <p:sp>
        <p:nvSpPr>
          <p:cNvPr id="6" name="Title 1">
            <a:extLst>
              <a:ext uri="{FF2B5EF4-FFF2-40B4-BE49-F238E27FC236}">
                <a16:creationId xmlns:a16="http://schemas.microsoft.com/office/drawing/2014/main" id="{18ED533D-9B64-4E96-AFBA-F721F891819A}"/>
              </a:ext>
            </a:extLst>
          </p:cNvPr>
          <p:cNvSpPr txBox="1">
            <a:spLocks/>
          </p:cNvSpPr>
          <p:nvPr/>
        </p:nvSpPr>
        <p:spPr>
          <a:xfrm>
            <a:off x="2450821" y="5954486"/>
            <a:ext cx="2080236" cy="57395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3700" cap="none" dirty="0">
                <a:solidFill>
                  <a:schemeClr val="accent1">
                    <a:lumMod val="50000"/>
                  </a:schemeClr>
                </a:solidFill>
                <a:latin typeface="+mn-lt"/>
              </a:rPr>
              <a:t>Scopus</a:t>
            </a:r>
            <a:endParaRPr lang="bg-BG" sz="3200" cap="none" dirty="0">
              <a:solidFill>
                <a:schemeClr val="accent1">
                  <a:lumMod val="50000"/>
                </a:schemeClr>
              </a:solidFill>
            </a:endParaRPr>
          </a:p>
        </p:txBody>
      </p:sp>
      <p:graphicFrame>
        <p:nvGraphicFramePr>
          <p:cNvPr id="7" name="Chart 6">
            <a:extLst>
              <a:ext uri="{FF2B5EF4-FFF2-40B4-BE49-F238E27FC236}">
                <a16:creationId xmlns:a16="http://schemas.microsoft.com/office/drawing/2014/main" id="{17C6B9AE-ED72-BE2E-7677-CCC96803A097}"/>
              </a:ext>
            </a:extLst>
          </p:cNvPr>
          <p:cNvGraphicFramePr>
            <a:graphicFrameLocks/>
          </p:cNvGraphicFramePr>
          <p:nvPr>
            <p:extLst/>
          </p:nvPr>
        </p:nvGraphicFramePr>
        <p:xfrm>
          <a:off x="149595" y="556663"/>
          <a:ext cx="6319444" cy="53978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nvPr>
        </p:nvGraphicFramePr>
        <p:xfrm>
          <a:off x="6005015" y="1774209"/>
          <a:ext cx="6018663" cy="4899545"/>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18ED533D-9B64-4E96-AFBA-F721F891819A}"/>
              </a:ext>
            </a:extLst>
          </p:cNvPr>
          <p:cNvSpPr txBox="1">
            <a:spLocks/>
          </p:cNvSpPr>
          <p:nvPr/>
        </p:nvSpPr>
        <p:spPr>
          <a:xfrm>
            <a:off x="8639033" y="1480244"/>
            <a:ext cx="2017242" cy="5879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dirty="0" err="1">
                <a:solidFill>
                  <a:schemeClr val="accent5">
                    <a:lumMod val="50000"/>
                  </a:schemeClr>
                </a:solidFill>
                <a:latin typeface="+mn-lt"/>
              </a:rPr>
              <a:t>W</a:t>
            </a:r>
            <a:r>
              <a:rPr lang="en-US" cap="none" dirty="0" err="1">
                <a:solidFill>
                  <a:schemeClr val="accent5">
                    <a:lumMod val="50000"/>
                  </a:schemeClr>
                </a:solidFill>
                <a:latin typeface="+mn-lt"/>
              </a:rPr>
              <a:t>o</a:t>
            </a:r>
            <a:r>
              <a:rPr lang="en-US" dirty="0" err="1">
                <a:solidFill>
                  <a:schemeClr val="accent5">
                    <a:lumMod val="50000"/>
                  </a:schemeClr>
                </a:solidFill>
                <a:latin typeface="+mn-lt"/>
              </a:rPr>
              <a:t>S</a:t>
            </a:r>
            <a:endParaRPr lang="bg-BG" sz="4000" dirty="0">
              <a:solidFill>
                <a:schemeClr val="accent5">
                  <a:lumMod val="50000"/>
                </a:schemeClr>
              </a:solidFill>
            </a:endParaRPr>
          </a:p>
        </p:txBody>
      </p:sp>
      <p:sp>
        <p:nvSpPr>
          <p:cNvPr id="11" name="Date Placeholder 3">
            <a:extLst>
              <a:ext uri="{FF2B5EF4-FFF2-40B4-BE49-F238E27FC236}">
                <a16:creationId xmlns:a16="http://schemas.microsoft.com/office/drawing/2014/main" id="{BA8397B4-18C7-4FA3-8F7C-5A5BA5E32DB5}"/>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2" name="Slide Number Placeholder 5">
            <a:extLst>
              <a:ext uri="{FF2B5EF4-FFF2-40B4-BE49-F238E27FC236}">
                <a16:creationId xmlns:a16="http://schemas.microsoft.com/office/drawing/2014/main" id="{BEFD8E7C-11E3-47E5-A718-6BC4E891A5C9}"/>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5</a:t>
            </a:fld>
            <a:endParaRPr lang="bg-BG" sz="1400"/>
          </a:p>
        </p:txBody>
      </p:sp>
    </p:spTree>
    <p:extLst>
      <p:ext uri="{BB962C8B-B14F-4D97-AF65-F5344CB8AC3E}">
        <p14:creationId xmlns:p14="http://schemas.microsoft.com/office/powerpoint/2010/main" val="67545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1757" y="161712"/>
            <a:ext cx="5859754" cy="1390674"/>
          </a:xfrm>
        </p:spPr>
        <p:txBody>
          <a:bodyPr>
            <a:noAutofit/>
          </a:bodyPr>
          <a:lstStyle/>
          <a:p>
            <a:pPr algn="ctr"/>
            <a:r>
              <a:rPr lang="en-US" dirty="0">
                <a:solidFill>
                  <a:schemeClr val="accent5">
                    <a:lumMod val="50000"/>
                  </a:schemeClr>
                </a:solidFill>
              </a:rPr>
              <a:t>STEM in SCOPUS and </a:t>
            </a:r>
            <a:r>
              <a:rPr lang="en-US" dirty="0" err="1">
                <a:solidFill>
                  <a:schemeClr val="accent5">
                    <a:lumMod val="50000"/>
                  </a:schemeClr>
                </a:solidFill>
              </a:rPr>
              <a:t>WoS</a:t>
            </a:r>
            <a:r>
              <a:rPr lang="en-US" dirty="0">
                <a:solidFill>
                  <a:schemeClr val="accent5">
                    <a:lumMod val="50000"/>
                  </a:schemeClr>
                </a:solidFill>
              </a:rPr>
              <a:t> </a:t>
            </a:r>
            <a:br>
              <a:rPr lang="en-US" dirty="0">
                <a:solidFill>
                  <a:schemeClr val="accent5">
                    <a:lumMod val="50000"/>
                  </a:schemeClr>
                </a:solidFill>
              </a:rPr>
            </a:br>
            <a:r>
              <a:rPr lang="en-US" dirty="0">
                <a:solidFill>
                  <a:schemeClr val="accent5">
                    <a:lumMod val="50000"/>
                  </a:schemeClr>
                </a:solidFill>
              </a:rPr>
              <a:t>by Type of Publication</a:t>
            </a:r>
            <a:endParaRPr lang="bg-BG" dirty="0">
              <a:solidFill>
                <a:schemeClr val="accent5">
                  <a:lumMod val="50000"/>
                </a:schemeClr>
              </a:solidFill>
            </a:endParaRPr>
          </a:p>
        </p:txBody>
      </p:sp>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6</a:t>
            </a:fld>
            <a:endParaRPr lang="bg-BG" sz="1400"/>
          </a:p>
        </p:txBody>
      </p:sp>
      <p:graphicFrame>
        <p:nvGraphicFramePr>
          <p:cNvPr id="11" name="Chart 10"/>
          <p:cNvGraphicFramePr>
            <a:graphicFrameLocks/>
          </p:cNvGraphicFramePr>
          <p:nvPr>
            <p:extLst/>
          </p:nvPr>
        </p:nvGraphicFramePr>
        <p:xfrm>
          <a:off x="6769290" y="2920621"/>
          <a:ext cx="5268035" cy="3541532"/>
        </p:xfrm>
        <a:graphic>
          <a:graphicData uri="http://schemas.openxmlformats.org/drawingml/2006/chart">
            <c:chart xmlns:c="http://schemas.openxmlformats.org/drawingml/2006/chart" xmlns:r="http://schemas.openxmlformats.org/officeDocument/2006/relationships" r:id="rId2"/>
          </a:graphicData>
        </a:graphic>
      </p:graphicFrame>
      <p:sp>
        <p:nvSpPr>
          <p:cNvPr id="12" name="Title 1">
            <a:extLst>
              <a:ext uri="{FF2B5EF4-FFF2-40B4-BE49-F238E27FC236}">
                <a16:creationId xmlns:a16="http://schemas.microsoft.com/office/drawing/2014/main" id="{18ED533D-9B64-4E96-AFBA-F721F891819A}"/>
              </a:ext>
            </a:extLst>
          </p:cNvPr>
          <p:cNvSpPr txBox="1">
            <a:spLocks/>
          </p:cNvSpPr>
          <p:nvPr/>
        </p:nvSpPr>
        <p:spPr>
          <a:xfrm>
            <a:off x="7740907" y="1667537"/>
            <a:ext cx="3518498" cy="587930"/>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5300" dirty="0" err="1">
                <a:solidFill>
                  <a:schemeClr val="accent5">
                    <a:lumMod val="50000"/>
                  </a:schemeClr>
                </a:solidFill>
                <a:latin typeface="+mn-lt"/>
              </a:rPr>
              <a:t>W</a:t>
            </a:r>
            <a:r>
              <a:rPr lang="en-US" sz="5300" cap="none" dirty="0" err="1">
                <a:solidFill>
                  <a:schemeClr val="accent5">
                    <a:lumMod val="50000"/>
                  </a:schemeClr>
                </a:solidFill>
                <a:latin typeface="+mn-lt"/>
              </a:rPr>
              <a:t>o</a:t>
            </a:r>
            <a:r>
              <a:rPr lang="en-US" sz="5300" dirty="0" err="1">
                <a:solidFill>
                  <a:schemeClr val="accent5">
                    <a:lumMod val="50000"/>
                  </a:schemeClr>
                </a:solidFill>
                <a:latin typeface="+mn-lt"/>
              </a:rPr>
              <a:t>S</a:t>
            </a:r>
            <a:endParaRPr lang="bg-BG" sz="4400" dirty="0">
              <a:solidFill>
                <a:schemeClr val="accent5">
                  <a:lumMod val="50000"/>
                </a:schemeClr>
              </a:solidFill>
            </a:endParaRPr>
          </a:p>
        </p:txBody>
      </p:sp>
      <p:sp>
        <p:nvSpPr>
          <p:cNvPr id="13" name="Title 1">
            <a:extLst>
              <a:ext uri="{FF2B5EF4-FFF2-40B4-BE49-F238E27FC236}">
                <a16:creationId xmlns:a16="http://schemas.microsoft.com/office/drawing/2014/main" id="{18ED533D-9B64-4E96-AFBA-F721F891819A}"/>
              </a:ext>
            </a:extLst>
          </p:cNvPr>
          <p:cNvSpPr txBox="1">
            <a:spLocks/>
          </p:cNvSpPr>
          <p:nvPr/>
        </p:nvSpPr>
        <p:spPr>
          <a:xfrm>
            <a:off x="1468182" y="5499632"/>
            <a:ext cx="3518498" cy="587930"/>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5300" cap="none" dirty="0">
                <a:solidFill>
                  <a:schemeClr val="accent1">
                    <a:lumMod val="50000"/>
                  </a:schemeClr>
                </a:solidFill>
                <a:latin typeface="+mn-lt"/>
              </a:rPr>
              <a:t>Scopus</a:t>
            </a:r>
            <a:endParaRPr lang="bg-BG" sz="4400" cap="none" dirty="0">
              <a:solidFill>
                <a:schemeClr val="accent1">
                  <a:lumMod val="50000"/>
                </a:schemeClr>
              </a:solidFill>
            </a:endParaRPr>
          </a:p>
        </p:txBody>
      </p:sp>
      <p:graphicFrame>
        <p:nvGraphicFramePr>
          <p:cNvPr id="14" name="Chart 13"/>
          <p:cNvGraphicFramePr>
            <a:graphicFrameLocks/>
          </p:cNvGraphicFramePr>
          <p:nvPr>
            <p:extLst/>
          </p:nvPr>
        </p:nvGraphicFramePr>
        <p:xfrm>
          <a:off x="149596" y="1405719"/>
          <a:ext cx="6155670" cy="40316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56251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8ED533D-9B64-4E96-AFBA-F721F891819A}"/>
              </a:ext>
            </a:extLst>
          </p:cNvPr>
          <p:cNvSpPr>
            <a:spLocks noGrp="1"/>
          </p:cNvSpPr>
          <p:nvPr>
            <p:ph type="title"/>
          </p:nvPr>
        </p:nvSpPr>
        <p:spPr>
          <a:xfrm>
            <a:off x="2602523" y="161712"/>
            <a:ext cx="6110654" cy="1390674"/>
          </a:xfrm>
        </p:spPr>
        <p:txBody>
          <a:bodyPr>
            <a:noAutofit/>
          </a:bodyPr>
          <a:lstStyle/>
          <a:p>
            <a:pPr algn="ctr"/>
            <a:r>
              <a:rPr lang="en-US" dirty="0">
                <a:solidFill>
                  <a:schemeClr val="accent5">
                    <a:lumMod val="50000"/>
                  </a:schemeClr>
                </a:solidFill>
              </a:rPr>
              <a:t>STEM in SCOPUS and </a:t>
            </a:r>
            <a:r>
              <a:rPr lang="en-US" dirty="0" err="1">
                <a:solidFill>
                  <a:schemeClr val="accent5">
                    <a:lumMod val="50000"/>
                  </a:schemeClr>
                </a:solidFill>
              </a:rPr>
              <a:t>WoS</a:t>
            </a:r>
            <a:r>
              <a:rPr lang="en-US" dirty="0">
                <a:solidFill>
                  <a:schemeClr val="accent5">
                    <a:lumMod val="50000"/>
                  </a:schemeClr>
                </a:solidFill>
              </a:rPr>
              <a:t> </a:t>
            </a:r>
            <a:br>
              <a:rPr lang="en-US" dirty="0">
                <a:solidFill>
                  <a:schemeClr val="accent5">
                    <a:lumMod val="50000"/>
                  </a:schemeClr>
                </a:solidFill>
              </a:rPr>
            </a:br>
            <a:r>
              <a:rPr lang="en-US" dirty="0">
                <a:solidFill>
                  <a:schemeClr val="accent5">
                    <a:lumMod val="50000"/>
                  </a:schemeClr>
                </a:solidFill>
              </a:rPr>
              <a:t>by areas</a:t>
            </a:r>
            <a:endParaRPr lang="bg-BG" dirty="0">
              <a:solidFill>
                <a:schemeClr val="accent5">
                  <a:lumMod val="50000"/>
                </a:schemeClr>
              </a:solidFill>
            </a:endParaRPr>
          </a:p>
        </p:txBody>
      </p:sp>
      <p:sp>
        <p:nvSpPr>
          <p:cNvPr id="8" name="Title 1">
            <a:extLst>
              <a:ext uri="{FF2B5EF4-FFF2-40B4-BE49-F238E27FC236}">
                <a16:creationId xmlns:a16="http://schemas.microsoft.com/office/drawing/2014/main" id="{18ED533D-9B64-4E96-AFBA-F721F891819A}"/>
              </a:ext>
            </a:extLst>
          </p:cNvPr>
          <p:cNvSpPr txBox="1">
            <a:spLocks/>
          </p:cNvSpPr>
          <p:nvPr/>
        </p:nvSpPr>
        <p:spPr>
          <a:xfrm>
            <a:off x="7740907" y="1667537"/>
            <a:ext cx="2017242" cy="5879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err="1">
                <a:solidFill>
                  <a:schemeClr val="accent5">
                    <a:lumMod val="50000"/>
                  </a:schemeClr>
                </a:solidFill>
                <a:latin typeface="+mn-lt"/>
              </a:rPr>
              <a:t>W</a:t>
            </a:r>
            <a:r>
              <a:rPr lang="en-US" sz="4000" cap="none" dirty="0" err="1">
                <a:solidFill>
                  <a:schemeClr val="accent5">
                    <a:lumMod val="50000"/>
                  </a:schemeClr>
                </a:solidFill>
                <a:latin typeface="+mn-lt"/>
              </a:rPr>
              <a:t>o</a:t>
            </a:r>
            <a:r>
              <a:rPr lang="en-US" sz="4000" dirty="0" err="1">
                <a:solidFill>
                  <a:schemeClr val="accent5">
                    <a:lumMod val="50000"/>
                  </a:schemeClr>
                </a:solidFill>
                <a:latin typeface="+mn-lt"/>
              </a:rPr>
              <a:t>S</a:t>
            </a:r>
            <a:endParaRPr lang="bg-BG" sz="4000" dirty="0">
              <a:solidFill>
                <a:schemeClr val="accent5">
                  <a:lumMod val="50000"/>
                </a:schemeClr>
              </a:solidFill>
            </a:endParaRPr>
          </a:p>
        </p:txBody>
      </p:sp>
      <p:graphicFrame>
        <p:nvGraphicFramePr>
          <p:cNvPr id="10" name="Chart 9"/>
          <p:cNvGraphicFramePr>
            <a:graphicFrameLocks/>
          </p:cNvGraphicFramePr>
          <p:nvPr>
            <p:extLst/>
          </p:nvPr>
        </p:nvGraphicFramePr>
        <p:xfrm>
          <a:off x="5117909" y="2141703"/>
          <a:ext cx="6946711" cy="4190858"/>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le 1">
            <a:extLst>
              <a:ext uri="{FF2B5EF4-FFF2-40B4-BE49-F238E27FC236}">
                <a16:creationId xmlns:a16="http://schemas.microsoft.com/office/drawing/2014/main" id="{18ED533D-9B64-4E96-AFBA-F721F891819A}"/>
              </a:ext>
            </a:extLst>
          </p:cNvPr>
          <p:cNvSpPr txBox="1">
            <a:spLocks/>
          </p:cNvSpPr>
          <p:nvPr/>
        </p:nvSpPr>
        <p:spPr>
          <a:xfrm>
            <a:off x="1402461" y="5322627"/>
            <a:ext cx="2274275" cy="7001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100" cap="none" dirty="0">
                <a:solidFill>
                  <a:schemeClr val="accent1">
                    <a:lumMod val="50000"/>
                  </a:schemeClr>
                </a:solidFill>
                <a:latin typeface="+mn-lt"/>
              </a:rPr>
              <a:t>Scopus</a:t>
            </a:r>
            <a:endParaRPr lang="bg-BG" sz="4000" cap="none" dirty="0">
              <a:solidFill>
                <a:schemeClr val="accent1">
                  <a:lumMod val="50000"/>
                </a:schemeClr>
              </a:solidFill>
            </a:endParaRPr>
          </a:p>
        </p:txBody>
      </p:sp>
      <p:graphicFrame>
        <p:nvGraphicFramePr>
          <p:cNvPr id="17" name="Chart 16">
            <a:extLst>
              <a:ext uri="{FF2B5EF4-FFF2-40B4-BE49-F238E27FC236}">
                <a16:creationId xmlns:a16="http://schemas.microsoft.com/office/drawing/2014/main" id="{9542B81A-B08E-3C25-DD50-E85F7FD653E5}"/>
              </a:ext>
            </a:extLst>
          </p:cNvPr>
          <p:cNvGraphicFramePr>
            <a:graphicFrameLocks/>
          </p:cNvGraphicFramePr>
          <p:nvPr>
            <p:extLst/>
          </p:nvPr>
        </p:nvGraphicFramePr>
        <p:xfrm>
          <a:off x="149595" y="1667537"/>
          <a:ext cx="4676003" cy="3655090"/>
        </p:xfrm>
        <a:graphic>
          <a:graphicData uri="http://schemas.openxmlformats.org/drawingml/2006/chart">
            <c:chart xmlns:c="http://schemas.openxmlformats.org/drawingml/2006/chart" xmlns:r="http://schemas.openxmlformats.org/officeDocument/2006/relationships" r:id="rId3"/>
          </a:graphicData>
        </a:graphic>
      </p:graphicFrame>
      <p:sp>
        <p:nvSpPr>
          <p:cNvPr id="9" name="Date Placeholder 3">
            <a:extLst>
              <a:ext uri="{FF2B5EF4-FFF2-40B4-BE49-F238E27FC236}">
                <a16:creationId xmlns:a16="http://schemas.microsoft.com/office/drawing/2014/main" id="{B18648A5-4505-4E93-895D-C2C92E275BA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1" name="Slide Number Placeholder 5">
            <a:extLst>
              <a:ext uri="{FF2B5EF4-FFF2-40B4-BE49-F238E27FC236}">
                <a16:creationId xmlns:a16="http://schemas.microsoft.com/office/drawing/2014/main" id="{53E5E2E1-A66D-493B-BC5E-DCF03298FF3B}"/>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7</a:t>
            </a:fld>
            <a:endParaRPr lang="bg-BG" sz="1400"/>
          </a:p>
        </p:txBody>
      </p:sp>
    </p:spTree>
    <p:extLst>
      <p:ext uri="{BB962C8B-B14F-4D97-AF65-F5344CB8AC3E}">
        <p14:creationId xmlns:p14="http://schemas.microsoft.com/office/powerpoint/2010/main" val="3240825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7162" y="83563"/>
            <a:ext cx="6101861" cy="1390674"/>
          </a:xfrm>
        </p:spPr>
        <p:txBody>
          <a:bodyPr>
            <a:normAutofit/>
          </a:bodyPr>
          <a:lstStyle/>
          <a:p>
            <a:pPr algn="ctr"/>
            <a:r>
              <a:rPr lang="en-US" sz="4400" dirty="0">
                <a:solidFill>
                  <a:schemeClr val="accent5">
                    <a:lumMod val="50000"/>
                  </a:schemeClr>
                </a:solidFill>
              </a:rPr>
              <a:t>STEM teaching methods</a:t>
            </a:r>
            <a:endParaRPr lang="bg-BG" sz="4400" dirty="0">
              <a:solidFill>
                <a:schemeClr val="accent5">
                  <a:lumMod val="50000"/>
                </a:schemeClr>
              </a:solidFill>
            </a:endParaRPr>
          </a:p>
        </p:txBody>
      </p:sp>
      <p:pic>
        <p:nvPicPr>
          <p:cNvPr id="8" name="Picture 2" descr="IMEA'2024">
            <a:extLst>
              <a:ext uri="{FF2B5EF4-FFF2-40B4-BE49-F238E27FC236}">
                <a16:creationId xmlns:a16="http://schemas.microsoft.com/office/drawing/2014/main" id="{13CDB5C0-E376-4C9E-B1EE-EA934B9E6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95" y="6149871"/>
            <a:ext cx="1951767" cy="624565"/>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8</a:t>
            </a:fld>
            <a:endParaRPr lang="bg-BG" sz="1400"/>
          </a:p>
        </p:txBody>
      </p:sp>
      <p:pic>
        <p:nvPicPr>
          <p:cNvPr id="6146" name="Picture 2" descr="https://lh7-rt.googleusercontent.com/docsz/AD_4nXdz-XW06R7pScT7mr63DR9V4TmMqEHGz3YvksmnDnPhaRgCh9KOqi4WpOkZgzRg255v7mTlxOTkLcKSNDbeJtNYYT3hZlrLMqTSimlG8S8C1izW9wGqvWsJZknIggZhvXw5QzoeJB5Q4Wo8Nu2ODA?key=58-_Jn30t4sqhkZkrCEeoCy4">
            <a:extLst>
              <a:ext uri="{FF2B5EF4-FFF2-40B4-BE49-F238E27FC236}">
                <a16:creationId xmlns:a16="http://schemas.microsoft.com/office/drawing/2014/main" id="{AFFB19CF-73C0-4088-89B7-5418000AA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361" y="1827007"/>
            <a:ext cx="9779708" cy="3970093"/>
          </a:xfrm>
          <a:prstGeom prst="rect">
            <a:avLst/>
          </a:prstGeom>
          <a:noFill/>
          <a:extLst>
            <a:ext uri="{909E8E84-426E-40DD-AFC4-6F175D3DCCD1}">
              <a14:hiddenFill xmlns:a14="http://schemas.microsoft.com/office/drawing/2010/main">
                <a:solidFill>
                  <a:srgbClr val="FFFFFF"/>
                </a:solidFill>
              </a14:hiddenFill>
            </a:ext>
          </a:extLst>
        </p:spPr>
      </p:pic>
      <p:sp>
        <p:nvSpPr>
          <p:cNvPr id="6" name="Callout: Bent Line 5">
            <a:extLst>
              <a:ext uri="{FF2B5EF4-FFF2-40B4-BE49-F238E27FC236}">
                <a16:creationId xmlns:a16="http://schemas.microsoft.com/office/drawing/2014/main" id="{3C60752B-5C3B-4DB1-BFC0-D2D6FFDFE6D8}"/>
              </a:ext>
            </a:extLst>
          </p:cNvPr>
          <p:cNvSpPr/>
          <p:nvPr/>
        </p:nvSpPr>
        <p:spPr>
          <a:xfrm>
            <a:off x="10469461" y="2744130"/>
            <a:ext cx="1486249" cy="808893"/>
          </a:xfrm>
          <a:prstGeom prst="borderCallout2">
            <a:avLst>
              <a:gd name="adj1" fmla="val 18750"/>
              <a:gd name="adj2" fmla="val 429"/>
              <a:gd name="adj3" fmla="val 18750"/>
              <a:gd name="adj4" fmla="val -16667"/>
              <a:gd name="adj5" fmla="val 87500"/>
              <a:gd name="adj6" fmla="val -283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Single approaches</a:t>
            </a:r>
            <a:endParaRPr lang="bg-BG" dirty="0"/>
          </a:p>
        </p:txBody>
      </p:sp>
      <p:sp>
        <p:nvSpPr>
          <p:cNvPr id="12" name="Callout: Bent Line 11">
            <a:extLst>
              <a:ext uri="{FF2B5EF4-FFF2-40B4-BE49-F238E27FC236}">
                <a16:creationId xmlns:a16="http://schemas.microsoft.com/office/drawing/2014/main" id="{8EA673B9-D764-4191-8524-CB86ED811235}"/>
              </a:ext>
            </a:extLst>
          </p:cNvPr>
          <p:cNvSpPr/>
          <p:nvPr/>
        </p:nvSpPr>
        <p:spPr>
          <a:xfrm>
            <a:off x="10469461" y="4498304"/>
            <a:ext cx="1502219" cy="808893"/>
          </a:xfrm>
          <a:prstGeom prst="borderCallout2">
            <a:avLst>
              <a:gd name="adj1" fmla="val 18750"/>
              <a:gd name="adj2" fmla="val 429"/>
              <a:gd name="adj3" fmla="val 18750"/>
              <a:gd name="adj4" fmla="val -16667"/>
              <a:gd name="adj5" fmla="val 87500"/>
              <a:gd name="adj6" fmla="val -283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Multi- approaches</a:t>
            </a:r>
            <a:endParaRPr lang="bg-BG" dirty="0"/>
          </a:p>
        </p:txBody>
      </p:sp>
    </p:spTree>
    <p:extLst>
      <p:ext uri="{BB962C8B-B14F-4D97-AF65-F5344CB8AC3E}">
        <p14:creationId xmlns:p14="http://schemas.microsoft.com/office/powerpoint/2010/main" val="2057479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7838" y="146655"/>
            <a:ext cx="5776473" cy="1036743"/>
          </a:xfrm>
        </p:spPr>
        <p:txBody>
          <a:bodyPr>
            <a:normAutofit fontScale="90000"/>
          </a:bodyPr>
          <a:lstStyle/>
          <a:p>
            <a:pPr algn="ctr"/>
            <a:r>
              <a:rPr lang="en-US" sz="4400" dirty="0">
                <a:solidFill>
                  <a:schemeClr val="accent5">
                    <a:lumMod val="50000"/>
                  </a:schemeClr>
                </a:solidFill>
              </a:rPr>
              <a:t>Personalized education</a:t>
            </a:r>
            <a:endParaRPr lang="bg-BG" sz="4400" dirty="0">
              <a:solidFill>
                <a:schemeClr val="accent5">
                  <a:lumMod val="50000"/>
                </a:schemeClr>
              </a:solidFill>
            </a:endParaRPr>
          </a:p>
        </p:txBody>
      </p:sp>
      <p:sp>
        <p:nvSpPr>
          <p:cNvPr id="3" name="Content Placeholder 2"/>
          <p:cNvSpPr>
            <a:spLocks noGrp="1"/>
          </p:cNvSpPr>
          <p:nvPr>
            <p:ph idx="1"/>
          </p:nvPr>
        </p:nvSpPr>
        <p:spPr>
          <a:xfrm>
            <a:off x="87412" y="1380825"/>
            <a:ext cx="8616900" cy="5198851"/>
          </a:xfrm>
        </p:spPr>
        <p:txBody>
          <a:bodyPr>
            <a:normAutofit/>
          </a:bodyPr>
          <a:lstStyle/>
          <a:p>
            <a:r>
              <a:rPr lang="en-US" dirty="0">
                <a:solidFill>
                  <a:schemeClr val="accent1">
                    <a:lumMod val="50000"/>
                  </a:schemeClr>
                </a:solidFill>
              </a:rPr>
              <a:t>Personalized education is a didactic approach “designed and paced to match students’ learning needs; adjusted to meet their learning preferences; and sensitized to their specific interests, backgrounds, and experiences.” (J. Gupta)</a:t>
            </a:r>
          </a:p>
          <a:p>
            <a:r>
              <a:rPr lang="en-US" dirty="0">
                <a:solidFill>
                  <a:schemeClr val="accent1">
                    <a:lumMod val="50000"/>
                  </a:schemeClr>
                </a:solidFill>
              </a:rPr>
              <a:t>“Personalized learning is finding what each child needs to be successful and using that learning opportunity to help the student become more proficient.” (Ken Schofield)</a:t>
            </a:r>
          </a:p>
          <a:p>
            <a:r>
              <a:rPr lang="en-US" dirty="0">
                <a:solidFill>
                  <a:schemeClr val="accent1">
                    <a:lumMod val="50000"/>
                  </a:schemeClr>
                </a:solidFill>
              </a:rPr>
              <a:t>“A progressively student-driven model where students deeply engage in meaningful, authentic and rigorous challenges to demonstrate desired outcomes.” (</a:t>
            </a:r>
            <a:r>
              <a:rPr lang="en-US" dirty="0" err="1">
                <a:solidFill>
                  <a:schemeClr val="accent1">
                    <a:lumMod val="50000"/>
                  </a:schemeClr>
                </a:solidFill>
              </a:rPr>
              <a:t>Zmuda</a:t>
            </a:r>
            <a:r>
              <a:rPr lang="en-US" dirty="0">
                <a:solidFill>
                  <a:schemeClr val="accent1">
                    <a:lumMod val="50000"/>
                  </a:schemeClr>
                </a:solidFill>
              </a:rPr>
              <a:t>, Curtis and Ullman, 2015)</a:t>
            </a:r>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9</a:t>
            </a:fld>
            <a:endParaRPr lang="bg-BG" sz="1400"/>
          </a:p>
        </p:txBody>
      </p:sp>
      <p:pic>
        <p:nvPicPr>
          <p:cNvPr id="4" name="Picture 3">
            <a:extLst>
              <a:ext uri="{FF2B5EF4-FFF2-40B4-BE49-F238E27FC236}">
                <a16:creationId xmlns:a16="http://schemas.microsoft.com/office/drawing/2014/main" id="{F017C2D0-F309-4DA2-A849-AC73E6C2AA4C}"/>
              </a:ext>
            </a:extLst>
          </p:cNvPr>
          <p:cNvPicPr>
            <a:picLocks noChangeAspect="1"/>
          </p:cNvPicPr>
          <p:nvPr/>
        </p:nvPicPr>
        <p:blipFill>
          <a:blip r:embed="rId2"/>
          <a:stretch>
            <a:fillRect/>
          </a:stretch>
        </p:blipFill>
        <p:spPr>
          <a:xfrm>
            <a:off x="8704312" y="1770940"/>
            <a:ext cx="3487688" cy="3054247"/>
          </a:xfrm>
          <a:prstGeom prst="rect">
            <a:avLst/>
          </a:prstGeom>
        </p:spPr>
      </p:pic>
    </p:spTree>
    <p:extLst>
      <p:ext uri="{BB962C8B-B14F-4D97-AF65-F5344CB8AC3E}">
        <p14:creationId xmlns:p14="http://schemas.microsoft.com/office/powerpoint/2010/main" val="1585215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068" y="144213"/>
            <a:ext cx="6128239" cy="1390674"/>
          </a:xfrm>
        </p:spPr>
        <p:txBody>
          <a:bodyPr>
            <a:noAutofit/>
          </a:bodyPr>
          <a:lstStyle/>
          <a:p>
            <a:pPr algn="ctr"/>
            <a:r>
              <a:rPr lang="en-US" dirty="0">
                <a:solidFill>
                  <a:schemeClr val="accent5">
                    <a:lumMod val="50000"/>
                  </a:schemeClr>
                </a:solidFill>
              </a:rPr>
              <a:t>Personalization vs Differentiation vs Individualization</a:t>
            </a:r>
            <a:endParaRPr lang="bg-BG" dirty="0">
              <a:solidFill>
                <a:schemeClr val="accent5">
                  <a:lumMod val="50000"/>
                </a:schemeClr>
              </a:solidFill>
            </a:endParaRPr>
          </a:p>
        </p:txBody>
      </p:sp>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10</a:t>
            </a:fld>
            <a:endParaRPr lang="bg-BG" sz="1400"/>
          </a:p>
        </p:txBody>
      </p:sp>
      <p:pic>
        <p:nvPicPr>
          <p:cNvPr id="4098" name="Picture 2" descr="Picture">
            <a:extLst>
              <a:ext uri="{FF2B5EF4-FFF2-40B4-BE49-F238E27FC236}">
                <a16:creationId xmlns:a16="http://schemas.microsoft.com/office/drawing/2014/main" id="{3D3CDBFC-5710-4368-9BE4-AED30336A3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70"/>
          <a:stretch/>
        </p:blipFill>
        <p:spPr bwMode="auto">
          <a:xfrm>
            <a:off x="2271050" y="1534887"/>
            <a:ext cx="9073661" cy="5023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40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3538" y="163124"/>
            <a:ext cx="5787973" cy="889784"/>
          </a:xfrm>
        </p:spPr>
        <p:txBody>
          <a:bodyPr>
            <a:normAutofit fontScale="90000"/>
          </a:bodyPr>
          <a:lstStyle/>
          <a:p>
            <a:pPr algn="ctr"/>
            <a:r>
              <a:rPr lang="en-US" sz="4000" dirty="0">
                <a:solidFill>
                  <a:schemeClr val="accent1">
                    <a:lumMod val="50000"/>
                  </a:schemeClr>
                </a:solidFill>
              </a:rPr>
              <a:t>Personalization approaches</a:t>
            </a:r>
            <a:endParaRPr lang="bg-BG" sz="4000" dirty="0">
              <a:solidFill>
                <a:schemeClr val="accent5">
                  <a:lumMod val="50000"/>
                </a:schemeClr>
              </a:solidFill>
            </a:endParaRPr>
          </a:p>
        </p:txBody>
      </p:sp>
      <p:sp>
        <p:nvSpPr>
          <p:cNvPr id="3" name="Content Placeholder 2"/>
          <p:cNvSpPr>
            <a:spLocks noGrp="1"/>
          </p:cNvSpPr>
          <p:nvPr>
            <p:ph idx="1"/>
          </p:nvPr>
        </p:nvSpPr>
        <p:spPr>
          <a:xfrm>
            <a:off x="369340" y="1751120"/>
            <a:ext cx="11453320" cy="5198851"/>
          </a:xfrm>
        </p:spPr>
        <p:txBody>
          <a:bodyPr>
            <a:normAutofit/>
          </a:bodyPr>
          <a:lstStyle/>
          <a:p>
            <a:pPr marL="0" indent="0">
              <a:buNone/>
            </a:pPr>
            <a:r>
              <a:rPr lang="en-US" sz="2800" dirty="0">
                <a:solidFill>
                  <a:schemeClr val="accent1">
                    <a:lumMod val="50000"/>
                  </a:schemeClr>
                </a:solidFill>
              </a:rPr>
              <a:t>Three approaches to personalization of learning (Bray &amp; </a:t>
            </a:r>
            <a:r>
              <a:rPr lang="en-US" sz="2800" dirty="0" err="1">
                <a:solidFill>
                  <a:schemeClr val="accent1">
                    <a:lumMod val="50000"/>
                  </a:schemeClr>
                </a:solidFill>
              </a:rPr>
              <a:t>McClaskey</a:t>
            </a:r>
            <a:r>
              <a:rPr lang="en-US" sz="2800" dirty="0">
                <a:solidFill>
                  <a:schemeClr val="accent1">
                    <a:lumMod val="50000"/>
                  </a:schemeClr>
                </a:solidFill>
              </a:rPr>
              <a:t>, 2012):</a:t>
            </a:r>
          </a:p>
          <a:p>
            <a:r>
              <a:rPr lang="en-US" b="1" dirty="0">
                <a:solidFill>
                  <a:schemeClr val="accent1">
                    <a:lumMod val="50000"/>
                  </a:schemeClr>
                </a:solidFill>
              </a:rPr>
              <a:t>Individualized training </a:t>
            </a:r>
            <a:r>
              <a:rPr lang="en-US" dirty="0">
                <a:solidFill>
                  <a:schemeClr val="accent1">
                    <a:lumMod val="50000"/>
                  </a:schemeClr>
                </a:solidFill>
              </a:rPr>
              <a:t>– usually aimed at learners who need specific support or those with SEN</a:t>
            </a:r>
          </a:p>
          <a:p>
            <a:r>
              <a:rPr lang="en-US" b="1" dirty="0">
                <a:solidFill>
                  <a:schemeClr val="accent1">
                    <a:lumMod val="50000"/>
                  </a:schemeClr>
                </a:solidFill>
              </a:rPr>
              <a:t>Differentiated (group) learning </a:t>
            </a:r>
            <a:r>
              <a:rPr lang="en-US" dirty="0">
                <a:solidFill>
                  <a:schemeClr val="accent1">
                    <a:lumMod val="50000"/>
                  </a:schemeClr>
                </a:solidFill>
              </a:rPr>
              <a:t>– grouping learners based on their levels of knowledge, skills or interests; tailored training approaches to match the characteristics or preferences of the groups of learners, same educational objectives, differentiated curriculum</a:t>
            </a:r>
          </a:p>
          <a:p>
            <a:r>
              <a:rPr lang="en-US" b="1" dirty="0">
                <a:solidFill>
                  <a:schemeClr val="accent1">
                    <a:lumMod val="50000"/>
                  </a:schemeClr>
                </a:solidFill>
              </a:rPr>
              <a:t>Personalized learning </a:t>
            </a:r>
            <a:r>
              <a:rPr lang="en-US" dirty="0">
                <a:solidFill>
                  <a:schemeClr val="accent1">
                    <a:lumMod val="50000"/>
                  </a:schemeClr>
                </a:solidFill>
              </a:rPr>
              <a:t>– focused on the learners needs, knowledge level, interests, and preferences; learners have a decisive role in setting learning goals and choosing the most suitable way of learning</a:t>
            </a:r>
            <a:endParaRPr lang="en-GB" sz="2000" dirty="0">
              <a:solidFill>
                <a:schemeClr val="accent1">
                  <a:lumMod val="50000"/>
                </a:schemeClr>
              </a:solidFill>
            </a:endParaRPr>
          </a:p>
        </p:txBody>
      </p:sp>
      <p:pic>
        <p:nvPicPr>
          <p:cNvPr id="8" name="Picture 2" descr="IMEA'2024">
            <a:extLst>
              <a:ext uri="{FF2B5EF4-FFF2-40B4-BE49-F238E27FC236}">
                <a16:creationId xmlns:a16="http://schemas.microsoft.com/office/drawing/2014/main" id="{13CDB5C0-E376-4C9E-B1EE-EA934B9E6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95" y="6149871"/>
            <a:ext cx="1951767" cy="624565"/>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179597F4-3B14-486B-A031-1B5DFEAE7728}"/>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10" name="Slide Number Placeholder 5">
            <a:extLst>
              <a:ext uri="{FF2B5EF4-FFF2-40B4-BE49-F238E27FC236}">
                <a16:creationId xmlns:a16="http://schemas.microsoft.com/office/drawing/2014/main" id="{75AB2914-B09C-447B-8F89-B87E43045A1C}"/>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11</a:t>
            </a:fld>
            <a:endParaRPr lang="bg-BG" sz="1400"/>
          </a:p>
        </p:txBody>
      </p:sp>
    </p:spTree>
    <p:extLst>
      <p:ext uri="{BB962C8B-B14F-4D97-AF65-F5344CB8AC3E}">
        <p14:creationId xmlns:p14="http://schemas.microsoft.com/office/powerpoint/2010/main" val="2769353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D1FDC-37F2-4C75-90BA-69D63CED8BB4}"/>
              </a:ext>
            </a:extLst>
          </p:cNvPr>
          <p:cNvSpPr>
            <a:spLocks noGrp="1"/>
          </p:cNvSpPr>
          <p:nvPr>
            <p:ph idx="1"/>
          </p:nvPr>
        </p:nvSpPr>
        <p:spPr>
          <a:xfrm>
            <a:off x="927872" y="1828800"/>
            <a:ext cx="9812214" cy="5063179"/>
          </a:xfrm>
        </p:spPr>
        <p:txBody>
          <a:bodyPr>
            <a:normAutofit/>
          </a:bodyPr>
          <a:lstStyle/>
          <a:p>
            <a:pPr marL="0" indent="0" fontAlgn="base">
              <a:buNone/>
            </a:pPr>
            <a:r>
              <a:rPr lang="en-US" sz="2800" dirty="0">
                <a:solidFill>
                  <a:schemeClr val="accent1">
                    <a:lumMod val="50000"/>
                  </a:schemeClr>
                </a:solidFill>
              </a:rPr>
              <a:t>Implementation of personalized approaches during the teaching process:</a:t>
            </a:r>
          </a:p>
          <a:p>
            <a:pPr fontAlgn="base"/>
            <a:r>
              <a:rPr lang="en-US" sz="2800" dirty="0">
                <a:solidFill>
                  <a:schemeClr val="accent1">
                    <a:lumMod val="50000"/>
                  </a:schemeClr>
                </a:solidFill>
              </a:rPr>
              <a:t>Static: pre-set personalization done by fixed rules</a:t>
            </a:r>
          </a:p>
          <a:p>
            <a:pPr fontAlgn="base"/>
            <a:r>
              <a:rPr lang="en-US" sz="2800" dirty="0">
                <a:solidFill>
                  <a:schemeClr val="accent1">
                    <a:lumMod val="50000"/>
                  </a:schemeClr>
                </a:solidFill>
              </a:rPr>
              <a:t>Dynamic: on-the-fly correction/tuning of the personalization method based on learner feedback/report</a:t>
            </a:r>
          </a:p>
          <a:p>
            <a:pPr fontAlgn="base"/>
            <a:r>
              <a:rPr lang="en-US" sz="2800" dirty="0">
                <a:solidFill>
                  <a:schemeClr val="accent1">
                    <a:lumMod val="50000"/>
                  </a:schemeClr>
                </a:solidFill>
              </a:rPr>
              <a:t>Hybrid approaches</a:t>
            </a:r>
          </a:p>
        </p:txBody>
      </p:sp>
      <p:sp>
        <p:nvSpPr>
          <p:cNvPr id="4" name="Title 1">
            <a:extLst>
              <a:ext uri="{FF2B5EF4-FFF2-40B4-BE49-F238E27FC236}">
                <a16:creationId xmlns:a16="http://schemas.microsoft.com/office/drawing/2014/main" id="{CC0E1390-0A33-47CE-82FF-EED3D60B8DAA}"/>
              </a:ext>
            </a:extLst>
          </p:cNvPr>
          <p:cNvSpPr>
            <a:spLocks noGrp="1"/>
          </p:cNvSpPr>
          <p:nvPr>
            <p:ph type="title"/>
          </p:nvPr>
        </p:nvSpPr>
        <p:spPr>
          <a:xfrm>
            <a:off x="2716823" y="161712"/>
            <a:ext cx="5292969" cy="1307111"/>
          </a:xfrm>
        </p:spPr>
        <p:txBody>
          <a:bodyPr>
            <a:normAutofit/>
          </a:bodyPr>
          <a:lstStyle/>
          <a:p>
            <a:pPr algn="ctr"/>
            <a:r>
              <a:rPr lang="en-US" sz="4000" dirty="0">
                <a:solidFill>
                  <a:schemeClr val="accent1">
                    <a:lumMod val="50000"/>
                  </a:schemeClr>
                </a:solidFill>
              </a:rPr>
              <a:t>Personalized learning: when?</a:t>
            </a:r>
            <a:endParaRPr lang="bg-BG" sz="4000" dirty="0">
              <a:solidFill>
                <a:schemeClr val="accent5">
                  <a:lumMod val="50000"/>
                </a:schemeClr>
              </a:solidFill>
            </a:endParaRPr>
          </a:p>
        </p:txBody>
      </p:sp>
      <p:sp>
        <p:nvSpPr>
          <p:cNvPr id="6" name="Date Placeholder 3">
            <a:extLst>
              <a:ext uri="{FF2B5EF4-FFF2-40B4-BE49-F238E27FC236}">
                <a16:creationId xmlns:a16="http://schemas.microsoft.com/office/drawing/2014/main" id="{DE1E8B7F-D698-4A49-932F-9AA358C6FF2F}"/>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7" name="Slide Number Placeholder 5">
            <a:extLst>
              <a:ext uri="{FF2B5EF4-FFF2-40B4-BE49-F238E27FC236}">
                <a16:creationId xmlns:a16="http://schemas.microsoft.com/office/drawing/2014/main" id="{A4FC3199-E98B-4F35-950A-329482AF3EE6}"/>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12</a:t>
            </a:fld>
            <a:endParaRPr lang="bg-BG" sz="1400"/>
          </a:p>
        </p:txBody>
      </p:sp>
    </p:spTree>
    <p:extLst>
      <p:ext uri="{BB962C8B-B14F-4D97-AF65-F5344CB8AC3E}">
        <p14:creationId xmlns:p14="http://schemas.microsoft.com/office/powerpoint/2010/main" val="3595459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7A366-5F0C-356E-0F15-2FC39603C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4B2C6-56A2-14FF-E1FD-AC3CA7A553F9}"/>
              </a:ext>
            </a:extLst>
          </p:cNvPr>
          <p:cNvSpPr>
            <a:spLocks noGrp="1"/>
          </p:cNvSpPr>
          <p:nvPr>
            <p:ph type="title"/>
          </p:nvPr>
        </p:nvSpPr>
        <p:spPr>
          <a:xfrm>
            <a:off x="2710289" y="975932"/>
            <a:ext cx="7262821" cy="868896"/>
          </a:xfrm>
        </p:spPr>
        <p:txBody>
          <a:bodyPr>
            <a:normAutofit fontScale="90000"/>
          </a:bodyPr>
          <a:lstStyle/>
          <a:p>
            <a:pPr algn="ctr"/>
            <a:r>
              <a:rPr lang="en-US" sz="4400" dirty="0">
                <a:solidFill>
                  <a:schemeClr val="accent5">
                    <a:lumMod val="50000"/>
                  </a:schemeClr>
                </a:solidFill>
              </a:rPr>
              <a:t>Personalization Approaches for STEM Education </a:t>
            </a:r>
            <a:endParaRPr lang="bg-BG" sz="4400" dirty="0">
              <a:solidFill>
                <a:schemeClr val="accent5">
                  <a:lumMod val="50000"/>
                </a:schemeClr>
              </a:solidFill>
            </a:endParaRPr>
          </a:p>
        </p:txBody>
      </p:sp>
      <p:sp>
        <p:nvSpPr>
          <p:cNvPr id="10" name="Slide Number Placeholder 5">
            <a:extLst>
              <a:ext uri="{FF2B5EF4-FFF2-40B4-BE49-F238E27FC236}">
                <a16:creationId xmlns:a16="http://schemas.microsoft.com/office/drawing/2014/main" id="{D3DD7053-78F2-243B-DBB1-63EC289F6A4F}"/>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13</a:t>
            </a:fld>
            <a:endParaRPr lang="bg-BG" sz="1400"/>
          </a:p>
        </p:txBody>
      </p:sp>
      <p:sp>
        <p:nvSpPr>
          <p:cNvPr id="4" name="TextBox 3">
            <a:extLst>
              <a:ext uri="{FF2B5EF4-FFF2-40B4-BE49-F238E27FC236}">
                <a16:creationId xmlns:a16="http://schemas.microsoft.com/office/drawing/2014/main" id="{1A37AE2A-AE53-ABF9-FD7E-4719E32385CE}"/>
              </a:ext>
            </a:extLst>
          </p:cNvPr>
          <p:cNvSpPr txBox="1"/>
          <p:nvPr/>
        </p:nvSpPr>
        <p:spPr>
          <a:xfrm>
            <a:off x="185351" y="2103166"/>
            <a:ext cx="11621104" cy="3939540"/>
          </a:xfrm>
          <a:prstGeom prst="rect">
            <a:avLst/>
          </a:prstGeom>
          <a:noFill/>
        </p:spPr>
        <p:txBody>
          <a:bodyPr wrap="square">
            <a:spAutoFit/>
          </a:bodyPr>
          <a:lstStyle/>
          <a:p>
            <a:pPr marL="514350" indent="-514350" algn="just">
              <a:spcAft>
                <a:spcPts val="600"/>
              </a:spcAft>
              <a:buFont typeface="+mj-lt"/>
              <a:buAutoNum type="arabicPeriod"/>
            </a:pPr>
            <a:r>
              <a:rPr lang="en-US" sz="2400" b="1" dirty="0">
                <a:solidFill>
                  <a:srgbClr val="002060"/>
                </a:solidFill>
              </a:rPr>
              <a:t>Individualized training </a:t>
            </a:r>
            <a:r>
              <a:rPr lang="en-US" sz="2400" dirty="0">
                <a:solidFill>
                  <a:srgbClr val="002060"/>
                </a:solidFill>
              </a:rPr>
              <a:t>– usually aimed at learners who need specific support or those with special education needs (SEN). Individualization tries to provide explicit instruction based on the learning needs of each particular learner and, thus, accommodates the learning needs of the individual.</a:t>
            </a:r>
          </a:p>
          <a:p>
            <a:pPr marL="514350" indent="-514350" algn="just">
              <a:spcAft>
                <a:spcPts val="600"/>
              </a:spcAft>
              <a:buFont typeface="+mj-lt"/>
              <a:buAutoNum type="arabicPeriod"/>
            </a:pPr>
            <a:r>
              <a:rPr lang="en-US" sz="2400" b="1" dirty="0">
                <a:solidFill>
                  <a:srgbClr val="002060"/>
                </a:solidFill>
              </a:rPr>
              <a:t>Differentiated (group) learning </a:t>
            </a:r>
            <a:r>
              <a:rPr lang="en-US" sz="2400" dirty="0">
                <a:solidFill>
                  <a:srgbClr val="002060"/>
                </a:solidFill>
              </a:rPr>
              <a:t>– grouping learners based on their levels of knowledge, skills, or interests; it provides a differentiated curriculum tailored to the characteristics or preferences of groups of learners having the same educational objectives.</a:t>
            </a:r>
          </a:p>
          <a:p>
            <a:pPr marL="514350" indent="-514350" algn="just">
              <a:spcAft>
                <a:spcPts val="600"/>
              </a:spcAft>
              <a:buFont typeface="+mj-lt"/>
              <a:buAutoNum type="arabicPeriod"/>
            </a:pPr>
            <a:r>
              <a:rPr lang="en-US" sz="2400" b="1" dirty="0">
                <a:solidFill>
                  <a:srgbClr val="002060"/>
                </a:solidFill>
              </a:rPr>
              <a:t>Personalized learning </a:t>
            </a:r>
            <a:r>
              <a:rPr lang="en-US" sz="2400" dirty="0">
                <a:solidFill>
                  <a:srgbClr val="002060"/>
                </a:solidFill>
              </a:rPr>
              <a:t>– focused on different objectives, needs, knowledge levels, interests, and preferences of each learner; learners have a decisive role in setting learning goals and choosing the most suitable way of learning. </a:t>
            </a:r>
          </a:p>
        </p:txBody>
      </p:sp>
    </p:spTree>
    <p:extLst>
      <p:ext uri="{BB962C8B-B14F-4D97-AF65-F5344CB8AC3E}">
        <p14:creationId xmlns:p14="http://schemas.microsoft.com/office/powerpoint/2010/main" val="76100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76A1-EFCD-017C-A31C-19ACC350B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86622-E840-7A28-9EB0-4FE7DE373FC6}"/>
              </a:ext>
            </a:extLst>
          </p:cNvPr>
          <p:cNvSpPr>
            <a:spLocks noGrp="1"/>
          </p:cNvSpPr>
          <p:nvPr>
            <p:ph type="title"/>
          </p:nvPr>
        </p:nvSpPr>
        <p:spPr>
          <a:xfrm>
            <a:off x="2710289" y="975932"/>
            <a:ext cx="7262821" cy="868896"/>
          </a:xfrm>
        </p:spPr>
        <p:txBody>
          <a:bodyPr>
            <a:normAutofit fontScale="90000"/>
          </a:bodyPr>
          <a:lstStyle/>
          <a:p>
            <a:pPr algn="ctr"/>
            <a:r>
              <a:rPr lang="en-US" sz="4400" dirty="0">
                <a:solidFill>
                  <a:schemeClr val="accent5">
                    <a:lumMod val="50000"/>
                  </a:schemeClr>
                </a:solidFill>
              </a:rPr>
              <a:t>Personalization of Learning Resources for STEM  1/6</a:t>
            </a:r>
            <a:endParaRPr lang="bg-BG" sz="4400" dirty="0">
              <a:solidFill>
                <a:schemeClr val="accent5">
                  <a:lumMod val="50000"/>
                </a:schemeClr>
              </a:solidFill>
            </a:endParaRPr>
          </a:p>
        </p:txBody>
      </p:sp>
      <p:sp>
        <p:nvSpPr>
          <p:cNvPr id="10" name="Slide Number Placeholder 5">
            <a:extLst>
              <a:ext uri="{FF2B5EF4-FFF2-40B4-BE49-F238E27FC236}">
                <a16:creationId xmlns:a16="http://schemas.microsoft.com/office/drawing/2014/main" id="{C39C350C-F255-51C6-C409-70D352955E31}"/>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14</a:t>
            </a:fld>
            <a:endParaRPr lang="bg-BG" sz="1400"/>
          </a:p>
        </p:txBody>
      </p:sp>
      <p:sp>
        <p:nvSpPr>
          <p:cNvPr id="4" name="TextBox 3">
            <a:extLst>
              <a:ext uri="{FF2B5EF4-FFF2-40B4-BE49-F238E27FC236}">
                <a16:creationId xmlns:a16="http://schemas.microsoft.com/office/drawing/2014/main" id="{D6142AD9-EDEA-641F-C36F-BBE71C4283A5}"/>
              </a:ext>
            </a:extLst>
          </p:cNvPr>
          <p:cNvSpPr txBox="1"/>
          <p:nvPr/>
        </p:nvSpPr>
        <p:spPr>
          <a:xfrm>
            <a:off x="345989" y="2311860"/>
            <a:ext cx="11460466" cy="3570208"/>
          </a:xfrm>
          <a:prstGeom prst="rect">
            <a:avLst/>
          </a:prstGeom>
          <a:noFill/>
        </p:spPr>
        <p:txBody>
          <a:bodyPr wrap="square">
            <a:spAutoFit/>
          </a:bodyPr>
          <a:lstStyle/>
          <a:p>
            <a:pPr marL="514350" indent="-514350" algn="just">
              <a:spcAft>
                <a:spcPts val="600"/>
              </a:spcAft>
              <a:buFont typeface="Arial" panose="020B0604020202020204" pitchFamily="34" charset="0"/>
              <a:buChar char="•"/>
            </a:pPr>
            <a:r>
              <a:rPr lang="en-US" sz="2400" b="1" dirty="0">
                <a:solidFill>
                  <a:srgbClr val="002060"/>
                </a:solidFill>
              </a:rPr>
              <a:t>Curriculum-based resources </a:t>
            </a:r>
            <a:r>
              <a:rPr lang="en-US" sz="2400" dirty="0">
                <a:solidFill>
                  <a:srgbClr val="002060"/>
                </a:solidFill>
              </a:rPr>
              <a:t>– structured lessons, often aligned with educational standards, presented in textbooks, lesson plans, workbooks, curricula frameworks, or blended narrative and storytelling.</a:t>
            </a:r>
          </a:p>
          <a:p>
            <a:pPr marL="514350" indent="-514350" algn="just">
              <a:spcAft>
                <a:spcPts val="600"/>
              </a:spcAft>
              <a:buFont typeface="Arial" panose="020B0604020202020204" pitchFamily="34" charset="0"/>
              <a:buChar char="•"/>
            </a:pPr>
            <a:r>
              <a:rPr lang="en-US" sz="2400" b="1" dirty="0">
                <a:solidFill>
                  <a:srgbClr val="002060"/>
                </a:solidFill>
              </a:rPr>
              <a:t>Digital resources </a:t>
            </a:r>
            <a:r>
              <a:rPr lang="en-US" sz="2400" dirty="0">
                <a:solidFill>
                  <a:srgbClr val="002060"/>
                </a:solidFill>
              </a:rPr>
              <a:t>– include interactive and often self-paced tools for learning, such as simulations, educational videos and audios, didactic multimedia les-sons, etc.</a:t>
            </a:r>
          </a:p>
          <a:p>
            <a:pPr marL="514350" indent="-514350" algn="just">
              <a:spcAft>
                <a:spcPts val="600"/>
              </a:spcAft>
              <a:buFont typeface="Arial" panose="020B0604020202020204" pitchFamily="34" charset="0"/>
              <a:buChar char="•"/>
            </a:pPr>
            <a:r>
              <a:rPr lang="en-US" sz="2400" b="1" dirty="0">
                <a:solidFill>
                  <a:srgbClr val="002060"/>
                </a:solidFill>
              </a:rPr>
              <a:t>Online platforms </a:t>
            </a:r>
            <a:r>
              <a:rPr lang="en-US" sz="2400" dirty="0">
                <a:solidFill>
                  <a:srgbClr val="002060"/>
                </a:solidFill>
              </a:rPr>
              <a:t>– represent interactive and usually self-paced learning tools, offering online courses (e.g., Khan Academy and Coursera), virtual labs, coding platforms (like Scratch and Tynker), and learning management systems (such as Google Classroom and Moodle).</a:t>
            </a:r>
          </a:p>
        </p:txBody>
      </p:sp>
    </p:spTree>
    <p:extLst>
      <p:ext uri="{BB962C8B-B14F-4D97-AF65-F5344CB8AC3E}">
        <p14:creationId xmlns:p14="http://schemas.microsoft.com/office/powerpoint/2010/main" val="20486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06BC-DF1E-DF0A-2077-82EDE44F3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69A32-05FA-63BA-0FED-58DF3151F661}"/>
              </a:ext>
            </a:extLst>
          </p:cNvPr>
          <p:cNvSpPr>
            <a:spLocks noGrp="1"/>
          </p:cNvSpPr>
          <p:nvPr>
            <p:ph type="title"/>
          </p:nvPr>
        </p:nvSpPr>
        <p:spPr>
          <a:xfrm>
            <a:off x="2710289" y="975932"/>
            <a:ext cx="7262821" cy="868896"/>
          </a:xfrm>
        </p:spPr>
        <p:txBody>
          <a:bodyPr>
            <a:normAutofit fontScale="90000"/>
          </a:bodyPr>
          <a:lstStyle/>
          <a:p>
            <a:pPr algn="ctr"/>
            <a:r>
              <a:rPr lang="en-US" sz="4400" dirty="0">
                <a:solidFill>
                  <a:schemeClr val="accent5">
                    <a:lumMod val="50000"/>
                  </a:schemeClr>
                </a:solidFill>
              </a:rPr>
              <a:t>Personalization of Learning Resources for STEM  2/6</a:t>
            </a:r>
            <a:endParaRPr lang="bg-BG" sz="4400" dirty="0">
              <a:solidFill>
                <a:schemeClr val="accent5">
                  <a:lumMod val="50000"/>
                </a:schemeClr>
              </a:solidFill>
            </a:endParaRPr>
          </a:p>
        </p:txBody>
      </p:sp>
      <p:sp>
        <p:nvSpPr>
          <p:cNvPr id="10" name="Slide Number Placeholder 5">
            <a:extLst>
              <a:ext uri="{FF2B5EF4-FFF2-40B4-BE49-F238E27FC236}">
                <a16:creationId xmlns:a16="http://schemas.microsoft.com/office/drawing/2014/main" id="{81775379-A7D0-913D-3DC0-AD68E18DD3B3}"/>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15</a:t>
            </a:fld>
            <a:endParaRPr lang="bg-BG" sz="1400"/>
          </a:p>
        </p:txBody>
      </p:sp>
      <p:sp>
        <p:nvSpPr>
          <p:cNvPr id="4" name="TextBox 3">
            <a:extLst>
              <a:ext uri="{FF2B5EF4-FFF2-40B4-BE49-F238E27FC236}">
                <a16:creationId xmlns:a16="http://schemas.microsoft.com/office/drawing/2014/main" id="{F01317B9-68A2-F78F-47D6-8B780D22490F}"/>
              </a:ext>
            </a:extLst>
          </p:cNvPr>
          <p:cNvSpPr txBox="1"/>
          <p:nvPr/>
        </p:nvSpPr>
        <p:spPr>
          <a:xfrm>
            <a:off x="185351" y="2103166"/>
            <a:ext cx="11714206" cy="4308872"/>
          </a:xfrm>
          <a:prstGeom prst="rect">
            <a:avLst/>
          </a:prstGeom>
          <a:noFill/>
        </p:spPr>
        <p:txBody>
          <a:bodyPr wrap="square">
            <a:spAutoFit/>
          </a:bodyPr>
          <a:lstStyle/>
          <a:p>
            <a:pPr marL="514350" indent="-514350" algn="just">
              <a:spcAft>
                <a:spcPts val="600"/>
              </a:spcAft>
              <a:buFont typeface="Arial" panose="020B0604020202020204" pitchFamily="34" charset="0"/>
              <a:buChar char="•"/>
            </a:pPr>
            <a:r>
              <a:rPr lang="en-US" sz="2400" b="1" dirty="0">
                <a:solidFill>
                  <a:srgbClr val="002060"/>
                </a:solidFill>
              </a:rPr>
              <a:t>Hands-on, open-ended tasks or experiential resources </a:t>
            </a:r>
            <a:r>
              <a:rPr lang="en-US" sz="2400" dirty="0">
                <a:solidFill>
                  <a:srgbClr val="002060"/>
                </a:solidFill>
              </a:rPr>
              <a:t>– often used for real-world-based STEM activities. They can involve various science and robotics kits (e.g., LEGO Mindstorms and Arduino) and equipment. Usually, they are applied in engineering projects and experiments performed within maker space environments or laboratories. These activities require instructions integrating multiple STEM disciplines using cross-curricular project materials to provide a holistic learning experience.</a:t>
            </a:r>
          </a:p>
          <a:p>
            <a:pPr marL="514350" indent="-514350" algn="just">
              <a:spcAft>
                <a:spcPts val="600"/>
              </a:spcAft>
              <a:buFont typeface="Arial" panose="020B0604020202020204" pitchFamily="34" charset="0"/>
              <a:buChar char="•"/>
            </a:pPr>
            <a:r>
              <a:rPr lang="en-US" sz="2400" b="1" dirty="0">
                <a:solidFill>
                  <a:srgbClr val="002060"/>
                </a:solidFill>
              </a:rPr>
              <a:t>Print materials </a:t>
            </a:r>
            <a:r>
              <a:rPr lang="en-US" sz="2400" dirty="0">
                <a:solidFill>
                  <a:srgbClr val="002060"/>
                </a:solidFill>
              </a:rPr>
              <a:t>– include physical or digital reading resources, such as books, magazines, STEM encyclopedias, infographics, and posters. These resources can be used in STEM methods with elements of students’ self-training in or out of class, like inquiry-based learning or a flipped classroom.</a:t>
            </a:r>
          </a:p>
          <a:p>
            <a:pPr marL="514350" indent="-514350" algn="just">
              <a:spcAft>
                <a:spcPts val="600"/>
              </a:spcAft>
              <a:buFont typeface="+mj-lt"/>
              <a:buAutoNum type="arabicPeriod"/>
            </a:pPr>
            <a:endParaRPr lang="en-US" sz="2400" dirty="0">
              <a:solidFill>
                <a:srgbClr val="002060"/>
              </a:solidFill>
            </a:endParaRPr>
          </a:p>
        </p:txBody>
      </p:sp>
    </p:spTree>
    <p:extLst>
      <p:ext uri="{BB962C8B-B14F-4D97-AF65-F5344CB8AC3E}">
        <p14:creationId xmlns:p14="http://schemas.microsoft.com/office/powerpoint/2010/main" val="3286525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3567-75DC-1163-1963-F216EC131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CC1B9-1289-CA2E-735C-3EE38BFE2FD4}"/>
              </a:ext>
            </a:extLst>
          </p:cNvPr>
          <p:cNvSpPr>
            <a:spLocks noGrp="1"/>
          </p:cNvSpPr>
          <p:nvPr>
            <p:ph type="title"/>
          </p:nvPr>
        </p:nvSpPr>
        <p:spPr>
          <a:xfrm>
            <a:off x="2710289" y="975932"/>
            <a:ext cx="7262821" cy="868896"/>
          </a:xfrm>
        </p:spPr>
        <p:txBody>
          <a:bodyPr>
            <a:normAutofit fontScale="90000"/>
          </a:bodyPr>
          <a:lstStyle/>
          <a:p>
            <a:pPr algn="ctr"/>
            <a:r>
              <a:rPr lang="en-US" sz="4400" dirty="0">
                <a:solidFill>
                  <a:schemeClr val="accent5">
                    <a:lumMod val="50000"/>
                  </a:schemeClr>
                </a:solidFill>
              </a:rPr>
              <a:t>Personalization of Learning Resources for STEM 3/6</a:t>
            </a:r>
            <a:endParaRPr lang="bg-BG" sz="4400" dirty="0">
              <a:solidFill>
                <a:schemeClr val="accent5">
                  <a:lumMod val="50000"/>
                </a:schemeClr>
              </a:solidFill>
            </a:endParaRPr>
          </a:p>
        </p:txBody>
      </p:sp>
      <p:sp>
        <p:nvSpPr>
          <p:cNvPr id="10" name="Slide Number Placeholder 5">
            <a:extLst>
              <a:ext uri="{FF2B5EF4-FFF2-40B4-BE49-F238E27FC236}">
                <a16:creationId xmlns:a16="http://schemas.microsoft.com/office/drawing/2014/main" id="{1C70B6B0-0CCB-2881-E2E3-3988613D6E8A}"/>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16</a:t>
            </a:fld>
            <a:endParaRPr lang="bg-BG" sz="1400"/>
          </a:p>
        </p:txBody>
      </p:sp>
      <p:sp>
        <p:nvSpPr>
          <p:cNvPr id="4" name="TextBox 3">
            <a:extLst>
              <a:ext uri="{FF2B5EF4-FFF2-40B4-BE49-F238E27FC236}">
                <a16:creationId xmlns:a16="http://schemas.microsoft.com/office/drawing/2014/main" id="{FDA57493-FC14-B4CB-0B0F-F5A2D23FC462}"/>
              </a:ext>
            </a:extLst>
          </p:cNvPr>
          <p:cNvSpPr txBox="1"/>
          <p:nvPr/>
        </p:nvSpPr>
        <p:spPr>
          <a:xfrm>
            <a:off x="259492" y="2325588"/>
            <a:ext cx="11331146" cy="3200876"/>
          </a:xfrm>
          <a:prstGeom prst="rect">
            <a:avLst/>
          </a:prstGeom>
          <a:noFill/>
        </p:spPr>
        <p:txBody>
          <a:bodyPr wrap="square">
            <a:spAutoFit/>
          </a:bodyPr>
          <a:lstStyle/>
          <a:p>
            <a:pPr marL="514350" indent="-514350" algn="just">
              <a:spcAft>
                <a:spcPts val="600"/>
              </a:spcAft>
              <a:buFont typeface="Arial" panose="020B0604020202020204" pitchFamily="34" charset="0"/>
              <a:buChar char="•"/>
            </a:pPr>
            <a:r>
              <a:rPr lang="en-US" sz="2400" b="1" dirty="0">
                <a:solidFill>
                  <a:srgbClr val="002060"/>
                </a:solidFill>
              </a:rPr>
              <a:t>Games and virtual environments </a:t>
            </a:r>
            <a:r>
              <a:rPr lang="en-US" sz="2400" dirty="0">
                <a:solidFill>
                  <a:srgbClr val="002060"/>
                </a:solidFill>
              </a:rPr>
              <a:t>– include educational tools that teach STEM through play or challenges, like educational video games; virtual environ-</a:t>
            </a:r>
            <a:r>
              <a:rPr lang="en-US" sz="2400" dirty="0" err="1">
                <a:solidFill>
                  <a:srgbClr val="002060"/>
                </a:solidFill>
              </a:rPr>
              <a:t>ments</a:t>
            </a:r>
            <a:r>
              <a:rPr lang="en-US" sz="2400" dirty="0">
                <a:solidFill>
                  <a:srgbClr val="002060"/>
                </a:solidFill>
              </a:rPr>
              <a:t> often integrate virtual reality (VR) and augmented reality (AR) to pro-vide immersive experiences that bring STEM concepts to life, and virtual sim-</a:t>
            </a:r>
            <a:r>
              <a:rPr lang="en-US" sz="2400" dirty="0" err="1">
                <a:solidFill>
                  <a:srgbClr val="002060"/>
                </a:solidFill>
              </a:rPr>
              <a:t>ulations</a:t>
            </a:r>
            <a:r>
              <a:rPr lang="en-US" sz="2400" dirty="0">
                <a:solidFill>
                  <a:srgbClr val="002060"/>
                </a:solidFill>
              </a:rPr>
              <a:t> (e.g., </a:t>
            </a:r>
            <a:r>
              <a:rPr lang="en-US" sz="2400" dirty="0" err="1">
                <a:solidFill>
                  <a:srgbClr val="002060"/>
                </a:solidFill>
              </a:rPr>
              <a:t>PhET</a:t>
            </a:r>
            <a:r>
              <a:rPr lang="en-US" sz="2400" dirty="0">
                <a:solidFill>
                  <a:srgbClr val="002060"/>
                </a:solidFill>
              </a:rPr>
              <a:t> Interactive Simulations).</a:t>
            </a:r>
          </a:p>
          <a:p>
            <a:pPr marL="514350" indent="-514350" algn="just">
              <a:spcAft>
                <a:spcPts val="600"/>
              </a:spcAft>
              <a:buFont typeface="Arial" panose="020B0604020202020204" pitchFamily="34" charset="0"/>
              <a:buChar char="•"/>
            </a:pPr>
            <a:r>
              <a:rPr lang="en-US" sz="2400" b="1" dirty="0">
                <a:solidFill>
                  <a:srgbClr val="002060"/>
                </a:solidFill>
              </a:rPr>
              <a:t>Application and mobile tools </a:t>
            </a:r>
            <a:r>
              <a:rPr lang="en-US" sz="2400" dirty="0">
                <a:solidFill>
                  <a:srgbClr val="002060"/>
                </a:solidFill>
              </a:rPr>
              <a:t>– this group includes STEM learning apps for smartphones and tablets, such as math and science apps (sometimes enhanced by AR/VR extensions), mobile games, flash cards, quizzes, and many more.</a:t>
            </a:r>
          </a:p>
          <a:p>
            <a:pPr marL="514350" indent="-514350" algn="just">
              <a:spcAft>
                <a:spcPts val="600"/>
              </a:spcAft>
              <a:buFont typeface="Arial" panose="020B0604020202020204" pitchFamily="34" charset="0"/>
              <a:buChar char="•"/>
            </a:pPr>
            <a:endParaRPr lang="en-US" sz="2400" dirty="0">
              <a:solidFill>
                <a:srgbClr val="002060"/>
              </a:solidFill>
            </a:endParaRPr>
          </a:p>
        </p:txBody>
      </p:sp>
    </p:spTree>
    <p:extLst>
      <p:ext uri="{BB962C8B-B14F-4D97-AF65-F5344CB8AC3E}">
        <p14:creationId xmlns:p14="http://schemas.microsoft.com/office/powerpoint/2010/main" val="3519558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2FA6876-790C-2C00-3A48-0F7AEDE2374A}"/>
              </a:ext>
            </a:extLst>
          </p:cNvPr>
          <p:cNvPicPr>
            <a:picLocks noGrp="1" noChangeAspect="1"/>
          </p:cNvPicPr>
          <p:nvPr>
            <p:ph idx="1"/>
          </p:nvPr>
        </p:nvPicPr>
        <p:blipFill>
          <a:blip r:embed="rId2"/>
          <a:stretch>
            <a:fillRect/>
          </a:stretch>
        </p:blipFill>
        <p:spPr>
          <a:xfrm rot="5400000">
            <a:off x="3978815" y="-1454833"/>
            <a:ext cx="4525864" cy="11290913"/>
          </a:xfrm>
          <a:prstGeom prst="rect">
            <a:avLst/>
          </a:prstGeom>
        </p:spPr>
      </p:pic>
      <p:sp>
        <p:nvSpPr>
          <p:cNvPr id="6" name="TextBox 5">
            <a:extLst>
              <a:ext uri="{FF2B5EF4-FFF2-40B4-BE49-F238E27FC236}">
                <a16:creationId xmlns:a16="http://schemas.microsoft.com/office/drawing/2014/main" id="{7B5DCD24-4170-2AC9-396C-0645F532D08C}"/>
              </a:ext>
            </a:extLst>
          </p:cNvPr>
          <p:cNvSpPr txBox="1"/>
          <p:nvPr/>
        </p:nvSpPr>
        <p:spPr>
          <a:xfrm>
            <a:off x="0" y="6433903"/>
            <a:ext cx="12192000" cy="415307"/>
          </a:xfrm>
          <a:prstGeom prst="rect">
            <a:avLst/>
          </a:prstGeom>
          <a:solidFill>
            <a:schemeClr val="accent1">
              <a:lumMod val="75000"/>
            </a:schemeClr>
          </a:solidFill>
        </p:spPr>
        <p:txBody>
          <a:bodyPr wrap="square">
            <a:spAutoFit/>
          </a:bodyPr>
          <a:lstStyle/>
          <a:p>
            <a:pPr algn="ctr">
              <a:lnSpc>
                <a:spcPts val="2400"/>
              </a:lnSpc>
            </a:pPr>
            <a:r>
              <a:rPr lang="en-US" sz="2800" dirty="0">
                <a:solidFill>
                  <a:schemeClr val="accent4">
                    <a:lumMod val="20000"/>
                    <a:lumOff val="80000"/>
                  </a:schemeClr>
                </a:solidFill>
              </a:rPr>
              <a:t>A taxonomy of personalization of learning resources applicable in STEM education</a:t>
            </a:r>
          </a:p>
        </p:txBody>
      </p:sp>
      <p:sp>
        <p:nvSpPr>
          <p:cNvPr id="9" name="Title 1">
            <a:extLst>
              <a:ext uri="{FF2B5EF4-FFF2-40B4-BE49-F238E27FC236}">
                <a16:creationId xmlns:a16="http://schemas.microsoft.com/office/drawing/2014/main" id="{1327C4D2-D9F7-8E83-F3C5-4CEFEF908D68}"/>
              </a:ext>
            </a:extLst>
          </p:cNvPr>
          <p:cNvSpPr>
            <a:spLocks noGrp="1"/>
          </p:cNvSpPr>
          <p:nvPr>
            <p:ph type="title"/>
          </p:nvPr>
        </p:nvSpPr>
        <p:spPr>
          <a:xfrm>
            <a:off x="2710289" y="975932"/>
            <a:ext cx="7262821" cy="868896"/>
          </a:xfrm>
        </p:spPr>
        <p:txBody>
          <a:bodyPr>
            <a:normAutofit fontScale="90000"/>
          </a:bodyPr>
          <a:lstStyle/>
          <a:p>
            <a:pPr algn="ctr"/>
            <a:r>
              <a:rPr lang="en-US" sz="4400" dirty="0">
                <a:solidFill>
                  <a:schemeClr val="accent5">
                    <a:lumMod val="50000"/>
                  </a:schemeClr>
                </a:solidFill>
              </a:rPr>
              <a:t>Personalization of Learning Resources for STEM 4/6</a:t>
            </a:r>
            <a:endParaRPr lang="bg-BG" sz="4400" dirty="0">
              <a:solidFill>
                <a:schemeClr val="accent5">
                  <a:lumMod val="50000"/>
                </a:schemeClr>
              </a:solidFill>
            </a:endParaRPr>
          </a:p>
        </p:txBody>
      </p:sp>
    </p:spTree>
    <p:extLst>
      <p:ext uri="{BB962C8B-B14F-4D97-AF65-F5344CB8AC3E}">
        <p14:creationId xmlns:p14="http://schemas.microsoft.com/office/powerpoint/2010/main" val="2957494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4378-4411-10CD-93C5-2B2AD41DA64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C7FE731-83C2-2863-3B08-FB5D46C5B92D}"/>
              </a:ext>
            </a:extLst>
          </p:cNvPr>
          <p:cNvPicPr>
            <a:picLocks noGrp="1" noChangeAspect="1"/>
          </p:cNvPicPr>
          <p:nvPr>
            <p:ph idx="1"/>
          </p:nvPr>
        </p:nvPicPr>
        <p:blipFill>
          <a:blip r:embed="rId2"/>
          <a:srcRect b="43001"/>
          <a:stretch>
            <a:fillRect/>
          </a:stretch>
        </p:blipFill>
        <p:spPr>
          <a:xfrm>
            <a:off x="-1" y="1606379"/>
            <a:ext cx="5931244" cy="5251621"/>
          </a:xfrm>
          <a:prstGeom prst="rect">
            <a:avLst/>
          </a:prstGeom>
        </p:spPr>
      </p:pic>
      <p:sp>
        <p:nvSpPr>
          <p:cNvPr id="6" name="TextBox 5">
            <a:extLst>
              <a:ext uri="{FF2B5EF4-FFF2-40B4-BE49-F238E27FC236}">
                <a16:creationId xmlns:a16="http://schemas.microsoft.com/office/drawing/2014/main" id="{F3976480-5576-CA5B-62B8-C5766F151B70}"/>
              </a:ext>
            </a:extLst>
          </p:cNvPr>
          <p:cNvSpPr txBox="1"/>
          <p:nvPr/>
        </p:nvSpPr>
        <p:spPr>
          <a:xfrm>
            <a:off x="6620151" y="2044005"/>
            <a:ext cx="4686282" cy="1815882"/>
          </a:xfrm>
          <a:prstGeom prst="rect">
            <a:avLst/>
          </a:prstGeom>
          <a:noFill/>
        </p:spPr>
        <p:txBody>
          <a:bodyPr wrap="square">
            <a:spAutoFit/>
          </a:bodyPr>
          <a:lstStyle/>
          <a:p>
            <a:r>
              <a:rPr lang="en-US" sz="2800" dirty="0">
                <a:solidFill>
                  <a:srgbClr val="002060"/>
                </a:solidFill>
              </a:rPr>
              <a:t>A taxonomy of personalization of learning resources applicable in STEM education (cont.)</a:t>
            </a:r>
          </a:p>
        </p:txBody>
      </p:sp>
      <p:sp>
        <p:nvSpPr>
          <p:cNvPr id="9" name="Title 1">
            <a:extLst>
              <a:ext uri="{FF2B5EF4-FFF2-40B4-BE49-F238E27FC236}">
                <a16:creationId xmlns:a16="http://schemas.microsoft.com/office/drawing/2014/main" id="{C6871A19-68E4-4FE7-DC5B-1D0EE221DFEA}"/>
              </a:ext>
            </a:extLst>
          </p:cNvPr>
          <p:cNvSpPr>
            <a:spLocks noGrp="1"/>
          </p:cNvSpPr>
          <p:nvPr>
            <p:ph type="title"/>
          </p:nvPr>
        </p:nvSpPr>
        <p:spPr>
          <a:xfrm>
            <a:off x="2784430" y="737483"/>
            <a:ext cx="7262821" cy="868896"/>
          </a:xfrm>
        </p:spPr>
        <p:txBody>
          <a:bodyPr>
            <a:noAutofit/>
          </a:bodyPr>
          <a:lstStyle/>
          <a:p>
            <a:pPr algn="ctr"/>
            <a:r>
              <a:rPr lang="en-US" dirty="0">
                <a:solidFill>
                  <a:schemeClr val="accent5">
                    <a:lumMod val="50000"/>
                  </a:schemeClr>
                </a:solidFill>
              </a:rPr>
              <a:t>Personalization of Learning Resources for STEM 5/6</a:t>
            </a:r>
            <a:endParaRPr lang="bg-BG" dirty="0">
              <a:solidFill>
                <a:schemeClr val="accent5">
                  <a:lumMod val="50000"/>
                </a:schemeClr>
              </a:solidFill>
            </a:endParaRPr>
          </a:p>
        </p:txBody>
      </p:sp>
    </p:spTree>
    <p:extLst>
      <p:ext uri="{BB962C8B-B14F-4D97-AF65-F5344CB8AC3E}">
        <p14:creationId xmlns:p14="http://schemas.microsoft.com/office/powerpoint/2010/main" val="401316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2B54-29EA-8462-CEBB-C355222036E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522C79B-79A8-4635-C74D-11945F831092}"/>
              </a:ext>
            </a:extLst>
          </p:cNvPr>
          <p:cNvPicPr>
            <a:picLocks noGrp="1" noChangeAspect="1"/>
          </p:cNvPicPr>
          <p:nvPr>
            <p:ph idx="1"/>
          </p:nvPr>
        </p:nvPicPr>
        <p:blipFill>
          <a:blip r:embed="rId2"/>
          <a:srcRect t="57535"/>
          <a:stretch>
            <a:fillRect/>
          </a:stretch>
        </p:blipFill>
        <p:spPr>
          <a:xfrm>
            <a:off x="28827" y="1940011"/>
            <a:ext cx="6779746" cy="4917989"/>
          </a:xfrm>
          <a:prstGeom prst="rect">
            <a:avLst/>
          </a:prstGeom>
        </p:spPr>
      </p:pic>
      <p:sp>
        <p:nvSpPr>
          <p:cNvPr id="6" name="TextBox 5">
            <a:extLst>
              <a:ext uri="{FF2B5EF4-FFF2-40B4-BE49-F238E27FC236}">
                <a16:creationId xmlns:a16="http://schemas.microsoft.com/office/drawing/2014/main" id="{C38F465D-361C-E9E2-9947-0D7642931D13}"/>
              </a:ext>
            </a:extLst>
          </p:cNvPr>
          <p:cNvSpPr txBox="1"/>
          <p:nvPr/>
        </p:nvSpPr>
        <p:spPr>
          <a:xfrm>
            <a:off x="7181415" y="2590359"/>
            <a:ext cx="4510216" cy="1815882"/>
          </a:xfrm>
          <a:prstGeom prst="rect">
            <a:avLst/>
          </a:prstGeom>
          <a:noFill/>
        </p:spPr>
        <p:txBody>
          <a:bodyPr wrap="square">
            <a:spAutoFit/>
          </a:bodyPr>
          <a:lstStyle/>
          <a:p>
            <a:r>
              <a:rPr lang="en-US" sz="2800" dirty="0">
                <a:solidFill>
                  <a:srgbClr val="002060"/>
                </a:solidFill>
              </a:rPr>
              <a:t>A taxonomy of personalization of learning resources applicable in STEM education (cont.)</a:t>
            </a:r>
          </a:p>
        </p:txBody>
      </p:sp>
      <p:sp>
        <p:nvSpPr>
          <p:cNvPr id="9" name="Title 1">
            <a:extLst>
              <a:ext uri="{FF2B5EF4-FFF2-40B4-BE49-F238E27FC236}">
                <a16:creationId xmlns:a16="http://schemas.microsoft.com/office/drawing/2014/main" id="{7BB10246-5B52-2FF2-A9D7-6A17CD5DAC96}"/>
              </a:ext>
            </a:extLst>
          </p:cNvPr>
          <p:cNvSpPr>
            <a:spLocks noGrp="1"/>
          </p:cNvSpPr>
          <p:nvPr>
            <p:ph type="title"/>
          </p:nvPr>
        </p:nvSpPr>
        <p:spPr>
          <a:xfrm>
            <a:off x="2710289" y="975932"/>
            <a:ext cx="7262821" cy="868896"/>
          </a:xfrm>
        </p:spPr>
        <p:txBody>
          <a:bodyPr>
            <a:noAutofit/>
          </a:bodyPr>
          <a:lstStyle/>
          <a:p>
            <a:pPr algn="ctr"/>
            <a:r>
              <a:rPr lang="en-US" dirty="0">
                <a:solidFill>
                  <a:schemeClr val="accent5">
                    <a:lumMod val="50000"/>
                  </a:schemeClr>
                </a:solidFill>
              </a:rPr>
              <a:t>Personalization of Learning Resources for STEM 6/6</a:t>
            </a:r>
            <a:endParaRPr lang="bg-BG" dirty="0">
              <a:solidFill>
                <a:schemeClr val="accent5">
                  <a:lumMod val="50000"/>
                </a:schemeClr>
              </a:solidFill>
            </a:endParaRPr>
          </a:p>
        </p:txBody>
      </p:sp>
    </p:spTree>
    <p:extLst>
      <p:ext uri="{BB962C8B-B14F-4D97-AF65-F5344CB8AC3E}">
        <p14:creationId xmlns:p14="http://schemas.microsoft.com/office/powerpoint/2010/main" val="301593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96C44-7155-71FF-97CA-D441E05E8B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606A33-3F32-36F9-0AD1-62AD7E7A1726}"/>
              </a:ext>
            </a:extLst>
          </p:cNvPr>
          <p:cNvSpPr txBox="1"/>
          <p:nvPr/>
        </p:nvSpPr>
        <p:spPr>
          <a:xfrm>
            <a:off x="348048" y="1636642"/>
            <a:ext cx="11495903" cy="523220"/>
          </a:xfrm>
          <a:prstGeom prst="rect">
            <a:avLst/>
          </a:prstGeom>
          <a:noFill/>
        </p:spPr>
        <p:txBody>
          <a:bodyPr wrap="square">
            <a:spAutoFit/>
          </a:bodyPr>
          <a:lstStyle/>
          <a:p>
            <a:endParaRPr lang="en-US" sz="2800" dirty="0">
              <a:solidFill>
                <a:srgbClr val="002060"/>
              </a:solidFill>
            </a:endParaRPr>
          </a:p>
        </p:txBody>
      </p:sp>
      <p:sp>
        <p:nvSpPr>
          <p:cNvPr id="9" name="Title 1">
            <a:extLst>
              <a:ext uri="{FF2B5EF4-FFF2-40B4-BE49-F238E27FC236}">
                <a16:creationId xmlns:a16="http://schemas.microsoft.com/office/drawing/2014/main" id="{CABF8CE5-BEE0-B424-674D-5FE3A88E427D}"/>
              </a:ext>
            </a:extLst>
          </p:cNvPr>
          <p:cNvSpPr>
            <a:spLocks noGrp="1"/>
          </p:cNvSpPr>
          <p:nvPr>
            <p:ph type="title"/>
          </p:nvPr>
        </p:nvSpPr>
        <p:spPr>
          <a:xfrm>
            <a:off x="2400299" y="-87924"/>
            <a:ext cx="7086601" cy="1636099"/>
          </a:xfrm>
        </p:spPr>
        <p:txBody>
          <a:bodyPr>
            <a:noAutofit/>
          </a:bodyPr>
          <a:lstStyle/>
          <a:p>
            <a:pPr algn="ctr"/>
            <a:r>
              <a:rPr lang="en-US" sz="2800" dirty="0">
                <a:solidFill>
                  <a:srgbClr val="002060"/>
                </a:solidFill>
              </a:rPr>
              <a:t>Approaches for player-centric</a:t>
            </a:r>
            <a:br>
              <a:rPr lang="en-US" sz="2800" dirty="0">
                <a:solidFill>
                  <a:srgbClr val="002060"/>
                </a:solidFill>
              </a:rPr>
            </a:br>
            <a:r>
              <a:rPr lang="en-US" sz="2800" dirty="0">
                <a:solidFill>
                  <a:srgbClr val="002060"/>
                </a:solidFill>
              </a:rPr>
              <a:t> Personalization in games for STEM</a:t>
            </a:r>
            <a:endParaRPr lang="bg-BG" sz="2800" dirty="0">
              <a:solidFill>
                <a:schemeClr val="accent5">
                  <a:lumMod val="50000"/>
                </a:schemeClr>
              </a:solidFill>
            </a:endParaRPr>
          </a:p>
        </p:txBody>
      </p:sp>
      <p:graphicFrame>
        <p:nvGraphicFramePr>
          <p:cNvPr id="5" name="Content Placeholder 4">
            <a:extLst>
              <a:ext uri="{FF2B5EF4-FFF2-40B4-BE49-F238E27FC236}">
                <a16:creationId xmlns:a16="http://schemas.microsoft.com/office/drawing/2014/main" id="{6A8EAB02-8FEA-AB0D-2664-31F07C719FF4}"/>
              </a:ext>
            </a:extLst>
          </p:cNvPr>
          <p:cNvGraphicFramePr>
            <a:graphicFrameLocks noGrp="1"/>
          </p:cNvGraphicFramePr>
          <p:nvPr>
            <p:ph idx="1"/>
            <p:extLst>
              <p:ext uri="{D42A27DB-BD31-4B8C-83A1-F6EECF244321}">
                <p14:modId xmlns:p14="http://schemas.microsoft.com/office/powerpoint/2010/main" val="140598341"/>
              </p:ext>
            </p:extLst>
          </p:nvPr>
        </p:nvGraphicFramePr>
        <p:xfrm>
          <a:off x="88556" y="1327638"/>
          <a:ext cx="12103443" cy="5552025"/>
        </p:xfrm>
        <a:graphic>
          <a:graphicData uri="http://schemas.openxmlformats.org/drawingml/2006/table">
            <a:tbl>
              <a:tblPr/>
              <a:tblGrid>
                <a:gridCol w="2768944">
                  <a:extLst>
                    <a:ext uri="{9D8B030D-6E8A-4147-A177-3AD203B41FA5}">
                      <a16:colId xmlns:a16="http://schemas.microsoft.com/office/drawing/2014/main" val="1303135625"/>
                    </a:ext>
                  </a:extLst>
                </a:gridCol>
                <a:gridCol w="3214923">
                  <a:extLst>
                    <a:ext uri="{9D8B030D-6E8A-4147-A177-3AD203B41FA5}">
                      <a16:colId xmlns:a16="http://schemas.microsoft.com/office/drawing/2014/main" val="1908976038"/>
                    </a:ext>
                  </a:extLst>
                </a:gridCol>
                <a:gridCol w="6119576">
                  <a:extLst>
                    <a:ext uri="{9D8B030D-6E8A-4147-A177-3AD203B41FA5}">
                      <a16:colId xmlns:a16="http://schemas.microsoft.com/office/drawing/2014/main" val="1791729981"/>
                    </a:ext>
                  </a:extLst>
                </a:gridCol>
              </a:tblGrid>
              <a:tr h="341614">
                <a:tc>
                  <a:txBody>
                    <a:bodyPr/>
                    <a:lstStyle/>
                    <a:p>
                      <a:pPr indent="0" algn="ctr" fontAlgn="auto" hangingPunct="1">
                        <a:lnSpc>
                          <a:spcPct val="100000"/>
                        </a:lnSpc>
                        <a:buNone/>
                      </a:pPr>
                      <a:r>
                        <a:rPr lang="en-US" sz="1800" b="1" dirty="0">
                          <a:solidFill>
                            <a:schemeClr val="bg1"/>
                          </a:solidFill>
                          <a:effectLst/>
                          <a:latin typeface="Aptos Narrow" panose="020B0004020202020204" pitchFamily="34" charset="0"/>
                          <a:ea typeface="Times New Roman" panose="02020603050405020304" pitchFamily="18" charset="0"/>
                        </a:rPr>
                        <a:t>Personalization approaches</a:t>
                      </a:r>
                    </a:p>
                  </a:txBody>
                  <a:tcPr marL="35418" marR="35418"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hangingPunct="1">
                        <a:lnSpc>
                          <a:spcPct val="100000"/>
                        </a:lnSpc>
                        <a:buNone/>
                      </a:pPr>
                      <a:r>
                        <a:rPr lang="en-US" sz="1800" b="1" dirty="0">
                          <a:solidFill>
                            <a:schemeClr val="bg1"/>
                          </a:solidFill>
                          <a:effectLst/>
                          <a:latin typeface="Aptos Narrow" panose="020B0004020202020204" pitchFamily="34" charset="0"/>
                          <a:ea typeface="Times New Roman" panose="02020603050405020304" pitchFamily="18" charset="0"/>
                        </a:rPr>
                        <a:t>Player model characteristics</a:t>
                      </a:r>
                    </a:p>
                  </a:txBody>
                  <a:tcPr marL="35418" marR="35418"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fontAlgn="auto" hangingPunct="1">
                        <a:lnSpc>
                          <a:spcPct val="100000"/>
                        </a:lnSpc>
                        <a:buNone/>
                      </a:pPr>
                      <a:r>
                        <a:rPr lang="en-US" sz="1800" b="1" dirty="0">
                          <a:solidFill>
                            <a:schemeClr val="bg1"/>
                          </a:solidFill>
                          <a:effectLst/>
                          <a:latin typeface="Aptos Narrow" panose="020B0004020202020204" pitchFamily="34" charset="0"/>
                          <a:ea typeface="Times New Roman" panose="02020603050405020304" pitchFamily="18" charset="0"/>
                        </a:rPr>
                        <a:t>Examples</a:t>
                      </a:r>
                    </a:p>
                  </a:txBody>
                  <a:tcPr marL="35418" marR="35418"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8435375"/>
                  </a:ext>
                </a:extLst>
              </a:tr>
              <a:tr h="1158489">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Difficulty level</a:t>
                      </a:r>
                    </a:p>
                  </a:txBody>
                  <a:tcPr marL="35418" marR="35418"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Initial knowledge</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Game outcomes</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Playing speed and efficacy</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Emotional state</a:t>
                      </a:r>
                    </a:p>
                  </a:txBody>
                  <a:tcPr marL="35418" marR="35418"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Static complexity level set by initial knowledge</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Dynamic difficulty adjustment changed by outcomes, speed, and/or emotional state or arousal</a:t>
                      </a:r>
                    </a:p>
                  </a:txBody>
                  <a:tcPr marL="35418" marR="35418"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80190965"/>
                  </a:ext>
                </a:extLst>
              </a:tr>
              <a:tr h="740024">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Presentation type</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Learning style</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Playing style </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Choice of visual, auditory, textual, or kinesthetic resources [</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Resources for different types of players </a:t>
                      </a:r>
                    </a:p>
                  </a:txBody>
                  <a:tcPr marL="35418" marR="35418" marT="0" marB="0">
                    <a:lnL>
                      <a:noFill/>
                    </a:lnL>
                    <a:lnR>
                      <a:noFill/>
                    </a:lnR>
                    <a:lnT>
                      <a:noFill/>
                    </a:lnT>
                    <a:lnB>
                      <a:noFill/>
                    </a:lnB>
                    <a:noFill/>
                  </a:tcPr>
                </a:tc>
                <a:extLst>
                  <a:ext uri="{0D108BD9-81ED-4DB2-BD59-A6C34878D82A}">
                    <a16:rowId xmlns:a16="http://schemas.microsoft.com/office/drawing/2014/main" val="3159259262"/>
                  </a:ext>
                </a:extLst>
              </a:tr>
              <a:tr h="422499">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Abstraction level</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Age, Initial knowledge</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Choice of short or extended abstract didactic content</a:t>
                      </a:r>
                    </a:p>
                  </a:txBody>
                  <a:tcPr marL="35418" marR="35418" marT="0" marB="0">
                    <a:lnL>
                      <a:noFill/>
                    </a:lnL>
                    <a:lnR>
                      <a:noFill/>
                    </a:lnR>
                    <a:lnT>
                      <a:noFill/>
                    </a:lnT>
                    <a:lnB>
                      <a:noFill/>
                    </a:lnB>
                    <a:noFill/>
                  </a:tcPr>
                </a:tc>
                <a:extLst>
                  <a:ext uri="{0D108BD9-81ED-4DB2-BD59-A6C34878D82A}">
                    <a16:rowId xmlns:a16="http://schemas.microsoft.com/office/drawing/2014/main" val="469371655"/>
                  </a:ext>
                </a:extLst>
              </a:tr>
              <a:tr h="282798">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Mandatory mode</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Goals and preferences</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Mandatory or optional mini-games situated in a maze hall</a:t>
                      </a:r>
                    </a:p>
                  </a:txBody>
                  <a:tcPr marL="35418" marR="35418" marT="0" marB="0">
                    <a:lnL>
                      <a:noFill/>
                    </a:lnL>
                    <a:lnR>
                      <a:noFill/>
                    </a:lnR>
                    <a:lnT>
                      <a:noFill/>
                    </a:lnT>
                    <a:lnB>
                      <a:noFill/>
                    </a:lnB>
                    <a:noFill/>
                  </a:tcPr>
                </a:tc>
                <a:extLst>
                  <a:ext uri="{0D108BD9-81ED-4DB2-BD59-A6C34878D82A}">
                    <a16:rowId xmlns:a16="http://schemas.microsoft.com/office/drawing/2014/main" val="3425222084"/>
                  </a:ext>
                </a:extLst>
              </a:tr>
              <a:tr h="579245">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Parameterization</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Any</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The threshold for passing a quiz level</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Type and number of mini-games situated in a maze hall</a:t>
                      </a:r>
                    </a:p>
                  </a:txBody>
                  <a:tcPr marL="35418" marR="35418" marT="0" marB="0">
                    <a:lnL>
                      <a:noFill/>
                    </a:lnL>
                    <a:lnR>
                      <a:noFill/>
                    </a:lnR>
                    <a:lnT>
                      <a:noFill/>
                    </a:lnT>
                    <a:lnB>
                      <a:noFill/>
                    </a:lnB>
                    <a:noFill/>
                  </a:tcPr>
                </a:tc>
                <a:extLst>
                  <a:ext uri="{0D108BD9-81ED-4DB2-BD59-A6C34878D82A}">
                    <a16:rowId xmlns:a16="http://schemas.microsoft.com/office/drawing/2014/main" val="3744473578"/>
                  </a:ext>
                </a:extLst>
              </a:tr>
              <a:tr h="579245">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Contextual hints</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Any</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How-to-play instructions for didactic tasks in video games</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Hints for a specific problem in gameplay</a:t>
                      </a:r>
                    </a:p>
                  </a:txBody>
                  <a:tcPr marL="35418" marR="35418" marT="0" marB="0">
                    <a:lnL>
                      <a:noFill/>
                    </a:lnL>
                    <a:lnR>
                      <a:noFill/>
                    </a:lnR>
                    <a:lnT>
                      <a:noFill/>
                    </a:lnT>
                    <a:lnB>
                      <a:noFill/>
                    </a:lnB>
                    <a:noFill/>
                  </a:tcPr>
                </a:tc>
                <a:extLst>
                  <a:ext uri="{0D108BD9-81ED-4DB2-BD59-A6C34878D82A}">
                    <a16:rowId xmlns:a16="http://schemas.microsoft.com/office/drawing/2014/main" val="2469278870"/>
                  </a:ext>
                </a:extLst>
              </a:tr>
              <a:tr h="868866">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Progress tracking</a:t>
                      </a:r>
                    </a:p>
                  </a:txBody>
                  <a:tcPr marL="35418" marR="35418" marT="0" marB="0">
                    <a:lnL>
                      <a:noFill/>
                    </a:lnL>
                    <a:lnR>
                      <a:noFill/>
                    </a:lnR>
                    <a:lnT>
                      <a:noFill/>
                    </a:lnT>
                    <a:lnB>
                      <a:noFill/>
                    </a:lnB>
                    <a:noFill/>
                  </a:tcPr>
                </a:tc>
                <a:tc>
                  <a:txBody>
                    <a:bodyPr/>
                    <a:lstStyle/>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Game outcomes</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Acquired knowledge</a:t>
                      </a:r>
                    </a:p>
                    <a:p>
                      <a:pPr indent="144145"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Playing speed and efficacy</a:t>
                      </a:r>
                    </a:p>
                  </a:txBody>
                  <a:tcPr marL="35418" marR="35418" marT="0" marB="0">
                    <a:lnL>
                      <a:noFill/>
                    </a:lnL>
                    <a:lnR>
                      <a:noFill/>
                    </a:lnR>
                    <a:lnT>
                      <a:noFill/>
                    </a:lnT>
                    <a:lnB>
                      <a:noFill/>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The percentage of completing a mission or quest</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Log record with results achieved in quizzes</a:t>
                      </a:r>
                    </a:p>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Time, score, and efficacy of trials to hit a target</a:t>
                      </a:r>
                    </a:p>
                  </a:txBody>
                  <a:tcPr marL="35418" marR="35418" marT="0" marB="0">
                    <a:lnL>
                      <a:noFill/>
                    </a:lnL>
                    <a:lnR>
                      <a:noFill/>
                    </a:lnR>
                    <a:lnT>
                      <a:noFill/>
                    </a:lnT>
                    <a:lnB>
                      <a:noFill/>
                    </a:lnB>
                    <a:noFill/>
                  </a:tcPr>
                </a:tc>
                <a:extLst>
                  <a:ext uri="{0D108BD9-81ED-4DB2-BD59-A6C34878D82A}">
                    <a16:rowId xmlns:a16="http://schemas.microsoft.com/office/drawing/2014/main" val="2303318981"/>
                  </a:ext>
                </a:extLst>
              </a:tr>
              <a:tr h="579245">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Intelligent feedback</a:t>
                      </a:r>
                    </a:p>
                  </a:txBody>
                  <a:tcPr marL="35418" marR="35418" marT="0" marB="0">
                    <a:lnL>
                      <a:noFill/>
                    </a:lnL>
                    <a:lnR>
                      <a:noFill/>
                    </a:lnR>
                    <a:lnT>
                      <a:noFill/>
                    </a:lnT>
                    <a:lnB w="19050" cap="flat" cmpd="sng" algn="ctr">
                      <a:solidFill>
                        <a:srgbClr val="000000"/>
                      </a:solidFill>
                      <a:prstDash val="solid"/>
                      <a:round/>
                      <a:headEnd type="none" w="med" len="med"/>
                      <a:tailEnd type="none" w="med" len="med"/>
                    </a:lnB>
                    <a:noFill/>
                  </a:tcPr>
                </a:tc>
                <a:tc>
                  <a:txBody>
                    <a:bodyPr/>
                    <a:lstStyle/>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Game outcomes</a:t>
                      </a:r>
                    </a:p>
                    <a:p>
                      <a:pPr indent="144145" algn="l" fontAlgn="auto" hangingPunct="1">
                        <a:lnSpc>
                          <a:spcPct val="100000"/>
                        </a:lnSpc>
                        <a:spcAft>
                          <a:spcPts val="0"/>
                        </a:spcAft>
                        <a:buNone/>
                      </a:pPr>
                      <a:r>
                        <a:rPr lang="en-US" sz="1800">
                          <a:solidFill>
                            <a:schemeClr val="bg1"/>
                          </a:solidFill>
                          <a:effectLst/>
                          <a:latin typeface="Aptos Narrow" panose="020B0004020202020204" pitchFamily="34" charset="0"/>
                          <a:ea typeface="Times New Roman" panose="02020603050405020304" pitchFamily="18" charset="0"/>
                        </a:rPr>
                        <a:t>Acquired knowledge</a:t>
                      </a:r>
                    </a:p>
                  </a:txBody>
                  <a:tcPr marL="35418" marR="35418" marT="0" marB="0">
                    <a:lnL>
                      <a:noFill/>
                    </a:lnL>
                    <a:lnR>
                      <a:noFill/>
                    </a:lnR>
                    <a:lnT>
                      <a:noFill/>
                    </a:lnT>
                    <a:lnB w="19050" cap="flat" cmpd="sng" algn="ctr">
                      <a:solidFill>
                        <a:srgbClr val="000000"/>
                      </a:solidFill>
                      <a:prstDash val="solid"/>
                      <a:round/>
                      <a:headEnd type="none" w="med" len="med"/>
                      <a:tailEnd type="none" w="med" len="med"/>
                    </a:lnB>
                    <a:noFill/>
                  </a:tcPr>
                </a:tc>
                <a:tc>
                  <a:txBody>
                    <a:bodyPr/>
                    <a:lstStyle/>
                    <a:p>
                      <a:pPr indent="0" algn="l" fontAlgn="auto" hangingPunct="1">
                        <a:lnSpc>
                          <a:spcPct val="100000"/>
                        </a:lnSpc>
                        <a:spcAft>
                          <a:spcPts val="0"/>
                        </a:spcAft>
                        <a:buNone/>
                      </a:pPr>
                      <a:r>
                        <a:rPr lang="en-US" sz="1800" dirty="0">
                          <a:solidFill>
                            <a:schemeClr val="bg1"/>
                          </a:solidFill>
                          <a:effectLst/>
                          <a:latin typeface="Aptos Narrow" panose="020B0004020202020204" pitchFamily="34" charset="0"/>
                          <a:ea typeface="Times New Roman" panose="02020603050405020304" pitchFamily="18" charset="0"/>
                        </a:rPr>
                        <a:t>AI-generated feedback about knowledge acquired in the game or how to complete a didactic task in the game</a:t>
                      </a:r>
                    </a:p>
                  </a:txBody>
                  <a:tcPr marL="35418" marR="35418" marT="0" marB="0">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711381"/>
                  </a:ext>
                </a:extLst>
              </a:tr>
            </a:tbl>
          </a:graphicData>
        </a:graphic>
      </p:graphicFrame>
    </p:spTree>
    <p:extLst>
      <p:ext uri="{BB962C8B-B14F-4D97-AF65-F5344CB8AC3E}">
        <p14:creationId xmlns:p14="http://schemas.microsoft.com/office/powerpoint/2010/main" val="1360623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0E1390-0A33-47CE-82FF-EED3D60B8DAA}"/>
              </a:ext>
            </a:extLst>
          </p:cNvPr>
          <p:cNvSpPr>
            <a:spLocks noGrp="1"/>
          </p:cNvSpPr>
          <p:nvPr>
            <p:ph type="title"/>
          </p:nvPr>
        </p:nvSpPr>
        <p:spPr>
          <a:xfrm>
            <a:off x="2444263" y="-58554"/>
            <a:ext cx="6814038" cy="1707198"/>
          </a:xfrm>
        </p:spPr>
        <p:txBody>
          <a:bodyPr>
            <a:noAutofit/>
          </a:bodyPr>
          <a:lstStyle/>
          <a:p>
            <a:pPr algn="ctr"/>
            <a:r>
              <a:rPr lang="en-US" dirty="0">
                <a:solidFill>
                  <a:schemeClr val="accent1">
                    <a:lumMod val="50000"/>
                  </a:schemeClr>
                </a:solidFill>
              </a:rPr>
              <a:t>Example: Universal and Personalized Versions of an educational video Game</a:t>
            </a:r>
            <a:endParaRPr lang="bg-BG" dirty="0">
              <a:solidFill>
                <a:schemeClr val="accent5">
                  <a:lumMod val="50000"/>
                </a:schemeClr>
              </a:solidFill>
            </a:endParaRPr>
          </a:p>
        </p:txBody>
      </p:sp>
      <p:sp>
        <p:nvSpPr>
          <p:cNvPr id="6" name="Date Placeholder 3">
            <a:extLst>
              <a:ext uri="{FF2B5EF4-FFF2-40B4-BE49-F238E27FC236}">
                <a16:creationId xmlns:a16="http://schemas.microsoft.com/office/drawing/2014/main" id="{7D4729FA-D186-49A8-AF21-14E957DF80E5}"/>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7" name="Slide Number Placeholder 5">
            <a:extLst>
              <a:ext uri="{FF2B5EF4-FFF2-40B4-BE49-F238E27FC236}">
                <a16:creationId xmlns:a16="http://schemas.microsoft.com/office/drawing/2014/main" id="{0A2C79E5-AC1E-40D4-B720-04E34CAF7916}"/>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21</a:t>
            </a:fld>
            <a:endParaRPr lang="bg-BG" sz="1400"/>
          </a:p>
        </p:txBody>
      </p:sp>
      <p:pic>
        <p:nvPicPr>
          <p:cNvPr id="2" name="Picture 1">
            <a:extLst>
              <a:ext uri="{FF2B5EF4-FFF2-40B4-BE49-F238E27FC236}">
                <a16:creationId xmlns:a16="http://schemas.microsoft.com/office/drawing/2014/main" id="{D387703A-A25D-437A-B7CA-8393672AFAF3}"/>
              </a:ext>
            </a:extLst>
          </p:cNvPr>
          <p:cNvPicPr>
            <a:picLocks noChangeAspect="1"/>
          </p:cNvPicPr>
          <p:nvPr/>
        </p:nvPicPr>
        <p:blipFill rotWithShape="1">
          <a:blip r:embed="rId2"/>
          <a:srcRect t="7885"/>
          <a:stretch/>
        </p:blipFill>
        <p:spPr>
          <a:xfrm>
            <a:off x="296374" y="1459683"/>
            <a:ext cx="3609975" cy="1877611"/>
          </a:xfrm>
          <a:prstGeom prst="rect">
            <a:avLst/>
          </a:prstGeom>
        </p:spPr>
      </p:pic>
      <p:pic>
        <p:nvPicPr>
          <p:cNvPr id="3" name="Picture 2">
            <a:extLst>
              <a:ext uri="{FF2B5EF4-FFF2-40B4-BE49-F238E27FC236}">
                <a16:creationId xmlns:a16="http://schemas.microsoft.com/office/drawing/2014/main" id="{3C497062-1BB1-4DDB-9B96-72014D9FD6A9}"/>
              </a:ext>
            </a:extLst>
          </p:cNvPr>
          <p:cNvPicPr>
            <a:picLocks noChangeAspect="1"/>
          </p:cNvPicPr>
          <p:nvPr/>
        </p:nvPicPr>
        <p:blipFill rotWithShape="1">
          <a:blip r:embed="rId3"/>
          <a:srcRect t="7440"/>
          <a:stretch/>
        </p:blipFill>
        <p:spPr>
          <a:xfrm>
            <a:off x="4482035" y="1451295"/>
            <a:ext cx="3600450" cy="1895525"/>
          </a:xfrm>
          <a:prstGeom prst="rect">
            <a:avLst/>
          </a:prstGeom>
        </p:spPr>
      </p:pic>
      <p:pic>
        <p:nvPicPr>
          <p:cNvPr id="8" name="Picture 7">
            <a:extLst>
              <a:ext uri="{FF2B5EF4-FFF2-40B4-BE49-F238E27FC236}">
                <a16:creationId xmlns:a16="http://schemas.microsoft.com/office/drawing/2014/main" id="{D367AE39-82AE-4880-930C-BBE42ADBE907}"/>
              </a:ext>
            </a:extLst>
          </p:cNvPr>
          <p:cNvPicPr>
            <a:picLocks noChangeAspect="1"/>
          </p:cNvPicPr>
          <p:nvPr/>
        </p:nvPicPr>
        <p:blipFill>
          <a:blip r:embed="rId4"/>
          <a:stretch>
            <a:fillRect/>
          </a:stretch>
        </p:blipFill>
        <p:spPr>
          <a:xfrm>
            <a:off x="1722925" y="3134487"/>
            <a:ext cx="3228975" cy="2057400"/>
          </a:xfrm>
          <a:prstGeom prst="rect">
            <a:avLst/>
          </a:prstGeom>
        </p:spPr>
      </p:pic>
      <p:pic>
        <p:nvPicPr>
          <p:cNvPr id="9" name="Picture 8">
            <a:extLst>
              <a:ext uri="{FF2B5EF4-FFF2-40B4-BE49-F238E27FC236}">
                <a16:creationId xmlns:a16="http://schemas.microsoft.com/office/drawing/2014/main" id="{0B99F4DE-EEE4-4256-BAEA-DFEF1B77E2D7}"/>
              </a:ext>
            </a:extLst>
          </p:cNvPr>
          <p:cNvPicPr>
            <a:picLocks noChangeAspect="1"/>
          </p:cNvPicPr>
          <p:nvPr/>
        </p:nvPicPr>
        <p:blipFill>
          <a:blip r:embed="rId5"/>
          <a:stretch>
            <a:fillRect/>
          </a:stretch>
        </p:blipFill>
        <p:spPr>
          <a:xfrm>
            <a:off x="5630377" y="3139891"/>
            <a:ext cx="3219450" cy="2066925"/>
          </a:xfrm>
          <a:prstGeom prst="rect">
            <a:avLst/>
          </a:prstGeom>
        </p:spPr>
      </p:pic>
      <p:pic>
        <p:nvPicPr>
          <p:cNvPr id="14" name="Picture 13">
            <a:extLst>
              <a:ext uri="{FF2B5EF4-FFF2-40B4-BE49-F238E27FC236}">
                <a16:creationId xmlns:a16="http://schemas.microsoft.com/office/drawing/2014/main" id="{8FC34E17-6F92-4F90-8AAA-6646257A6745}"/>
              </a:ext>
            </a:extLst>
          </p:cNvPr>
          <p:cNvPicPr>
            <a:picLocks noChangeAspect="1"/>
          </p:cNvPicPr>
          <p:nvPr/>
        </p:nvPicPr>
        <p:blipFill>
          <a:blip r:embed="rId6"/>
          <a:stretch>
            <a:fillRect/>
          </a:stretch>
        </p:blipFill>
        <p:spPr>
          <a:xfrm>
            <a:off x="4758562" y="4819445"/>
            <a:ext cx="3238500" cy="2038350"/>
          </a:xfrm>
          <a:prstGeom prst="rect">
            <a:avLst/>
          </a:prstGeom>
        </p:spPr>
      </p:pic>
      <p:pic>
        <p:nvPicPr>
          <p:cNvPr id="15" name="Picture 14">
            <a:extLst>
              <a:ext uri="{FF2B5EF4-FFF2-40B4-BE49-F238E27FC236}">
                <a16:creationId xmlns:a16="http://schemas.microsoft.com/office/drawing/2014/main" id="{0DD113E9-CCB4-4ED6-91CE-A8CE5F4915AB}"/>
              </a:ext>
            </a:extLst>
          </p:cNvPr>
          <p:cNvPicPr>
            <a:picLocks noChangeAspect="1"/>
          </p:cNvPicPr>
          <p:nvPr/>
        </p:nvPicPr>
        <p:blipFill>
          <a:blip r:embed="rId7"/>
          <a:stretch>
            <a:fillRect/>
          </a:stretch>
        </p:blipFill>
        <p:spPr>
          <a:xfrm>
            <a:off x="8601511" y="4809920"/>
            <a:ext cx="3248025" cy="2057400"/>
          </a:xfrm>
          <a:prstGeom prst="rect">
            <a:avLst/>
          </a:prstGeom>
        </p:spPr>
      </p:pic>
      <p:sp>
        <p:nvSpPr>
          <p:cNvPr id="16" name="Arrow: Notched Right 15">
            <a:extLst>
              <a:ext uri="{FF2B5EF4-FFF2-40B4-BE49-F238E27FC236}">
                <a16:creationId xmlns:a16="http://schemas.microsoft.com/office/drawing/2014/main" id="{208FAC22-8B14-48A6-999B-1EFDA48F3A10}"/>
              </a:ext>
            </a:extLst>
          </p:cNvPr>
          <p:cNvSpPr/>
          <p:nvPr/>
        </p:nvSpPr>
        <p:spPr>
          <a:xfrm>
            <a:off x="3973027" y="2176503"/>
            <a:ext cx="433603" cy="31377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7" name="Arrow: Notched Right 16">
            <a:extLst>
              <a:ext uri="{FF2B5EF4-FFF2-40B4-BE49-F238E27FC236}">
                <a16:creationId xmlns:a16="http://schemas.microsoft.com/office/drawing/2014/main" id="{4B9FEFE7-BBBE-4D83-A8C3-C5A1ADCB8215}"/>
              </a:ext>
            </a:extLst>
          </p:cNvPr>
          <p:cNvSpPr/>
          <p:nvPr/>
        </p:nvSpPr>
        <p:spPr>
          <a:xfrm>
            <a:off x="5074337" y="4090746"/>
            <a:ext cx="433603" cy="31377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8" name="Arrow: Notched Right 17">
            <a:extLst>
              <a:ext uri="{FF2B5EF4-FFF2-40B4-BE49-F238E27FC236}">
                <a16:creationId xmlns:a16="http://schemas.microsoft.com/office/drawing/2014/main" id="{D51A6022-6AD2-4BD2-A8E2-5A6777CB0907}"/>
              </a:ext>
            </a:extLst>
          </p:cNvPr>
          <p:cNvSpPr/>
          <p:nvPr/>
        </p:nvSpPr>
        <p:spPr>
          <a:xfrm>
            <a:off x="8082485" y="5864561"/>
            <a:ext cx="433603" cy="31377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45131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randombar(horizontal)">
                                      <p:cBhvr>
                                        <p:cTn id="10" dur="500"/>
                                        <p:tgtEl>
                                          <p:spTgt spid="16"/>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heel(1)">
                                      <p:cBhvr>
                                        <p:cTn id="18" dur="2000"/>
                                        <p:tgtEl>
                                          <p:spTgt spid="8"/>
                                        </p:tgtEl>
                                      </p:cBhvr>
                                    </p:animEffect>
                                  </p:childTnLst>
                                </p:cTn>
                              </p:par>
                              <p:par>
                                <p:cTn id="19" presetID="21" presetClass="entr" presetSubtype="1"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heel(1)">
                                      <p:cBhvr>
                                        <p:cTn id="21" dur="2000"/>
                                        <p:tgtEl>
                                          <p:spTgt spid="17"/>
                                        </p:tgtEl>
                                      </p:cBhvr>
                                    </p:animEffect>
                                  </p:childTnLst>
                                </p:cTn>
                              </p:par>
                              <p:par>
                                <p:cTn id="22" presetID="21" presetClass="entr" presetSubtype="1"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heel(1)">
                                      <p:cBhvr>
                                        <p:cTn id="24" dur="2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anim calcmode="lin" valueType="num">
                                      <p:cBhvr>
                                        <p:cTn id="31" dur="1000" fill="hold"/>
                                        <p:tgtEl>
                                          <p:spTgt spid="14"/>
                                        </p:tgtEl>
                                        <p:attrNameLst>
                                          <p:attrName>style.rotation</p:attrName>
                                        </p:attrNameLst>
                                      </p:cBhvr>
                                      <p:tavLst>
                                        <p:tav tm="0">
                                          <p:val>
                                            <p:fltVal val="90"/>
                                          </p:val>
                                        </p:tav>
                                        <p:tav tm="100000">
                                          <p:val>
                                            <p:fltVal val="0"/>
                                          </p:val>
                                        </p:tav>
                                      </p:tavLst>
                                    </p:anim>
                                    <p:animEffect transition="in" filter="fade">
                                      <p:cBhvr>
                                        <p:cTn id="32" dur="1000"/>
                                        <p:tgtEl>
                                          <p:spTgt spid="14"/>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1000" fill="hold"/>
                                        <p:tgtEl>
                                          <p:spTgt spid="18"/>
                                        </p:tgtEl>
                                        <p:attrNameLst>
                                          <p:attrName>ppt_w</p:attrName>
                                        </p:attrNameLst>
                                      </p:cBhvr>
                                      <p:tavLst>
                                        <p:tav tm="0">
                                          <p:val>
                                            <p:fltVal val="0"/>
                                          </p:val>
                                        </p:tav>
                                        <p:tav tm="100000">
                                          <p:val>
                                            <p:strVal val="#ppt_w"/>
                                          </p:val>
                                        </p:tav>
                                      </p:tavLst>
                                    </p:anim>
                                    <p:anim calcmode="lin" valueType="num">
                                      <p:cBhvr>
                                        <p:cTn id="36" dur="1000" fill="hold"/>
                                        <p:tgtEl>
                                          <p:spTgt spid="18"/>
                                        </p:tgtEl>
                                        <p:attrNameLst>
                                          <p:attrName>ppt_h</p:attrName>
                                        </p:attrNameLst>
                                      </p:cBhvr>
                                      <p:tavLst>
                                        <p:tav tm="0">
                                          <p:val>
                                            <p:fltVal val="0"/>
                                          </p:val>
                                        </p:tav>
                                        <p:tav tm="100000">
                                          <p:val>
                                            <p:strVal val="#ppt_h"/>
                                          </p:val>
                                        </p:tav>
                                      </p:tavLst>
                                    </p:anim>
                                    <p:anim calcmode="lin" valueType="num">
                                      <p:cBhvr>
                                        <p:cTn id="37" dur="1000" fill="hold"/>
                                        <p:tgtEl>
                                          <p:spTgt spid="18"/>
                                        </p:tgtEl>
                                        <p:attrNameLst>
                                          <p:attrName>style.rotation</p:attrName>
                                        </p:attrNameLst>
                                      </p:cBhvr>
                                      <p:tavLst>
                                        <p:tav tm="0">
                                          <p:val>
                                            <p:fltVal val="90"/>
                                          </p:val>
                                        </p:tav>
                                        <p:tav tm="100000">
                                          <p:val>
                                            <p:fltVal val="0"/>
                                          </p:val>
                                        </p:tav>
                                      </p:tavLst>
                                    </p:anim>
                                    <p:animEffect transition="in" filter="fade">
                                      <p:cBhvr>
                                        <p:cTn id="38" dur="1000"/>
                                        <p:tgtEl>
                                          <p:spTgt spid="18"/>
                                        </p:tgtEl>
                                      </p:cBhvr>
                                    </p:animEffect>
                                  </p:childTnLst>
                                </p:cTn>
                              </p:par>
                              <p:par>
                                <p:cTn id="39" presetID="3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1000" fill="hold"/>
                                        <p:tgtEl>
                                          <p:spTgt spid="15"/>
                                        </p:tgtEl>
                                        <p:attrNameLst>
                                          <p:attrName>ppt_w</p:attrName>
                                        </p:attrNameLst>
                                      </p:cBhvr>
                                      <p:tavLst>
                                        <p:tav tm="0">
                                          <p:val>
                                            <p:fltVal val="0"/>
                                          </p:val>
                                        </p:tav>
                                        <p:tav tm="100000">
                                          <p:val>
                                            <p:strVal val="#ppt_w"/>
                                          </p:val>
                                        </p:tav>
                                      </p:tavLst>
                                    </p:anim>
                                    <p:anim calcmode="lin" valueType="num">
                                      <p:cBhvr>
                                        <p:cTn id="42" dur="1000" fill="hold"/>
                                        <p:tgtEl>
                                          <p:spTgt spid="15"/>
                                        </p:tgtEl>
                                        <p:attrNameLst>
                                          <p:attrName>ppt_h</p:attrName>
                                        </p:attrNameLst>
                                      </p:cBhvr>
                                      <p:tavLst>
                                        <p:tav tm="0">
                                          <p:val>
                                            <p:fltVal val="0"/>
                                          </p:val>
                                        </p:tav>
                                        <p:tav tm="100000">
                                          <p:val>
                                            <p:strVal val="#ppt_h"/>
                                          </p:val>
                                        </p:tav>
                                      </p:tavLst>
                                    </p:anim>
                                    <p:anim calcmode="lin" valueType="num">
                                      <p:cBhvr>
                                        <p:cTn id="43" dur="1000" fill="hold"/>
                                        <p:tgtEl>
                                          <p:spTgt spid="15"/>
                                        </p:tgtEl>
                                        <p:attrNameLst>
                                          <p:attrName>style.rotation</p:attrName>
                                        </p:attrNameLst>
                                      </p:cBhvr>
                                      <p:tavLst>
                                        <p:tav tm="0">
                                          <p:val>
                                            <p:fltVal val="90"/>
                                          </p:val>
                                        </p:tav>
                                        <p:tav tm="100000">
                                          <p:val>
                                            <p:fltVal val="0"/>
                                          </p:val>
                                        </p:tav>
                                      </p:tavLst>
                                    </p:anim>
                                    <p:animEffect transition="in" filter="fade">
                                      <p:cBhvr>
                                        <p:cTn id="4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5286" y="197829"/>
            <a:ext cx="10035039" cy="1036999"/>
          </a:xfrm>
        </p:spPr>
        <p:txBody>
          <a:bodyPr>
            <a:normAutofit/>
          </a:bodyPr>
          <a:lstStyle/>
          <a:p>
            <a:pPr algn="ctr"/>
            <a:r>
              <a:rPr lang="en-US" sz="4000" dirty="0">
                <a:solidFill>
                  <a:schemeClr val="accent5">
                    <a:lumMod val="50000"/>
                  </a:schemeClr>
                </a:solidFill>
              </a:rPr>
              <a:t>CONCLUSIONS</a:t>
            </a:r>
            <a:endParaRPr lang="bg-BG" sz="4000" dirty="0">
              <a:solidFill>
                <a:schemeClr val="accent5">
                  <a:lumMod val="50000"/>
                </a:schemeClr>
              </a:solidFill>
            </a:endParaRPr>
          </a:p>
        </p:txBody>
      </p:sp>
      <p:sp>
        <p:nvSpPr>
          <p:cNvPr id="3" name="Content Placeholder 2"/>
          <p:cNvSpPr>
            <a:spLocks noGrp="1"/>
          </p:cNvSpPr>
          <p:nvPr>
            <p:ph idx="1"/>
          </p:nvPr>
        </p:nvSpPr>
        <p:spPr>
          <a:xfrm>
            <a:off x="925286" y="1556238"/>
            <a:ext cx="11164137" cy="4835770"/>
          </a:xfrm>
        </p:spPr>
        <p:txBody>
          <a:bodyPr>
            <a:normAutofit/>
          </a:bodyPr>
          <a:lstStyle/>
          <a:p>
            <a:r>
              <a:rPr lang="en-US" sz="2800" dirty="0">
                <a:solidFill>
                  <a:srgbClr val="002060"/>
                </a:solidFill>
              </a:rPr>
              <a:t>Evolution of traditional personalization approaches </a:t>
            </a:r>
            <a:endParaRPr lang="bg-BG" sz="2800" dirty="0">
              <a:solidFill>
                <a:srgbClr val="002060"/>
              </a:solidFill>
            </a:endParaRPr>
          </a:p>
          <a:p>
            <a:r>
              <a:rPr lang="en-US" sz="2800" dirty="0">
                <a:solidFill>
                  <a:srgbClr val="002060"/>
                </a:solidFill>
              </a:rPr>
              <a:t>AI-based personalization</a:t>
            </a:r>
          </a:p>
          <a:p>
            <a:pPr lvl="1" hangingPunct="0">
              <a:buFont typeface="Wingdings" panose="05000000000000000000" pitchFamily="2" charset="2"/>
              <a:buChar char="ü"/>
            </a:pPr>
            <a:r>
              <a:rPr lang="en-US" sz="2800" dirty="0">
                <a:solidFill>
                  <a:srgbClr val="002060"/>
                </a:solidFill>
              </a:rPr>
              <a:t>Personalized curriculum design</a:t>
            </a:r>
            <a:endParaRPr lang="bg-BG" sz="2800" dirty="0">
              <a:solidFill>
                <a:srgbClr val="002060"/>
              </a:solidFill>
            </a:endParaRPr>
          </a:p>
          <a:p>
            <a:pPr lvl="1" hangingPunct="0">
              <a:buFont typeface="Wingdings" panose="05000000000000000000" pitchFamily="2" charset="2"/>
              <a:buChar char="ü"/>
            </a:pPr>
            <a:r>
              <a:rPr lang="en-US" sz="2800" dirty="0">
                <a:solidFill>
                  <a:srgbClr val="002060"/>
                </a:solidFill>
              </a:rPr>
              <a:t>Enhanced accessibility</a:t>
            </a:r>
            <a:endParaRPr lang="bg-BG" sz="2800" dirty="0">
              <a:solidFill>
                <a:srgbClr val="002060"/>
              </a:solidFill>
            </a:endParaRPr>
          </a:p>
          <a:p>
            <a:pPr lvl="1" hangingPunct="0">
              <a:buFont typeface="Wingdings" panose="05000000000000000000" pitchFamily="2" charset="2"/>
              <a:buChar char="ü"/>
            </a:pPr>
            <a:r>
              <a:rPr lang="en-US" sz="2800" dirty="0">
                <a:solidFill>
                  <a:srgbClr val="002060"/>
                </a:solidFill>
              </a:rPr>
              <a:t>Predictive analytics</a:t>
            </a:r>
          </a:p>
          <a:p>
            <a:pPr lvl="1" hangingPunct="0">
              <a:buFont typeface="Wingdings" panose="05000000000000000000" pitchFamily="2" charset="2"/>
              <a:buChar char="ü"/>
            </a:pPr>
            <a:r>
              <a:rPr lang="en-US" sz="2800" dirty="0">
                <a:solidFill>
                  <a:srgbClr val="002060"/>
                </a:solidFill>
              </a:rPr>
              <a:t>Dynamic content delivery</a:t>
            </a:r>
          </a:p>
          <a:p>
            <a:pPr lvl="1" hangingPunct="0">
              <a:buFont typeface="Wingdings" panose="05000000000000000000" pitchFamily="2" charset="2"/>
              <a:buChar char="ü"/>
            </a:pPr>
            <a:r>
              <a:rPr lang="en-US" sz="2800" dirty="0">
                <a:solidFill>
                  <a:srgbClr val="002060"/>
                </a:solidFill>
              </a:rPr>
              <a:t>Cognitive tutoring systems offer individualized support, improving perception and critical thinking abilities</a:t>
            </a:r>
            <a:endParaRPr lang="bg-BG" sz="2800" dirty="0">
              <a:solidFill>
                <a:srgbClr val="002060"/>
              </a:solidFill>
            </a:endParaRPr>
          </a:p>
          <a:p>
            <a:endParaRPr lang="bg-BG" dirty="0"/>
          </a:p>
        </p:txBody>
      </p:sp>
      <p:sp>
        <p:nvSpPr>
          <p:cNvPr id="5" name="Date Placeholder 3">
            <a:extLst>
              <a:ext uri="{FF2B5EF4-FFF2-40B4-BE49-F238E27FC236}">
                <a16:creationId xmlns:a16="http://schemas.microsoft.com/office/drawing/2014/main" id="{7B17F427-464E-4DC5-BB04-2423A6B22AD0}"/>
              </a:ext>
            </a:extLst>
          </p:cNvPr>
          <p:cNvSpPr>
            <a:spLocks noGrp="1"/>
          </p:cNvSpPr>
          <p:nvPr>
            <p:ph type="dt" sz="half" idx="10"/>
          </p:nvPr>
        </p:nvSpPr>
        <p:spPr>
          <a:xfrm>
            <a:off x="8601511" y="6492875"/>
            <a:ext cx="2743200" cy="365125"/>
          </a:xfrm>
        </p:spPr>
        <p:txBody>
          <a:bodyPr/>
          <a:lstStyle/>
          <a:p>
            <a:r>
              <a:rPr lang="en-US" sz="1400" dirty="0"/>
              <a:t>June 26, 2025</a:t>
            </a:r>
            <a:endParaRPr lang="bg-BG" sz="1400" dirty="0"/>
          </a:p>
        </p:txBody>
      </p:sp>
      <p:sp>
        <p:nvSpPr>
          <p:cNvPr id="6" name="Slide Number Placeholder 5">
            <a:extLst>
              <a:ext uri="{FF2B5EF4-FFF2-40B4-BE49-F238E27FC236}">
                <a16:creationId xmlns:a16="http://schemas.microsoft.com/office/drawing/2014/main" id="{D7B1B994-F4BC-457F-9FD1-B65CCFE9441A}"/>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22</a:t>
            </a:fld>
            <a:endParaRPr lang="bg-BG" sz="1400"/>
          </a:p>
        </p:txBody>
      </p:sp>
    </p:spTree>
    <p:extLst>
      <p:ext uri="{BB962C8B-B14F-4D97-AF65-F5344CB8AC3E}">
        <p14:creationId xmlns:p14="http://schemas.microsoft.com/office/powerpoint/2010/main" val="2103986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162940"/>
            <a:ext cx="9905998" cy="1478570"/>
          </a:xfrm>
        </p:spPr>
        <p:txBody>
          <a:bodyPr>
            <a:normAutofit/>
          </a:bodyPr>
          <a:lstStyle/>
          <a:p>
            <a:pPr algn="ctr"/>
            <a:r>
              <a:rPr lang="en-US" sz="4400" dirty="0">
                <a:solidFill>
                  <a:schemeClr val="accent5">
                    <a:lumMod val="50000"/>
                  </a:schemeClr>
                </a:solidFill>
              </a:rPr>
              <a:t>Thank you for your attention!</a:t>
            </a:r>
            <a:endParaRPr lang="bg-BG" sz="4400" dirty="0">
              <a:solidFill>
                <a:schemeClr val="accent5">
                  <a:lumMod val="50000"/>
                </a:schemeClr>
              </a:solidFill>
            </a:endParaRPr>
          </a:p>
        </p:txBody>
      </p:sp>
      <p:sp>
        <p:nvSpPr>
          <p:cNvPr id="6" name="TextBox 5">
            <a:extLst>
              <a:ext uri="{FF2B5EF4-FFF2-40B4-BE49-F238E27FC236}">
                <a16:creationId xmlns:a16="http://schemas.microsoft.com/office/drawing/2014/main" id="{F3EC0C1F-4168-4CB2-ABEC-18CDA0BB6B5F}"/>
              </a:ext>
            </a:extLst>
          </p:cNvPr>
          <p:cNvSpPr txBox="1"/>
          <p:nvPr/>
        </p:nvSpPr>
        <p:spPr>
          <a:xfrm>
            <a:off x="4041443" y="2766699"/>
            <a:ext cx="5336275" cy="1200329"/>
          </a:xfrm>
          <a:prstGeom prst="rect">
            <a:avLst/>
          </a:prstGeom>
          <a:noFill/>
        </p:spPr>
        <p:txBody>
          <a:bodyPr wrap="square">
            <a:spAutoFit/>
          </a:bodyPr>
          <a:lstStyle/>
          <a:p>
            <a:r>
              <a:rPr lang="en-US" sz="2400" dirty="0">
                <a:solidFill>
                  <a:schemeClr val="accent5">
                    <a:lumMod val="50000"/>
                  </a:schemeClr>
                </a:solidFill>
              </a:rPr>
              <a:t>valentina.terzieva@iict.bas.bg </a:t>
            </a:r>
          </a:p>
          <a:p>
            <a:r>
              <a:rPr lang="en-US" sz="2400" dirty="0">
                <a:solidFill>
                  <a:schemeClr val="accent5">
                    <a:lumMod val="50000"/>
                  </a:schemeClr>
                </a:solidFill>
              </a:rPr>
              <a:t>elena.paunova@iict.bas.bg</a:t>
            </a:r>
          </a:p>
          <a:p>
            <a:r>
              <a:rPr lang="en-US" sz="2400" dirty="0">
                <a:solidFill>
                  <a:schemeClr val="accent5">
                    <a:lumMod val="50000"/>
                  </a:schemeClr>
                </a:solidFill>
              </a:rPr>
              <a:t>bbontchev@fmi.uni-sofia.bg</a:t>
            </a:r>
          </a:p>
        </p:txBody>
      </p:sp>
      <p:sp>
        <p:nvSpPr>
          <p:cNvPr id="7" name="Slide Number Placeholder 5">
            <a:extLst>
              <a:ext uri="{FF2B5EF4-FFF2-40B4-BE49-F238E27FC236}">
                <a16:creationId xmlns:a16="http://schemas.microsoft.com/office/drawing/2014/main" id="{5D7E3B5D-34F8-4992-8EF8-88C81E59035F}"/>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23</a:t>
            </a:fld>
            <a:endParaRPr lang="bg-BG" sz="1400"/>
          </a:p>
        </p:txBody>
      </p:sp>
      <p:sp>
        <p:nvSpPr>
          <p:cNvPr id="8" name="Rounded Rectangle 8">
            <a:extLst>
              <a:ext uri="{FF2B5EF4-FFF2-40B4-BE49-F238E27FC236}">
                <a16:creationId xmlns:a16="http://schemas.microsoft.com/office/drawing/2014/main" id="{068A47F8-B54F-0A57-DD5C-C120D75A6B41}"/>
              </a:ext>
            </a:extLst>
          </p:cNvPr>
          <p:cNvSpPr/>
          <p:nvPr/>
        </p:nvSpPr>
        <p:spPr>
          <a:xfrm>
            <a:off x="467820" y="4519246"/>
            <a:ext cx="11237826" cy="2039815"/>
          </a:xfrm>
          <a:prstGeom prst="roundRect">
            <a:avLst/>
          </a:prstGeom>
          <a:noFill/>
          <a:ln w="25400" cap="flat" cmpd="sng" algn="ctr">
            <a:solidFill>
              <a:srgbClr val="4472C4">
                <a:shade val="50000"/>
              </a:srgbClr>
            </a:solidFill>
            <a:prstDash val="solid"/>
            <a:miter lim="800000"/>
          </a:ln>
          <a:effectLst/>
        </p:spPr>
        <p:txBody>
          <a:bodyPr rtlCol="0" anchor="ctr"/>
          <a:lstStyle/>
          <a:p>
            <a:pPr algn="ctr">
              <a:defRPr/>
            </a:pPr>
            <a:endParaRPr lang="bg-BG" kern="0" dirty="0">
              <a:solidFill>
                <a:prstClr val="white"/>
              </a:solidFill>
              <a:latin typeface="Calibri" panose="020F0502020204030204"/>
            </a:endParaRPr>
          </a:p>
        </p:txBody>
      </p:sp>
      <p:sp>
        <p:nvSpPr>
          <p:cNvPr id="10" name="TextBox 9">
            <a:extLst>
              <a:ext uri="{FF2B5EF4-FFF2-40B4-BE49-F238E27FC236}">
                <a16:creationId xmlns:a16="http://schemas.microsoft.com/office/drawing/2014/main" id="{04AF9213-FE16-64FC-FAAA-CE6DD345310D}"/>
              </a:ext>
            </a:extLst>
          </p:cNvPr>
          <p:cNvSpPr txBox="1"/>
          <p:nvPr/>
        </p:nvSpPr>
        <p:spPr>
          <a:xfrm>
            <a:off x="628222" y="4595818"/>
            <a:ext cx="10905687" cy="2040559"/>
          </a:xfrm>
          <a:prstGeom prst="rect">
            <a:avLst/>
          </a:prstGeom>
          <a:noFill/>
        </p:spPr>
        <p:txBody>
          <a:bodyPr wrap="square">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2400" b="1" i="0" u="none" strike="noStrike" kern="1200" cap="none" spc="0" normalizeH="0" baseline="0" noProof="0" dirty="0">
                <a:ln>
                  <a:noFill/>
                </a:ln>
                <a:solidFill>
                  <a:srgbClr val="4472C4">
                    <a:lumMod val="75000"/>
                  </a:srgbClr>
                </a:solidFill>
                <a:effectLst/>
                <a:uLnTx/>
                <a:uFillTx/>
                <a:latin typeface="Calibri" panose="020F0502020204030204" pitchFamily="34" charset="0"/>
                <a:cs typeface="Calibri" panose="020F0502020204030204" pitchFamily="34" charset="0"/>
              </a:rPr>
              <a:t>Acknowledgments</a:t>
            </a:r>
          </a:p>
          <a:p>
            <a:pPr>
              <a:lnSpc>
                <a:spcPct val="90000"/>
              </a:lnSpc>
              <a:spcBef>
                <a:spcPts val="600"/>
              </a:spcBef>
              <a:defRPr/>
            </a:pPr>
            <a:r>
              <a:rPr kumimoji="0" lang="en-US" sz="2000" b="0" i="0" u="none" strike="noStrike" kern="1200" cap="none" spc="0" normalizeH="0" baseline="0" noProof="0" dirty="0">
                <a:ln>
                  <a:noFill/>
                </a:ln>
                <a:solidFill>
                  <a:srgbClr val="4472C4">
                    <a:lumMod val="75000"/>
                  </a:srgbClr>
                </a:solidFill>
                <a:effectLst/>
                <a:uLnTx/>
                <a:uFillTx/>
                <a:latin typeface="Calibri" panose="020F0502020204030204" pitchFamily="34" charset="0"/>
                <a:cs typeface="Calibri" panose="020F0502020204030204" pitchFamily="34" charset="0"/>
              </a:rPr>
              <a:t>This research is supported by the Bulgarian National Science Fund through the projects </a:t>
            </a:r>
          </a:p>
          <a:p>
            <a:pPr>
              <a:lnSpc>
                <a:spcPct val="90000"/>
              </a:lnSpc>
              <a:spcBef>
                <a:spcPts val="600"/>
              </a:spcBef>
              <a:defRPr/>
            </a:pPr>
            <a:r>
              <a:rPr lang="en-US" sz="2000" dirty="0">
                <a:solidFill>
                  <a:srgbClr val="4472C4">
                    <a:lumMod val="75000"/>
                  </a:srgbClr>
                </a:solidFill>
                <a:latin typeface="Calibri" panose="020F0502020204030204" pitchFamily="34" charset="0"/>
                <a:cs typeface="Calibri" panose="020F0502020204030204" pitchFamily="34" charset="0"/>
              </a:rPr>
              <a:t>“</a:t>
            </a:r>
            <a:r>
              <a:rPr lang="en-US" sz="2000" b="1" dirty="0" err="1">
                <a:solidFill>
                  <a:srgbClr val="4472C4">
                    <a:lumMod val="75000"/>
                  </a:srgbClr>
                </a:solidFill>
                <a:latin typeface="Calibri" panose="020F0502020204030204" pitchFamily="34" charset="0"/>
                <a:cs typeface="Calibri" panose="020F0502020204030204" pitchFamily="34" charset="0"/>
              </a:rPr>
              <a:t>MO</a:t>
            </a:r>
            <a:r>
              <a:rPr lang="en-US" sz="2000" dirty="0" err="1">
                <a:solidFill>
                  <a:srgbClr val="4472C4">
                    <a:lumMod val="75000"/>
                  </a:srgbClr>
                </a:solidFill>
                <a:latin typeface="Calibri" panose="020F0502020204030204" pitchFamily="34" charset="0"/>
                <a:cs typeface="Calibri" panose="020F0502020204030204" pitchFamily="34" charset="0"/>
              </a:rPr>
              <a:t>deling</a:t>
            </a:r>
            <a:r>
              <a:rPr lang="en-US" sz="2000" dirty="0">
                <a:solidFill>
                  <a:srgbClr val="4472C4">
                    <a:lumMod val="75000"/>
                  </a:srgbClr>
                </a:solidFill>
                <a:latin typeface="Calibri" panose="020F0502020204030204" pitchFamily="34" charset="0"/>
                <a:cs typeface="Calibri" panose="020F0502020204030204" pitchFamily="34" charset="0"/>
              </a:rPr>
              <a:t> </a:t>
            </a:r>
            <a:r>
              <a:rPr lang="en-US" sz="2000" dirty="0" err="1">
                <a:solidFill>
                  <a:srgbClr val="4472C4">
                    <a:lumMod val="75000"/>
                  </a:srgbClr>
                </a:solidFill>
                <a:latin typeface="Calibri" panose="020F0502020204030204" pitchFamily="34" charset="0"/>
                <a:cs typeface="Calibri" panose="020F0502020204030204" pitchFamily="34" charset="0"/>
              </a:rPr>
              <a:t>in</a:t>
            </a:r>
            <a:r>
              <a:rPr lang="en-US" sz="2000" b="1" dirty="0" err="1">
                <a:solidFill>
                  <a:srgbClr val="4472C4">
                    <a:lumMod val="75000"/>
                  </a:srgbClr>
                </a:solidFill>
                <a:latin typeface="Calibri" panose="020F0502020204030204" pitchFamily="34" charset="0"/>
                <a:cs typeface="Calibri" panose="020F0502020204030204" pitchFamily="34" charset="0"/>
              </a:rPr>
              <a:t>T</a:t>
            </a:r>
            <a:r>
              <a:rPr lang="en-US" sz="2000" dirty="0" err="1">
                <a:solidFill>
                  <a:srgbClr val="4472C4">
                    <a:lumMod val="75000"/>
                  </a:srgbClr>
                </a:solidFill>
                <a:latin typeface="Calibri" panose="020F0502020204030204" pitchFamily="34" charset="0"/>
                <a:cs typeface="Calibri" panose="020F0502020204030204" pitchFamily="34" charset="0"/>
              </a:rPr>
              <a:t>elligent</a:t>
            </a:r>
            <a:r>
              <a:rPr lang="en-US" sz="2000" dirty="0">
                <a:solidFill>
                  <a:srgbClr val="4472C4">
                    <a:lumMod val="75000"/>
                  </a:srgbClr>
                </a:solidFill>
                <a:latin typeface="Calibri" panose="020F0502020204030204" pitchFamily="34" charset="0"/>
                <a:cs typeface="Calibri" panose="020F0502020204030204" pitchFamily="34" charset="0"/>
              </a:rPr>
              <a:t> Instruments for </a:t>
            </a:r>
            <a:r>
              <a:rPr lang="en-US" sz="2000" dirty="0" err="1">
                <a:solidFill>
                  <a:srgbClr val="4472C4">
                    <a:lumMod val="75000"/>
                  </a:srgbClr>
                </a:solidFill>
                <a:latin typeface="Calibri" panose="020F0502020204030204" pitchFamily="34" charset="0"/>
                <a:cs typeface="Calibri" panose="020F0502020204030204" pitchFamily="34" charset="0"/>
              </a:rPr>
              <a:t>adapt</a:t>
            </a:r>
            <a:r>
              <a:rPr lang="en-US" sz="2000" b="1" dirty="0" err="1">
                <a:solidFill>
                  <a:srgbClr val="4472C4">
                    <a:lumMod val="75000"/>
                  </a:srgbClr>
                </a:solidFill>
                <a:latin typeface="Calibri" panose="020F0502020204030204" pitchFamily="34" charset="0"/>
                <a:cs typeface="Calibri" panose="020F0502020204030204" pitchFamily="34" charset="0"/>
              </a:rPr>
              <a:t>IV</a:t>
            </a:r>
            <a:r>
              <a:rPr lang="en-US" sz="2000" dirty="0" err="1">
                <a:solidFill>
                  <a:srgbClr val="4472C4">
                    <a:lumMod val="75000"/>
                  </a:srgbClr>
                </a:solidFill>
                <a:latin typeface="Calibri" panose="020F0502020204030204" pitchFamily="34" charset="0"/>
                <a:cs typeface="Calibri" panose="020F0502020204030204" pitchFamily="34" charset="0"/>
              </a:rPr>
              <a:t>e</a:t>
            </a:r>
            <a:r>
              <a:rPr lang="en-US" sz="2000" dirty="0">
                <a:solidFill>
                  <a:srgbClr val="4472C4">
                    <a:lumMod val="75000"/>
                  </a:srgbClr>
                </a:solidFill>
                <a:latin typeface="Calibri" panose="020F0502020204030204" pitchFamily="34" charset="0"/>
                <a:cs typeface="Calibri" panose="020F0502020204030204" pitchFamily="34" charset="0"/>
              </a:rPr>
              <a:t> and </a:t>
            </a:r>
            <a:r>
              <a:rPr lang="en-US" sz="2000" dirty="0" err="1">
                <a:solidFill>
                  <a:srgbClr val="4472C4">
                    <a:lumMod val="75000"/>
                  </a:srgbClr>
                </a:solidFill>
                <a:latin typeface="Calibri" panose="020F0502020204030204" pitchFamily="34" charset="0"/>
                <a:cs typeface="Calibri" panose="020F0502020204030204" pitchFamily="34" charset="0"/>
              </a:rPr>
              <a:t>person</a:t>
            </a:r>
            <a:r>
              <a:rPr lang="en-US" sz="2000" b="1" dirty="0" err="1">
                <a:solidFill>
                  <a:srgbClr val="4472C4">
                    <a:lumMod val="75000"/>
                  </a:srgbClr>
                </a:solidFill>
                <a:latin typeface="Calibri" panose="020F0502020204030204" pitchFamily="34" charset="0"/>
                <a:cs typeface="Calibri" panose="020F0502020204030204" pitchFamily="34" charset="0"/>
              </a:rPr>
              <a:t>A</a:t>
            </a:r>
            <a:r>
              <a:rPr lang="en-US" sz="2000" dirty="0" err="1">
                <a:solidFill>
                  <a:srgbClr val="4472C4">
                    <a:lumMod val="75000"/>
                  </a:srgbClr>
                </a:solidFill>
                <a:latin typeface="Calibri" panose="020F0502020204030204" pitchFamily="34" charset="0"/>
                <a:cs typeface="Calibri" panose="020F0502020204030204" pitchFamily="34" charset="0"/>
              </a:rPr>
              <a:t>lized</a:t>
            </a:r>
            <a:r>
              <a:rPr lang="en-US" sz="2000" dirty="0">
                <a:solidFill>
                  <a:srgbClr val="4472C4">
                    <a:lumMod val="75000"/>
                  </a:srgbClr>
                </a:solidFill>
                <a:latin typeface="Calibri" panose="020F0502020204030204" pitchFamily="34" charset="0"/>
                <a:cs typeface="Calibri" panose="020F0502020204030204" pitchFamily="34" charset="0"/>
              </a:rPr>
              <a:t> </a:t>
            </a:r>
            <a:r>
              <a:rPr lang="en-US" sz="2000" dirty="0" err="1">
                <a:solidFill>
                  <a:srgbClr val="4472C4">
                    <a:lumMod val="75000"/>
                  </a:srgbClr>
                </a:solidFill>
                <a:latin typeface="Calibri" panose="020F0502020204030204" pitchFamily="34" charset="0"/>
                <a:cs typeface="Calibri" panose="020F0502020204030204" pitchFamily="34" charset="0"/>
              </a:rPr>
              <a:t>educa</a:t>
            </a:r>
            <a:r>
              <a:rPr lang="en-US" sz="2000" b="1" dirty="0" err="1">
                <a:solidFill>
                  <a:srgbClr val="4472C4">
                    <a:lumMod val="75000"/>
                  </a:srgbClr>
                </a:solidFill>
                <a:latin typeface="Calibri" panose="020F0502020204030204" pitchFamily="34" charset="0"/>
                <a:cs typeface="Calibri" panose="020F0502020204030204" pitchFamily="34" charset="0"/>
              </a:rPr>
              <a:t>T</a:t>
            </a:r>
            <a:r>
              <a:rPr lang="en-US" sz="2000" dirty="0" err="1">
                <a:solidFill>
                  <a:srgbClr val="4472C4">
                    <a:lumMod val="75000"/>
                  </a:srgbClr>
                </a:solidFill>
                <a:latin typeface="Calibri" panose="020F0502020204030204" pitchFamily="34" charset="0"/>
                <a:cs typeface="Calibri" panose="020F0502020204030204" pitchFamily="34" charset="0"/>
              </a:rPr>
              <a:t>ional</a:t>
            </a:r>
            <a:r>
              <a:rPr lang="en-US" sz="2000" dirty="0">
                <a:solidFill>
                  <a:srgbClr val="4472C4">
                    <a:lumMod val="75000"/>
                  </a:srgbClr>
                </a:solidFill>
                <a:latin typeface="Calibri" panose="020F0502020204030204" pitchFamily="34" charset="0"/>
                <a:cs typeface="Calibri" panose="020F0502020204030204" pitchFamily="34" charset="0"/>
              </a:rPr>
              <a:t> STEM video </a:t>
            </a:r>
            <a:r>
              <a:rPr lang="en-US" sz="2000" dirty="0" err="1">
                <a:solidFill>
                  <a:srgbClr val="4472C4">
                    <a:lumMod val="75000"/>
                  </a:srgbClr>
                </a:solidFill>
                <a:latin typeface="Calibri" panose="020F0502020204030204" pitchFamily="34" charset="0"/>
                <a:cs typeface="Calibri" panose="020F0502020204030204" pitchFamily="34" charset="0"/>
              </a:rPr>
              <a:t>gam</a:t>
            </a:r>
            <a:r>
              <a:rPr lang="en-US" sz="2000" b="1" dirty="0" err="1">
                <a:solidFill>
                  <a:srgbClr val="4472C4">
                    <a:lumMod val="75000"/>
                  </a:srgbClr>
                </a:solidFill>
                <a:latin typeface="Calibri" panose="020F0502020204030204" pitchFamily="34" charset="0"/>
                <a:cs typeface="Calibri" panose="020F0502020204030204" pitchFamily="34" charset="0"/>
              </a:rPr>
              <a:t>E</a:t>
            </a:r>
            <a:r>
              <a:rPr lang="en-US" sz="2000" dirty="0" err="1">
                <a:solidFill>
                  <a:srgbClr val="4472C4">
                    <a:lumMod val="75000"/>
                  </a:srgbClr>
                </a:solidFill>
                <a:latin typeface="Calibri" panose="020F0502020204030204" pitchFamily="34" charset="0"/>
                <a:cs typeface="Calibri" panose="020F0502020204030204" pitchFamily="34" charset="0"/>
              </a:rPr>
              <a:t>s</a:t>
            </a:r>
            <a:r>
              <a:rPr lang="en-US" sz="2000" dirty="0">
                <a:solidFill>
                  <a:srgbClr val="4472C4">
                    <a:lumMod val="75000"/>
                  </a:srgbClr>
                </a:solidFill>
                <a:latin typeface="Calibri" panose="020F0502020204030204" pitchFamily="34" charset="0"/>
                <a:cs typeface="Calibri" panose="020F0502020204030204" pitchFamily="34" charset="0"/>
              </a:rPr>
              <a:t>” (</a:t>
            </a:r>
            <a:r>
              <a:rPr lang="en-US" sz="2000" b="1" dirty="0">
                <a:solidFill>
                  <a:srgbClr val="4472C4">
                    <a:lumMod val="75000"/>
                  </a:srgbClr>
                </a:solidFill>
                <a:latin typeface="Calibri" panose="020F0502020204030204" pitchFamily="34" charset="0"/>
                <a:cs typeface="Calibri" panose="020F0502020204030204" pitchFamily="34" charset="0"/>
              </a:rPr>
              <a:t>MOTIVATE</a:t>
            </a:r>
            <a:r>
              <a:rPr lang="en-US" sz="2000" dirty="0">
                <a:solidFill>
                  <a:srgbClr val="4472C4">
                    <a:lumMod val="75000"/>
                  </a:srgbClr>
                </a:solidFill>
                <a:latin typeface="Calibri" panose="020F0502020204030204" pitchFamily="34" charset="0"/>
                <a:cs typeface="Calibri" panose="020F0502020204030204" pitchFamily="34" charset="0"/>
              </a:rPr>
              <a:t>), contract No. КП-06-Н85/2 from 05.12.2024  and</a:t>
            </a:r>
            <a:endParaRPr lang="en-US" sz="2000" b="1" dirty="0">
              <a:solidFill>
                <a:schemeClr val="accent5">
                  <a:lumMod val="50000"/>
                </a:schemeClr>
              </a:solidFill>
              <a:latin typeface="Calibri" panose="020F0502020204030204" pitchFamily="34" charset="0"/>
              <a:cs typeface="Calibri" panose="020F0502020204030204" pitchFamily="34" charset="0"/>
            </a:endParaRPr>
          </a:p>
          <a:p>
            <a:pPr>
              <a:lnSpc>
                <a:spcPct val="90000"/>
              </a:lnSpc>
              <a:spcBef>
                <a:spcPts val="600"/>
              </a:spcBef>
              <a:defRPr/>
            </a:pPr>
            <a:r>
              <a:rPr lang="en-US" sz="2000" b="1" dirty="0">
                <a:solidFill>
                  <a:schemeClr val="accent5">
                    <a:lumMod val="50000"/>
                  </a:schemeClr>
                </a:solidFill>
                <a:latin typeface="Calibri" panose="020F0502020204030204" pitchFamily="34" charset="0"/>
                <a:cs typeface="Calibri" panose="020F0502020204030204" pitchFamily="34" charset="0"/>
              </a:rPr>
              <a:t>“</a:t>
            </a:r>
            <a:r>
              <a:rPr lang="en-US" sz="2000" dirty="0" err="1">
                <a:solidFill>
                  <a:schemeClr val="accent5">
                    <a:lumMod val="50000"/>
                  </a:schemeClr>
                </a:solidFill>
                <a:latin typeface="Calibri" panose="020F0502020204030204" pitchFamily="34" charset="0"/>
                <a:cs typeface="Calibri" panose="020F0502020204030204" pitchFamily="34" charset="0"/>
              </a:rPr>
              <a:t>Re</a:t>
            </a:r>
            <a:r>
              <a:rPr lang="en-US" sz="2000" b="1" dirty="0" err="1">
                <a:solidFill>
                  <a:schemeClr val="accent5">
                    <a:lumMod val="50000"/>
                  </a:schemeClr>
                </a:solidFill>
                <a:latin typeface="Calibri" panose="020F0502020204030204" pitchFamily="34" charset="0"/>
                <a:cs typeface="Calibri" panose="020F0502020204030204" pitchFamily="34" charset="0"/>
              </a:rPr>
              <a:t>S</a:t>
            </a:r>
            <a:r>
              <a:rPr lang="en-US" sz="2000" dirty="0" err="1">
                <a:solidFill>
                  <a:schemeClr val="accent5">
                    <a:lumMod val="50000"/>
                  </a:schemeClr>
                </a:solidFill>
                <a:latin typeface="Calibri" panose="020F0502020204030204" pitchFamily="34" charset="0"/>
                <a:cs typeface="Calibri" panose="020F0502020204030204" pitchFamily="34" charset="0"/>
              </a:rPr>
              <a:t>earc</a:t>
            </a:r>
            <a:r>
              <a:rPr lang="en-US" sz="2000" b="1" dirty="0" err="1">
                <a:solidFill>
                  <a:schemeClr val="accent5">
                    <a:lumMod val="50000"/>
                  </a:schemeClr>
                </a:solidFill>
                <a:latin typeface="Calibri" panose="020F0502020204030204" pitchFamily="34" charset="0"/>
                <a:cs typeface="Calibri" panose="020F0502020204030204" pitchFamily="34" charset="0"/>
              </a:rPr>
              <a:t>H</a:t>
            </a:r>
            <a:r>
              <a:rPr lang="en-US" sz="2000" dirty="0">
                <a:solidFill>
                  <a:schemeClr val="accent5">
                    <a:lumMod val="50000"/>
                  </a:schemeClr>
                </a:solidFill>
                <a:latin typeface="Calibri" panose="020F0502020204030204" pitchFamily="34" charset="0"/>
                <a:cs typeface="Calibri" panose="020F0502020204030204" pitchFamily="34" charset="0"/>
              </a:rPr>
              <a:t> on </a:t>
            </a:r>
            <a:r>
              <a:rPr lang="en-US" sz="2000" dirty="0" err="1">
                <a:solidFill>
                  <a:schemeClr val="accent5">
                    <a:lumMod val="50000"/>
                  </a:schemeClr>
                </a:solidFill>
                <a:latin typeface="Calibri" panose="020F0502020204030204" pitchFamily="34" charset="0"/>
                <a:cs typeface="Calibri" panose="020F0502020204030204" pitchFamily="34" charset="0"/>
              </a:rPr>
              <a:t>form</a:t>
            </a:r>
            <a:r>
              <a:rPr lang="en-US" sz="2000" b="1" dirty="0" err="1">
                <a:solidFill>
                  <a:schemeClr val="accent5">
                    <a:lumMod val="50000"/>
                  </a:schemeClr>
                </a:solidFill>
                <a:latin typeface="Calibri" panose="020F0502020204030204" pitchFamily="34" charset="0"/>
                <a:cs typeface="Calibri" panose="020F0502020204030204" pitchFamily="34" charset="0"/>
              </a:rPr>
              <a:t>A</a:t>
            </a:r>
            <a:r>
              <a:rPr lang="en-US" sz="2000" dirty="0" err="1">
                <a:solidFill>
                  <a:schemeClr val="accent5">
                    <a:lumMod val="50000"/>
                  </a:schemeClr>
                </a:solidFill>
                <a:latin typeface="Calibri" panose="020F0502020204030204" pitchFamily="34" charset="0"/>
                <a:cs typeface="Calibri" panose="020F0502020204030204" pitchFamily="34" charset="0"/>
              </a:rPr>
              <a:t>l</a:t>
            </a:r>
            <a:r>
              <a:rPr lang="en-US" sz="2000" dirty="0">
                <a:solidFill>
                  <a:schemeClr val="accent5">
                    <a:lumMod val="50000"/>
                  </a:schemeClr>
                </a:solidFill>
                <a:latin typeface="Calibri" panose="020F0502020204030204" pitchFamily="34" charset="0"/>
                <a:cs typeface="Calibri" panose="020F0502020204030204" pitchFamily="34" charset="0"/>
              </a:rPr>
              <a:t> models for the </a:t>
            </a:r>
            <a:r>
              <a:rPr lang="en-US" sz="2000" dirty="0" err="1">
                <a:solidFill>
                  <a:schemeClr val="accent5">
                    <a:lumMod val="50000"/>
                  </a:schemeClr>
                </a:solidFill>
                <a:latin typeface="Calibri" panose="020F0502020204030204" pitchFamily="34" charset="0"/>
                <a:cs typeface="Calibri" panose="020F0502020204030204" pitchFamily="34" charset="0"/>
              </a:rPr>
              <a:t>o</a:t>
            </a:r>
            <a:r>
              <a:rPr lang="en-US" sz="2000" b="1" dirty="0" err="1">
                <a:solidFill>
                  <a:schemeClr val="accent5">
                    <a:lumMod val="50000"/>
                  </a:schemeClr>
                </a:solidFill>
                <a:latin typeface="Calibri" panose="020F0502020204030204" pitchFamily="34" charset="0"/>
                <a:cs typeface="Calibri" panose="020F0502020204030204" pitchFamily="34" charset="0"/>
              </a:rPr>
              <a:t>P</a:t>
            </a:r>
            <a:r>
              <a:rPr lang="en-US" sz="2000" dirty="0" err="1">
                <a:solidFill>
                  <a:schemeClr val="accent5">
                    <a:lumMod val="50000"/>
                  </a:schemeClr>
                </a:solidFill>
                <a:latin typeface="Calibri" panose="020F0502020204030204" pitchFamily="34" charset="0"/>
                <a:cs typeface="Calibri" panose="020F0502020204030204" pitchFamily="34" charset="0"/>
              </a:rPr>
              <a:t>timization</a:t>
            </a:r>
            <a:r>
              <a:rPr lang="en-US" sz="2000" dirty="0">
                <a:solidFill>
                  <a:schemeClr val="accent5">
                    <a:lumMod val="50000"/>
                  </a:schemeClr>
                </a:solidFill>
                <a:latin typeface="Calibri" panose="020F0502020204030204" pitchFamily="34" charset="0"/>
                <a:cs typeface="Calibri" panose="020F0502020204030204" pitchFamily="34" charset="0"/>
              </a:rPr>
              <a:t> and </a:t>
            </a:r>
            <a:r>
              <a:rPr lang="en-US" sz="2000" dirty="0" err="1">
                <a:solidFill>
                  <a:schemeClr val="accent5">
                    <a:lumMod val="50000"/>
                  </a:schemeClr>
                </a:solidFill>
                <a:latin typeface="Calibri" panose="020F0502020204030204" pitchFamily="34" charset="0"/>
                <a:cs typeface="Calibri" panose="020F0502020204030204" pitchFamily="34" charset="0"/>
              </a:rPr>
              <a:t>p</a:t>
            </a:r>
            <a:r>
              <a:rPr lang="en-US" sz="2000" b="1" dirty="0" err="1">
                <a:solidFill>
                  <a:schemeClr val="accent5">
                    <a:lumMod val="50000"/>
                  </a:schemeClr>
                </a:solidFill>
                <a:latin typeface="Calibri" panose="020F0502020204030204" pitchFamily="34" charset="0"/>
                <a:cs typeface="Calibri" panose="020F0502020204030204" pitchFamily="34" charset="0"/>
              </a:rPr>
              <a:t>E</a:t>
            </a:r>
            <a:r>
              <a:rPr lang="en-US" sz="2000" dirty="0" err="1">
                <a:solidFill>
                  <a:schemeClr val="accent5">
                    <a:lumMod val="50000"/>
                  </a:schemeClr>
                </a:solidFill>
                <a:latin typeface="Calibri" panose="020F0502020204030204" pitchFamily="34" charset="0"/>
                <a:cs typeface="Calibri" panose="020F0502020204030204" pitchFamily="34" charset="0"/>
              </a:rPr>
              <a:t>rsonalization</a:t>
            </a:r>
            <a:r>
              <a:rPr lang="en-US" sz="2000" dirty="0">
                <a:solidFill>
                  <a:schemeClr val="accent5">
                    <a:lumMod val="50000"/>
                  </a:schemeClr>
                </a:solidFill>
                <a:latin typeface="Calibri" panose="020F0502020204030204" pitchFamily="34" charset="0"/>
                <a:cs typeface="Calibri" panose="020F0502020204030204" pitchFamily="34" charset="0"/>
              </a:rPr>
              <a:t> of modern technological methods of </a:t>
            </a:r>
            <a:r>
              <a:rPr lang="en-US" sz="2000" b="1" dirty="0">
                <a:solidFill>
                  <a:schemeClr val="accent5">
                    <a:lumMod val="50000"/>
                  </a:schemeClr>
                </a:solidFill>
                <a:latin typeface="Calibri" panose="020F0502020204030204" pitchFamily="34" charset="0"/>
                <a:cs typeface="Calibri" panose="020F0502020204030204" pitchFamily="34" charset="0"/>
              </a:rPr>
              <a:t>S</a:t>
            </a:r>
            <a:r>
              <a:rPr lang="en-US" sz="2000" dirty="0">
                <a:solidFill>
                  <a:schemeClr val="accent5">
                    <a:lumMod val="50000"/>
                  </a:schemeClr>
                </a:solidFill>
                <a:latin typeface="Calibri" panose="020F0502020204030204" pitchFamily="34" charset="0"/>
                <a:cs typeface="Calibri" panose="020F0502020204030204" pitchFamily="34" charset="0"/>
              </a:rPr>
              <a:t>TEM education</a:t>
            </a:r>
            <a:r>
              <a:rPr lang="en-US" sz="2000" b="1" dirty="0">
                <a:solidFill>
                  <a:schemeClr val="accent5">
                    <a:lumMod val="50000"/>
                  </a:schemeClr>
                </a:solidFill>
                <a:latin typeface="Calibri" panose="020F0502020204030204" pitchFamily="34" charset="0"/>
                <a:cs typeface="Calibri" panose="020F0502020204030204" pitchFamily="34" charset="0"/>
              </a:rPr>
              <a:t>” </a:t>
            </a:r>
            <a:r>
              <a:rPr lang="en-US" sz="2000" dirty="0">
                <a:solidFill>
                  <a:schemeClr val="accent5">
                    <a:lumMod val="50000"/>
                  </a:schemeClr>
                </a:solidFill>
                <a:latin typeface="Calibri" panose="020F0502020204030204" pitchFamily="34" charset="0"/>
                <a:cs typeface="Calibri" panose="020F0502020204030204" pitchFamily="34" charset="0"/>
              </a:rPr>
              <a:t>(</a:t>
            </a:r>
            <a:r>
              <a:rPr lang="en-US" sz="2000" b="1" dirty="0">
                <a:solidFill>
                  <a:schemeClr val="accent5">
                    <a:lumMod val="50000"/>
                  </a:schemeClr>
                </a:solidFill>
                <a:latin typeface="Calibri" panose="020F0502020204030204" pitchFamily="34" charset="0"/>
                <a:cs typeface="Calibri" panose="020F0502020204030204" pitchFamily="34" charset="0"/>
              </a:rPr>
              <a:t>SHAPES</a:t>
            </a:r>
            <a:r>
              <a:rPr lang="en-US" sz="2000" dirty="0">
                <a:solidFill>
                  <a:schemeClr val="accent5">
                    <a:lumMod val="50000"/>
                  </a:schemeClr>
                </a:solidFill>
                <a:latin typeface="Calibri" panose="020F0502020204030204" pitchFamily="34" charset="0"/>
                <a:cs typeface="Calibri" panose="020F0502020204030204" pitchFamily="34" charset="0"/>
              </a:rPr>
              <a:t>)”</a:t>
            </a:r>
            <a:r>
              <a:rPr lang="en-US" sz="2000" b="1" dirty="0">
                <a:solidFill>
                  <a:schemeClr val="accent5">
                    <a:lumMod val="50000"/>
                  </a:schemeClr>
                </a:solidFill>
                <a:latin typeface="Calibri" panose="020F0502020204030204" pitchFamily="34" charset="0"/>
                <a:cs typeface="Calibri" panose="020F0502020204030204" pitchFamily="34" charset="0"/>
              </a:rPr>
              <a:t> </a:t>
            </a:r>
            <a:r>
              <a:rPr lang="en-US" sz="2000" dirty="0">
                <a:solidFill>
                  <a:schemeClr val="accent5">
                    <a:lumMod val="50000"/>
                  </a:schemeClr>
                </a:solidFill>
                <a:latin typeface="Calibri" panose="020F0502020204030204" pitchFamily="34" charset="0"/>
                <a:cs typeface="Calibri" panose="020F0502020204030204" pitchFamily="34" charset="0"/>
              </a:rPr>
              <a:t>contract No. КП-06-Н75/11 from 08.12.2023</a:t>
            </a:r>
            <a:endParaRPr lang="en-US" sz="2000" dirty="0">
              <a:solidFill>
                <a:srgbClr val="4472C4">
                  <a:lumMod val="75000"/>
                </a:srgb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9895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BA68E-4623-5251-5271-6D988A824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930E0-0C57-3F4D-7E96-06CA70F23C87}"/>
              </a:ext>
            </a:extLst>
          </p:cNvPr>
          <p:cNvSpPr>
            <a:spLocks noGrp="1"/>
          </p:cNvSpPr>
          <p:nvPr>
            <p:ph type="title"/>
          </p:nvPr>
        </p:nvSpPr>
        <p:spPr>
          <a:xfrm>
            <a:off x="1143001" y="1162940"/>
            <a:ext cx="9905998" cy="1478570"/>
          </a:xfrm>
        </p:spPr>
        <p:txBody>
          <a:bodyPr>
            <a:normAutofit/>
          </a:bodyPr>
          <a:lstStyle/>
          <a:p>
            <a:pPr algn="ctr"/>
            <a:r>
              <a:rPr lang="en-US" sz="4400" dirty="0">
                <a:solidFill>
                  <a:schemeClr val="accent5">
                    <a:lumMod val="50000"/>
                  </a:schemeClr>
                </a:solidFill>
              </a:rPr>
              <a:t>Questions?</a:t>
            </a:r>
            <a:endParaRPr lang="bg-BG" sz="4400" dirty="0">
              <a:solidFill>
                <a:schemeClr val="accent5">
                  <a:lumMod val="50000"/>
                </a:schemeClr>
              </a:solidFill>
            </a:endParaRPr>
          </a:p>
        </p:txBody>
      </p:sp>
      <p:sp>
        <p:nvSpPr>
          <p:cNvPr id="6" name="TextBox 5">
            <a:extLst>
              <a:ext uri="{FF2B5EF4-FFF2-40B4-BE49-F238E27FC236}">
                <a16:creationId xmlns:a16="http://schemas.microsoft.com/office/drawing/2014/main" id="{87E22D59-CD6E-4487-21CE-3190FADB99AC}"/>
              </a:ext>
            </a:extLst>
          </p:cNvPr>
          <p:cNvSpPr txBox="1"/>
          <p:nvPr/>
        </p:nvSpPr>
        <p:spPr>
          <a:xfrm>
            <a:off x="1143001" y="3060971"/>
            <a:ext cx="5336275" cy="3108543"/>
          </a:xfrm>
          <a:prstGeom prst="rect">
            <a:avLst/>
          </a:prstGeom>
          <a:noFill/>
        </p:spPr>
        <p:txBody>
          <a:bodyPr wrap="square">
            <a:spAutoFit/>
          </a:bodyPr>
          <a:lstStyle/>
          <a:p>
            <a:r>
              <a:rPr lang="en-US" sz="2800" dirty="0">
                <a:solidFill>
                  <a:schemeClr val="accent5">
                    <a:lumMod val="50000"/>
                  </a:schemeClr>
                </a:solidFill>
              </a:rPr>
              <a:t>Contacts:</a:t>
            </a:r>
          </a:p>
          <a:p>
            <a:pPr marL="514350" indent="-514350">
              <a:buFont typeface="Wingdings" panose="05000000000000000000" pitchFamily="2" charset="2"/>
              <a:buChar char="§"/>
            </a:pPr>
            <a:r>
              <a:rPr lang="en-US" sz="2800" dirty="0">
                <a:solidFill>
                  <a:schemeClr val="accent5">
                    <a:lumMod val="50000"/>
                  </a:schemeClr>
                </a:solidFill>
              </a:rPr>
              <a:t>valentina.terzieva@iict.bas.bg </a:t>
            </a:r>
          </a:p>
          <a:p>
            <a:pPr marL="514350" indent="-514350">
              <a:buFont typeface="Wingdings" panose="05000000000000000000" pitchFamily="2" charset="2"/>
              <a:buChar char="§"/>
            </a:pPr>
            <a:r>
              <a:rPr lang="en-US" sz="2800" dirty="0">
                <a:solidFill>
                  <a:schemeClr val="accent5">
                    <a:lumMod val="50000"/>
                  </a:schemeClr>
                </a:solidFill>
              </a:rPr>
              <a:t>elena.paunova@iict.bas.bg</a:t>
            </a:r>
          </a:p>
          <a:p>
            <a:pPr marL="514350" indent="-514350">
              <a:buFont typeface="Wingdings" panose="05000000000000000000" pitchFamily="2" charset="2"/>
              <a:buChar char="§"/>
            </a:pPr>
            <a:r>
              <a:rPr lang="en-US" sz="2800" dirty="0">
                <a:solidFill>
                  <a:schemeClr val="accent5">
                    <a:lumMod val="50000"/>
                  </a:schemeClr>
                </a:solidFill>
              </a:rPr>
              <a:t>bbontchev@fmi.uni-sofia.bg</a:t>
            </a:r>
          </a:p>
          <a:p>
            <a:endParaRPr lang="en-US" sz="2800" dirty="0">
              <a:solidFill>
                <a:schemeClr val="accent5">
                  <a:lumMod val="50000"/>
                </a:schemeClr>
              </a:solidFill>
            </a:endParaRPr>
          </a:p>
          <a:p>
            <a:r>
              <a:rPr lang="en-US" sz="2800" dirty="0">
                <a:solidFill>
                  <a:schemeClr val="accent5">
                    <a:lumMod val="50000"/>
                  </a:schemeClr>
                </a:solidFill>
              </a:rPr>
              <a:t>http://</a:t>
            </a:r>
            <a:r>
              <a:rPr lang="en-US" sz="2800" dirty="0">
                <a:solidFill>
                  <a:srgbClr val="FF0000"/>
                </a:solidFill>
              </a:rPr>
              <a:t>shapesproject.eu</a:t>
            </a:r>
            <a:r>
              <a:rPr lang="en-US" sz="2800" dirty="0">
                <a:solidFill>
                  <a:schemeClr val="accent5">
                    <a:lumMod val="50000"/>
                  </a:schemeClr>
                </a:solidFill>
              </a:rPr>
              <a:t>/</a:t>
            </a:r>
          </a:p>
          <a:p>
            <a:r>
              <a:rPr lang="en-US" sz="2800" dirty="0">
                <a:solidFill>
                  <a:schemeClr val="accent5">
                    <a:lumMod val="50000"/>
                  </a:schemeClr>
                </a:solidFill>
              </a:rPr>
              <a:t>http://</a:t>
            </a:r>
            <a:r>
              <a:rPr lang="en-US" sz="2800" dirty="0">
                <a:solidFill>
                  <a:srgbClr val="FF0000"/>
                </a:solidFill>
              </a:rPr>
              <a:t>motivateonline.eu</a:t>
            </a:r>
            <a:r>
              <a:rPr lang="en-US" sz="2800" dirty="0">
                <a:solidFill>
                  <a:schemeClr val="accent5">
                    <a:lumMod val="50000"/>
                  </a:schemeClr>
                </a:solidFill>
              </a:rPr>
              <a:t>/</a:t>
            </a:r>
          </a:p>
        </p:txBody>
      </p:sp>
      <p:sp>
        <p:nvSpPr>
          <p:cNvPr id="7" name="Slide Number Placeholder 5">
            <a:extLst>
              <a:ext uri="{FF2B5EF4-FFF2-40B4-BE49-F238E27FC236}">
                <a16:creationId xmlns:a16="http://schemas.microsoft.com/office/drawing/2014/main" id="{AF234B92-0334-9F49-F832-4B485B40F689}"/>
              </a:ext>
            </a:extLst>
          </p:cNvPr>
          <p:cNvSpPr>
            <a:spLocks noGrp="1"/>
          </p:cNvSpPr>
          <p:nvPr>
            <p:ph type="sldNum" sz="quarter" idx="12"/>
          </p:nvPr>
        </p:nvSpPr>
        <p:spPr>
          <a:xfrm>
            <a:off x="11420911" y="6492873"/>
            <a:ext cx="771089" cy="365125"/>
          </a:xfrm>
        </p:spPr>
        <p:txBody>
          <a:bodyPr/>
          <a:lstStyle/>
          <a:p>
            <a:fld id="{9D4EE202-9885-4834-AE6C-1D62DA0C72C8}" type="slidenum">
              <a:rPr lang="bg-BG" sz="1400" smtClean="0"/>
              <a:t>24</a:t>
            </a:fld>
            <a:endParaRPr lang="bg-BG" sz="1400"/>
          </a:p>
        </p:txBody>
      </p:sp>
      <p:pic>
        <p:nvPicPr>
          <p:cNvPr id="4" name="Picture 3">
            <a:extLst>
              <a:ext uri="{FF2B5EF4-FFF2-40B4-BE49-F238E27FC236}">
                <a16:creationId xmlns:a16="http://schemas.microsoft.com/office/drawing/2014/main" id="{9113BB15-D5D7-1579-F699-F35460D0F813}"/>
              </a:ext>
            </a:extLst>
          </p:cNvPr>
          <p:cNvPicPr>
            <a:picLocks noChangeAspect="1"/>
          </p:cNvPicPr>
          <p:nvPr/>
        </p:nvPicPr>
        <p:blipFill>
          <a:blip r:embed="rId2">
            <a:duotone>
              <a:prstClr val="black"/>
              <a:schemeClr val="accent5">
                <a:tint val="45000"/>
                <a:satMod val="400000"/>
              </a:schemeClr>
            </a:duotone>
          </a:blip>
          <a:stretch>
            <a:fillRect/>
          </a:stretch>
        </p:blipFill>
        <p:spPr>
          <a:xfrm>
            <a:off x="7107145" y="2470810"/>
            <a:ext cx="4669941" cy="2219136"/>
          </a:xfrm>
          <a:prstGeom prst="rect">
            <a:avLst/>
          </a:prstGeom>
        </p:spPr>
      </p:pic>
      <p:pic>
        <p:nvPicPr>
          <p:cNvPr id="9" name="Picture 8">
            <a:extLst>
              <a:ext uri="{FF2B5EF4-FFF2-40B4-BE49-F238E27FC236}">
                <a16:creationId xmlns:a16="http://schemas.microsoft.com/office/drawing/2014/main" id="{3CD1F40C-2B42-6B98-DC1B-634756BC4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364" y="251446"/>
            <a:ext cx="2757543" cy="822960"/>
          </a:xfrm>
          <a:prstGeom prst="rect">
            <a:avLst/>
          </a:prstGeom>
        </p:spPr>
      </p:pic>
    </p:spTree>
    <p:extLst>
      <p:ext uri="{BB962C8B-B14F-4D97-AF65-F5344CB8AC3E}">
        <p14:creationId xmlns:p14="http://schemas.microsoft.com/office/powerpoint/2010/main" val="5021818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TM04033919[[fn=Circuit]]</Template>
  <TotalTime>4175</TotalTime>
  <Words>1440</Words>
  <Application>Microsoft Office PowerPoint</Application>
  <PresentationFormat>Widescreen</PresentationFormat>
  <Paragraphs>174</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 Narrow</vt:lpstr>
      <vt:lpstr>Arial</vt:lpstr>
      <vt:lpstr>Arial Narrow</vt:lpstr>
      <vt:lpstr>Calibri</vt:lpstr>
      <vt:lpstr>Times New Roman</vt:lpstr>
      <vt:lpstr>Trebuchet MS</vt:lpstr>
      <vt:lpstr>Tw Cen MT</vt:lpstr>
      <vt:lpstr>Wingdings</vt:lpstr>
      <vt:lpstr>Circuit</vt:lpstr>
      <vt:lpstr>Personalization of Learning Resources  FOR STEM Education</vt:lpstr>
      <vt:lpstr>Agenda</vt:lpstr>
      <vt:lpstr>Introduction to STEM</vt:lpstr>
      <vt:lpstr>Publications About STEM education (2010 – 2024)</vt:lpstr>
      <vt:lpstr>STEM in SCOPUS and WoS  by countries</vt:lpstr>
      <vt:lpstr>STEM in SCOPUS and WoS  by Type of Publication</vt:lpstr>
      <vt:lpstr>STEM in SCOPUS and WoS  by areas</vt:lpstr>
      <vt:lpstr>STEM teaching methods</vt:lpstr>
      <vt:lpstr>Personalized education</vt:lpstr>
      <vt:lpstr>Personalization vs Differentiation vs Individualization</vt:lpstr>
      <vt:lpstr>Personalization approaches</vt:lpstr>
      <vt:lpstr>Personalized learning: when?</vt:lpstr>
      <vt:lpstr>Personalization Approaches for STEM Education </vt:lpstr>
      <vt:lpstr>Personalization of Learning Resources for STEM  1/6</vt:lpstr>
      <vt:lpstr>Personalization of Learning Resources for STEM  2/6</vt:lpstr>
      <vt:lpstr>Personalization of Learning Resources for STEM 3/6</vt:lpstr>
      <vt:lpstr>Personalization of Learning Resources for STEM 4/6</vt:lpstr>
      <vt:lpstr>Personalization of Learning Resources for STEM 5/6</vt:lpstr>
      <vt:lpstr>Personalization of Learning Resources for STEM 6/6</vt:lpstr>
      <vt:lpstr>Approaches for player-centric  Personalization in games for STEM</vt:lpstr>
      <vt:lpstr>Example: Universal and Personalized Versions of an educational video Game</vt:lpstr>
      <vt:lpstr>CONCLUSIONS</vt:lpstr>
      <vt:lpstr>Thank you for your attention!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user</dc:creator>
  <cp:lastModifiedBy>user</cp:lastModifiedBy>
  <cp:revision>164</cp:revision>
  <dcterms:created xsi:type="dcterms:W3CDTF">2024-04-22T09:28:28Z</dcterms:created>
  <dcterms:modified xsi:type="dcterms:W3CDTF">2025-06-20T16:28:35Z</dcterms:modified>
</cp:coreProperties>
</file>