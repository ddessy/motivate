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1"/>
  </p:sldMasterIdLst>
  <p:notesMasterIdLst>
    <p:notesMasterId r:id="rId24"/>
  </p:notesMasterIdLst>
  <p:sldIdLst>
    <p:sldId id="256" r:id="rId2"/>
    <p:sldId id="295" r:id="rId3"/>
    <p:sldId id="279" r:id="rId4"/>
    <p:sldId id="280" r:id="rId5"/>
    <p:sldId id="282" r:id="rId6"/>
    <p:sldId id="283" r:id="rId7"/>
    <p:sldId id="257" r:id="rId8"/>
    <p:sldId id="258" r:id="rId9"/>
    <p:sldId id="284" r:id="rId10"/>
    <p:sldId id="288" r:id="rId11"/>
    <p:sldId id="287" r:id="rId12"/>
    <p:sldId id="285" r:id="rId13"/>
    <p:sldId id="289" r:id="rId14"/>
    <p:sldId id="290" r:id="rId15"/>
    <p:sldId id="291" r:id="rId16"/>
    <p:sldId id="286" r:id="rId17"/>
    <p:sldId id="292" r:id="rId18"/>
    <p:sldId id="293" r:id="rId19"/>
    <p:sldId id="294" r:id="rId20"/>
    <p:sldId id="267" r:id="rId21"/>
    <p:sldId id="269" r:id="rId22"/>
    <p:sldId id="278" r:id="rId23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65546-1E8A-4DA5-B658-F4168A002195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25E3A-F460-4449-A5A6-F9A14535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45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79636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31248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437F2-E937-47E0-8305-524F0DBD4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FAAAE8-C6F8-4481-B29E-0D865A1A9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13CD1-01E5-4B55-BF64-5523D10C3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36F8C-70B3-4A07-A901-D798C0E4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C7D78-B07B-4565-806C-7100CC637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B4330-61FC-40F5-9B19-9AD93615D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62" y="215153"/>
            <a:ext cx="8215672" cy="701902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4B155-CE5C-4AF6-A9CD-938D75250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862" y="1098817"/>
            <a:ext cx="8215672" cy="5078146"/>
          </a:xfrm>
        </p:spPr>
        <p:txBody>
          <a:bodyPr>
            <a:normAutofit/>
          </a:bodyPr>
          <a:lstStyle>
            <a:lvl1pPr>
              <a:defRPr sz="2800"/>
            </a:lvl1pPr>
            <a:lvl2pPr marL="514350" indent="-171450">
              <a:buFont typeface="Wingdings" panose="05000000000000000000" pitchFamily="2" charset="2"/>
              <a:buChar char="v"/>
              <a:defRPr sz="2400"/>
            </a:lvl2pPr>
            <a:lvl3pPr marL="857250" indent="-171450">
              <a:buFont typeface="Wingdings" panose="05000000000000000000" pitchFamily="2" charset="2"/>
              <a:buChar char="ü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4FAB4-BFE2-43D1-9B65-04418F0B1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CDE92-CB34-4602-96A0-F33315E1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428F3-0D09-4325-85BE-50EEAE9EF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332584" cy="365125"/>
          </a:xfrm>
        </p:spPr>
        <p:txBody>
          <a:bodyPr/>
          <a:lstStyle>
            <a:lvl1pPr>
              <a:defRPr sz="11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2B5311-CBDE-459F-9703-4DB46F2BF612}"/>
              </a:ext>
            </a:extLst>
          </p:cNvPr>
          <p:cNvSpPr/>
          <p:nvPr userDrawn="1"/>
        </p:nvSpPr>
        <p:spPr>
          <a:xfrm>
            <a:off x="574862" y="829876"/>
            <a:ext cx="821567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10312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5E732-E4AA-4C57-A92B-82B88C642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8B0D3-1763-4F71-9305-63E31A6FA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783CD-AA36-4994-88E2-B6688BF9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520BE-1D18-4403-A722-08B6EB931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BD020-9805-4D77-A1FD-465B0487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99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FE037-D3AA-467A-8B99-5EA8349B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D234D-52E5-41A8-8275-C13585B4C7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D3EA0-5246-4ECB-B570-6293D7F98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26615-24B2-4329-95FC-BD597C6C2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CD7F4-FD6F-4AAF-A8B8-BAE10CA1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5A9D7-7339-4427-856B-B2CD6226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40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12008-9F1E-422E-92B4-C6D34FA38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8F648-F8F3-4B27-AC30-D653935C0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2DACA-41B9-4BF0-87FD-CE7B039D5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D74706-09EC-43BE-8028-F07C51F39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F5FA0C-0821-43D8-B323-B1F957C1E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18098A-193B-4EBA-A06F-9B9EFCC70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366D21-F638-4752-9A31-A6432DE4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08A7A-0671-472F-AE01-AB2C49F0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1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9E54D-ECDB-46B6-B377-F5548C86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E04D0E-028C-466E-AD92-0C1EEC6C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CCA2EE-715B-46A2-AAF0-388DCBBED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7D929-DB3D-44B2-B39E-2EA9B990D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48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46655A-9F53-4FA1-ACFB-5EC88E54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CE805A-0F03-496B-A531-22CDD17FF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12544-BA22-4207-873F-661F0D4AB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19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FF01-05AA-4580-B377-6E9281F19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63E27-6FF2-417A-B68E-90E0BE058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FFF99-FF5C-4644-8C5D-A5938711D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AA2F5-20C3-42AC-86E1-7F100885D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B571B-F278-4617-A15C-33F190077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1C7C1-EDA2-49A6-B4E4-803D036F5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41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D2B24-CD8B-4739-BB32-C2094D33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214FBC-641F-40A9-826D-9A1B35EA7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2D887-0DA9-4BE9-AAE8-A1DA3F79F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7E04F-915C-4668-8C9D-03F4BD7D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6111D-A4DF-4D6C-977F-EE47C7767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56854-65FE-476B-8263-FB8B3E261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50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7FF1-AC54-4050-B2FC-4E4C9EC6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9A02A-AF84-4C16-A81B-38373FEE2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95CE3-10E2-4661-8F7A-D67CCBD78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219CF-237A-4F62-9A76-382FB35DC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2DEBC-7D2C-4ECC-8D74-7BE493E3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75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A1B54B-9D53-4CDE-8C96-DF49B0861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EEE94-4866-4193-A3EF-D1EC41698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9436-BFC9-4382-8FF6-C4AF64EAB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3F3CF-06F0-4362-AFF7-B6CF3082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C62BF-2D25-46CA-B4B0-5C8DFA00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0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432C53-B62A-4124-BDBE-C7A7DB516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FAD97-B005-4FB1-923A-E4F289764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86848-489B-4BD7-B122-1B17B3ED2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59E87-ECA4-47DC-BB3D-1449028F5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4438F-8FF4-4BE9-BBEF-D34B90E4D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1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265D0F6-FDB0-47BA-AF43-D7018E6CB555}"/>
              </a:ext>
            </a:extLst>
          </p:cNvPr>
          <p:cNvSpPr/>
          <p:nvPr/>
        </p:nvSpPr>
        <p:spPr>
          <a:xfrm>
            <a:off x="-65315" y="6294663"/>
            <a:ext cx="9307285" cy="64021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65315" y="1882499"/>
            <a:ext cx="9146109" cy="1374725"/>
          </a:xfrm>
        </p:spPr>
        <p:txBody>
          <a:bodyPr anchor="b">
            <a:no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Platforms and Tools for Educational Video Games – А Literature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36764" y="3330700"/>
            <a:ext cx="9307285" cy="3600777"/>
          </a:xfrm>
        </p:spPr>
        <p:txBody>
          <a:bodyPr anchor="t">
            <a:normAutofit fontScale="25000" lnSpcReduction="20000"/>
          </a:bodyPr>
          <a:lstStyle/>
          <a:p>
            <a:pPr algn="ctr">
              <a:lnSpc>
                <a:spcPct val="120000"/>
              </a:lnSpc>
            </a:pPr>
            <a:r>
              <a:rPr lang="bg-BG" sz="8000" b="1" dirty="0">
                <a:solidFill>
                  <a:schemeClr val="accent1">
                    <a:lumMod val="75000"/>
                  </a:schemeClr>
                </a:solidFill>
              </a:rPr>
              <a:t>• </a:t>
            </a:r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Yavor</a:t>
            </a:r>
            <a: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Dankov</a:t>
            </a:r>
            <a:r>
              <a:rPr lang="bg-BG" sz="8000" b="1" dirty="0">
                <a:solidFill>
                  <a:schemeClr val="accent1">
                    <a:lumMod val="75000"/>
                  </a:schemeClr>
                </a:solidFill>
              </a:rPr>
              <a:t>, • </a:t>
            </a:r>
            <a:r>
              <a:rPr lang="en-US" sz="8000" b="1" u="sng" dirty="0">
                <a:solidFill>
                  <a:schemeClr val="accent1">
                    <a:lumMod val="75000"/>
                  </a:schemeClr>
                </a:solidFill>
              </a:rPr>
              <a:t>Boyan Bontchev</a:t>
            </a:r>
            <a: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b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bg-BG" sz="8000" b="1" dirty="0">
                <a:solidFill>
                  <a:schemeClr val="accent1">
                    <a:lumMod val="75000"/>
                  </a:schemeClr>
                </a:solidFill>
              </a:rPr>
              <a:t>• </a:t>
            </a:r>
            <a: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  <a:t>Valentina </a:t>
            </a:r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Terzieva</a:t>
            </a:r>
            <a: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bg-BG" sz="8000" b="1" dirty="0">
                <a:solidFill>
                  <a:schemeClr val="accent1">
                    <a:lumMod val="75000"/>
                  </a:schemeClr>
                </a:solidFill>
              </a:rPr>
              <a:t>• </a:t>
            </a:r>
            <a: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  <a:t>Aleksandar </a:t>
            </a:r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Dimov</a:t>
            </a:r>
            <a:endParaRPr lang="en-US" sz="8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64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en-US" sz="8000" dirty="0">
                <a:solidFill>
                  <a:schemeClr val="accent5">
                    <a:lumMod val="50000"/>
                  </a:schemeClr>
                </a:solidFill>
              </a:rPr>
              <a:t>Faculty of Mathematics and Informatics, </a:t>
            </a:r>
          </a:p>
          <a:p>
            <a:pPr algn="ctr"/>
            <a:r>
              <a:rPr lang="en-US" sz="8000" dirty="0">
                <a:solidFill>
                  <a:schemeClr val="accent5">
                    <a:lumMod val="50000"/>
                  </a:schemeClr>
                </a:solidFill>
              </a:rPr>
              <a:t>Sofia University “St. </a:t>
            </a:r>
            <a:r>
              <a:rPr lang="en-US" sz="8000" dirty="0" err="1">
                <a:solidFill>
                  <a:schemeClr val="accent5">
                    <a:lumMod val="50000"/>
                  </a:schemeClr>
                </a:solidFill>
              </a:rPr>
              <a:t>Kliment</a:t>
            </a:r>
            <a:r>
              <a:rPr lang="en-US" sz="8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8000" dirty="0" err="1">
                <a:solidFill>
                  <a:schemeClr val="accent5">
                    <a:lumMod val="50000"/>
                  </a:schemeClr>
                </a:solidFill>
              </a:rPr>
              <a:t>Ohridski</a:t>
            </a:r>
            <a:r>
              <a:rPr lang="en-US" sz="8000" dirty="0">
                <a:solidFill>
                  <a:schemeClr val="accent5">
                    <a:lumMod val="50000"/>
                  </a:schemeClr>
                </a:solidFill>
              </a:rPr>
              <a:t>”, Bulgaria</a:t>
            </a:r>
          </a:p>
          <a:p>
            <a:pPr algn="ctr">
              <a:lnSpc>
                <a:spcPct val="120000"/>
              </a:lnSpc>
              <a:spcBef>
                <a:spcPts val="1800"/>
              </a:spcBef>
            </a:pPr>
            <a:br>
              <a:rPr lang="en-US" sz="3400" i="1" dirty="0"/>
            </a:br>
            <a:r>
              <a:rPr lang="en-US" sz="7200" i="1" dirty="0"/>
              <a:t>28</a:t>
            </a:r>
            <a:r>
              <a:rPr lang="en-US" sz="7200" i="1" baseline="30000" dirty="0"/>
              <a:t>th</a:t>
            </a:r>
            <a:r>
              <a:rPr lang="en-US" sz="7200" i="1" dirty="0"/>
              <a:t> Int. Conf. on Interactive Collaborative Learning </a:t>
            </a:r>
            <a:br>
              <a:rPr lang="en-US" sz="7200" i="1" dirty="0"/>
            </a:br>
            <a:r>
              <a:rPr lang="en-US" sz="7200" i="1" dirty="0"/>
              <a:t>(ICL’2025)</a:t>
            </a:r>
            <a:br>
              <a:rPr lang="en-US" sz="7200" i="1" dirty="0"/>
            </a:br>
            <a:r>
              <a:rPr lang="en-US" sz="7200" i="1" dirty="0"/>
              <a:t>Innovation via Collaborative Learning in Engineering Education</a:t>
            </a:r>
            <a:endParaRPr lang="en-US" sz="3600" i="1" dirty="0"/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br>
              <a:rPr lang="en-US" sz="3600" i="1" dirty="0">
                <a:solidFill>
                  <a:schemeClr val="accent4">
                    <a:lumMod val="20000"/>
                    <a:lumOff val="80000"/>
                  </a:schemeClr>
                </a:solidFill>
              </a:rPr>
            </a:br>
            <a:r>
              <a:rPr lang="en-US" sz="5600" i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01–03 October 2025, </a:t>
            </a:r>
            <a:br>
              <a:rPr lang="en-US" sz="5600" i="1" dirty="0">
                <a:solidFill>
                  <a:schemeClr val="accent4">
                    <a:lumMod val="20000"/>
                    <a:lumOff val="80000"/>
                  </a:schemeClr>
                </a:solidFill>
              </a:rPr>
            </a:br>
            <a:r>
              <a:rPr lang="en-US" sz="5600" i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Budapest University of Technology and Economics, Budapest, Hungary</a:t>
            </a:r>
            <a:endParaRPr lang="en-US" sz="4400" i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7" name="Обект 11">
            <a:extLst>
              <a:ext uri="{FF2B5EF4-FFF2-40B4-BE49-F238E27FC236}">
                <a16:creationId xmlns:a16="http://schemas.microsoft.com/office/drawing/2014/main" id="{BBA67734-F66C-43A7-A610-E8068D0FB8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062430"/>
              </p:ext>
            </p:extLst>
          </p:nvPr>
        </p:nvGraphicFramePr>
        <p:xfrm>
          <a:off x="391885" y="4911334"/>
          <a:ext cx="928511" cy="1139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Picture" r:id="rId3" imgW="1991868" imgH="2458212" progId="Word.Picture.8">
                  <p:embed/>
                </p:oleObj>
              </mc:Choice>
              <mc:Fallback>
                <p:oleObj name="Picture" r:id="rId3" imgW="1991868" imgH="2458212" progId="Word.Picture.8">
                  <p:embed/>
                  <p:pic>
                    <p:nvPicPr>
                      <p:cNvPr id="12" name="Обект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885" y="4911334"/>
                        <a:ext cx="928511" cy="11395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72" descr="Начало">
            <a:extLst>
              <a:ext uri="{FF2B5EF4-FFF2-40B4-BE49-F238E27FC236}">
                <a16:creationId xmlns:a16="http://schemas.microsoft.com/office/drawing/2014/main" id="{896DAD97-9266-494F-8F9E-2F7A7667A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568" y="4999516"/>
            <a:ext cx="1511185" cy="96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07EC4F4-F9EA-4B36-9585-F384B817FD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110" y="-45938"/>
            <a:ext cx="9146109" cy="2007081"/>
          </a:xfrm>
          <a:prstGeom prst="rect">
            <a:avLst/>
          </a:prstGeom>
        </p:spPr>
      </p:pic>
      <p:pic>
        <p:nvPicPr>
          <p:cNvPr id="1049" name="Picture 25">
            <a:extLst>
              <a:ext uri="{FF2B5EF4-FFF2-40B4-BE49-F238E27FC236}">
                <a16:creationId xmlns:a16="http://schemas.microsoft.com/office/drawing/2014/main" id="{214C7B35-B108-416B-9211-685FB1131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91" y="-4532"/>
            <a:ext cx="2375809" cy="78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F6FAF-EA2D-4EBA-A83D-57BBE060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8E999-1D6F-497D-B8F6-2BD39EA61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serious video games for learning</a:t>
            </a:r>
          </a:p>
          <a:p>
            <a:r>
              <a:rPr lang="en-US" sz="2800" dirty="0"/>
              <a:t>Software tools for creation of educational video games</a:t>
            </a:r>
          </a:p>
          <a:p>
            <a:r>
              <a:rPr lang="en-US" dirty="0"/>
              <a:t>Research questions</a:t>
            </a:r>
            <a:endParaRPr lang="bg-BG" dirty="0"/>
          </a:p>
          <a:p>
            <a:r>
              <a:rPr lang="en-US" dirty="0"/>
              <a:t>Methodology</a:t>
            </a:r>
          </a:p>
          <a:p>
            <a:r>
              <a:rPr lang="en-US" dirty="0"/>
              <a:t>Findings</a:t>
            </a:r>
          </a:p>
          <a:p>
            <a:r>
              <a:rPr lang="en-US" dirty="0"/>
              <a:t>Discussion</a:t>
            </a:r>
          </a:p>
          <a:p>
            <a:r>
              <a:rPr lang="en-US" dirty="0"/>
              <a:t>Conclusion remarks</a:t>
            </a:r>
          </a:p>
          <a:p>
            <a:pPr marL="0" indent="0">
              <a:buNone/>
            </a:pPr>
            <a:endParaRPr lang="en-US" dirty="0"/>
          </a:p>
          <a:p>
            <a:endParaRPr lang="bg-B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35140-726E-4C51-B15D-653D2BFB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FA23E-63E2-4639-AEC4-E3467AE2E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0D090-6E73-4AB1-AB1C-32A8E4F8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43EA1E-D959-41DF-9D07-D13124F6B5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8" y="4967234"/>
            <a:ext cx="1266847" cy="12097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4EBAD9-E3C6-42E3-A923-E62CB260F2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53"/>
          <a:stretch>
            <a:fillRect/>
          </a:stretch>
        </p:blipFill>
        <p:spPr>
          <a:xfrm>
            <a:off x="7523687" y="4933210"/>
            <a:ext cx="1266847" cy="119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5" y="136523"/>
            <a:ext cx="7878535" cy="802369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515" y="849086"/>
            <a:ext cx="8392885" cy="5507265"/>
          </a:xfrm>
        </p:spPr>
        <p:txBody>
          <a:bodyPr anchor="t">
            <a:normAutofit/>
          </a:bodyPr>
          <a:lstStyle/>
          <a:p>
            <a:r>
              <a:rPr lang="en-US" sz="2400" dirty="0"/>
              <a:t>Traditional teaching suffers from low learner motivation, few practical and interdisciplinary examples, and limited interactivity. </a:t>
            </a:r>
          </a:p>
          <a:p>
            <a:r>
              <a:rPr lang="en-US" sz="2400" dirty="0"/>
              <a:t>Generation Z/Alpha expect experiential learning to improve their critical thinking and decision-making skills </a:t>
            </a:r>
          </a:p>
          <a:p>
            <a:r>
              <a:rPr lang="en-US" sz="2400" dirty="0"/>
              <a:t>Serious video games for learning and education add interactivity, immediate feedback, safe failure, and personalization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E9357-4D5D-44F2-AFA8-A1221357A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54B7C-F41E-47CB-9FA8-4CD1C3AA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45DB1-E218-4F80-8999-C46DE222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04AFE3-5E00-46C3-A3E0-DED1D1CAB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107284"/>
            <a:ext cx="8161884" cy="320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6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F388-D85A-47A9-A5FA-5BA04BE5F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Serious Video Games for Learning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F08FD-2667-4926-BFE8-EF7390C1A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“A serious game or applied game is a game designed for a primary purpose other than pure entertainment” (</a:t>
            </a:r>
            <a:r>
              <a:rPr lang="en-US" sz="2400" dirty="0" err="1"/>
              <a:t>Abt</a:t>
            </a:r>
            <a:r>
              <a:rPr lang="en-US" sz="2400" dirty="0"/>
              <a:t>, 1970) </a:t>
            </a:r>
          </a:p>
          <a:p>
            <a:r>
              <a:rPr lang="en-US" sz="2400" dirty="0"/>
              <a:t>Serious video games for learning offer several benefits, such as:</a:t>
            </a:r>
          </a:p>
          <a:p>
            <a:pPr lvl="1"/>
            <a:r>
              <a:rPr lang="en-US" sz="2000" dirty="0"/>
              <a:t> increased involvement and engagement among learners, </a:t>
            </a:r>
          </a:p>
          <a:p>
            <a:pPr lvl="1"/>
            <a:r>
              <a:rPr lang="en-US" sz="2000" dirty="0"/>
              <a:t> higher possibilities for applying real-world educational scenarios and didactic simulations, and </a:t>
            </a:r>
          </a:p>
          <a:p>
            <a:pPr lvl="1"/>
            <a:r>
              <a:rPr lang="en-US" sz="2000" dirty="0"/>
              <a:t>personalized learning experiences </a:t>
            </a:r>
          </a:p>
          <a:p>
            <a:r>
              <a:rPr lang="en-US" sz="2400" dirty="0"/>
              <a:t>Google Trends:</a:t>
            </a:r>
            <a:endParaRPr lang="bg-BG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A7674-5F3A-416B-87D0-BE28E49A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8BCB7-6A4B-46E6-B556-C97D44A90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C69EC-B5D2-4E3F-9192-45002702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0832D0-E7DD-48D3-9620-D4B948481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8377"/>
            <a:ext cx="9144000" cy="232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99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91806-85F8-49E3-B5A7-ED4F46E8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kern="0" dirty="0" err="1">
                <a:solidFill>
                  <a:srgbClr val="FF0000"/>
                </a:solidFill>
              </a:rPr>
              <a:t>Serious</a:t>
            </a:r>
            <a:r>
              <a:rPr lang="es-ES" kern="0" dirty="0"/>
              <a:t> </a:t>
            </a:r>
            <a:r>
              <a:rPr lang="en-US" kern="0" dirty="0"/>
              <a:t>Problems with the </a:t>
            </a:r>
            <a:r>
              <a:rPr lang="en-US" kern="0" dirty="0">
                <a:solidFill>
                  <a:srgbClr val="FF0000"/>
                </a:solidFill>
              </a:rPr>
              <a:t>Serious</a:t>
            </a:r>
            <a:r>
              <a:rPr lang="en-US" kern="0" dirty="0"/>
              <a:t> Games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A5D9D-3F7C-4F1F-BEB0-1D926C13D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kern="0" dirty="0"/>
              <a:t>Higher development cost</a:t>
            </a:r>
          </a:p>
          <a:p>
            <a:r>
              <a:rPr lang="en-US" sz="2400" kern="0" dirty="0"/>
              <a:t>Lower attractiveness compared to entertainment games</a:t>
            </a:r>
          </a:p>
          <a:p>
            <a:r>
              <a:rPr lang="en-US" sz="2400" dirty="0"/>
              <a:t>Transition between instructional design and actual game design implementation – how Game Mechanics impact and interact with the Learning Mechanics</a:t>
            </a:r>
          </a:p>
          <a:p>
            <a:r>
              <a:rPr lang="en-US" sz="2400" dirty="0"/>
              <a:t>Assessment – effectively tracking and analyzing the proper parameters related to learners’ progress (knowledge gain, reflection, and application) </a:t>
            </a:r>
          </a:p>
          <a:p>
            <a:r>
              <a:rPr lang="en-US" sz="2400" dirty="0"/>
              <a:t>How should psychological theories be used to design realistic and convincing non-player characters (NPCs)?</a:t>
            </a:r>
          </a:p>
          <a:p>
            <a:r>
              <a:rPr lang="en-US" sz="2400" dirty="0"/>
              <a:t>How do different pedagogical paradigms relate to tailoring SG and its mechanics (by personalization and adaptation)?</a:t>
            </a:r>
          </a:p>
          <a:p>
            <a:r>
              <a:rPr lang="en-US" sz="2400" dirty="0"/>
              <a:t>There are a few platforms and tools for easy creation of educational video games by teachers and educators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86887-AB3A-49A4-9C0F-F3180DC3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65571-D428-4452-B2A3-FCB2E903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9EF4-05AB-4A85-88AE-1D880702B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9CDFFDF7-54EA-44B5-BFAB-11D08C646146}"/>
              </a:ext>
            </a:extLst>
          </p:cNvPr>
          <p:cNvSpPr/>
          <p:nvPr/>
        </p:nvSpPr>
        <p:spPr>
          <a:xfrm>
            <a:off x="5425510" y="5982227"/>
            <a:ext cx="3365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kern="0" dirty="0">
                <a:solidFill>
                  <a:srgbClr val="7030A0"/>
                </a:solidFill>
              </a:rPr>
              <a:t>D1.6 GALA Roadmap 2, Nov. 2011</a:t>
            </a:r>
            <a:endParaRPr lang="bg-BG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213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2195-ED36-48D6-B73B-A8CC96AFC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62" y="0"/>
            <a:ext cx="8215672" cy="917055"/>
          </a:xfrm>
        </p:spPr>
        <p:txBody>
          <a:bodyPr>
            <a:noAutofit/>
          </a:bodyPr>
          <a:lstStyle/>
          <a:p>
            <a:r>
              <a:rPr lang="en-US" sz="3200" dirty="0"/>
              <a:t>Software Tools for Creation of Educational Video Games</a:t>
            </a:r>
            <a:endParaRPr lang="bg-BG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BF778-E1CC-42BE-A2C0-5C633BA5B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862" y="1098817"/>
            <a:ext cx="3017424" cy="5078146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/>
              <a:t>Authoring</a:t>
            </a:r>
            <a:r>
              <a:rPr lang="en-US" sz="2400" dirty="0"/>
              <a:t> learning objects and scenarios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/>
              <a:t>Design</a:t>
            </a:r>
            <a:r>
              <a:rPr lang="en-US" sz="2400" dirty="0"/>
              <a:t> of educational video games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/>
              <a:t>Development</a:t>
            </a:r>
            <a:r>
              <a:rPr lang="en-US" sz="2400" dirty="0"/>
              <a:t> of educational video games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/>
              <a:t>Generation</a:t>
            </a:r>
            <a:r>
              <a:rPr lang="en-US" sz="2400" dirty="0"/>
              <a:t> of educational video games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6FA9A-FF10-4414-A992-CCD86601C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A9746-3B38-4DA6-9A4D-27847CDB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381E4-498B-44DC-9034-E1EE119F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002A8-6B42-4E99-AFF6-2082B21EC72E}"/>
              </a:ext>
            </a:extLst>
          </p:cNvPr>
          <p:cNvSpPr txBox="1"/>
          <p:nvPr/>
        </p:nvSpPr>
        <p:spPr>
          <a:xfrm>
            <a:off x="5981779" y="1374545"/>
            <a:ext cx="2273992" cy="45243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Kahoot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Minecraft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Quizizz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Genially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Nearpod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Scratch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APOGEE</a:t>
            </a:r>
            <a:endParaRPr lang="bg-BG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25EAD2-88F4-4696-BA72-20A18EEC9518}"/>
              </a:ext>
            </a:extLst>
          </p:cNvPr>
          <p:cNvCxnSpPr>
            <a:cxnSpLocks/>
          </p:cNvCxnSpPr>
          <p:nvPr/>
        </p:nvCxnSpPr>
        <p:spPr>
          <a:xfrm>
            <a:off x="3493953" y="1540040"/>
            <a:ext cx="2498633" cy="1390939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9">
            <a:extLst>
              <a:ext uri="{FF2B5EF4-FFF2-40B4-BE49-F238E27FC236}">
                <a16:creationId xmlns:a16="http://schemas.microsoft.com/office/drawing/2014/main" id="{C0D265F8-AF74-4ADA-AE11-28CBCD470586}"/>
              </a:ext>
            </a:extLst>
          </p:cNvPr>
          <p:cNvCxnSpPr>
            <a:cxnSpLocks/>
          </p:cNvCxnSpPr>
          <p:nvPr/>
        </p:nvCxnSpPr>
        <p:spPr>
          <a:xfrm>
            <a:off x="3493953" y="1649186"/>
            <a:ext cx="2468857" cy="2611347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1527FB8-2F90-4B91-8291-1CD7437E735C}"/>
              </a:ext>
            </a:extLst>
          </p:cNvPr>
          <p:cNvCxnSpPr>
            <a:cxnSpLocks/>
          </p:cNvCxnSpPr>
          <p:nvPr/>
        </p:nvCxnSpPr>
        <p:spPr>
          <a:xfrm flipV="1">
            <a:off x="3279322" y="2261507"/>
            <a:ext cx="2713264" cy="370524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9">
            <a:extLst>
              <a:ext uri="{FF2B5EF4-FFF2-40B4-BE49-F238E27FC236}">
                <a16:creationId xmlns:a16="http://schemas.microsoft.com/office/drawing/2014/main" id="{1A554B2A-5FDC-4286-8258-C35B8C41530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287485" y="2784432"/>
            <a:ext cx="2694294" cy="852271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8703B39-0465-4ECF-9807-7FEBF9BDFF7B}"/>
              </a:ext>
            </a:extLst>
          </p:cNvPr>
          <p:cNvCxnSpPr>
            <a:cxnSpLocks/>
          </p:cNvCxnSpPr>
          <p:nvPr/>
        </p:nvCxnSpPr>
        <p:spPr>
          <a:xfrm flipV="1">
            <a:off x="3140524" y="2385728"/>
            <a:ext cx="2852062" cy="1525458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9">
            <a:extLst>
              <a:ext uri="{FF2B5EF4-FFF2-40B4-BE49-F238E27FC236}">
                <a16:creationId xmlns:a16="http://schemas.microsoft.com/office/drawing/2014/main" id="{FCE553AB-037D-4B20-A3DC-696C3F83D852}"/>
              </a:ext>
            </a:extLst>
          </p:cNvPr>
          <p:cNvCxnSpPr>
            <a:cxnSpLocks/>
          </p:cNvCxnSpPr>
          <p:nvPr/>
        </p:nvCxnSpPr>
        <p:spPr>
          <a:xfrm>
            <a:off x="3148687" y="4063587"/>
            <a:ext cx="2843899" cy="852271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9">
            <a:extLst>
              <a:ext uri="{FF2B5EF4-FFF2-40B4-BE49-F238E27FC236}">
                <a16:creationId xmlns:a16="http://schemas.microsoft.com/office/drawing/2014/main" id="{6686AC70-6601-40A7-9530-4AD7909C7813}"/>
              </a:ext>
            </a:extLst>
          </p:cNvPr>
          <p:cNvCxnSpPr>
            <a:cxnSpLocks/>
          </p:cNvCxnSpPr>
          <p:nvPr/>
        </p:nvCxnSpPr>
        <p:spPr>
          <a:xfrm>
            <a:off x="3148687" y="4185619"/>
            <a:ext cx="2843899" cy="1436580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9">
            <a:extLst>
              <a:ext uri="{FF2B5EF4-FFF2-40B4-BE49-F238E27FC236}">
                <a16:creationId xmlns:a16="http://schemas.microsoft.com/office/drawing/2014/main" id="{31BADA57-9CB8-4A69-8DF3-87A3381F7BE7}"/>
              </a:ext>
            </a:extLst>
          </p:cNvPr>
          <p:cNvCxnSpPr>
            <a:cxnSpLocks/>
          </p:cNvCxnSpPr>
          <p:nvPr/>
        </p:nvCxnSpPr>
        <p:spPr>
          <a:xfrm flipV="1">
            <a:off x="3079288" y="5698671"/>
            <a:ext cx="2913298" cy="145868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9">
            <a:extLst>
              <a:ext uri="{FF2B5EF4-FFF2-40B4-BE49-F238E27FC236}">
                <a16:creationId xmlns:a16="http://schemas.microsoft.com/office/drawing/2014/main" id="{1B1550AE-DB7B-4532-A6CD-0C32F93D0FB7}"/>
              </a:ext>
            </a:extLst>
          </p:cNvPr>
          <p:cNvCxnSpPr>
            <a:cxnSpLocks/>
          </p:cNvCxnSpPr>
          <p:nvPr/>
        </p:nvCxnSpPr>
        <p:spPr>
          <a:xfrm flipV="1">
            <a:off x="3079288" y="1563810"/>
            <a:ext cx="2913298" cy="4124022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196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5" y="136523"/>
            <a:ext cx="7878535" cy="802369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99440"/>
            <a:ext cx="7715250" cy="4419667"/>
          </a:xfrm>
        </p:spPr>
        <p:txBody>
          <a:bodyPr anchor="t">
            <a:normAutofit/>
          </a:bodyPr>
          <a:lstStyle/>
          <a:p>
            <a:r>
              <a:rPr lang="en-US" sz="2400" dirty="0"/>
              <a:t>Researchers in the field need more systematic reviews and classification of existing platforms and tools to understand better their applications for the practical creation of educational games</a:t>
            </a:r>
          </a:p>
          <a:p>
            <a:endParaRPr lang="en-US" sz="2400" dirty="0"/>
          </a:p>
          <a:p>
            <a:r>
              <a:rPr lang="en-US" sz="2400" dirty="0"/>
              <a:t>Research questions: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RQ1</a:t>
            </a:r>
            <a:r>
              <a:rPr lang="en-US" dirty="0"/>
              <a:t>: What are the most common purposes of platforms and tools for creating educational video games?</a:t>
            </a:r>
            <a:endParaRPr lang="bg-BG" dirty="0"/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RQ2</a:t>
            </a:r>
            <a:r>
              <a:rPr lang="en-US" dirty="0"/>
              <a:t>: What tools are most commonly used for creating educational video games?</a:t>
            </a:r>
            <a:endParaRPr lang="bg-B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E9357-4D5D-44F2-AFA8-A1221357A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54B7C-F41E-47CB-9FA8-4CD1C3AA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45DB1-E218-4F80-8999-C46DE222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23" y="178003"/>
            <a:ext cx="7696190" cy="606755"/>
          </a:xfrm>
        </p:spPr>
        <p:txBody>
          <a:bodyPr anchor="ctr">
            <a:normAutofit fontScale="90000"/>
          </a:bodyPr>
          <a:lstStyle/>
          <a:p>
            <a:r>
              <a:rPr lang="en-US" sz="4000" b="1" dirty="0"/>
              <a:t>Methodology 1/2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679" y="987881"/>
            <a:ext cx="8259855" cy="5618640"/>
          </a:xfrm>
        </p:spPr>
        <p:txBody>
          <a:bodyPr anchor="t">
            <a:normAutofit fontScale="85000" lnSpcReduction="20000"/>
          </a:bodyPr>
          <a:lstStyle/>
          <a:p>
            <a:r>
              <a:rPr lang="en-US" dirty="0"/>
              <a:t>Preferred Reporting Items for Systematic Reviews and Meta-Analyses (PRISMA) – for a transparent and comprehensive reporting of a systematic quantitative review </a:t>
            </a:r>
          </a:p>
          <a:p>
            <a:r>
              <a:rPr lang="en-US" dirty="0"/>
              <a:t>Research databases: Scopus and Web of Science (</a:t>
            </a:r>
            <a:r>
              <a:rPr lang="en-US" dirty="0" err="1"/>
              <a:t>WoS</a:t>
            </a:r>
            <a:r>
              <a:rPr lang="en-US" dirty="0"/>
              <a:t>):</a:t>
            </a:r>
            <a:endParaRPr lang="bg-BG" dirty="0"/>
          </a:p>
          <a:p>
            <a:r>
              <a:rPr lang="en-US" dirty="0"/>
              <a:t>Period: 2015-2025 </a:t>
            </a:r>
          </a:p>
          <a:p>
            <a:r>
              <a:rPr lang="en-US" dirty="0"/>
              <a:t>Collected content: </a:t>
            </a:r>
            <a:r>
              <a:rPr lang="en-US" sz="2800" dirty="0"/>
              <a:t>title, authors, authors’ institutions, abstract, keywords, DOI, Web address, and citation count </a:t>
            </a:r>
            <a:endParaRPr lang="en-US" dirty="0"/>
          </a:p>
          <a:p>
            <a:r>
              <a:rPr lang="en-US" dirty="0"/>
              <a:t>Stage 1 – aimed at finding the most popular and used platforms and tools for video game creation purposes, including modelling, authoring, design, development, generation, and gamification</a:t>
            </a:r>
          </a:p>
          <a:p>
            <a:r>
              <a:rPr lang="en-US" dirty="0"/>
              <a:t>Search queries for Stage 1:</a:t>
            </a:r>
            <a:endParaRPr lang="bg-BG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SQ1=(“education* computer game*” OR “education* video game*” OR “learning game*” OR “serious video game*” OR “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</a:rPr>
              <a:t>serious computer* game*”) AND 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</a:rPr>
              <a:t>creat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</a:rPr>
              <a:t>* OR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</a:rPr>
              <a:t>buil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</a:rPr>
              <a:t>* OR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</a:rPr>
              <a:t>generat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</a:rPr>
              <a:t>* OR compose* OR construct*) AND (tool* OR instrument* OR platform* OR software OR means)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</a:rPr>
              <a:t>SQ1.1=SQ1 AND (modelling OR authoring OR design OR development OR generation OR gamification)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F980D-1789-4B19-9A23-19349BB7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27CFC-2016-458C-9235-3EA99BE35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311F8-7261-40A3-8840-A0489089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23" y="178003"/>
            <a:ext cx="7696190" cy="606755"/>
          </a:xfrm>
        </p:spPr>
        <p:txBody>
          <a:bodyPr anchor="ctr">
            <a:normAutofit fontScale="90000"/>
          </a:bodyPr>
          <a:lstStyle/>
          <a:p>
            <a:r>
              <a:rPr lang="en-US" sz="4000" b="1" dirty="0"/>
              <a:t>Methodology 2/2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679" y="996045"/>
            <a:ext cx="8259855" cy="5618640"/>
          </a:xfrm>
        </p:spPr>
        <p:txBody>
          <a:bodyPr anchor="t">
            <a:normAutofit lnSpcReduction="10000"/>
          </a:bodyPr>
          <a:lstStyle/>
          <a:p>
            <a:r>
              <a:rPr lang="en-US" sz="2400" dirty="0"/>
              <a:t>Stage 2 – uses the names identified platforms and tools during the processing of results from SQ1, such as Scratch, Kahoot!, Minecraft, Quizizz, </a:t>
            </a:r>
            <a:r>
              <a:rPr lang="en-US" sz="2400" dirty="0" err="1"/>
              <a:t>Classcraft</a:t>
            </a:r>
            <a:r>
              <a:rPr lang="en-US" sz="2400" dirty="0"/>
              <a:t>, APOGEE, etc. – as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&lt;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NameOfPlatform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&gt; </a:t>
            </a:r>
            <a:endParaRPr lang="en-US" sz="2400" dirty="0"/>
          </a:p>
          <a:p>
            <a:r>
              <a:rPr lang="en-US" sz="2400" dirty="0"/>
              <a:t>Research databases: Scopus and Web of Science (</a:t>
            </a:r>
            <a:r>
              <a:rPr lang="en-US" sz="2400" dirty="0" err="1"/>
              <a:t>WoS</a:t>
            </a:r>
            <a:r>
              <a:rPr lang="en-US" sz="2400" dirty="0"/>
              <a:t>)</a:t>
            </a:r>
          </a:p>
          <a:p>
            <a:r>
              <a:rPr lang="en-US" sz="2400" dirty="0"/>
              <a:t>Publication type: </a:t>
            </a:r>
            <a:endParaRPr lang="bg-BG" sz="2400" dirty="0"/>
          </a:p>
          <a:p>
            <a:r>
              <a:rPr lang="en-US" sz="2400" dirty="0"/>
              <a:t>Period: 2015-2025 </a:t>
            </a:r>
          </a:p>
          <a:p>
            <a:r>
              <a:rPr lang="en-US" sz="2400" dirty="0"/>
              <a:t>Collected content: title, authors, authors’ institutions, abstract, keywords, DOI, Web address, and citation count of the found documents</a:t>
            </a:r>
          </a:p>
          <a:p>
            <a:r>
              <a:rPr lang="en-US" sz="2400" dirty="0"/>
              <a:t>Search queries for Stage 2:</a:t>
            </a:r>
            <a:endParaRPr lang="bg-BG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SQ2=&lt;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NameOfPlatform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&gt; AND (platform* OR tool* OR instrument* OR software* OR mean*) AND (game* OR gaming) AND (learn* OR education*)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qualitative analysis was conducted by the </a:t>
            </a:r>
            <a:r>
              <a:rPr lang="en-US" sz="2400" dirty="0" err="1"/>
              <a:t>ATLAS.ti</a:t>
            </a:r>
            <a:r>
              <a:rPr lang="en-US" sz="2400" dirty="0"/>
              <a:t> tool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F980D-1789-4B19-9A23-19349BB7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27CFC-2016-458C-9235-3EA99BE35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311F8-7261-40A3-8840-A0489089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00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74C6-82FA-4F72-A84A-22E6CF08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Inclusion/Exclusion Criteria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AE209-2821-46C6-9B4F-6EBE2785E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862" y="1098816"/>
            <a:ext cx="8215672" cy="562265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i="1" dirty="0">
                <a:ea typeface="Times New Roman" panose="02020603050405020304" pitchFamily="18" charset="0"/>
              </a:rPr>
              <a:t> I</a:t>
            </a:r>
            <a:r>
              <a:rPr lang="en-US" sz="2400" i="1" dirty="0">
                <a:effectLst/>
                <a:ea typeface="Times New Roman" panose="02020603050405020304" pitchFamily="18" charset="0"/>
              </a:rPr>
              <a:t>nclusion criteria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: </a:t>
            </a:r>
          </a:p>
          <a:p>
            <a:r>
              <a:rPr lang="en-US" sz="2400" dirty="0">
                <a:effectLst/>
                <a:ea typeface="Times New Roman" panose="02020603050405020304" pitchFamily="18" charset="0"/>
              </a:rPr>
              <a:t>1) the articles had to be related to the research topic; </a:t>
            </a:r>
          </a:p>
          <a:p>
            <a:r>
              <a:rPr lang="en-US" sz="2400" dirty="0">
                <a:effectLst/>
                <a:ea typeface="Times New Roman" panose="02020603050405020304" pitchFamily="18" charset="0"/>
              </a:rPr>
              <a:t>2) the articles had to be focused on educational video games, or varieties of serious games; </a:t>
            </a:r>
          </a:p>
          <a:p>
            <a:r>
              <a:rPr lang="en-US" sz="2400" dirty="0">
                <a:effectLst/>
                <a:ea typeface="Times New Roman" panose="02020603050405020304" pitchFamily="18" charset="0"/>
              </a:rPr>
              <a:t>3) articles must be published only in English; </a:t>
            </a:r>
          </a:p>
          <a:p>
            <a:r>
              <a:rPr lang="en-US" sz="2400" dirty="0">
                <a:effectLst/>
                <a:ea typeface="Times New Roman" panose="02020603050405020304" pitchFamily="18" charset="0"/>
              </a:rPr>
              <a:t>4) articles must be of the types conference paper, journal article, book, and book chapter.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i="1" dirty="0">
                <a:ea typeface="Times New Roman" panose="02020603050405020304" pitchFamily="18" charset="0"/>
              </a:rPr>
              <a:t> E</a:t>
            </a:r>
            <a:r>
              <a:rPr lang="en-US" sz="2400" i="1" dirty="0">
                <a:effectLst/>
                <a:ea typeface="Times New Roman" panose="02020603050405020304" pitchFamily="18" charset="0"/>
              </a:rPr>
              <a:t>xclusion criteria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: </a:t>
            </a:r>
          </a:p>
          <a:p>
            <a:r>
              <a:rPr lang="en-US" sz="2400" dirty="0">
                <a:effectLst/>
                <a:ea typeface="Times New Roman" panose="02020603050405020304" pitchFamily="18" charset="0"/>
              </a:rPr>
              <a:t>1) publications that are not related to educational or serious video games; </a:t>
            </a:r>
          </a:p>
          <a:p>
            <a:r>
              <a:rPr lang="en-US" sz="2400" dirty="0">
                <a:effectLst/>
                <a:ea typeface="Times New Roman" panose="02020603050405020304" pitchFamily="18" charset="0"/>
              </a:rPr>
              <a:t>2) publications for which there is not enough presented information in the abstract or title, from which it is unclear whether there is a direct connection to the study; </a:t>
            </a:r>
          </a:p>
          <a:p>
            <a:r>
              <a:rPr lang="en-US" sz="2400" dirty="0">
                <a:effectLst/>
                <a:ea typeface="Times New Roman" panose="02020603050405020304" pitchFamily="18" charset="0"/>
              </a:rPr>
              <a:t>3) publications that are not related to the research questions posed.</a:t>
            </a:r>
            <a:endParaRPr lang="bg-BG" sz="24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A647C-810A-451F-8FF3-6A81B5C46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14A36-F845-4713-802D-1EB8B081F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6B6BA-795F-4AA7-B28D-F95B56FB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9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16564-251D-48A9-96BB-86ADC6327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953BA-E7C7-482B-BB9F-9888507DB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Found scientific publications: </a:t>
            </a:r>
          </a:p>
          <a:p>
            <a:pPr lvl="1"/>
            <a:r>
              <a:rPr lang="en-US" dirty="0"/>
              <a:t>270 in the Web of Science database</a:t>
            </a:r>
          </a:p>
          <a:p>
            <a:pPr lvl="1"/>
            <a:r>
              <a:rPr lang="en-US" dirty="0"/>
              <a:t>386 in Scopus</a:t>
            </a:r>
          </a:p>
          <a:p>
            <a:r>
              <a:rPr lang="en-US" dirty="0"/>
              <a:t>Open access (green, silver, and gold) publications: </a:t>
            </a:r>
          </a:p>
          <a:p>
            <a:pPr lvl="1"/>
            <a:r>
              <a:rPr lang="en-US" dirty="0"/>
              <a:t>27 % for Scopus </a:t>
            </a:r>
          </a:p>
          <a:p>
            <a:pPr lvl="1"/>
            <a:r>
              <a:rPr lang="en-US" dirty="0"/>
              <a:t>30% for </a:t>
            </a:r>
            <a:r>
              <a:rPr lang="en-US" dirty="0" err="1"/>
              <a:t>WoS</a:t>
            </a:r>
            <a:endParaRPr lang="en-US" dirty="0"/>
          </a:p>
          <a:p>
            <a:r>
              <a:rPr lang="en-US" dirty="0"/>
              <a:t>After removal of duplicates: 457 publications left </a:t>
            </a:r>
          </a:p>
          <a:p>
            <a:r>
              <a:rPr lang="en-US" dirty="0"/>
              <a:t>After application of Inclusion/Exclusion Criteria: </a:t>
            </a:r>
            <a:r>
              <a:rPr lang="bg-BG" dirty="0"/>
              <a:t>321 </a:t>
            </a:r>
            <a:r>
              <a:rPr lang="en-US" dirty="0"/>
              <a:t>publications left </a:t>
            </a:r>
          </a:p>
          <a:p>
            <a:endParaRPr lang="en-US" dirty="0"/>
          </a:p>
          <a:p>
            <a:endParaRPr lang="bg-B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8929-0308-4BF0-8FBF-9E556A4B3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2C53F-E060-4E7C-AE3D-A84FDA17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3C453-2C80-43FA-B6F2-E84349577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54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E88B-C7B7-4C29-929F-C07D4BFA4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62" y="0"/>
            <a:ext cx="8215672" cy="917055"/>
          </a:xfrm>
        </p:spPr>
        <p:txBody>
          <a:bodyPr>
            <a:normAutofit fontScale="90000"/>
          </a:bodyPr>
          <a:lstStyle/>
          <a:p>
            <a:r>
              <a:rPr lang="en-US" dirty="0"/>
              <a:t>Distribution of Publications Found in </a:t>
            </a:r>
            <a:r>
              <a:rPr lang="en-US" dirty="0" err="1"/>
              <a:t>WoS</a:t>
            </a:r>
            <a:r>
              <a:rPr lang="en-US" dirty="0"/>
              <a:t> and Scopus for the First 15 Countries</a:t>
            </a:r>
            <a:endParaRPr lang="bg-B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97489-8559-41C8-8E6A-C63B1C9A6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2C41B-A52D-40A5-AE2E-4F1D12C90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DE1D4-C80C-4A87-A54D-151281C28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 descr="A graph of a number of countries/regions&#10;&#10;AI-generated content may be incorrect.">
            <a:extLst>
              <a:ext uri="{FF2B5EF4-FFF2-40B4-BE49-F238E27FC236}">
                <a16:creationId xmlns:a16="http://schemas.microsoft.com/office/drawing/2014/main" id="{D4D4DAFF-E3FD-42AA-86B9-347CE6BE39F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62" y="1054508"/>
            <a:ext cx="8215672" cy="530184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E97A0406-9950-48C4-829F-308B2E7FCAB7}"/>
              </a:ext>
            </a:extLst>
          </p:cNvPr>
          <p:cNvSpPr/>
          <p:nvPr/>
        </p:nvSpPr>
        <p:spPr>
          <a:xfrm>
            <a:off x="574861" y="1123247"/>
            <a:ext cx="3221531" cy="4611506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62% from all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656 publications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8146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116A-2146-4847-AA82-ACB508A26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62" y="76360"/>
            <a:ext cx="8215672" cy="701902"/>
          </a:xfrm>
        </p:spPr>
        <p:txBody>
          <a:bodyPr>
            <a:normAutofit fontScale="90000"/>
          </a:bodyPr>
          <a:lstStyle/>
          <a:p>
            <a:r>
              <a:rPr lang="en-US" dirty="0"/>
              <a:t>Distribution of Publications Found in </a:t>
            </a:r>
            <a:r>
              <a:rPr lang="en-US" dirty="0" err="1"/>
              <a:t>WoS</a:t>
            </a:r>
            <a:r>
              <a:rPr lang="en-US" dirty="0"/>
              <a:t> and Scopus by Year</a:t>
            </a:r>
            <a:endParaRPr lang="bg-B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74610-E80E-43E4-B3B0-56B54DBD2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BB191-D53D-4471-A1E1-7FED9ADA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6F9C2-06C9-49FE-9256-D8F6EC477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964F79-B6FC-4C60-8300-C9E04D9F77E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08" y="1069851"/>
            <a:ext cx="8215672" cy="5286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2551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EBBCC-FB3F-4740-9DF8-E4AC68D7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62" y="79376"/>
            <a:ext cx="8215672" cy="701902"/>
          </a:xfrm>
        </p:spPr>
        <p:txBody>
          <a:bodyPr>
            <a:normAutofit fontScale="90000"/>
          </a:bodyPr>
          <a:lstStyle/>
          <a:p>
            <a:r>
              <a:rPr lang="en-US" dirty="0"/>
              <a:t>Distribution of Publications Found in </a:t>
            </a:r>
            <a:r>
              <a:rPr lang="en-US" dirty="0" err="1"/>
              <a:t>WoS</a:t>
            </a:r>
            <a:r>
              <a:rPr lang="en-US" dirty="0"/>
              <a:t> and Scopus by Type</a:t>
            </a:r>
            <a:endParaRPr lang="bg-B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8AEF5-E636-4D24-8A8C-5552BF15F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EAF16-4232-40FF-B811-A3AFF8F8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E84CA-349C-4F34-80E4-59497F604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7A7BF4-BA8A-4859-B1C2-4F8B4750B6F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62" y="1010420"/>
            <a:ext cx="8215672" cy="54148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4035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1C642-3B1A-4A18-9AF5-4602FCA3C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62" y="87540"/>
            <a:ext cx="8569138" cy="701902"/>
          </a:xfrm>
        </p:spPr>
        <p:txBody>
          <a:bodyPr>
            <a:normAutofit fontScale="90000"/>
          </a:bodyPr>
          <a:lstStyle/>
          <a:p>
            <a:r>
              <a:rPr lang="en-US" dirty="0"/>
              <a:t>Number of Publications About Types of Platforms and Tools plus Citations Found in Scopus and </a:t>
            </a:r>
            <a:r>
              <a:rPr lang="en-US" dirty="0" err="1"/>
              <a:t>WoS</a:t>
            </a:r>
            <a:endParaRPr lang="bg-B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BDEC8-5AF4-47FF-93BB-7F0B199C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BA372-E002-46CF-8A8B-50097606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8B988-7808-4C79-9D57-BA4BF5BBC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97807F-9F79-4B45-B0DB-66EFC963C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13" y="1033845"/>
            <a:ext cx="8745170" cy="532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150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8D371-F432-4819-B692-BC6E1CF12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AC51D-76EF-4574-8E70-3F11D9677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9A1E9-A835-4CBE-8FF5-02CD7770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ED13F4-66DA-4D2F-86AA-20FCFCB51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62" y="917054"/>
            <a:ext cx="8215672" cy="599809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3086333-15C4-4F96-BB3E-417B24AA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21706"/>
            <a:ext cx="8215313" cy="701675"/>
          </a:xfrm>
        </p:spPr>
        <p:txBody>
          <a:bodyPr>
            <a:normAutofit fontScale="90000"/>
          </a:bodyPr>
          <a:lstStyle/>
          <a:p>
            <a:r>
              <a:rPr lang="en-US" dirty="0"/>
              <a:t>Number of Publications About Platforms and Tools plus Citations Found in Scopus and </a:t>
            </a:r>
            <a:r>
              <a:rPr lang="en-US" dirty="0" err="1"/>
              <a:t>WoS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04444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D5561-337E-427B-84D2-643D148B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 Correlations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0A37C-9991-4521-B97C-577CACA7B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strong positive correlations were found between:</a:t>
            </a:r>
          </a:p>
          <a:p>
            <a:pPr lvl="1"/>
            <a:r>
              <a:rPr lang="en-US" dirty="0"/>
              <a:t> the numbers of publications found in Scopus and </a:t>
            </a:r>
            <a:r>
              <a:rPr lang="en-US" dirty="0" err="1"/>
              <a:t>WoS</a:t>
            </a:r>
            <a:r>
              <a:rPr lang="en-US" dirty="0"/>
              <a:t> (r=0.98772, p&lt;0.00000) and, as well, </a:t>
            </a:r>
          </a:p>
          <a:p>
            <a:pPr lvl="1"/>
            <a:r>
              <a:rPr lang="en-US" dirty="0"/>
              <a:t> between the numbers of their citations in both the databases (r=0.82319, p&lt;0.00000). 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A weak negative correlation was found between the average numbers of citations per publication (r=-0.10558), which appeared not to be statistically significant.</a:t>
            </a:r>
            <a:endParaRPr lang="bg-B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253F6-83EB-421B-8465-31779E662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BF720-B5C6-4B27-BAC8-FF67EAA80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CF7CD-991C-45B9-9D65-88CEF92B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4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81EE-2D14-4CA9-BBA0-CDCBC02B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1/2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B6AF9-8886-49FF-B719-DDFE9EE24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862" y="1322613"/>
            <a:ext cx="8215672" cy="4854349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400" dirty="0"/>
              <a:t>RQ1: 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The platforms and tools are applied mainly for the design and development of educational video games, and several times less for their modelling, authoring, and generation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Evolution of instruments facilitating the gamification of learning processes for making them more engaging and appealing for pupils and students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6AA6F-1A31-4CB5-83D8-5A5BB9678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07C73-2771-4D15-8A7E-3A08E6356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9D13E-4EAC-4E9D-8B5F-194D906F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13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81EE-2D14-4CA9-BBA0-CDCBC02B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2/2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B6AF9-8886-49FF-B719-DDFE9EE24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862" y="917055"/>
            <a:ext cx="8215672" cy="525990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200" dirty="0"/>
              <a:t>RQ2:</a:t>
            </a:r>
          </a:p>
          <a:p>
            <a:pPr lvl="1">
              <a:spcBef>
                <a:spcPts val="1200"/>
              </a:spcBef>
            </a:pPr>
            <a:r>
              <a:rPr lang="en-US" sz="2200" dirty="0"/>
              <a:t>16 software platforms and tools specifically designed for modeling, design, development, and/or generation of such games.</a:t>
            </a:r>
          </a:p>
          <a:p>
            <a:pPr lvl="1">
              <a:spcBef>
                <a:spcPts val="1200"/>
              </a:spcBef>
            </a:pPr>
            <a:r>
              <a:rPr lang="en-US" sz="2200" dirty="0"/>
              <a:t>The triad of Scratch, Kahoot!, and Minecraft represents the most popular platforms for educational video game creation</a:t>
            </a:r>
          </a:p>
          <a:p>
            <a:pPr lvl="1">
              <a:spcBef>
                <a:spcPts val="1200"/>
              </a:spcBef>
            </a:pPr>
            <a:r>
              <a:rPr lang="en-US" sz="2200" dirty="0"/>
              <a:t>Quizizz, APOGEE, </a:t>
            </a:r>
            <a:r>
              <a:rPr lang="en-US" sz="2200" dirty="0" err="1"/>
              <a:t>Classcraft</a:t>
            </a:r>
            <a:r>
              <a:rPr lang="en-US" sz="2200" dirty="0"/>
              <a:t>, Genially, Socrative, and Kodu Game Lab – all of which have been featured in numerous publications in Scopus and </a:t>
            </a:r>
            <a:r>
              <a:rPr lang="en-US" sz="2200" dirty="0" err="1"/>
              <a:t>WoS</a:t>
            </a:r>
            <a:r>
              <a:rPr lang="en-US" sz="2200" dirty="0"/>
              <a:t>, garnering hundreds of citations</a:t>
            </a:r>
          </a:p>
          <a:p>
            <a:pPr lvl="1">
              <a:spcBef>
                <a:spcPts val="1200"/>
              </a:spcBef>
            </a:pPr>
            <a:r>
              <a:rPr lang="en-US" sz="2200" dirty="0"/>
              <a:t>Figma, Nearpod, Tynker, </a:t>
            </a:r>
            <a:r>
              <a:rPr lang="en-US" sz="2200" dirty="0" err="1"/>
              <a:t>Towi</a:t>
            </a:r>
            <a:r>
              <a:rPr lang="en-US" sz="2200" dirty="0"/>
              <a:t>, </a:t>
            </a:r>
            <a:r>
              <a:rPr lang="en-US" sz="2200" dirty="0" err="1"/>
              <a:t>Modelica</a:t>
            </a:r>
            <a:r>
              <a:rPr lang="en-US" sz="2200" dirty="0"/>
              <a:t>, and PLAGER-VG are presented in isolated research publications and few or even zero citations</a:t>
            </a:r>
          </a:p>
          <a:p>
            <a:pPr lvl="1">
              <a:spcBef>
                <a:spcPts val="1200"/>
              </a:spcBef>
            </a:pPr>
            <a:r>
              <a:rPr lang="en-US" sz="2200" dirty="0"/>
              <a:t>Kodu Game Lab, Figma, and PLAGER-VG, are discontinued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Scopus is a more inclusive database than </a:t>
            </a:r>
            <a:r>
              <a:rPr lang="en-US" sz="2200" dirty="0" err="1"/>
              <a:t>WoS</a:t>
            </a:r>
            <a:r>
              <a:rPr lang="en-US" sz="2200" dirty="0"/>
              <a:t> – it encompasses approximately 20-30% more publications related to platforms and tools</a:t>
            </a:r>
            <a:endParaRPr lang="bg-BG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6AA6F-1A31-4CB5-83D8-5A5BB9678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07C73-2771-4D15-8A7E-3A08E6356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9D13E-4EAC-4E9D-8B5F-194D906F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26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73" y="136524"/>
            <a:ext cx="6056111" cy="745548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Limitations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223" y="1251915"/>
            <a:ext cx="7012577" cy="3546399"/>
          </a:xfrm>
        </p:spPr>
        <p:txBody>
          <a:bodyPr anchor="t">
            <a:normAutofit/>
          </a:bodyPr>
          <a:lstStyle/>
          <a:p>
            <a:r>
              <a:rPr lang="en-US" sz="2400" dirty="0"/>
              <a:t>PRISMA bias toward well-cited networks; may miss some work</a:t>
            </a:r>
          </a:p>
          <a:p>
            <a:r>
              <a:rPr lang="en-US" sz="2400" dirty="0"/>
              <a:t>English-language publications are only useful for tracking enduring characteristics across time</a:t>
            </a:r>
          </a:p>
          <a:p>
            <a:r>
              <a:rPr lang="en-US" sz="2400" dirty="0"/>
              <a:t>Very short period – 2015-2025</a:t>
            </a:r>
          </a:p>
          <a:p>
            <a:r>
              <a:rPr lang="en-US" sz="2400" dirty="0"/>
              <a:t>Only </a:t>
            </a:r>
            <a:r>
              <a:rPr lang="en-US" sz="2400" dirty="0" err="1"/>
              <a:t>WoS</a:t>
            </a:r>
            <a:r>
              <a:rPr lang="en-US" sz="2400" dirty="0"/>
              <a:t> and Scopus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20E18-32AD-44E7-9924-B965140BA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E1CCA-6952-4314-8980-EC3CA795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A9310-B0D8-409D-8D35-AE803AFC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839" y="-239886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880" y="1150002"/>
            <a:ext cx="8400506" cy="5422248"/>
          </a:xfrm>
        </p:spPr>
        <p:txBody>
          <a:bodyPr anchor="t">
            <a:normAutofit/>
          </a:bodyPr>
          <a:lstStyle/>
          <a:p>
            <a:r>
              <a:rPr lang="en-US" sz="2400" dirty="0"/>
              <a:t>We answer two main questions to understand the most common purposes of platforms and tools used for creating educational video games, and which tools are most commonly used for this purpose. </a:t>
            </a:r>
          </a:p>
          <a:p>
            <a:r>
              <a:rPr lang="en-US" sz="2400" dirty="0"/>
              <a:t>The results show that most tools are primarily applied for designing and developing educational video games, rather than for modeling and authoring such games. </a:t>
            </a:r>
          </a:p>
          <a:p>
            <a:r>
              <a:rPr lang="en-US" sz="2400" dirty="0"/>
              <a:t>Several tools, such as Scratch, Kahoot, and Minecraft, are significantly more widely used by the community. </a:t>
            </a:r>
          </a:p>
          <a:p>
            <a:r>
              <a:rPr lang="en-US" sz="2400" dirty="0"/>
              <a:t>Directions for further research include:</a:t>
            </a:r>
          </a:p>
          <a:p>
            <a:pPr lvl="1"/>
            <a:r>
              <a:rPr lang="en-US" dirty="0"/>
              <a:t> Investigating the usability of platforms between teachers and educators who are not IT specialists. </a:t>
            </a:r>
          </a:p>
          <a:p>
            <a:pPr lvl="1"/>
            <a:r>
              <a:rPr lang="en-US" dirty="0"/>
              <a:t> The effectiveness of the identified platforms should be evaluated for applicability in education by such teachers.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0B1B6-19E6-403A-A9F2-538E4E0CD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ACA00-F0CE-4A4C-BB5B-8443F3F7F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E1D83-B1DD-4B8A-9528-1BCCA074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30990-A67C-48E9-81D9-27C1B03D6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Thank You for Your Attention!</a:t>
            </a:r>
            <a:endParaRPr lang="bg-BG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1B3B8-4634-4C67-BE4E-4DB41BCD1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186" y="1351322"/>
            <a:ext cx="3886200" cy="412772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you have any questions, write to us:</a:t>
            </a:r>
          </a:p>
          <a:p>
            <a:pPr marL="0" indent="0">
              <a:buNone/>
            </a:pPr>
            <a:endParaRPr lang="en-US" dirty="0"/>
          </a:p>
          <a:p>
            <a:pPr indent="144145">
              <a:spcAft>
                <a:spcPts val="1000"/>
              </a:spcAft>
            </a:pPr>
            <a:r>
              <a:rPr lang="en-US" sz="180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yavor.dankov@fmi.uni-sofia.bg</a:t>
            </a:r>
          </a:p>
          <a:p>
            <a:pPr indent="144145">
              <a:spcAft>
                <a:spcPts val="1000"/>
              </a:spcAft>
            </a:pPr>
            <a:r>
              <a:rPr lang="en-US" sz="180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bbontchev@fmi.uni-sofia.bg</a:t>
            </a:r>
          </a:p>
          <a:p>
            <a:pPr indent="144145">
              <a:spcAft>
                <a:spcPts val="1000"/>
              </a:spcAft>
            </a:pPr>
            <a:r>
              <a:rPr lang="en-US" sz="180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valentina.terzieva@iict.bas.bg </a:t>
            </a:r>
          </a:p>
          <a:p>
            <a:pPr indent="144145">
              <a:spcAft>
                <a:spcPts val="1000"/>
              </a:spcAft>
            </a:pPr>
            <a:r>
              <a:rPr lang="en-US" sz="180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aldi@fmi.uni-sofia.bg</a:t>
            </a:r>
            <a:endParaRPr lang="bg-BG" sz="1800" dirty="0"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F7EDB1-8FD7-4C7A-A772-439100F9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ICL'25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4A57B9-E646-46CA-9E86-A0C98751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Platforms and Tools for Educational Video Games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F64BA-BA7A-4F0B-9434-EBE3E4C2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2" descr="Image result for question mark">
            <a:extLst>
              <a:ext uri="{FF2B5EF4-FFF2-40B4-BE49-F238E27FC236}">
                <a16:creationId xmlns:a16="http://schemas.microsoft.com/office/drawing/2014/main" id="{61087E74-DD1F-46E0-BB30-415CEBF4B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4934" y="1378951"/>
            <a:ext cx="5107037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B21D67-AC74-41D4-9E3C-D5341CC999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62" y="4995316"/>
            <a:ext cx="1266847" cy="12097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1A8904-ABB3-4064-A770-82F24BDD78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53"/>
          <a:stretch>
            <a:fillRect/>
          </a:stretch>
        </p:blipFill>
        <p:spPr>
          <a:xfrm>
            <a:off x="7563722" y="5097640"/>
            <a:ext cx="1266847" cy="11981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4FAD71-BA7C-4D9B-87B5-9F36F314903C}"/>
              </a:ext>
            </a:extLst>
          </p:cNvPr>
          <p:cNvSpPr txBox="1"/>
          <p:nvPr/>
        </p:nvSpPr>
        <p:spPr>
          <a:xfrm>
            <a:off x="2129179" y="4911780"/>
            <a:ext cx="51070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44145" algn="ctr"/>
            <a:r>
              <a:rPr lang="en-US" sz="1600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authors gratefully acknowledge the support provided by the project MOTIVATE, funded by the Bulgarian National Science Fund, contract No. КП-06-Н85/2 dated 05/12/2024, and by the project </a:t>
            </a:r>
            <a:r>
              <a:rPr lang="en-US" sz="1600" dirty="0" err="1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UNITe</a:t>
            </a:r>
            <a:r>
              <a:rPr lang="en-US" sz="1600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BG16RFPR002-1.014-0004 funded by PRIDST.</a:t>
            </a:r>
            <a:endParaRPr lang="bg-BG" sz="1600" dirty="0">
              <a:solidFill>
                <a:srgbClr val="0070C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61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</TotalTime>
  <Words>1716</Words>
  <Application>Microsoft Office PowerPoint</Application>
  <PresentationFormat>On-screen Show (4:3)</PresentationFormat>
  <Paragraphs>205</Paragraphs>
  <Slides>22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Courier New</vt:lpstr>
      <vt:lpstr>Tahoma</vt:lpstr>
      <vt:lpstr>Wingdings</vt:lpstr>
      <vt:lpstr>Office Theme</vt:lpstr>
      <vt:lpstr>Picture</vt:lpstr>
      <vt:lpstr>Platforms and Tools for Educational Video Games – А Literature Review</vt:lpstr>
      <vt:lpstr>Agenda</vt:lpstr>
      <vt:lpstr>Introduction </vt:lpstr>
      <vt:lpstr>Serious Video Games for Learning</vt:lpstr>
      <vt:lpstr>Serious Problems with the Serious Games</vt:lpstr>
      <vt:lpstr>Software Tools for Creation of Educational Video Games</vt:lpstr>
      <vt:lpstr>Research Questions</vt:lpstr>
      <vt:lpstr>Methodology 1/2</vt:lpstr>
      <vt:lpstr>Methodology 2/2</vt:lpstr>
      <vt:lpstr>Inclusion/Exclusion Criteria</vt:lpstr>
      <vt:lpstr>Results</vt:lpstr>
      <vt:lpstr>Distribution of Publications Found in WoS and Scopus for the First 15 Countries</vt:lpstr>
      <vt:lpstr>Distribution of Publications Found in WoS and Scopus by Year</vt:lpstr>
      <vt:lpstr>Distribution of Publications Found in WoS and Scopus by Type</vt:lpstr>
      <vt:lpstr>Number of Publications About Types of Platforms and Tools plus Citations Found in Scopus and WoS</vt:lpstr>
      <vt:lpstr>Number of Publications About Platforms and Tools plus Citations Found in Scopus and WoS</vt:lpstr>
      <vt:lpstr>Pearson Correlations</vt:lpstr>
      <vt:lpstr>Discussion 1/2</vt:lpstr>
      <vt:lpstr>Discussion 2/2</vt:lpstr>
      <vt:lpstr>Limitations of the Study</vt:lpstr>
      <vt:lpstr>Conclusions</vt:lpstr>
      <vt:lpstr>Thank You for Your Attention!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Characteristics of Educational Video Games for STEM Education  — A Literature Review</dc:title>
  <dc:subject/>
  <dc:creator>Borislav</dc:creator>
  <cp:keywords/>
  <dc:description>generated using python-pptx</dc:description>
  <cp:lastModifiedBy>Boyan</cp:lastModifiedBy>
  <cp:revision>36</cp:revision>
  <dcterms:created xsi:type="dcterms:W3CDTF">2013-01-27T09:14:16Z</dcterms:created>
  <dcterms:modified xsi:type="dcterms:W3CDTF">2025-10-02T21:06:22Z</dcterms:modified>
  <cp:category/>
</cp:coreProperties>
</file>