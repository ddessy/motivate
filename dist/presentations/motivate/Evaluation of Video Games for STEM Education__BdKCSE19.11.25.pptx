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2.xml" ContentType="application/vnd.openxmlformats-officedocument.themeOverr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3.xml" ContentType="application/vnd.openxmlformats-officedocument.themeOverr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20" r:id="rId1"/>
  </p:sldMasterIdLst>
  <p:notesMasterIdLst>
    <p:notesMasterId r:id="rId24"/>
  </p:notesMasterIdLst>
  <p:sldIdLst>
    <p:sldId id="256" r:id="rId2"/>
    <p:sldId id="279" r:id="rId3"/>
    <p:sldId id="296" r:id="rId4"/>
    <p:sldId id="297" r:id="rId5"/>
    <p:sldId id="317" r:id="rId6"/>
    <p:sldId id="298" r:id="rId7"/>
    <p:sldId id="318" r:id="rId8"/>
    <p:sldId id="284" r:id="rId9"/>
    <p:sldId id="258" r:id="rId10"/>
    <p:sldId id="305" r:id="rId11"/>
    <p:sldId id="287" r:id="rId12"/>
    <p:sldId id="285" r:id="rId13"/>
    <p:sldId id="321" r:id="rId14"/>
    <p:sldId id="309" r:id="rId15"/>
    <p:sldId id="311" r:id="rId16"/>
    <p:sldId id="319" r:id="rId17"/>
    <p:sldId id="293" r:id="rId18"/>
    <p:sldId id="314" r:id="rId19"/>
    <p:sldId id="315" r:id="rId20"/>
    <p:sldId id="267" r:id="rId21"/>
    <p:sldId id="269" r:id="rId22"/>
    <p:sldId id="316"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192" y="48"/>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6.0589284559219761E-2"/>
          <c:y val="4.021485425894273E-2"/>
          <c:w val="0.92333186855076532"/>
          <c:h val="0.8320429454907321"/>
        </c:manualLayout>
      </c:layout>
      <c:lineChart>
        <c:grouping val="standard"/>
        <c:varyColors val="0"/>
        <c:ser>
          <c:idx val="0"/>
          <c:order val="0"/>
          <c:tx>
            <c:strRef>
              <c:f>data!$C$93</c:f>
              <c:strCache>
                <c:ptCount val="1"/>
                <c:pt idx="0">
                  <c:v>WoS</c:v>
                </c:pt>
              </c:strCache>
            </c:strRef>
          </c:tx>
          <c:spPr>
            <a:ln w="50800" cap="rnd">
              <a:solidFill>
                <a:srgbClr val="4472C4">
                  <a:lumMod val="75000"/>
                </a:srgbClr>
              </a:solidFill>
              <a:round/>
            </a:ln>
            <a:effectLst/>
          </c:spPr>
          <c:marker>
            <c:symbol val="square"/>
            <c:size val="8"/>
            <c:spPr>
              <a:solidFill>
                <a:srgbClr val="4472C4">
                  <a:lumMod val="75000"/>
                </a:srgbClr>
              </a:solidFill>
              <a:ln w="38100" cap="sq">
                <a:solidFill>
                  <a:srgbClr val="4472C4">
                    <a:lumMod val="75000"/>
                  </a:srgbClr>
                </a:solidFill>
              </a:ln>
              <a:effectLst/>
            </c:spPr>
          </c:marker>
          <c:cat>
            <c:numRef>
              <c:f>data!$B$94:$B$104</c:f>
              <c:numCache>
                <c:formatCode>General</c:formatCode>
                <c:ptCount val="11"/>
                <c:pt idx="0">
                  <c:v>2015</c:v>
                </c:pt>
                <c:pt idx="1">
                  <c:v>2016</c:v>
                </c:pt>
                <c:pt idx="2">
                  <c:v>2017</c:v>
                </c:pt>
                <c:pt idx="3">
                  <c:v>2018</c:v>
                </c:pt>
                <c:pt idx="4">
                  <c:v>2019</c:v>
                </c:pt>
                <c:pt idx="5">
                  <c:v>2020</c:v>
                </c:pt>
                <c:pt idx="6">
                  <c:v>2021</c:v>
                </c:pt>
                <c:pt idx="7">
                  <c:v>2022</c:v>
                </c:pt>
                <c:pt idx="8">
                  <c:v>2023</c:v>
                </c:pt>
                <c:pt idx="9">
                  <c:v>2024</c:v>
                </c:pt>
                <c:pt idx="10">
                  <c:v>2025</c:v>
                </c:pt>
              </c:numCache>
            </c:numRef>
          </c:cat>
          <c:val>
            <c:numRef>
              <c:f>data!$C$94:$C$104</c:f>
              <c:numCache>
                <c:formatCode>General</c:formatCode>
                <c:ptCount val="11"/>
                <c:pt idx="0">
                  <c:v>27</c:v>
                </c:pt>
                <c:pt idx="1">
                  <c:v>19</c:v>
                </c:pt>
                <c:pt idx="2">
                  <c:v>27</c:v>
                </c:pt>
                <c:pt idx="3">
                  <c:v>27</c:v>
                </c:pt>
                <c:pt idx="4">
                  <c:v>28</c:v>
                </c:pt>
                <c:pt idx="5">
                  <c:v>28</c:v>
                </c:pt>
                <c:pt idx="6">
                  <c:v>22</c:v>
                </c:pt>
                <c:pt idx="7">
                  <c:v>24</c:v>
                </c:pt>
                <c:pt idx="8">
                  <c:v>29</c:v>
                </c:pt>
                <c:pt idx="9">
                  <c:v>54</c:v>
                </c:pt>
                <c:pt idx="10">
                  <c:v>35</c:v>
                </c:pt>
              </c:numCache>
            </c:numRef>
          </c:val>
          <c:smooth val="0"/>
          <c:extLst>
            <c:ext xmlns:c16="http://schemas.microsoft.com/office/drawing/2014/chart" uri="{C3380CC4-5D6E-409C-BE32-E72D297353CC}">
              <c16:uniqueId val="{00000000-204D-4BBD-A9BF-914C48951CF3}"/>
            </c:ext>
          </c:extLst>
        </c:ser>
        <c:ser>
          <c:idx val="1"/>
          <c:order val="1"/>
          <c:tx>
            <c:strRef>
              <c:f>data!$D$93</c:f>
              <c:strCache>
                <c:ptCount val="1"/>
                <c:pt idx="0">
                  <c:v>Scopus</c:v>
                </c:pt>
              </c:strCache>
            </c:strRef>
          </c:tx>
          <c:spPr>
            <a:ln w="50800" cap="rnd">
              <a:solidFill>
                <a:srgbClr val="C00000"/>
              </a:solidFill>
              <a:round/>
              <a:headEnd w="lg" len="med"/>
            </a:ln>
            <a:effectLst/>
          </c:spPr>
          <c:marker>
            <c:symbol val="diamond"/>
            <c:size val="10"/>
            <c:spPr>
              <a:solidFill>
                <a:srgbClr val="C00000"/>
              </a:solidFill>
              <a:ln w="38100">
                <a:solidFill>
                  <a:srgbClr val="C00000"/>
                </a:solidFill>
              </a:ln>
              <a:effectLst/>
            </c:spPr>
          </c:marker>
          <c:cat>
            <c:numRef>
              <c:f>data!$B$94:$B$104</c:f>
              <c:numCache>
                <c:formatCode>General</c:formatCode>
                <c:ptCount val="11"/>
                <c:pt idx="0">
                  <c:v>2015</c:v>
                </c:pt>
                <c:pt idx="1">
                  <c:v>2016</c:v>
                </c:pt>
                <c:pt idx="2">
                  <c:v>2017</c:v>
                </c:pt>
                <c:pt idx="3">
                  <c:v>2018</c:v>
                </c:pt>
                <c:pt idx="4">
                  <c:v>2019</c:v>
                </c:pt>
                <c:pt idx="5">
                  <c:v>2020</c:v>
                </c:pt>
                <c:pt idx="6">
                  <c:v>2021</c:v>
                </c:pt>
                <c:pt idx="7">
                  <c:v>2022</c:v>
                </c:pt>
                <c:pt idx="8">
                  <c:v>2023</c:v>
                </c:pt>
                <c:pt idx="9">
                  <c:v>2024</c:v>
                </c:pt>
                <c:pt idx="10">
                  <c:v>2025</c:v>
                </c:pt>
              </c:numCache>
            </c:numRef>
          </c:cat>
          <c:val>
            <c:numRef>
              <c:f>data!$D$94:$D$104</c:f>
              <c:numCache>
                <c:formatCode>General</c:formatCode>
                <c:ptCount val="11"/>
                <c:pt idx="0">
                  <c:v>22</c:v>
                </c:pt>
                <c:pt idx="1">
                  <c:v>25</c:v>
                </c:pt>
                <c:pt idx="2">
                  <c:v>33</c:v>
                </c:pt>
                <c:pt idx="3">
                  <c:v>24</c:v>
                </c:pt>
                <c:pt idx="4">
                  <c:v>24</c:v>
                </c:pt>
                <c:pt idx="5">
                  <c:v>35</c:v>
                </c:pt>
                <c:pt idx="6">
                  <c:v>32</c:v>
                </c:pt>
                <c:pt idx="7">
                  <c:v>36</c:v>
                </c:pt>
                <c:pt idx="8">
                  <c:v>56</c:v>
                </c:pt>
                <c:pt idx="9">
                  <c:v>81</c:v>
                </c:pt>
                <c:pt idx="10">
                  <c:v>56</c:v>
                </c:pt>
              </c:numCache>
            </c:numRef>
          </c:val>
          <c:smooth val="0"/>
          <c:extLst>
            <c:ext xmlns:c16="http://schemas.microsoft.com/office/drawing/2014/chart" uri="{C3380CC4-5D6E-409C-BE32-E72D297353CC}">
              <c16:uniqueId val="{00000001-204D-4BBD-A9BF-914C48951CF3}"/>
            </c:ext>
          </c:extLst>
        </c:ser>
        <c:dLbls>
          <c:showLegendKey val="0"/>
          <c:showVal val="0"/>
          <c:showCatName val="0"/>
          <c:showSerName val="0"/>
          <c:showPercent val="0"/>
          <c:showBubbleSize val="0"/>
        </c:dLbls>
        <c:marker val="1"/>
        <c:smooth val="0"/>
        <c:axId val="1158017279"/>
        <c:axId val="1157995679"/>
      </c:lineChart>
      <c:catAx>
        <c:axId val="115801727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ysClr val="windowText" lastClr="000000"/>
                </a:solidFill>
                <a:latin typeface="+mn-lt"/>
                <a:ea typeface="+mn-ea"/>
                <a:cs typeface="Times New Roman" panose="02020603050405020304" pitchFamily="18" charset="0"/>
              </a:defRPr>
            </a:pPr>
            <a:endParaRPr lang="bg-BG"/>
          </a:p>
        </c:txPr>
        <c:crossAx val="1157995679"/>
        <c:crosses val="autoZero"/>
        <c:auto val="1"/>
        <c:lblAlgn val="ctr"/>
        <c:lblOffset val="100"/>
        <c:noMultiLvlLbl val="0"/>
      </c:catAx>
      <c:valAx>
        <c:axId val="1157995679"/>
        <c:scaling>
          <c:orientation val="minMax"/>
          <c:max val="9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ysClr val="windowText" lastClr="000000"/>
                </a:solidFill>
                <a:latin typeface="+mn-lt"/>
                <a:ea typeface="+mn-ea"/>
                <a:cs typeface="Times New Roman" panose="02020603050405020304" pitchFamily="18" charset="0"/>
              </a:defRPr>
            </a:pPr>
            <a:endParaRPr lang="bg-BG"/>
          </a:p>
        </c:txPr>
        <c:crossAx val="1158017279"/>
        <c:crosses val="autoZero"/>
        <c:crossBetween val="between"/>
        <c:majorUnit val="10"/>
      </c:valAx>
      <c:spPr>
        <a:noFill/>
        <a:ln>
          <a:noFill/>
        </a:ln>
        <a:effectLst/>
      </c:spPr>
    </c:plotArea>
    <c:legend>
      <c:legendPos val="b"/>
      <c:layout>
        <c:manualLayout>
          <c:xMode val="edge"/>
          <c:yMode val="edge"/>
          <c:x val="0.17567630714579868"/>
          <c:y val="0.12272532217907962"/>
          <c:w val="0.41184970732355219"/>
          <c:h val="0.11503018945360362"/>
        </c:manualLayout>
      </c:layout>
      <c:overlay val="0"/>
      <c:spPr>
        <a:noFill/>
        <a:ln>
          <a:noFill/>
        </a:ln>
        <a:effectLst/>
      </c:spPr>
      <c:txPr>
        <a:bodyPr rot="0" spcFirstLastPara="1" vertOverflow="ellipsis" vert="horz" wrap="square" anchor="ctr" anchorCtr="1"/>
        <a:lstStyle/>
        <a:p>
          <a:pPr>
            <a:defRPr sz="2000" b="0" i="0" u="none" strike="noStrike" kern="1200" baseline="0">
              <a:solidFill>
                <a:sysClr val="windowText" lastClr="000000"/>
              </a:solidFill>
              <a:latin typeface="+mn-lt"/>
              <a:ea typeface="+mn-ea"/>
              <a:cs typeface="Times New Roman" panose="02020603050405020304" pitchFamily="18" charset="0"/>
            </a:defRPr>
          </a:pPr>
          <a:endParaRPr lang="bg-BG"/>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800">
          <a:solidFill>
            <a:sysClr val="windowText" lastClr="000000"/>
          </a:solidFill>
          <a:latin typeface="+mn-lt"/>
          <a:cs typeface="Times New Roman" panose="02020603050405020304" pitchFamily="18" charset="0"/>
        </a:defRPr>
      </a:pPr>
      <a:endParaRPr lang="bg-BG"/>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0.1129453974799471"/>
          <c:y val="6.5607159333533685E-2"/>
          <c:w val="0.86306342138285719"/>
          <c:h val="0.57455295717364085"/>
        </c:manualLayout>
      </c:layout>
      <c:bar3DChart>
        <c:barDir val="col"/>
        <c:grouping val="clustered"/>
        <c:varyColors val="0"/>
        <c:ser>
          <c:idx val="0"/>
          <c:order val="0"/>
          <c:spPr>
            <a:solidFill>
              <a:srgbClr val="70AD47">
                <a:lumMod val="75000"/>
              </a:srgbClr>
            </a:solidFill>
            <a:ln>
              <a:noFill/>
            </a:ln>
            <a:effectLst/>
            <a:sp3d/>
          </c:spPr>
          <c:invertIfNegative val="0"/>
          <c:dPt>
            <c:idx val="6"/>
            <c:invertIfNegative val="0"/>
            <c:bubble3D val="0"/>
            <c:spPr>
              <a:solidFill>
                <a:srgbClr val="70AD47">
                  <a:lumMod val="60000"/>
                  <a:lumOff val="40000"/>
                </a:srgbClr>
              </a:solidFill>
              <a:ln>
                <a:solidFill>
                  <a:srgbClr val="70AD47">
                    <a:lumMod val="60000"/>
                    <a:lumOff val="40000"/>
                  </a:srgbClr>
                </a:solidFill>
              </a:ln>
              <a:effectLst/>
              <a:sp3d>
                <a:contourClr>
                  <a:srgbClr val="70AD47">
                    <a:lumMod val="60000"/>
                    <a:lumOff val="40000"/>
                  </a:srgbClr>
                </a:contourClr>
              </a:sp3d>
            </c:spPr>
            <c:extLst>
              <c:ext xmlns:c16="http://schemas.microsoft.com/office/drawing/2014/chart" uri="{C3380CC4-5D6E-409C-BE32-E72D297353CC}">
                <c16:uniqueId val="{00000001-6951-4140-A040-A3F2A434C0D3}"/>
              </c:ext>
            </c:extLst>
          </c:dPt>
          <c:dLbls>
            <c:spPr>
              <a:noFill/>
              <a:ln>
                <a:noFill/>
              </a:ln>
              <a:effectLst/>
            </c:spPr>
            <c:txPr>
              <a:bodyPr rot="0" spcFirstLastPara="1" vertOverflow="ellipsis" vert="horz" wrap="square" lIns="38100" tIns="19050" rIns="38100" bIns="19050" anchor="ctr" anchorCtr="1">
                <a:spAutoFit/>
              </a:bodyPr>
              <a:lstStyle/>
              <a:p>
                <a:pPr>
                  <a:defRPr sz="2000" b="0" i="0" u="none" strike="noStrike" kern="1200" baseline="0">
                    <a:solidFill>
                      <a:schemeClr val="tx1">
                        <a:lumMod val="75000"/>
                        <a:lumOff val="25000"/>
                      </a:schemeClr>
                    </a:solidFill>
                    <a:latin typeface="+mn-lt"/>
                    <a:ea typeface="+mn-ea"/>
                    <a:cs typeface="+mn-cs"/>
                  </a:defRPr>
                </a:pPr>
                <a:endParaRPr lang="bg-BG"/>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Statistics!$H$5:$H$11</c:f>
              <c:strCache>
                <c:ptCount val="7"/>
                <c:pt idx="0">
                  <c:v>Journal article</c:v>
                </c:pt>
                <c:pt idx="1">
                  <c:v>Conference paper</c:v>
                </c:pt>
                <c:pt idx="2">
                  <c:v>Review</c:v>
                </c:pt>
                <c:pt idx="3">
                  <c:v>Book chapter</c:v>
                </c:pt>
                <c:pt idx="4">
                  <c:v>Book</c:v>
                </c:pt>
                <c:pt idx="6">
                  <c:v>Open access</c:v>
                </c:pt>
              </c:strCache>
            </c:strRef>
          </c:cat>
          <c:val>
            <c:numRef>
              <c:f>Statistics!$I$5:$I$11</c:f>
              <c:numCache>
                <c:formatCode>0%</c:formatCode>
                <c:ptCount val="7"/>
                <c:pt idx="0">
                  <c:v>0.46</c:v>
                </c:pt>
                <c:pt idx="1">
                  <c:v>0.45</c:v>
                </c:pt>
                <c:pt idx="2">
                  <c:v>0.05</c:v>
                </c:pt>
                <c:pt idx="3">
                  <c:v>0.03</c:v>
                </c:pt>
                <c:pt idx="4">
                  <c:v>0.01</c:v>
                </c:pt>
                <c:pt idx="6">
                  <c:v>0.35</c:v>
                </c:pt>
              </c:numCache>
            </c:numRef>
          </c:val>
          <c:extLst>
            <c:ext xmlns:c16="http://schemas.microsoft.com/office/drawing/2014/chart" uri="{C3380CC4-5D6E-409C-BE32-E72D297353CC}">
              <c16:uniqueId val="{00000002-6951-4140-A040-A3F2A434C0D3}"/>
            </c:ext>
          </c:extLst>
        </c:ser>
        <c:dLbls>
          <c:showLegendKey val="0"/>
          <c:showVal val="0"/>
          <c:showCatName val="0"/>
          <c:showSerName val="0"/>
          <c:showPercent val="0"/>
          <c:showBubbleSize val="0"/>
        </c:dLbls>
        <c:gapWidth val="150"/>
        <c:shape val="box"/>
        <c:axId val="1061852304"/>
        <c:axId val="1061853264"/>
        <c:axId val="0"/>
      </c:bar3DChart>
      <c:catAx>
        <c:axId val="1061852304"/>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bg-BG"/>
          </a:p>
        </c:txPr>
        <c:crossAx val="1061853264"/>
        <c:crosses val="autoZero"/>
        <c:auto val="1"/>
        <c:lblAlgn val="ctr"/>
        <c:lblOffset val="100"/>
        <c:noMultiLvlLbl val="0"/>
      </c:catAx>
      <c:valAx>
        <c:axId val="1061853264"/>
        <c:scaling>
          <c:orientation val="minMax"/>
        </c:scaling>
        <c:delete val="1"/>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crossAx val="1061852304"/>
        <c:crosses val="autoZero"/>
        <c:crossBetween val="between"/>
        <c:majorUnit val="0.1"/>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bg-BG"/>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5.5363380951806831E-2"/>
          <c:y val="2.9918245346292525E-2"/>
          <c:w val="0.94006593659311766"/>
          <c:h val="0.59081498511952202"/>
        </c:manualLayout>
      </c:layout>
      <c:barChart>
        <c:barDir val="col"/>
        <c:grouping val="clustered"/>
        <c:varyColors val="0"/>
        <c:ser>
          <c:idx val="0"/>
          <c:order val="0"/>
          <c:tx>
            <c:strRef>
              <c:f>data!$F$1</c:f>
              <c:strCache>
                <c:ptCount val="1"/>
                <c:pt idx="0">
                  <c:v>WoS</c:v>
                </c:pt>
              </c:strCache>
            </c:strRef>
          </c:tx>
          <c:spPr>
            <a:solidFill>
              <a:srgbClr val="4472C4">
                <a:lumMod val="75000"/>
              </a:srgbClr>
            </a:solidFill>
            <a:ln>
              <a:solidFill>
                <a:srgbClr val="4472C4">
                  <a:lumMod val="75000"/>
                </a:srgbClr>
              </a:solidFill>
            </a:ln>
            <a:effectLst/>
          </c:spPr>
          <c:invertIfNegative val="0"/>
          <c:cat>
            <c:strRef>
              <c:f>data!$E$2:$E$17</c:f>
              <c:strCache>
                <c:ptCount val="16"/>
                <c:pt idx="0">
                  <c:v>USA</c:v>
                </c:pt>
                <c:pt idx="1">
                  <c:v>Spain</c:v>
                </c:pt>
                <c:pt idx="2">
                  <c:v>UK</c:v>
                </c:pt>
                <c:pt idx="3">
                  <c:v>China</c:v>
                </c:pt>
                <c:pt idx="4">
                  <c:v>Germany</c:v>
                </c:pt>
                <c:pt idx="5">
                  <c:v>Greece</c:v>
                </c:pt>
                <c:pt idx="6">
                  <c:v>Australia</c:v>
                </c:pt>
                <c:pt idx="7">
                  <c:v>Italy</c:v>
                </c:pt>
                <c:pt idx="8">
                  <c:v>France</c:v>
                </c:pt>
                <c:pt idx="9">
                  <c:v>Netherlands</c:v>
                </c:pt>
                <c:pt idx="10">
                  <c:v>Brazil</c:v>
                </c:pt>
                <c:pt idx="11">
                  <c:v>Canada</c:v>
                </c:pt>
                <c:pt idx="12">
                  <c:v>Indonesia</c:v>
                </c:pt>
                <c:pt idx="13">
                  <c:v>Malaysia</c:v>
                </c:pt>
                <c:pt idx="14">
                  <c:v>Mexico</c:v>
                </c:pt>
                <c:pt idx="15">
                  <c:v>Portugal</c:v>
                </c:pt>
              </c:strCache>
            </c:strRef>
          </c:cat>
          <c:val>
            <c:numRef>
              <c:f>data!$F$2:$F$17</c:f>
              <c:numCache>
                <c:formatCode>General</c:formatCode>
                <c:ptCount val="16"/>
                <c:pt idx="0">
                  <c:v>57</c:v>
                </c:pt>
                <c:pt idx="1">
                  <c:v>49</c:v>
                </c:pt>
                <c:pt idx="2">
                  <c:v>26</c:v>
                </c:pt>
                <c:pt idx="3">
                  <c:v>24</c:v>
                </c:pt>
                <c:pt idx="4">
                  <c:v>19</c:v>
                </c:pt>
                <c:pt idx="5">
                  <c:v>14</c:v>
                </c:pt>
                <c:pt idx="6">
                  <c:v>13</c:v>
                </c:pt>
                <c:pt idx="7">
                  <c:v>13</c:v>
                </c:pt>
                <c:pt idx="8">
                  <c:v>11</c:v>
                </c:pt>
                <c:pt idx="9">
                  <c:v>11</c:v>
                </c:pt>
                <c:pt idx="10">
                  <c:v>10</c:v>
                </c:pt>
                <c:pt idx="11">
                  <c:v>10</c:v>
                </c:pt>
                <c:pt idx="12">
                  <c:v>8</c:v>
                </c:pt>
                <c:pt idx="13">
                  <c:v>8</c:v>
                </c:pt>
                <c:pt idx="14">
                  <c:v>8</c:v>
                </c:pt>
                <c:pt idx="15">
                  <c:v>8</c:v>
                </c:pt>
              </c:numCache>
            </c:numRef>
          </c:val>
          <c:extLst>
            <c:ext xmlns:c16="http://schemas.microsoft.com/office/drawing/2014/chart" uri="{C3380CC4-5D6E-409C-BE32-E72D297353CC}">
              <c16:uniqueId val="{00000000-F608-46F2-A8CC-9F2824610561}"/>
            </c:ext>
          </c:extLst>
        </c:ser>
        <c:ser>
          <c:idx val="1"/>
          <c:order val="1"/>
          <c:tx>
            <c:strRef>
              <c:f>data!$G$1</c:f>
              <c:strCache>
                <c:ptCount val="1"/>
                <c:pt idx="0">
                  <c:v>Scopus</c:v>
                </c:pt>
              </c:strCache>
            </c:strRef>
          </c:tx>
          <c:spPr>
            <a:solidFill>
              <a:srgbClr val="C00000"/>
            </a:solidFill>
            <a:ln>
              <a:solidFill>
                <a:srgbClr val="C00000"/>
              </a:solidFill>
            </a:ln>
            <a:effectLst/>
          </c:spPr>
          <c:invertIfNegative val="0"/>
          <c:cat>
            <c:strRef>
              <c:f>data!$E$2:$E$17</c:f>
              <c:strCache>
                <c:ptCount val="16"/>
                <c:pt idx="0">
                  <c:v>USA</c:v>
                </c:pt>
                <c:pt idx="1">
                  <c:v>Spain</c:v>
                </c:pt>
                <c:pt idx="2">
                  <c:v>UK</c:v>
                </c:pt>
                <c:pt idx="3">
                  <c:v>China</c:v>
                </c:pt>
                <c:pt idx="4">
                  <c:v>Germany</c:v>
                </c:pt>
                <c:pt idx="5">
                  <c:v>Greece</c:v>
                </c:pt>
                <c:pt idx="6">
                  <c:v>Australia</c:v>
                </c:pt>
                <c:pt idx="7">
                  <c:v>Italy</c:v>
                </c:pt>
                <c:pt idx="8">
                  <c:v>France</c:v>
                </c:pt>
                <c:pt idx="9">
                  <c:v>Netherlands</c:v>
                </c:pt>
                <c:pt idx="10">
                  <c:v>Brazil</c:v>
                </c:pt>
                <c:pt idx="11">
                  <c:v>Canada</c:v>
                </c:pt>
                <c:pt idx="12">
                  <c:v>Indonesia</c:v>
                </c:pt>
                <c:pt idx="13">
                  <c:v>Malaysia</c:v>
                </c:pt>
                <c:pt idx="14">
                  <c:v>Mexico</c:v>
                </c:pt>
                <c:pt idx="15">
                  <c:v>Portugal</c:v>
                </c:pt>
              </c:strCache>
            </c:strRef>
          </c:cat>
          <c:val>
            <c:numRef>
              <c:f>data!$G$2:$G$17</c:f>
              <c:numCache>
                <c:formatCode>General</c:formatCode>
                <c:ptCount val="16"/>
                <c:pt idx="0">
                  <c:v>77</c:v>
                </c:pt>
                <c:pt idx="1">
                  <c:v>40</c:v>
                </c:pt>
                <c:pt idx="2">
                  <c:v>29</c:v>
                </c:pt>
                <c:pt idx="3">
                  <c:v>32</c:v>
                </c:pt>
                <c:pt idx="4">
                  <c:v>24</c:v>
                </c:pt>
                <c:pt idx="5">
                  <c:v>18</c:v>
                </c:pt>
                <c:pt idx="6">
                  <c:v>12</c:v>
                </c:pt>
                <c:pt idx="7">
                  <c:v>12</c:v>
                </c:pt>
                <c:pt idx="8">
                  <c:v>14</c:v>
                </c:pt>
                <c:pt idx="9">
                  <c:v>9</c:v>
                </c:pt>
                <c:pt idx="10">
                  <c:v>10</c:v>
                </c:pt>
                <c:pt idx="11">
                  <c:v>9</c:v>
                </c:pt>
                <c:pt idx="12">
                  <c:v>26</c:v>
                </c:pt>
                <c:pt idx="13">
                  <c:v>15</c:v>
                </c:pt>
                <c:pt idx="14">
                  <c:v>6</c:v>
                </c:pt>
                <c:pt idx="15">
                  <c:v>13</c:v>
                </c:pt>
              </c:numCache>
            </c:numRef>
          </c:val>
          <c:extLst>
            <c:ext xmlns:c16="http://schemas.microsoft.com/office/drawing/2014/chart" uri="{C3380CC4-5D6E-409C-BE32-E72D297353CC}">
              <c16:uniqueId val="{00000001-F608-46F2-A8CC-9F2824610561}"/>
            </c:ext>
          </c:extLst>
        </c:ser>
        <c:dLbls>
          <c:showLegendKey val="0"/>
          <c:showVal val="0"/>
          <c:showCatName val="0"/>
          <c:showSerName val="0"/>
          <c:showPercent val="0"/>
          <c:showBubbleSize val="0"/>
        </c:dLbls>
        <c:gapWidth val="219"/>
        <c:overlap val="-27"/>
        <c:axId val="1931231567"/>
        <c:axId val="1931212847"/>
      </c:barChart>
      <c:catAx>
        <c:axId val="193123156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ysClr val="windowText" lastClr="000000"/>
                </a:solidFill>
                <a:latin typeface="+mn-lt"/>
                <a:ea typeface="+mn-ea"/>
                <a:cs typeface="+mn-cs"/>
              </a:defRPr>
            </a:pPr>
            <a:endParaRPr lang="bg-BG"/>
          </a:p>
        </c:txPr>
        <c:crossAx val="1931212847"/>
        <c:crosses val="autoZero"/>
        <c:auto val="1"/>
        <c:lblAlgn val="ctr"/>
        <c:lblOffset val="100"/>
        <c:noMultiLvlLbl val="0"/>
      </c:catAx>
      <c:valAx>
        <c:axId val="1931212847"/>
        <c:scaling>
          <c:orientation val="minMax"/>
          <c:max val="8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ysClr val="windowText" lastClr="000000"/>
                </a:solidFill>
                <a:latin typeface="+mn-lt"/>
                <a:ea typeface="+mn-ea"/>
                <a:cs typeface="+mn-cs"/>
              </a:defRPr>
            </a:pPr>
            <a:endParaRPr lang="bg-BG"/>
          </a:p>
        </c:txPr>
        <c:crossAx val="1931231567"/>
        <c:crosses val="autoZero"/>
        <c:crossBetween val="between"/>
      </c:valAx>
      <c:spPr>
        <a:noFill/>
        <a:ln>
          <a:noFill/>
        </a:ln>
        <a:effectLst/>
      </c:spPr>
    </c:plotArea>
    <c:legend>
      <c:legendPos val="b"/>
      <c:layout>
        <c:manualLayout>
          <c:xMode val="edge"/>
          <c:yMode val="edge"/>
          <c:x val="0.41973629681508018"/>
          <c:y val="0.32672117655787125"/>
          <c:w val="0.26724447410789365"/>
          <c:h val="0.11505663082974996"/>
        </c:manualLayout>
      </c:layout>
      <c:overlay val="0"/>
      <c:spPr>
        <a:noFill/>
        <a:ln>
          <a:noFill/>
        </a:ln>
        <a:effectLst/>
      </c:spPr>
      <c:txPr>
        <a:bodyPr rot="0" spcFirstLastPara="1" vertOverflow="ellipsis" vert="horz" wrap="square" anchor="ctr" anchorCtr="1"/>
        <a:lstStyle/>
        <a:p>
          <a:pPr>
            <a:defRPr sz="2000" b="0" i="0" u="none" strike="noStrike" kern="1200" baseline="0">
              <a:solidFill>
                <a:sysClr val="windowText" lastClr="000000"/>
              </a:solidFill>
              <a:latin typeface="+mn-lt"/>
              <a:ea typeface="+mn-ea"/>
              <a:cs typeface="+mn-cs"/>
            </a:defRPr>
          </a:pPr>
          <a:endParaRPr lang="bg-BG"/>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800">
          <a:solidFill>
            <a:sysClr val="windowText" lastClr="000000"/>
          </a:solidFill>
        </a:defRPr>
      </a:pPr>
      <a:endParaRPr lang="bg-BG"/>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C65546-1E8A-4DA5-B658-F4168A002195}" type="datetimeFigureOut">
              <a:rPr lang="en-US" smtClean="0"/>
              <a:t>11/5/2025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325E3A-F460-4449-A5A6-F9A1453550B3}" type="slidenum">
              <a:rPr lang="en-US" smtClean="0"/>
              <a:t>‹#›</a:t>
            </a:fld>
            <a:endParaRPr lang="en-US"/>
          </a:p>
        </p:txBody>
      </p:sp>
    </p:spTree>
    <p:extLst>
      <p:ext uri="{BB962C8B-B14F-4D97-AF65-F5344CB8AC3E}">
        <p14:creationId xmlns:p14="http://schemas.microsoft.com/office/powerpoint/2010/main" val="16460453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9796361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88422-560C-A053-C88A-43EFBA8D89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2959F1-9306-0DE2-6C2C-996CDA787E65}"/>
              </a:ext>
            </a:extLst>
          </p:cNvPr>
          <p:cNvSpPr>
            <a:spLocks noGrp="1" noRot="1" noChangeAspect="1"/>
          </p:cNvSpPr>
          <p:nvPr>
            <p:ph type="sldImg" idx="2"/>
          </p:nvPr>
        </p:nvSpPr>
        <p:spPr>
          <a:xfrm>
            <a:off x="685800" y="1143000"/>
            <a:ext cx="5486400" cy="3086100"/>
          </a:xfrm>
        </p:spPr>
      </p:sp>
      <p:sp>
        <p:nvSpPr>
          <p:cNvPr id="3" name="Notes Placeholder 2">
            <a:extLst>
              <a:ext uri="{FF2B5EF4-FFF2-40B4-BE49-F238E27FC236}">
                <a16:creationId xmlns:a16="http://schemas.microsoft.com/office/drawing/2014/main" id="{7E18A219-7E09-6032-655E-326278343B87}"/>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25EAF7D5-739C-4130-9778-AD68167FAC14}"/>
              </a:ext>
            </a:extLst>
          </p:cNvPr>
          <p:cNvSpPr>
            <a:spLocks noGrp="1"/>
          </p:cNvSpPr>
          <p:nvPr>
            <p:ph type="sldNum" sz="quarter" idx="5"/>
          </p:nvPr>
        </p:nvSpPr>
        <p:spPr/>
      </p:sp>
    </p:spTree>
    <p:extLst>
      <p:ext uri="{BB962C8B-B14F-4D97-AF65-F5344CB8AC3E}">
        <p14:creationId xmlns:p14="http://schemas.microsoft.com/office/powerpoint/2010/main" val="37854804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6B060A-A4BE-97D1-9E03-994C98685E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7F9551-D6BB-04E8-9137-4E25EC077A64}"/>
              </a:ext>
            </a:extLst>
          </p:cNvPr>
          <p:cNvSpPr>
            <a:spLocks noGrp="1" noRot="1" noChangeAspect="1"/>
          </p:cNvSpPr>
          <p:nvPr>
            <p:ph type="sldImg" idx="2"/>
          </p:nvPr>
        </p:nvSpPr>
        <p:spPr>
          <a:xfrm>
            <a:off x="685800" y="1143000"/>
            <a:ext cx="5486400" cy="3086100"/>
          </a:xfrm>
        </p:spPr>
      </p:sp>
      <p:sp>
        <p:nvSpPr>
          <p:cNvPr id="3" name="Notes Placeholder 2">
            <a:extLst>
              <a:ext uri="{FF2B5EF4-FFF2-40B4-BE49-F238E27FC236}">
                <a16:creationId xmlns:a16="http://schemas.microsoft.com/office/drawing/2014/main" id="{44F475C8-5078-6437-8133-6333D73EE641}"/>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E25525AF-ABC5-4354-6562-7E98F7087C35}"/>
              </a:ext>
            </a:extLst>
          </p:cNvPr>
          <p:cNvSpPr>
            <a:spLocks noGrp="1"/>
          </p:cNvSpPr>
          <p:nvPr>
            <p:ph type="sldNum" sz="quarter" idx="5"/>
          </p:nvPr>
        </p:nvSpPr>
        <p:spPr/>
      </p:sp>
    </p:spTree>
    <p:extLst>
      <p:ext uri="{BB962C8B-B14F-4D97-AF65-F5344CB8AC3E}">
        <p14:creationId xmlns:p14="http://schemas.microsoft.com/office/powerpoint/2010/main" val="10079981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FA91B5-5CD0-36BF-1122-8C99CFD715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83BE60-3B35-12DA-1DBD-92AFB65218DB}"/>
              </a:ext>
            </a:extLst>
          </p:cNvPr>
          <p:cNvSpPr>
            <a:spLocks noGrp="1" noRot="1" noChangeAspect="1"/>
          </p:cNvSpPr>
          <p:nvPr>
            <p:ph type="sldImg" idx="2"/>
          </p:nvPr>
        </p:nvSpPr>
        <p:spPr>
          <a:xfrm>
            <a:off x="685800" y="1143000"/>
            <a:ext cx="5486400" cy="3086100"/>
          </a:xfrm>
        </p:spPr>
      </p:sp>
      <p:sp>
        <p:nvSpPr>
          <p:cNvPr id="3" name="Notes Placeholder 2">
            <a:extLst>
              <a:ext uri="{FF2B5EF4-FFF2-40B4-BE49-F238E27FC236}">
                <a16:creationId xmlns:a16="http://schemas.microsoft.com/office/drawing/2014/main" id="{1DD2DEC6-24F7-3600-BE22-7E12794F7AEE}"/>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A00A17E4-D81E-6BE8-6764-32897B0C2EF8}"/>
              </a:ext>
            </a:extLst>
          </p:cNvPr>
          <p:cNvSpPr>
            <a:spLocks noGrp="1"/>
          </p:cNvSpPr>
          <p:nvPr>
            <p:ph type="sldNum" sz="quarter" idx="5"/>
          </p:nvPr>
        </p:nvSpPr>
        <p:spPr/>
      </p:sp>
    </p:spTree>
    <p:extLst>
      <p:ext uri="{BB962C8B-B14F-4D97-AF65-F5344CB8AC3E}">
        <p14:creationId xmlns:p14="http://schemas.microsoft.com/office/powerpoint/2010/main" val="39606703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1A6624-373A-AC0F-B544-547142376A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1A53CA-61AA-6DB9-E637-99446A77586B}"/>
              </a:ext>
            </a:extLst>
          </p:cNvPr>
          <p:cNvSpPr>
            <a:spLocks noGrp="1" noRot="1" noChangeAspect="1"/>
          </p:cNvSpPr>
          <p:nvPr>
            <p:ph type="sldImg" idx="2"/>
          </p:nvPr>
        </p:nvSpPr>
        <p:spPr>
          <a:xfrm>
            <a:off x="685800" y="1143000"/>
            <a:ext cx="5486400" cy="3086100"/>
          </a:xfrm>
        </p:spPr>
      </p:sp>
      <p:sp>
        <p:nvSpPr>
          <p:cNvPr id="3" name="Notes Placeholder 2">
            <a:extLst>
              <a:ext uri="{FF2B5EF4-FFF2-40B4-BE49-F238E27FC236}">
                <a16:creationId xmlns:a16="http://schemas.microsoft.com/office/drawing/2014/main" id="{A36838FA-BF2C-7A50-367C-9FB20181C7FA}"/>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21729DA1-6E7F-3838-68F3-31F75BC0FDE8}"/>
              </a:ext>
            </a:extLst>
          </p:cNvPr>
          <p:cNvSpPr>
            <a:spLocks noGrp="1"/>
          </p:cNvSpPr>
          <p:nvPr>
            <p:ph type="sldNum" sz="quarter" idx="5"/>
          </p:nvPr>
        </p:nvSpPr>
        <p:spPr/>
      </p:sp>
    </p:spTree>
    <p:extLst>
      <p:ext uri="{BB962C8B-B14F-4D97-AF65-F5344CB8AC3E}">
        <p14:creationId xmlns:p14="http://schemas.microsoft.com/office/powerpoint/2010/main" val="8956846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DBA64E-EB49-7A67-D02A-AE596434DC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F2D727-3840-7F74-D3B3-2E51CA254D23}"/>
              </a:ext>
            </a:extLst>
          </p:cNvPr>
          <p:cNvSpPr>
            <a:spLocks noGrp="1" noRot="1" noChangeAspect="1"/>
          </p:cNvSpPr>
          <p:nvPr>
            <p:ph type="sldImg" idx="2"/>
          </p:nvPr>
        </p:nvSpPr>
        <p:spPr>
          <a:xfrm>
            <a:off x="685800" y="1143000"/>
            <a:ext cx="5486400" cy="3086100"/>
          </a:xfrm>
        </p:spPr>
      </p:sp>
      <p:sp>
        <p:nvSpPr>
          <p:cNvPr id="3" name="Notes Placeholder 2">
            <a:extLst>
              <a:ext uri="{FF2B5EF4-FFF2-40B4-BE49-F238E27FC236}">
                <a16:creationId xmlns:a16="http://schemas.microsoft.com/office/drawing/2014/main" id="{7D740840-D0E2-FDF1-2FD6-5B72D57EE286}"/>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A57179D2-49A8-80CA-F82F-24DDDCD0CB88}"/>
              </a:ext>
            </a:extLst>
          </p:cNvPr>
          <p:cNvSpPr>
            <a:spLocks noGrp="1"/>
          </p:cNvSpPr>
          <p:nvPr>
            <p:ph type="sldNum" sz="quarter" idx="5"/>
          </p:nvPr>
        </p:nvSpPr>
        <p:spPr/>
      </p:sp>
    </p:spTree>
    <p:extLst>
      <p:ext uri="{BB962C8B-B14F-4D97-AF65-F5344CB8AC3E}">
        <p14:creationId xmlns:p14="http://schemas.microsoft.com/office/powerpoint/2010/main" val="14753577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1312487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bg-BG"/>
              <a:t>BdKCSE'2025</a:t>
            </a:r>
            <a:endParaRPr lang="en-US"/>
          </a:p>
        </p:txBody>
      </p:sp>
      <p:sp>
        <p:nvSpPr>
          <p:cNvPr id="5" name="Footer Placeholder 4"/>
          <p:cNvSpPr>
            <a:spLocks noGrp="1"/>
          </p:cNvSpPr>
          <p:nvPr>
            <p:ph type="ftr" sz="quarter" idx="11"/>
          </p:nvPr>
        </p:nvSpPr>
        <p:spPr/>
        <p:txBody>
          <a:bodyPr/>
          <a:lstStyle/>
          <a:p>
            <a:r>
              <a:rPr lang="en-US"/>
              <a:t>Evaluation of Video Games for STEM Education </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996460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838200" y="6432552"/>
            <a:ext cx="2743200" cy="365125"/>
          </a:xfrm>
        </p:spPr>
        <p:txBody>
          <a:bodyPr/>
          <a:lstStyle>
            <a:lvl1pPr>
              <a:defRPr sz="1600"/>
            </a:lvl1pPr>
          </a:lstStyle>
          <a:p>
            <a:r>
              <a:rPr lang="bg-BG" dirty="0"/>
              <a:t>BdKCSE'2025</a:t>
            </a:r>
            <a:endParaRPr lang="en-US" dirty="0"/>
          </a:p>
        </p:txBody>
      </p:sp>
      <p:sp>
        <p:nvSpPr>
          <p:cNvPr id="5" name="Footer Placeholder 4"/>
          <p:cNvSpPr>
            <a:spLocks noGrp="1"/>
          </p:cNvSpPr>
          <p:nvPr>
            <p:ph type="ftr" sz="quarter" idx="11"/>
          </p:nvPr>
        </p:nvSpPr>
        <p:spPr>
          <a:xfrm>
            <a:off x="4038600" y="6443438"/>
            <a:ext cx="4114800" cy="365125"/>
          </a:xfrm>
        </p:spPr>
        <p:txBody>
          <a:bodyPr/>
          <a:lstStyle>
            <a:lvl1pPr>
              <a:defRPr sz="1600"/>
            </a:lvl1pPr>
          </a:lstStyle>
          <a:p>
            <a:r>
              <a:rPr lang="en-US" dirty="0"/>
              <a:t>Evaluation of Video Games for STEM Education </a:t>
            </a:r>
          </a:p>
        </p:txBody>
      </p:sp>
      <p:sp>
        <p:nvSpPr>
          <p:cNvPr id="6" name="Slide Number Placeholder 5"/>
          <p:cNvSpPr>
            <a:spLocks noGrp="1"/>
          </p:cNvSpPr>
          <p:nvPr>
            <p:ph type="sldNum" sz="quarter" idx="12"/>
          </p:nvPr>
        </p:nvSpPr>
        <p:spPr>
          <a:xfrm>
            <a:off x="8610600" y="6443438"/>
            <a:ext cx="2743200" cy="365125"/>
          </a:xfrm>
        </p:spPr>
        <p:txBody>
          <a:bodyPr/>
          <a:lstStyle>
            <a:lvl1pPr>
              <a:defRPr sz="1600"/>
            </a:lvl1pPr>
          </a:lstStyle>
          <a:p>
            <a:fld id="{C1FF6DA9-008F-8B48-92A6-B652298478BF}" type="slidenum">
              <a:rPr lang="en-US" smtClean="0"/>
              <a:pPr/>
              <a:t>‹#›</a:t>
            </a:fld>
            <a:endParaRPr lang="en-US" dirty="0"/>
          </a:p>
        </p:txBody>
      </p:sp>
      <p:sp>
        <p:nvSpPr>
          <p:cNvPr id="7" name="Rectangle 6">
            <a:extLst>
              <a:ext uri="{FF2B5EF4-FFF2-40B4-BE49-F238E27FC236}">
                <a16:creationId xmlns:a16="http://schemas.microsoft.com/office/drawing/2014/main" id="{8995D1A8-5AB1-4617-1170-DF02AA1BB0B0}"/>
              </a:ext>
            </a:extLst>
          </p:cNvPr>
          <p:cNvSpPr/>
          <p:nvPr userDrawn="1"/>
        </p:nvSpPr>
        <p:spPr>
          <a:xfrm>
            <a:off x="603193" y="829877"/>
            <a:ext cx="10954229"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sz="1800"/>
          </a:p>
        </p:txBody>
      </p:sp>
    </p:spTree>
    <p:extLst>
      <p:ext uri="{BB962C8B-B14F-4D97-AF65-F5344CB8AC3E}">
        <p14:creationId xmlns:p14="http://schemas.microsoft.com/office/powerpoint/2010/main" val="5430037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bg-BG"/>
              <a:t>BdKCSE'2025</a:t>
            </a:r>
            <a:endParaRPr lang="en-US"/>
          </a:p>
        </p:txBody>
      </p:sp>
      <p:sp>
        <p:nvSpPr>
          <p:cNvPr id="5" name="Footer Placeholder 4"/>
          <p:cNvSpPr>
            <a:spLocks noGrp="1"/>
          </p:cNvSpPr>
          <p:nvPr>
            <p:ph type="ftr" sz="quarter" idx="11"/>
          </p:nvPr>
        </p:nvSpPr>
        <p:spPr/>
        <p:txBody>
          <a:bodyPr/>
          <a:lstStyle/>
          <a:p>
            <a:r>
              <a:rPr lang="en-US"/>
              <a:t>Evaluation of Video Games for STEM Education </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279782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bg-BG"/>
              <a:t>BdKCSE'2025</a:t>
            </a:r>
            <a:endParaRPr lang="en-US"/>
          </a:p>
        </p:txBody>
      </p:sp>
      <p:sp>
        <p:nvSpPr>
          <p:cNvPr id="6" name="Footer Placeholder 5"/>
          <p:cNvSpPr>
            <a:spLocks noGrp="1"/>
          </p:cNvSpPr>
          <p:nvPr>
            <p:ph type="ftr" sz="quarter" idx="11"/>
          </p:nvPr>
        </p:nvSpPr>
        <p:spPr/>
        <p:txBody>
          <a:bodyPr/>
          <a:lstStyle/>
          <a:p>
            <a:r>
              <a:rPr lang="en-US"/>
              <a:t>Evaluation of Video Games for STEM Education </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711361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bg-BG"/>
              <a:t>BdKCSE'2025</a:t>
            </a:r>
            <a:endParaRPr lang="en-US"/>
          </a:p>
        </p:txBody>
      </p:sp>
      <p:sp>
        <p:nvSpPr>
          <p:cNvPr id="8" name="Footer Placeholder 7"/>
          <p:cNvSpPr>
            <a:spLocks noGrp="1"/>
          </p:cNvSpPr>
          <p:nvPr>
            <p:ph type="ftr" sz="quarter" idx="11"/>
          </p:nvPr>
        </p:nvSpPr>
        <p:spPr/>
        <p:txBody>
          <a:bodyPr/>
          <a:lstStyle/>
          <a:p>
            <a:r>
              <a:rPr lang="en-US"/>
              <a:t>Evaluation of Video Games for STEM Education </a:t>
            </a:r>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72641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bg-BG"/>
              <a:t>BdKCSE'2025</a:t>
            </a:r>
            <a:endParaRPr lang="en-US"/>
          </a:p>
        </p:txBody>
      </p:sp>
      <p:sp>
        <p:nvSpPr>
          <p:cNvPr id="4" name="Footer Placeholder 3"/>
          <p:cNvSpPr>
            <a:spLocks noGrp="1"/>
          </p:cNvSpPr>
          <p:nvPr>
            <p:ph type="ftr" sz="quarter" idx="11"/>
          </p:nvPr>
        </p:nvSpPr>
        <p:spPr/>
        <p:txBody>
          <a:bodyPr/>
          <a:lstStyle/>
          <a:p>
            <a:r>
              <a:rPr lang="en-US"/>
              <a:t>Evaluation of Video Games for STEM Education </a:t>
            </a:r>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795240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bg-BG"/>
              <a:t>BdKCSE'2025</a:t>
            </a:r>
            <a:endParaRPr lang="en-US"/>
          </a:p>
        </p:txBody>
      </p:sp>
      <p:sp>
        <p:nvSpPr>
          <p:cNvPr id="3" name="Footer Placeholder 2"/>
          <p:cNvSpPr>
            <a:spLocks noGrp="1"/>
          </p:cNvSpPr>
          <p:nvPr>
            <p:ph type="ftr" sz="quarter" idx="11"/>
          </p:nvPr>
        </p:nvSpPr>
        <p:spPr/>
        <p:txBody>
          <a:bodyPr/>
          <a:lstStyle/>
          <a:p>
            <a:r>
              <a:rPr lang="en-US"/>
              <a:t>Evaluation of Video Games for STEM Education </a:t>
            </a:r>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240570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bg-BG"/>
              <a:t>BdKCSE'2025</a:t>
            </a:r>
            <a:endParaRPr lang="en-US"/>
          </a:p>
        </p:txBody>
      </p:sp>
      <p:sp>
        <p:nvSpPr>
          <p:cNvPr id="6" name="Footer Placeholder 5"/>
          <p:cNvSpPr>
            <a:spLocks noGrp="1"/>
          </p:cNvSpPr>
          <p:nvPr>
            <p:ph type="ftr" sz="quarter" idx="11"/>
          </p:nvPr>
        </p:nvSpPr>
        <p:spPr/>
        <p:txBody>
          <a:bodyPr/>
          <a:lstStyle/>
          <a:p>
            <a:r>
              <a:rPr lang="en-US"/>
              <a:t>Evaluation of Video Games for STEM Education </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928144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bg-BG"/>
              <a:t>BdKCSE'2025</a:t>
            </a:r>
            <a:endParaRPr lang="en-US"/>
          </a:p>
        </p:txBody>
      </p:sp>
      <p:sp>
        <p:nvSpPr>
          <p:cNvPr id="6" name="Footer Placeholder 5"/>
          <p:cNvSpPr>
            <a:spLocks noGrp="1"/>
          </p:cNvSpPr>
          <p:nvPr>
            <p:ph type="ftr" sz="quarter" idx="11"/>
          </p:nvPr>
        </p:nvSpPr>
        <p:spPr/>
        <p:txBody>
          <a:bodyPr/>
          <a:lstStyle/>
          <a:p>
            <a:r>
              <a:rPr lang="en-US"/>
              <a:t>Evaluation of Video Games for STEM Education </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455110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bg-BG"/>
              <a:t>BdKCSE'2025</a:t>
            </a:r>
            <a:endParaRPr lang="en-US"/>
          </a:p>
        </p:txBody>
      </p:sp>
      <p:sp>
        <p:nvSpPr>
          <p:cNvPr id="5" name="Footer Placeholder 4"/>
          <p:cNvSpPr>
            <a:spLocks noGrp="1"/>
          </p:cNvSpPr>
          <p:nvPr>
            <p:ph type="ftr" sz="quarter" idx="11"/>
          </p:nvPr>
        </p:nvSpPr>
        <p:spPr/>
        <p:txBody>
          <a:bodyPr/>
          <a:lstStyle/>
          <a:p>
            <a:r>
              <a:rPr lang="en-US"/>
              <a:t>Evaluation of Video Games for STEM Education </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31894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bg-BG"/>
              <a:t>BdKCSE'2025</a:t>
            </a:r>
            <a:endParaRPr lang="en-US"/>
          </a:p>
        </p:txBody>
      </p:sp>
      <p:sp>
        <p:nvSpPr>
          <p:cNvPr id="5" name="Footer Placeholder 4"/>
          <p:cNvSpPr>
            <a:spLocks noGrp="1"/>
          </p:cNvSpPr>
          <p:nvPr>
            <p:ph type="ftr" sz="quarter" idx="11"/>
          </p:nvPr>
        </p:nvSpPr>
        <p:spPr/>
        <p:txBody>
          <a:bodyPr/>
          <a:lstStyle/>
          <a:p>
            <a:r>
              <a:rPr lang="en-US"/>
              <a:t>Evaluation of Video Games for STEM Education </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885353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bg-BG"/>
              <a:t>BdKCSE'2025</a:t>
            </a:r>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Evaluation of Video Games for STEM Education </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539565232"/>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oleObject" Target="../embeddings/oleObject1.bin"/><Relationship Id="rId7" Type="http://schemas.openxmlformats.org/officeDocument/2006/relationships/image" Target="../media/image4.png"/><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wm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jpeg"/><Relationship Id="rId1" Type="http://schemas.openxmlformats.org/officeDocument/2006/relationships/slideLayout" Target="../slideLayouts/slideLayout2.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186489" y="1727513"/>
            <a:ext cx="5856141" cy="1374725"/>
          </a:xfrm>
        </p:spPr>
        <p:txBody>
          <a:bodyPr anchor="b">
            <a:noAutofit/>
          </a:bodyPr>
          <a:lstStyle/>
          <a:p>
            <a:pPr algn="ctr"/>
            <a:r>
              <a:rPr lang="en-US" sz="4000" b="1" dirty="0">
                <a:solidFill>
                  <a:schemeClr val="tx2">
                    <a:lumMod val="75000"/>
                  </a:schemeClr>
                </a:solidFill>
              </a:rPr>
              <a:t>Evaluation of Video Games for STEM Education </a:t>
            </a:r>
          </a:p>
        </p:txBody>
      </p:sp>
      <p:sp>
        <p:nvSpPr>
          <p:cNvPr id="3" name="Subtitle 2"/>
          <p:cNvSpPr>
            <a:spLocks noGrp="1"/>
          </p:cNvSpPr>
          <p:nvPr>
            <p:ph type="subTitle" idx="1"/>
          </p:nvPr>
        </p:nvSpPr>
        <p:spPr>
          <a:xfrm>
            <a:off x="1960290" y="3372356"/>
            <a:ext cx="7453222" cy="2516330"/>
          </a:xfrm>
        </p:spPr>
        <p:txBody>
          <a:bodyPr anchor="t">
            <a:normAutofit fontScale="25000" lnSpcReduction="20000"/>
          </a:bodyPr>
          <a:lstStyle/>
          <a:p>
            <a:pPr>
              <a:lnSpc>
                <a:spcPct val="120000"/>
              </a:lnSpc>
              <a:spcBef>
                <a:spcPts val="600"/>
              </a:spcBef>
            </a:pPr>
            <a:r>
              <a:rPr lang="bg-BG" sz="9600" b="1" dirty="0">
                <a:solidFill>
                  <a:schemeClr val="accent1">
                    <a:lumMod val="75000"/>
                  </a:schemeClr>
                </a:solidFill>
              </a:rPr>
              <a:t>• </a:t>
            </a:r>
            <a:r>
              <a:rPr lang="en-US" sz="9600" b="1" dirty="0">
                <a:solidFill>
                  <a:schemeClr val="accent1">
                    <a:lumMod val="75000"/>
                  </a:schemeClr>
                </a:solidFill>
              </a:rPr>
              <a:t>Valentina Terzieva</a:t>
            </a:r>
            <a:r>
              <a:rPr lang="en-US" sz="9600" b="1" baseline="30000" dirty="0">
                <a:solidFill>
                  <a:schemeClr val="accent1">
                    <a:lumMod val="75000"/>
                  </a:schemeClr>
                </a:solidFill>
              </a:rPr>
              <a:t>1</a:t>
            </a:r>
            <a:r>
              <a:rPr lang="en-US" sz="9600" b="1" dirty="0">
                <a:solidFill>
                  <a:schemeClr val="accent1">
                    <a:lumMod val="75000"/>
                  </a:schemeClr>
                </a:solidFill>
              </a:rPr>
              <a:t>   </a:t>
            </a:r>
            <a:r>
              <a:rPr lang="bg-BG" sz="9600" b="1" dirty="0">
                <a:solidFill>
                  <a:schemeClr val="accent1">
                    <a:lumMod val="75000"/>
                  </a:schemeClr>
                </a:solidFill>
              </a:rPr>
              <a:t>• </a:t>
            </a:r>
            <a:r>
              <a:rPr lang="en-US" sz="9600" b="1" dirty="0" err="1">
                <a:solidFill>
                  <a:schemeClr val="accent1">
                    <a:lumMod val="75000"/>
                  </a:schemeClr>
                </a:solidFill>
              </a:rPr>
              <a:t>Boyan</a:t>
            </a:r>
            <a:r>
              <a:rPr lang="en-US" sz="9600" b="1" dirty="0">
                <a:solidFill>
                  <a:schemeClr val="accent1">
                    <a:lumMod val="75000"/>
                  </a:schemeClr>
                </a:solidFill>
              </a:rPr>
              <a:t> Bontchev</a:t>
            </a:r>
            <a:r>
              <a:rPr lang="en-US" sz="9600" b="1" baseline="30000" dirty="0">
                <a:solidFill>
                  <a:schemeClr val="accent1">
                    <a:lumMod val="75000"/>
                  </a:schemeClr>
                </a:solidFill>
              </a:rPr>
              <a:t>2</a:t>
            </a:r>
            <a:r>
              <a:rPr lang="en-US" sz="9600" b="1" dirty="0">
                <a:solidFill>
                  <a:schemeClr val="accent1">
                    <a:lumMod val="75000"/>
                  </a:schemeClr>
                </a:solidFill>
              </a:rPr>
              <a:t> </a:t>
            </a:r>
          </a:p>
          <a:p>
            <a:pPr>
              <a:lnSpc>
                <a:spcPct val="120000"/>
              </a:lnSpc>
              <a:spcBef>
                <a:spcPts val="600"/>
              </a:spcBef>
            </a:pPr>
            <a:r>
              <a:rPr lang="bg-BG" sz="9600" b="1" dirty="0">
                <a:solidFill>
                  <a:schemeClr val="accent1">
                    <a:lumMod val="75000"/>
                  </a:schemeClr>
                </a:solidFill>
              </a:rPr>
              <a:t>• </a:t>
            </a:r>
            <a:r>
              <a:rPr lang="en-US" sz="9600" b="1" dirty="0" err="1">
                <a:solidFill>
                  <a:schemeClr val="accent1">
                    <a:lumMod val="75000"/>
                  </a:schemeClr>
                </a:solidFill>
              </a:rPr>
              <a:t>Yavor</a:t>
            </a:r>
            <a:r>
              <a:rPr lang="en-US" sz="9600" b="1" dirty="0">
                <a:solidFill>
                  <a:schemeClr val="accent1">
                    <a:lumMod val="75000"/>
                  </a:schemeClr>
                </a:solidFill>
              </a:rPr>
              <a:t> Dankov</a:t>
            </a:r>
            <a:r>
              <a:rPr lang="en-US" sz="9600" b="1" baseline="30000" dirty="0">
                <a:solidFill>
                  <a:schemeClr val="accent1">
                    <a:lumMod val="75000"/>
                  </a:schemeClr>
                </a:solidFill>
              </a:rPr>
              <a:t>2</a:t>
            </a:r>
            <a:r>
              <a:rPr lang="bg-BG" sz="9600" b="1" dirty="0">
                <a:solidFill>
                  <a:schemeClr val="accent1">
                    <a:lumMod val="75000"/>
                  </a:schemeClr>
                </a:solidFill>
              </a:rPr>
              <a:t> </a:t>
            </a:r>
            <a:r>
              <a:rPr lang="en-US" sz="9600" b="1" dirty="0">
                <a:solidFill>
                  <a:schemeClr val="accent1">
                    <a:lumMod val="75000"/>
                  </a:schemeClr>
                </a:solidFill>
              </a:rPr>
              <a:t>  </a:t>
            </a:r>
            <a:r>
              <a:rPr lang="bg-BG" sz="9600" b="1" dirty="0">
                <a:solidFill>
                  <a:schemeClr val="accent1">
                    <a:lumMod val="75000"/>
                  </a:schemeClr>
                </a:solidFill>
              </a:rPr>
              <a:t>• </a:t>
            </a:r>
            <a:r>
              <a:rPr lang="en-US" sz="9600" b="1" dirty="0" err="1">
                <a:solidFill>
                  <a:schemeClr val="accent1">
                    <a:lumMod val="75000"/>
                  </a:schemeClr>
                </a:solidFill>
              </a:rPr>
              <a:t>Aleksandar</a:t>
            </a:r>
            <a:r>
              <a:rPr lang="en-US" sz="9600" b="1" dirty="0">
                <a:solidFill>
                  <a:schemeClr val="accent1">
                    <a:lumMod val="75000"/>
                  </a:schemeClr>
                </a:solidFill>
              </a:rPr>
              <a:t> Dimov</a:t>
            </a:r>
            <a:r>
              <a:rPr lang="en-US" sz="9600" b="1" baseline="30000" dirty="0">
                <a:solidFill>
                  <a:schemeClr val="accent1">
                    <a:lumMod val="75000"/>
                  </a:schemeClr>
                </a:solidFill>
              </a:rPr>
              <a:t>2</a:t>
            </a:r>
          </a:p>
          <a:p>
            <a:pPr algn="ctr"/>
            <a:endParaRPr lang="en-US" sz="9600" dirty="0">
              <a:solidFill>
                <a:schemeClr val="accent5">
                  <a:lumMod val="50000"/>
                </a:schemeClr>
              </a:solidFill>
            </a:endParaRPr>
          </a:p>
          <a:p>
            <a:pPr>
              <a:spcBef>
                <a:spcPts val="600"/>
              </a:spcBef>
            </a:pPr>
            <a:r>
              <a:rPr lang="en-US" sz="8000" b="1" baseline="30000" dirty="0">
                <a:solidFill>
                  <a:srgbClr val="4472C4">
                    <a:lumMod val="75000"/>
                  </a:srgbClr>
                </a:solidFill>
              </a:rPr>
              <a:t>1</a:t>
            </a:r>
            <a:r>
              <a:rPr lang="en-US" sz="8000" dirty="0">
                <a:solidFill>
                  <a:schemeClr val="accent5">
                    <a:lumMod val="50000"/>
                  </a:schemeClr>
                </a:solidFill>
              </a:rPr>
              <a:t>Institute of Information and Communication Technologies</a:t>
            </a:r>
          </a:p>
          <a:p>
            <a:pPr>
              <a:spcBef>
                <a:spcPts val="600"/>
              </a:spcBef>
            </a:pPr>
            <a:r>
              <a:rPr lang="en-US" sz="8000" dirty="0">
                <a:solidFill>
                  <a:schemeClr val="accent5">
                    <a:lumMod val="50000"/>
                  </a:schemeClr>
                </a:solidFill>
              </a:rPr>
              <a:t>Bulgarian Academy of Sciences</a:t>
            </a:r>
          </a:p>
          <a:p>
            <a:pPr>
              <a:spcBef>
                <a:spcPts val="1200"/>
              </a:spcBef>
            </a:pPr>
            <a:r>
              <a:rPr lang="en-US" sz="8000" b="1" baseline="30000" dirty="0">
                <a:solidFill>
                  <a:srgbClr val="4472C4">
                    <a:lumMod val="75000"/>
                  </a:srgbClr>
                </a:solidFill>
              </a:rPr>
              <a:t>2</a:t>
            </a:r>
            <a:r>
              <a:rPr lang="en-US" sz="8000" dirty="0">
                <a:solidFill>
                  <a:schemeClr val="accent5">
                    <a:lumMod val="50000"/>
                  </a:schemeClr>
                </a:solidFill>
              </a:rPr>
              <a:t>Faculty of Mathematics and Informatics, </a:t>
            </a:r>
          </a:p>
          <a:p>
            <a:pPr algn="ctr">
              <a:spcBef>
                <a:spcPts val="600"/>
              </a:spcBef>
            </a:pPr>
            <a:r>
              <a:rPr lang="en-US" sz="8000" dirty="0">
                <a:solidFill>
                  <a:schemeClr val="accent5">
                    <a:lumMod val="50000"/>
                  </a:schemeClr>
                </a:solidFill>
              </a:rPr>
              <a:t>Sofia University “St. </a:t>
            </a:r>
            <a:r>
              <a:rPr lang="en-US" sz="8000" dirty="0" err="1">
                <a:solidFill>
                  <a:schemeClr val="accent5">
                    <a:lumMod val="50000"/>
                  </a:schemeClr>
                </a:solidFill>
              </a:rPr>
              <a:t>Kliment</a:t>
            </a:r>
            <a:r>
              <a:rPr lang="en-US" sz="8000" dirty="0">
                <a:solidFill>
                  <a:schemeClr val="accent5">
                    <a:lumMod val="50000"/>
                  </a:schemeClr>
                </a:solidFill>
              </a:rPr>
              <a:t> </a:t>
            </a:r>
            <a:r>
              <a:rPr lang="en-US" sz="8000" dirty="0" err="1">
                <a:solidFill>
                  <a:schemeClr val="accent5">
                    <a:lumMod val="50000"/>
                  </a:schemeClr>
                </a:solidFill>
              </a:rPr>
              <a:t>Ohridski</a:t>
            </a:r>
            <a:r>
              <a:rPr lang="en-US" sz="8000" dirty="0">
                <a:solidFill>
                  <a:schemeClr val="accent5">
                    <a:lumMod val="50000"/>
                  </a:schemeClr>
                </a:solidFill>
              </a:rPr>
              <a:t>”, Bulgaria</a:t>
            </a:r>
          </a:p>
          <a:p>
            <a:pPr algn="ctr"/>
            <a:endParaRPr lang="en-US" i="1" dirty="0"/>
          </a:p>
        </p:txBody>
      </p:sp>
      <p:graphicFrame>
        <p:nvGraphicFramePr>
          <p:cNvPr id="7" name="Обект 11">
            <a:extLst>
              <a:ext uri="{FF2B5EF4-FFF2-40B4-BE49-F238E27FC236}">
                <a16:creationId xmlns:a16="http://schemas.microsoft.com/office/drawing/2014/main" id="{BBA67734-F66C-43A7-A610-E8068D0FB8A3}"/>
              </a:ext>
            </a:extLst>
          </p:cNvPr>
          <p:cNvGraphicFramePr>
            <a:graphicFrameLocks noChangeAspect="1"/>
          </p:cNvGraphicFramePr>
          <p:nvPr>
            <p:extLst>
              <p:ext uri="{D42A27DB-BD31-4B8C-83A1-F6EECF244321}">
                <p14:modId xmlns:p14="http://schemas.microsoft.com/office/powerpoint/2010/main" val="270177313"/>
              </p:ext>
            </p:extLst>
          </p:nvPr>
        </p:nvGraphicFramePr>
        <p:xfrm>
          <a:off x="10077947" y="4757173"/>
          <a:ext cx="928511" cy="1139536"/>
        </p:xfrm>
        <a:graphic>
          <a:graphicData uri="http://schemas.openxmlformats.org/presentationml/2006/ole">
            <mc:AlternateContent xmlns:mc="http://schemas.openxmlformats.org/markup-compatibility/2006">
              <mc:Choice xmlns:v="urn:schemas-microsoft-com:vml" Requires="v">
                <p:oleObj spid="_x0000_s1026" name="Picture" r:id="rId3" imgW="1991868" imgH="2458212" progId="Word.Picture.8">
                  <p:embed/>
                </p:oleObj>
              </mc:Choice>
              <mc:Fallback>
                <p:oleObj name="Picture" r:id="rId3" imgW="1991868" imgH="2458212" progId="Word.Picture.8">
                  <p:embed/>
                  <p:pic>
                    <p:nvPicPr>
                      <p:cNvPr id="12" name="Обект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77947" y="4757173"/>
                        <a:ext cx="928511" cy="1139536"/>
                      </a:xfrm>
                      <a:prstGeom prst="rect">
                        <a:avLst/>
                      </a:prstGeom>
                      <a:noFill/>
                    </p:spPr>
                  </p:pic>
                </p:oleObj>
              </mc:Fallback>
            </mc:AlternateContent>
          </a:graphicData>
        </a:graphic>
      </p:graphicFrame>
      <p:pic>
        <p:nvPicPr>
          <p:cNvPr id="11" name="Picture 10">
            <a:extLst>
              <a:ext uri="{FF2B5EF4-FFF2-40B4-BE49-F238E27FC236}">
                <a16:creationId xmlns:a16="http://schemas.microsoft.com/office/drawing/2014/main" id="{5422EFC6-DA40-4BB5-BB1B-B295E0F43FF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788906" y="1892509"/>
            <a:ext cx="1266847" cy="1209729"/>
          </a:xfrm>
          <a:prstGeom prst="rect">
            <a:avLst/>
          </a:prstGeom>
        </p:spPr>
      </p:pic>
      <p:pic>
        <p:nvPicPr>
          <p:cNvPr id="13" name="Picture 12">
            <a:extLst>
              <a:ext uri="{FF2B5EF4-FFF2-40B4-BE49-F238E27FC236}">
                <a16:creationId xmlns:a16="http://schemas.microsoft.com/office/drawing/2014/main" id="{15B4094C-77A1-4D84-8FB7-D38E597B03D6}"/>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619" t="3081" r="5092" b="6152"/>
          <a:stretch/>
        </p:blipFill>
        <p:spPr>
          <a:xfrm>
            <a:off x="9256141" y="1892509"/>
            <a:ext cx="1229980" cy="1204576"/>
          </a:xfrm>
          <a:prstGeom prst="rect">
            <a:avLst/>
          </a:prstGeom>
        </p:spPr>
      </p:pic>
      <p:pic>
        <p:nvPicPr>
          <p:cNvPr id="4" name="Picture 3"/>
          <p:cNvPicPr>
            <a:picLocks noChangeAspect="1"/>
          </p:cNvPicPr>
          <p:nvPr/>
        </p:nvPicPr>
        <p:blipFill>
          <a:blip r:embed="rId7"/>
          <a:stretch>
            <a:fillRect/>
          </a:stretch>
        </p:blipFill>
        <p:spPr>
          <a:xfrm>
            <a:off x="2610713" y="143888"/>
            <a:ext cx="7162800" cy="1508760"/>
          </a:xfrm>
          <a:prstGeom prst="rect">
            <a:avLst/>
          </a:prstGeom>
        </p:spPr>
      </p:pic>
      <p:pic>
        <p:nvPicPr>
          <p:cNvPr id="5" name="Picture 4"/>
          <p:cNvPicPr>
            <a:picLocks noChangeAspect="1"/>
          </p:cNvPicPr>
          <p:nvPr/>
        </p:nvPicPr>
        <p:blipFill>
          <a:blip r:embed="rId8"/>
          <a:stretch>
            <a:fillRect/>
          </a:stretch>
        </p:blipFill>
        <p:spPr>
          <a:xfrm>
            <a:off x="495761" y="4962014"/>
            <a:ext cx="1755800" cy="926672"/>
          </a:xfrm>
          <a:prstGeom prst="rect">
            <a:avLst/>
          </a:prstGeom>
        </p:spPr>
      </p:pic>
      <p:sp>
        <p:nvSpPr>
          <p:cNvPr id="6" name="Rectangle 5"/>
          <p:cNvSpPr/>
          <p:nvPr/>
        </p:nvSpPr>
        <p:spPr>
          <a:xfrm>
            <a:off x="1137839" y="6163957"/>
            <a:ext cx="9868619" cy="369332"/>
          </a:xfrm>
          <a:prstGeom prst="rect">
            <a:avLst/>
          </a:prstGeom>
        </p:spPr>
        <p:txBody>
          <a:bodyPr wrap="square">
            <a:spAutoFit/>
          </a:bodyPr>
          <a:lstStyle/>
          <a:p>
            <a:pPr algn="ctr"/>
            <a:r>
              <a:rPr lang="en-US" b="1" dirty="0">
                <a:solidFill>
                  <a:schemeClr val="accent1">
                    <a:lumMod val="50000"/>
                  </a:schemeClr>
                </a:solidFill>
              </a:rPr>
              <a:t>9th IEEE “Big Data, Knowledge and Control Systems Engineering” Conference BdKCSE’2025</a:t>
            </a:r>
          </a:p>
        </p:txBody>
      </p:sp>
      <p:sp>
        <p:nvSpPr>
          <p:cNvPr id="8" name="Rectangle 7"/>
          <p:cNvSpPr/>
          <p:nvPr/>
        </p:nvSpPr>
        <p:spPr>
          <a:xfrm>
            <a:off x="4069548" y="6476781"/>
            <a:ext cx="4005199" cy="369332"/>
          </a:xfrm>
          <a:prstGeom prst="rect">
            <a:avLst/>
          </a:prstGeom>
        </p:spPr>
        <p:txBody>
          <a:bodyPr wrap="none">
            <a:spAutoFit/>
          </a:bodyPr>
          <a:lstStyle/>
          <a:p>
            <a:pPr>
              <a:spcBef>
                <a:spcPts val="1200"/>
              </a:spcBef>
            </a:pPr>
            <a:r>
              <a:rPr lang="en-US" i="1" dirty="0">
                <a:solidFill>
                  <a:schemeClr val="accent2">
                    <a:lumMod val="75000"/>
                  </a:schemeClr>
                </a:solidFill>
              </a:rPr>
              <a:t>06–07 November 2025, </a:t>
            </a:r>
            <a:r>
              <a:rPr lang="en-US" i="1" dirty="0" err="1">
                <a:solidFill>
                  <a:schemeClr val="accent2">
                    <a:lumMod val="75000"/>
                  </a:schemeClr>
                </a:solidFill>
              </a:rPr>
              <a:t>Bankya</a:t>
            </a:r>
            <a:r>
              <a:rPr lang="en-US" i="1" dirty="0">
                <a:solidFill>
                  <a:schemeClr val="accent2">
                    <a:lumMod val="75000"/>
                  </a:schemeClr>
                </a:solidFill>
              </a:rPr>
              <a:t>, Bulgaria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arn(inVertic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circle(in)">
                                      <p:cBhvr>
                                        <p:cTn id="12" dur="2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46516" y="136524"/>
            <a:ext cx="7878535" cy="802369"/>
          </a:xfrm>
        </p:spPr>
        <p:txBody>
          <a:bodyPr anchor="ctr">
            <a:normAutofit/>
          </a:bodyPr>
          <a:lstStyle/>
          <a:p>
            <a:pPr algn="ctr"/>
            <a:r>
              <a:rPr lang="en-US" sz="3600" b="1" dirty="0">
                <a:solidFill>
                  <a:schemeClr val="accent1">
                    <a:lumMod val="50000"/>
                  </a:schemeClr>
                </a:solidFill>
                <a:latin typeface="Calibri" panose="020F0502020204030204" pitchFamily="34" charset="0"/>
                <a:cs typeface="Calibri" panose="020F0502020204030204" pitchFamily="34" charset="0"/>
              </a:rPr>
              <a:t>INTRODUCTION</a:t>
            </a:r>
            <a:r>
              <a:rPr lang="en-US" sz="4000" b="1" dirty="0"/>
              <a:t> </a:t>
            </a:r>
          </a:p>
        </p:txBody>
      </p:sp>
      <p:sp>
        <p:nvSpPr>
          <p:cNvPr id="3" name="Content Placeholder 2"/>
          <p:cNvSpPr>
            <a:spLocks noGrp="1"/>
          </p:cNvSpPr>
          <p:nvPr>
            <p:ph idx="1"/>
          </p:nvPr>
        </p:nvSpPr>
        <p:spPr>
          <a:xfrm>
            <a:off x="359227" y="1121454"/>
            <a:ext cx="11495315" cy="5137832"/>
          </a:xfrm>
        </p:spPr>
        <p:txBody>
          <a:bodyPr anchor="t">
            <a:normAutofit fontScale="92500" lnSpcReduction="10000"/>
          </a:bodyPr>
          <a:lstStyle/>
          <a:p>
            <a:pPr marL="446088" indent="-446088">
              <a:buFont typeface="Wingdings" panose="05000000000000000000" pitchFamily="2" charset="2"/>
              <a:buChar char="q"/>
            </a:pPr>
            <a:r>
              <a:rPr lang="en-US" b="1" dirty="0">
                <a:solidFill>
                  <a:schemeClr val="accent1">
                    <a:lumMod val="50000"/>
                  </a:schemeClr>
                </a:solidFill>
              </a:rPr>
              <a:t>Educational video games</a:t>
            </a:r>
            <a:r>
              <a:rPr lang="en-US" dirty="0"/>
              <a:t> (EVGs)</a:t>
            </a:r>
          </a:p>
          <a:p>
            <a:pPr marL="719138" indent="-273050">
              <a:lnSpc>
                <a:spcPct val="100000"/>
              </a:lnSpc>
              <a:spcBef>
                <a:spcPts val="600"/>
              </a:spcBef>
              <a:buFont typeface="Wingdings" panose="05000000000000000000" pitchFamily="2" charset="2"/>
              <a:buChar char="§"/>
            </a:pPr>
            <a:r>
              <a:rPr lang="en-US" sz="2600" dirty="0"/>
              <a:t>employ successful game-based learning practices, modifying traditional teaching methods for young learners</a:t>
            </a:r>
          </a:p>
          <a:p>
            <a:pPr marL="719138" indent="-273050">
              <a:lnSpc>
                <a:spcPct val="100000"/>
              </a:lnSpc>
              <a:spcBef>
                <a:spcPts val="600"/>
              </a:spcBef>
              <a:buFont typeface="Wingdings" panose="05000000000000000000" pitchFamily="2" charset="2"/>
              <a:buChar char="§"/>
            </a:pPr>
            <a:r>
              <a:rPr lang="en-US" sz="2600" dirty="0"/>
              <a:t>motivate students to adopt new knowledge and skills </a:t>
            </a:r>
          </a:p>
          <a:p>
            <a:pPr marL="719138" indent="-273050">
              <a:lnSpc>
                <a:spcPct val="100000"/>
              </a:lnSpc>
              <a:spcBef>
                <a:spcPts val="600"/>
              </a:spcBef>
              <a:buFont typeface="Wingdings" panose="05000000000000000000" pitchFamily="2" charset="2"/>
              <a:buChar char="§"/>
            </a:pPr>
            <a:r>
              <a:rPr lang="en-US" sz="2600" dirty="0"/>
              <a:t>offer opportunity to apply various methods of content customization and adaptation to meet learners’ needs and achieve the goals set by the educators</a:t>
            </a:r>
          </a:p>
          <a:p>
            <a:pPr marL="446088" indent="-446088">
              <a:buFont typeface="Wingdings" panose="05000000000000000000" pitchFamily="2" charset="2"/>
              <a:buChar char="q"/>
              <a:tabLst>
                <a:tab pos="533400" algn="l"/>
              </a:tabLst>
            </a:pPr>
            <a:r>
              <a:rPr lang="en-US" b="1" dirty="0">
                <a:solidFill>
                  <a:schemeClr val="accent1">
                    <a:lumMod val="50000"/>
                  </a:schemeClr>
                </a:solidFill>
              </a:rPr>
              <a:t>Science, Technology, Engineering, Mathematics (STEM) education </a:t>
            </a:r>
          </a:p>
          <a:p>
            <a:pPr marL="719138" indent="-273050">
              <a:buFont typeface="Wingdings" panose="05000000000000000000" pitchFamily="2" charset="2"/>
              <a:buChar char="§"/>
              <a:tabLst>
                <a:tab pos="719138" algn="l"/>
              </a:tabLst>
            </a:pPr>
            <a:r>
              <a:rPr lang="en-US" dirty="0"/>
              <a:t>promote the development of foundational competencies and transversal skills</a:t>
            </a:r>
          </a:p>
          <a:p>
            <a:pPr marL="719138" indent="-273050">
              <a:buFont typeface="Wingdings" panose="05000000000000000000" pitchFamily="2" charset="2"/>
              <a:buChar char="§"/>
              <a:tabLst>
                <a:tab pos="533400" algn="l"/>
              </a:tabLst>
            </a:pPr>
            <a:r>
              <a:rPr lang="en-US" dirty="0"/>
              <a:t>provide students with the knowledge needed to meet the demands of the 21st century</a:t>
            </a:r>
          </a:p>
          <a:p>
            <a:pPr marL="446088" indent="-446088">
              <a:buFont typeface="Wingdings" panose="05000000000000000000" pitchFamily="2" charset="2"/>
              <a:buChar char="q"/>
              <a:tabLst>
                <a:tab pos="446088" algn="l"/>
              </a:tabLst>
            </a:pPr>
            <a:r>
              <a:rPr lang="en-US" b="1" dirty="0">
                <a:solidFill>
                  <a:schemeClr val="accent1">
                    <a:lumMod val="50000"/>
                  </a:schemeClr>
                </a:solidFill>
              </a:rPr>
              <a:t>Study goal </a:t>
            </a:r>
          </a:p>
          <a:p>
            <a:pPr marL="719138">
              <a:lnSpc>
                <a:spcPct val="100000"/>
              </a:lnSpc>
              <a:spcBef>
                <a:spcPts val="600"/>
              </a:spcBef>
              <a:buFont typeface="Wingdings" panose="05000000000000000000" pitchFamily="2" charset="2"/>
              <a:buChar char="§"/>
            </a:pPr>
            <a:r>
              <a:rPr lang="en-US" sz="2600" dirty="0"/>
              <a:t>to assess the use of video games in STEM education and the methods for evaluating them, focusing on the last decade</a:t>
            </a:r>
          </a:p>
        </p:txBody>
      </p:sp>
      <p:sp>
        <p:nvSpPr>
          <p:cNvPr id="4" name="Date Placeholder 3">
            <a:extLst>
              <a:ext uri="{FF2B5EF4-FFF2-40B4-BE49-F238E27FC236}">
                <a16:creationId xmlns:a16="http://schemas.microsoft.com/office/drawing/2014/main" id="{0A4E9357-4D5D-44F2-AFA8-A1221357AB19}"/>
              </a:ext>
            </a:extLst>
          </p:cNvPr>
          <p:cNvSpPr>
            <a:spLocks noGrp="1"/>
          </p:cNvSpPr>
          <p:nvPr>
            <p:ph type="dt" sz="half" idx="10"/>
          </p:nvPr>
        </p:nvSpPr>
        <p:spPr>
          <a:xfrm>
            <a:off x="762000" y="6492874"/>
            <a:ext cx="2743200" cy="365125"/>
          </a:xfrm>
        </p:spPr>
        <p:txBody>
          <a:bodyPr/>
          <a:lstStyle/>
          <a:p>
            <a:r>
              <a:rPr lang="bg-BG" dirty="0">
                <a:solidFill>
                  <a:schemeClr val="accent1">
                    <a:lumMod val="50000"/>
                  </a:schemeClr>
                </a:solidFill>
              </a:rPr>
              <a:t>BdKCSE'2025</a:t>
            </a:r>
            <a:endParaRPr lang="en-US" dirty="0">
              <a:solidFill>
                <a:schemeClr val="accent1">
                  <a:lumMod val="50000"/>
                </a:schemeClr>
              </a:solidFill>
            </a:endParaRPr>
          </a:p>
        </p:txBody>
      </p:sp>
      <p:sp>
        <p:nvSpPr>
          <p:cNvPr id="5" name="Footer Placeholder 4">
            <a:extLst>
              <a:ext uri="{FF2B5EF4-FFF2-40B4-BE49-F238E27FC236}">
                <a16:creationId xmlns:a16="http://schemas.microsoft.com/office/drawing/2014/main" id="{70154B7C-F41E-47CB-9FA8-4CD1C3AA8C20}"/>
              </a:ext>
            </a:extLst>
          </p:cNvPr>
          <p:cNvSpPr>
            <a:spLocks noGrp="1"/>
          </p:cNvSpPr>
          <p:nvPr>
            <p:ph type="ftr" sz="quarter" idx="11"/>
          </p:nvPr>
        </p:nvSpPr>
        <p:spPr>
          <a:xfrm>
            <a:off x="4038600" y="6492875"/>
            <a:ext cx="4114800" cy="365125"/>
          </a:xfrm>
        </p:spPr>
        <p:txBody>
          <a:bodyPr/>
          <a:lstStyle/>
          <a:p>
            <a:r>
              <a:rPr lang="en-US" dirty="0">
                <a:solidFill>
                  <a:schemeClr val="accent1">
                    <a:lumMod val="50000"/>
                  </a:schemeClr>
                </a:solidFill>
              </a:rPr>
              <a:t>Evaluation of Video Games for STEM Education </a:t>
            </a:r>
          </a:p>
        </p:txBody>
      </p:sp>
      <p:sp>
        <p:nvSpPr>
          <p:cNvPr id="6" name="Slide Number Placeholder 5">
            <a:extLst>
              <a:ext uri="{FF2B5EF4-FFF2-40B4-BE49-F238E27FC236}">
                <a16:creationId xmlns:a16="http://schemas.microsoft.com/office/drawing/2014/main" id="{D05B5081-175A-42C1-9A14-541A1853ABDB}"/>
              </a:ext>
            </a:extLst>
          </p:cNvPr>
          <p:cNvSpPr>
            <a:spLocks noGrp="1"/>
          </p:cNvSpPr>
          <p:nvPr>
            <p:ph type="sldNum" sz="quarter" idx="12"/>
          </p:nvPr>
        </p:nvSpPr>
        <p:spPr>
          <a:xfrm>
            <a:off x="8915400" y="6470196"/>
            <a:ext cx="2743200" cy="365125"/>
          </a:xfrm>
        </p:spPr>
        <p:txBody>
          <a:bodyPr/>
          <a:lstStyle/>
          <a:p>
            <a:fld id="{C1FF6DA9-008F-8B48-92A6-B652298478BF}" type="slidenum">
              <a:rPr lang="en-US" smtClean="0"/>
              <a:pPr/>
              <a:t>2</a:t>
            </a:fld>
            <a:endParaRPr lang="en-US" dirty="0"/>
          </a:p>
        </p:txBody>
      </p:sp>
    </p:spTree>
    <p:extLst>
      <p:ext uri="{BB962C8B-B14F-4D97-AF65-F5344CB8AC3E}">
        <p14:creationId xmlns:p14="http://schemas.microsoft.com/office/powerpoint/2010/main" val="7445629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9ED883-B6B6-84BC-2001-782C5B2852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410AE7-92F1-E586-1542-24D0C2AFDCE2}"/>
              </a:ext>
            </a:extLst>
          </p:cNvPr>
          <p:cNvSpPr>
            <a:spLocks noGrp="1"/>
          </p:cNvSpPr>
          <p:nvPr>
            <p:ph type="title"/>
          </p:nvPr>
        </p:nvSpPr>
        <p:spPr>
          <a:xfrm>
            <a:off x="76200" y="256270"/>
            <a:ext cx="12017829" cy="547908"/>
          </a:xfrm>
        </p:spPr>
        <p:txBody>
          <a:bodyPr anchor="ctr">
            <a:noAutofit/>
          </a:bodyPr>
          <a:lstStyle/>
          <a:p>
            <a:pPr algn="ctr"/>
            <a:r>
              <a:rPr lang="en-US" sz="3400" b="1" dirty="0">
                <a:solidFill>
                  <a:schemeClr val="accent1">
                    <a:lumMod val="50000"/>
                  </a:schemeClr>
                </a:solidFill>
                <a:latin typeface="Calibri" panose="020F0502020204030204" pitchFamily="34" charset="0"/>
                <a:cs typeface="Calibri" panose="020F0502020204030204" pitchFamily="34" charset="0"/>
              </a:rPr>
              <a:t>Educational video games in STEM education </a:t>
            </a:r>
            <a:r>
              <a:rPr lang="en-US" sz="3400" b="1" dirty="0">
                <a:solidFill>
                  <a:schemeClr val="accent1">
                    <a:lumMod val="50000"/>
                  </a:schemeClr>
                </a:solidFill>
              </a:rPr>
              <a:t> </a:t>
            </a:r>
          </a:p>
        </p:txBody>
      </p:sp>
      <p:sp>
        <p:nvSpPr>
          <p:cNvPr id="3" name="Content Placeholder 2">
            <a:extLst>
              <a:ext uri="{FF2B5EF4-FFF2-40B4-BE49-F238E27FC236}">
                <a16:creationId xmlns:a16="http://schemas.microsoft.com/office/drawing/2014/main" id="{3423607E-F0D9-923C-E3A9-C15628B75BDD}"/>
              </a:ext>
            </a:extLst>
          </p:cNvPr>
          <p:cNvSpPr>
            <a:spLocks noGrp="1"/>
          </p:cNvSpPr>
          <p:nvPr>
            <p:ph idx="1"/>
          </p:nvPr>
        </p:nvSpPr>
        <p:spPr>
          <a:xfrm>
            <a:off x="838200" y="1164770"/>
            <a:ext cx="10515600" cy="5094515"/>
          </a:xfrm>
        </p:spPr>
        <p:txBody>
          <a:bodyPr anchor="t">
            <a:normAutofit/>
          </a:bodyPr>
          <a:lstStyle/>
          <a:p>
            <a:pPr marL="446088" indent="-446088">
              <a:lnSpc>
                <a:spcPct val="100000"/>
              </a:lnSpc>
              <a:spcBef>
                <a:spcPts val="600"/>
              </a:spcBef>
              <a:buFont typeface="Wingdings" panose="05000000000000000000" pitchFamily="2" charset="2"/>
              <a:buChar char="q"/>
            </a:pPr>
            <a:r>
              <a:rPr lang="en-US" dirty="0"/>
              <a:t>Learning with games is recognized as an </a:t>
            </a:r>
            <a:r>
              <a:rPr lang="en-US" b="1" dirty="0">
                <a:solidFill>
                  <a:schemeClr val="accent1">
                    <a:lumMod val="50000"/>
                  </a:schemeClr>
                </a:solidFill>
              </a:rPr>
              <a:t>effective</a:t>
            </a:r>
            <a:r>
              <a:rPr lang="en-US" dirty="0"/>
              <a:t> and </a:t>
            </a:r>
            <a:r>
              <a:rPr lang="en-US" b="1" dirty="0">
                <a:solidFill>
                  <a:schemeClr val="accent1">
                    <a:lumMod val="50000"/>
                  </a:schemeClr>
                </a:solidFill>
              </a:rPr>
              <a:t>practical</a:t>
            </a:r>
            <a:r>
              <a:rPr lang="en-US" dirty="0"/>
              <a:t> approach to gain students’ interest in STEM education</a:t>
            </a:r>
          </a:p>
          <a:p>
            <a:pPr marL="446088" lvl="0" indent="-446088">
              <a:lnSpc>
                <a:spcPct val="100000"/>
              </a:lnSpc>
              <a:spcBef>
                <a:spcPts val="600"/>
              </a:spcBef>
              <a:buFont typeface="Wingdings" panose="05000000000000000000" pitchFamily="2" charset="2"/>
              <a:buChar char="q"/>
              <a:defRPr/>
            </a:pPr>
            <a:r>
              <a:rPr lang="en-US" dirty="0"/>
              <a:t>Characteristics of STEM education:</a:t>
            </a:r>
          </a:p>
          <a:p>
            <a:pPr lvl="1">
              <a:lnSpc>
                <a:spcPct val="100000"/>
              </a:lnSpc>
              <a:spcBef>
                <a:spcPts val="600"/>
              </a:spcBef>
              <a:buFont typeface="Wingdings" panose="05000000000000000000" pitchFamily="2" charset="2"/>
              <a:buChar char="§"/>
              <a:defRPr/>
            </a:pPr>
            <a:r>
              <a:rPr lang="en-US" dirty="0"/>
              <a:t>Possibility to conduct experiments on real-world scenarios and applications</a:t>
            </a:r>
          </a:p>
          <a:p>
            <a:pPr lvl="1">
              <a:lnSpc>
                <a:spcPct val="100000"/>
              </a:lnSpc>
              <a:spcBef>
                <a:spcPts val="600"/>
              </a:spcBef>
              <a:buFont typeface="Wingdings" panose="05000000000000000000" pitchFamily="2" charset="2"/>
              <a:buChar char="§"/>
              <a:defRPr/>
            </a:pPr>
            <a:r>
              <a:rPr lang="en-US" dirty="0"/>
              <a:t>Incorporation of contemporary technologies and tools</a:t>
            </a:r>
          </a:p>
          <a:p>
            <a:pPr marL="446088" indent="-446088">
              <a:buFont typeface="Wingdings" panose="05000000000000000000" pitchFamily="2" charset="2"/>
              <a:buChar char="q"/>
            </a:pPr>
            <a:r>
              <a:rPr lang="en-US" dirty="0"/>
              <a:t>STEM focuses on the development of skills related to:</a:t>
            </a:r>
          </a:p>
          <a:p>
            <a:pPr lvl="1">
              <a:buFont typeface="Wingdings" panose="05000000000000000000" pitchFamily="2" charset="2"/>
              <a:buChar char="§"/>
            </a:pPr>
            <a:r>
              <a:rPr lang="en-US" dirty="0"/>
              <a:t>Problem-solving</a:t>
            </a:r>
          </a:p>
          <a:p>
            <a:pPr marL="1120775" lvl="1" indent="-457200">
              <a:buFont typeface="Wingdings" panose="05000000000000000000" pitchFamily="2" charset="2"/>
              <a:buChar char="§"/>
            </a:pPr>
            <a:r>
              <a:rPr lang="en-US" dirty="0"/>
              <a:t>Critical thinking</a:t>
            </a:r>
          </a:p>
          <a:p>
            <a:pPr marL="1393825" lvl="1" indent="-457200">
              <a:buFont typeface="Wingdings" panose="05000000000000000000" pitchFamily="2" charset="2"/>
              <a:buChar char="§"/>
            </a:pPr>
            <a:r>
              <a:rPr lang="en-US" dirty="0"/>
              <a:t>Data analysis</a:t>
            </a:r>
          </a:p>
          <a:p>
            <a:pPr marL="1665288" lvl="1" indent="-457200">
              <a:buFont typeface="Wingdings" panose="05000000000000000000" pitchFamily="2" charset="2"/>
              <a:buChar char="§"/>
            </a:pPr>
            <a:r>
              <a:rPr lang="en-US" dirty="0"/>
              <a:t>Quantitative reasoning skills</a:t>
            </a:r>
          </a:p>
          <a:p>
            <a:pPr marL="2024063" lvl="1" indent="-457200">
              <a:buFont typeface="Wingdings" panose="05000000000000000000" pitchFamily="2" charset="2"/>
              <a:buChar char="§"/>
            </a:pPr>
            <a:r>
              <a:rPr lang="en-US" dirty="0"/>
              <a:t>Applications in interdisciplinary education</a:t>
            </a:r>
          </a:p>
        </p:txBody>
      </p:sp>
      <p:sp>
        <p:nvSpPr>
          <p:cNvPr id="4" name="Date Placeholder 3">
            <a:extLst>
              <a:ext uri="{FF2B5EF4-FFF2-40B4-BE49-F238E27FC236}">
                <a16:creationId xmlns:a16="http://schemas.microsoft.com/office/drawing/2014/main" id="{C68959EA-B59A-2238-6D43-72A7B49AEBFC}"/>
              </a:ext>
            </a:extLst>
          </p:cNvPr>
          <p:cNvSpPr>
            <a:spLocks noGrp="1"/>
          </p:cNvSpPr>
          <p:nvPr>
            <p:ph type="dt" sz="half" idx="10"/>
          </p:nvPr>
        </p:nvSpPr>
        <p:spPr/>
        <p:txBody>
          <a:bodyPr/>
          <a:lstStyle/>
          <a:p>
            <a:r>
              <a:rPr lang="bg-BG"/>
              <a:t>BdKCSE'2025</a:t>
            </a:r>
            <a:endParaRPr lang="en-US"/>
          </a:p>
        </p:txBody>
      </p:sp>
      <p:sp>
        <p:nvSpPr>
          <p:cNvPr id="5" name="Footer Placeholder 4">
            <a:extLst>
              <a:ext uri="{FF2B5EF4-FFF2-40B4-BE49-F238E27FC236}">
                <a16:creationId xmlns:a16="http://schemas.microsoft.com/office/drawing/2014/main" id="{60C6FB01-1B16-0EB9-C4D4-7EE553FF288F}"/>
              </a:ext>
            </a:extLst>
          </p:cNvPr>
          <p:cNvSpPr>
            <a:spLocks noGrp="1"/>
          </p:cNvSpPr>
          <p:nvPr>
            <p:ph type="ftr" sz="quarter" idx="11"/>
          </p:nvPr>
        </p:nvSpPr>
        <p:spPr/>
        <p:txBody>
          <a:bodyPr/>
          <a:lstStyle/>
          <a:p>
            <a:r>
              <a:rPr lang="en-US"/>
              <a:t>Evaluation of Video Games for STEM Education </a:t>
            </a:r>
          </a:p>
        </p:txBody>
      </p:sp>
      <p:sp>
        <p:nvSpPr>
          <p:cNvPr id="6" name="Slide Number Placeholder 5">
            <a:extLst>
              <a:ext uri="{FF2B5EF4-FFF2-40B4-BE49-F238E27FC236}">
                <a16:creationId xmlns:a16="http://schemas.microsoft.com/office/drawing/2014/main" id="{B8ADCE7C-A038-4D35-A4E4-94CAE9DFC2F0}"/>
              </a:ext>
            </a:extLst>
          </p:cNvPr>
          <p:cNvSpPr>
            <a:spLocks noGrp="1"/>
          </p:cNvSpPr>
          <p:nvPr>
            <p:ph type="sldNum" sz="quarter" idx="12"/>
          </p:nvPr>
        </p:nvSpPr>
        <p:spPr/>
        <p:txBody>
          <a:bodyPr/>
          <a:lstStyle/>
          <a:p>
            <a:fld id="{C1FF6DA9-008F-8B48-92A6-B652298478BF}" type="slidenum">
              <a:rPr lang="en-US" smtClean="0"/>
              <a:pPr/>
              <a:t>3</a:t>
            </a:fld>
            <a:endParaRPr lang="en-US"/>
          </a:p>
        </p:txBody>
      </p:sp>
    </p:spTree>
    <p:extLst>
      <p:ext uri="{BB962C8B-B14F-4D97-AF65-F5344CB8AC3E}">
        <p14:creationId xmlns:p14="http://schemas.microsoft.com/office/powerpoint/2010/main" val="13188317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B87D7-353C-B773-009F-C03640A04BB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894C24-EE27-79FE-ED69-3CA8A507FE59}"/>
              </a:ext>
            </a:extLst>
          </p:cNvPr>
          <p:cNvSpPr>
            <a:spLocks noGrp="1"/>
          </p:cNvSpPr>
          <p:nvPr>
            <p:ph idx="1"/>
          </p:nvPr>
        </p:nvSpPr>
        <p:spPr>
          <a:xfrm>
            <a:off x="304799" y="1106942"/>
            <a:ext cx="11604171" cy="5336496"/>
          </a:xfrm>
        </p:spPr>
        <p:txBody>
          <a:bodyPr anchor="t">
            <a:noAutofit/>
          </a:bodyPr>
          <a:lstStyle/>
          <a:p>
            <a:pPr marL="174625" lvl="1" indent="282575">
              <a:lnSpc>
                <a:spcPct val="100000"/>
              </a:lnSpc>
              <a:buFont typeface="Wingdings" panose="05000000000000000000" pitchFamily="2" charset="2"/>
              <a:buChar char="§"/>
            </a:pPr>
            <a:r>
              <a:rPr lang="en-US" b="1" i="1" dirty="0">
                <a:solidFill>
                  <a:schemeClr val="accent1">
                    <a:lumMod val="50000"/>
                  </a:schemeClr>
                </a:solidFill>
              </a:rPr>
              <a:t>Simulation games </a:t>
            </a:r>
            <a:r>
              <a:rPr kumimoji="0" lang="en-US" b="0" i="0" u="none" strike="noStrike" kern="1200" cap="none" spc="0" normalizeH="0" baseline="0" noProof="0" dirty="0">
                <a:ln>
                  <a:noFill/>
                </a:ln>
                <a:solidFill>
                  <a:prstClr val="black"/>
                </a:solidFill>
                <a:effectLst/>
                <a:uLnTx/>
                <a:uFillTx/>
                <a:ea typeface="+mn-ea"/>
                <a:cs typeface="+mn-cs"/>
              </a:rPr>
              <a:t>–</a:t>
            </a:r>
            <a:r>
              <a:rPr kumimoji="0" lang="en-US" b="0" i="1" u="none" strike="noStrike" kern="1200" cap="none" spc="0" normalizeH="0" baseline="0" noProof="0" dirty="0">
                <a:ln>
                  <a:noFill/>
                </a:ln>
                <a:solidFill>
                  <a:prstClr val="black"/>
                </a:solidFill>
                <a:effectLst/>
                <a:uLnTx/>
                <a:uFillTx/>
                <a:ea typeface="+mn-ea"/>
                <a:cs typeface="+mn-cs"/>
              </a:rPr>
              <a:t> </a:t>
            </a:r>
            <a:r>
              <a:rPr lang="en-US" dirty="0"/>
              <a:t>create realistic environments that represent real-world phenomena and allow players to manipulate variables in these phenomena to observe outcomes. </a:t>
            </a:r>
          </a:p>
          <a:p>
            <a:pPr marL="719138" lvl="1" indent="-273050">
              <a:lnSpc>
                <a:spcPct val="100000"/>
              </a:lnSpc>
              <a:buFontTx/>
              <a:buChar char="-"/>
            </a:pPr>
            <a:r>
              <a:rPr lang="en-US" dirty="0"/>
              <a:t>can recreate various STEM environments in a risk-free manner to explore complex topics in engineering, physics, etc. </a:t>
            </a:r>
          </a:p>
          <a:p>
            <a:pPr marL="719138" lvl="1" indent="-273050">
              <a:lnSpc>
                <a:spcPct val="100000"/>
              </a:lnSpc>
              <a:buFontTx/>
              <a:buChar char="-"/>
            </a:pPr>
            <a:r>
              <a:rPr lang="en-US" dirty="0"/>
              <a:t>allow development of problem-solving and critical thinking skills, the augmentation of experimentation capabilities of learners</a:t>
            </a:r>
            <a:endParaRPr lang="en-US" i="1" dirty="0"/>
          </a:p>
          <a:p>
            <a:pPr marL="174625" lvl="1" indent="282575">
              <a:lnSpc>
                <a:spcPct val="100000"/>
              </a:lnSpc>
              <a:buFont typeface="Wingdings" panose="05000000000000000000" pitchFamily="2" charset="2"/>
              <a:buChar char="§"/>
            </a:pPr>
            <a:r>
              <a:rPr lang="en-US" b="1" i="1" dirty="0">
                <a:solidFill>
                  <a:schemeClr val="accent1">
                    <a:lumMod val="50000"/>
                  </a:schemeClr>
                </a:solidFill>
              </a:rPr>
              <a:t>Puzzle and logic games</a:t>
            </a:r>
            <a:r>
              <a:rPr kumimoji="0" lang="en-US" b="1" i="1" u="none" strike="noStrike" kern="1200" cap="none" spc="0" normalizeH="0" baseline="0" noProof="0" dirty="0">
                <a:ln>
                  <a:noFill/>
                </a:ln>
                <a:solidFill>
                  <a:schemeClr val="accent1">
                    <a:lumMod val="50000"/>
                  </a:schemeClr>
                </a:solidFill>
                <a:effectLst/>
                <a:uLnTx/>
                <a:uFillTx/>
                <a:ea typeface="+mn-ea"/>
                <a:cs typeface="+mn-cs"/>
              </a:rPr>
              <a:t> </a:t>
            </a:r>
            <a:r>
              <a:rPr kumimoji="0" lang="en-US" b="0" u="none" strike="noStrike" kern="1200" cap="none" spc="0" normalizeH="0" baseline="0" noProof="0" dirty="0">
                <a:ln>
                  <a:noFill/>
                </a:ln>
                <a:solidFill>
                  <a:prstClr val="black"/>
                </a:solidFill>
                <a:effectLst/>
                <a:uLnTx/>
                <a:uFillTx/>
                <a:ea typeface="+mn-ea"/>
                <a:cs typeface="+mn-cs"/>
              </a:rPr>
              <a:t>–</a:t>
            </a:r>
            <a:r>
              <a:rPr kumimoji="0" lang="en-US" b="0" i="1" u="none" strike="noStrike" kern="1200" cap="none" spc="0" normalizeH="0" baseline="0" noProof="0" dirty="0">
                <a:ln>
                  <a:noFill/>
                </a:ln>
                <a:solidFill>
                  <a:prstClr val="black"/>
                </a:solidFill>
                <a:effectLst/>
                <a:uLnTx/>
                <a:uFillTx/>
                <a:ea typeface="+mn-ea"/>
                <a:cs typeface="+mn-cs"/>
              </a:rPr>
              <a:t> </a:t>
            </a:r>
            <a:r>
              <a:rPr lang="en-US" dirty="0">
                <a:effectLst/>
                <a:ea typeface="SimSun" panose="02010600030101010101" pitchFamily="2" charset="-122"/>
              </a:rPr>
              <a:t>these games require players to solve a specific kind of problem that increases their pattern recognition, logical reasoning, and strategic thinking skills. </a:t>
            </a:r>
          </a:p>
          <a:p>
            <a:pPr marL="719138" lvl="1" indent="-273050">
              <a:lnSpc>
                <a:spcPct val="100000"/>
              </a:lnSpc>
              <a:buFontTx/>
              <a:buChar char="-"/>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allow </a:t>
            </a:r>
            <a:r>
              <a:rPr lang="en-US" dirty="0">
                <a:ea typeface="SimSun" panose="02010600030101010101" pitchFamily="2" charset="-122"/>
              </a:rPr>
              <a:t>effective teaching mathematical concepts, coding, algorithms, etc. </a:t>
            </a:r>
            <a:endParaRPr lang="en-US" i="1" dirty="0"/>
          </a:p>
          <a:p>
            <a:pPr marL="174625" lvl="1" indent="282575">
              <a:lnSpc>
                <a:spcPct val="100000"/>
              </a:lnSpc>
              <a:buFont typeface="Wingdings" panose="05000000000000000000" pitchFamily="2" charset="2"/>
              <a:buChar char="§"/>
            </a:pPr>
            <a:r>
              <a:rPr lang="en-US" b="1" i="1" dirty="0">
                <a:solidFill>
                  <a:schemeClr val="accent1">
                    <a:lumMod val="50000"/>
                  </a:schemeClr>
                </a:solidFill>
              </a:rPr>
              <a:t>Role-playing games (RPGs)</a:t>
            </a:r>
            <a:r>
              <a:rPr kumimoji="0" lang="en-US" b="1" i="0" u="none" strike="noStrike" kern="1200" cap="none" spc="0" normalizeH="0" baseline="0" noProof="0" dirty="0">
                <a:ln>
                  <a:noFill/>
                </a:ln>
                <a:solidFill>
                  <a:schemeClr val="accent1">
                    <a:lumMod val="50000"/>
                  </a:schemeClr>
                </a:solidFill>
                <a:effectLst/>
                <a:uLnTx/>
                <a:uFillTx/>
                <a:ea typeface="+mn-ea"/>
                <a:cs typeface="+mn-cs"/>
              </a:rPr>
              <a:t> </a:t>
            </a:r>
            <a:r>
              <a:rPr kumimoji="0" lang="en-US" b="0" i="0" u="none" strike="noStrike" kern="1200" cap="none" spc="0" normalizeH="0" baseline="0" noProof="0" dirty="0">
                <a:ln>
                  <a:noFill/>
                </a:ln>
                <a:solidFill>
                  <a:prstClr val="black"/>
                </a:solidFill>
                <a:effectLst/>
                <a:uLnTx/>
                <a:uFillTx/>
                <a:ea typeface="+mn-ea"/>
                <a:cs typeface="+mn-cs"/>
              </a:rPr>
              <a:t>–</a:t>
            </a:r>
            <a:r>
              <a:rPr kumimoji="0" lang="en-US" b="0" i="1" u="none" strike="noStrike" kern="1200" cap="none" spc="0" normalizeH="0" baseline="0" noProof="0" dirty="0">
                <a:ln>
                  <a:noFill/>
                </a:ln>
                <a:solidFill>
                  <a:prstClr val="black"/>
                </a:solidFill>
                <a:effectLst/>
                <a:uLnTx/>
                <a:uFillTx/>
                <a:ea typeface="+mn-ea"/>
                <a:cs typeface="+mn-cs"/>
              </a:rPr>
              <a:t> </a:t>
            </a:r>
            <a:r>
              <a:rPr lang="en-US" dirty="0">
                <a:effectLst/>
                <a:ea typeface="SimSun" panose="02010600030101010101" pitchFamily="2" charset="-122"/>
              </a:rPr>
              <a:t>players take the roles of </a:t>
            </a:r>
            <a:r>
              <a:rPr lang="en-US" dirty="0">
                <a:ea typeface="SimSun" panose="02010600030101010101" pitchFamily="2" charset="-122"/>
              </a:rPr>
              <a:t>particular characters and make decisions </a:t>
            </a:r>
            <a:r>
              <a:rPr lang="en-US" dirty="0">
                <a:effectLst/>
                <a:ea typeface="SimSun" panose="02010600030101010101" pitchFamily="2" charset="-122"/>
              </a:rPr>
              <a:t>in an imaginary scenario. </a:t>
            </a:r>
          </a:p>
          <a:p>
            <a:pPr marL="719138" lvl="1" indent="-273050">
              <a:lnSpc>
                <a:spcPct val="100000"/>
              </a:lnSpc>
              <a:buFontTx/>
              <a:buChar char="-"/>
              <a:defRPr/>
            </a:pPr>
            <a:r>
              <a:rPr lang="en-US" dirty="0">
                <a:ea typeface="SimSun" panose="02010600030101010101" pitchFamily="2" charset="-122"/>
              </a:rPr>
              <a:t>typically combine elements of storytelling, problem-solving, and exploration to engage students in scientific quests, exploration, or engineering through interactive learning</a:t>
            </a:r>
            <a:r>
              <a:rPr kumimoji="0" lang="en-US" sz="2400" b="0" i="0" u="none" strike="noStrike" kern="1200" cap="none" spc="0" normalizeH="0" baseline="0" noProof="0" dirty="0">
                <a:ln>
                  <a:noFill/>
                </a:ln>
                <a:solidFill>
                  <a:prstClr val="black"/>
                </a:solidFill>
                <a:effectLst/>
                <a:uLnTx/>
                <a:uFillTx/>
                <a:latin typeface="Calibri" panose="020F0502020204030204"/>
                <a:ea typeface="SimSun" panose="02010600030101010101" pitchFamily="2" charset="-122"/>
                <a:cs typeface="+mn-cs"/>
              </a:rPr>
              <a:t> </a:t>
            </a:r>
            <a:endParaRPr kumimoji="0" lang="en-US" sz="2400" b="0" i="1" u="none" strike="noStrike" kern="1200" cap="none" spc="0" normalizeH="0" baseline="0" noProof="0" dirty="0">
              <a:ln>
                <a:noFill/>
              </a:ln>
              <a:solidFill>
                <a:prstClr val="black"/>
              </a:solidFill>
              <a:effectLst/>
              <a:uLnTx/>
              <a:uFillTx/>
              <a:latin typeface="Calibri" panose="020F0502020204030204"/>
              <a:ea typeface="+mn-ea"/>
              <a:cs typeface="+mn-cs"/>
            </a:endParaRPr>
          </a:p>
          <a:p>
            <a:pPr marL="174625" lvl="1" indent="282575">
              <a:lnSpc>
                <a:spcPct val="100000"/>
              </a:lnSpc>
              <a:buNone/>
            </a:pPr>
            <a:r>
              <a:rPr lang="en-US" dirty="0">
                <a:effectLst/>
                <a:ea typeface="SimSun" panose="02010600030101010101" pitchFamily="2" charset="-122"/>
              </a:rPr>
              <a:t>.</a:t>
            </a:r>
            <a:endParaRPr lang="en-US" i="1" dirty="0"/>
          </a:p>
        </p:txBody>
      </p:sp>
      <p:sp>
        <p:nvSpPr>
          <p:cNvPr id="4" name="Date Placeholder 3">
            <a:extLst>
              <a:ext uri="{FF2B5EF4-FFF2-40B4-BE49-F238E27FC236}">
                <a16:creationId xmlns:a16="http://schemas.microsoft.com/office/drawing/2014/main" id="{35317107-470A-4F23-5775-B61996686FE5}"/>
              </a:ext>
            </a:extLst>
          </p:cNvPr>
          <p:cNvSpPr>
            <a:spLocks noGrp="1"/>
          </p:cNvSpPr>
          <p:nvPr>
            <p:ph type="dt" sz="half" idx="10"/>
          </p:nvPr>
        </p:nvSpPr>
        <p:spPr/>
        <p:txBody>
          <a:bodyPr/>
          <a:lstStyle/>
          <a:p>
            <a:r>
              <a:rPr lang="bg-BG" dirty="0"/>
              <a:t>BdKCSE'2025</a:t>
            </a:r>
            <a:endParaRPr lang="en-US" dirty="0"/>
          </a:p>
        </p:txBody>
      </p:sp>
      <p:sp>
        <p:nvSpPr>
          <p:cNvPr id="5" name="Footer Placeholder 4">
            <a:extLst>
              <a:ext uri="{FF2B5EF4-FFF2-40B4-BE49-F238E27FC236}">
                <a16:creationId xmlns:a16="http://schemas.microsoft.com/office/drawing/2014/main" id="{696E5C39-93BD-4EB9-1728-59D22CE71C40}"/>
              </a:ext>
            </a:extLst>
          </p:cNvPr>
          <p:cNvSpPr>
            <a:spLocks noGrp="1"/>
          </p:cNvSpPr>
          <p:nvPr>
            <p:ph type="ftr" sz="quarter" idx="11"/>
          </p:nvPr>
        </p:nvSpPr>
        <p:spPr/>
        <p:txBody>
          <a:bodyPr/>
          <a:lstStyle/>
          <a:p>
            <a:r>
              <a:rPr lang="en-US"/>
              <a:t>Evaluation of Video Games for STEM Education </a:t>
            </a:r>
          </a:p>
        </p:txBody>
      </p:sp>
      <p:sp>
        <p:nvSpPr>
          <p:cNvPr id="6" name="Slide Number Placeholder 5">
            <a:extLst>
              <a:ext uri="{FF2B5EF4-FFF2-40B4-BE49-F238E27FC236}">
                <a16:creationId xmlns:a16="http://schemas.microsoft.com/office/drawing/2014/main" id="{E8127C00-43CB-4B14-8AF8-D4DCF4BCD5F1}"/>
              </a:ext>
            </a:extLst>
          </p:cNvPr>
          <p:cNvSpPr>
            <a:spLocks noGrp="1"/>
          </p:cNvSpPr>
          <p:nvPr>
            <p:ph type="sldNum" sz="quarter" idx="12"/>
          </p:nvPr>
        </p:nvSpPr>
        <p:spPr/>
        <p:txBody>
          <a:bodyPr/>
          <a:lstStyle/>
          <a:p>
            <a:fld id="{C1FF6DA9-008F-8B48-92A6-B652298478BF}" type="slidenum">
              <a:rPr lang="en-US" smtClean="0"/>
              <a:pPr/>
              <a:t>4</a:t>
            </a:fld>
            <a:endParaRPr lang="en-US"/>
          </a:p>
        </p:txBody>
      </p:sp>
      <p:sp>
        <p:nvSpPr>
          <p:cNvPr id="8" name="Title 1">
            <a:extLst>
              <a:ext uri="{FF2B5EF4-FFF2-40B4-BE49-F238E27FC236}">
                <a16:creationId xmlns:a16="http://schemas.microsoft.com/office/drawing/2014/main" id="{102AD0F7-9737-25BF-4E7B-D5AD73C4308B}"/>
              </a:ext>
            </a:extLst>
          </p:cNvPr>
          <p:cNvSpPr>
            <a:spLocks noGrp="1"/>
          </p:cNvSpPr>
          <p:nvPr>
            <p:ph type="title"/>
          </p:nvPr>
        </p:nvSpPr>
        <p:spPr>
          <a:xfrm>
            <a:off x="76200" y="256270"/>
            <a:ext cx="12017829" cy="547908"/>
          </a:xfrm>
        </p:spPr>
        <p:txBody>
          <a:bodyPr anchor="ctr">
            <a:noAutofit/>
          </a:bodyPr>
          <a:lstStyle/>
          <a:p>
            <a:r>
              <a:rPr lang="en-US" sz="3400" b="1" dirty="0">
                <a:solidFill>
                  <a:schemeClr val="accent1">
                    <a:lumMod val="50000"/>
                  </a:schemeClr>
                </a:solidFill>
                <a:latin typeface="Calibri" panose="020F0502020204030204" pitchFamily="34" charset="0"/>
                <a:cs typeface="Calibri" panose="020F0502020204030204" pitchFamily="34" charset="0"/>
              </a:rPr>
              <a:t>Popular genres of educational video games in STEM education </a:t>
            </a:r>
            <a:r>
              <a:rPr lang="en-US" sz="3400" b="1" dirty="0">
                <a:solidFill>
                  <a:schemeClr val="accent1">
                    <a:lumMod val="50000"/>
                  </a:schemeClr>
                </a:solidFill>
              </a:rPr>
              <a:t>1/2 </a:t>
            </a:r>
          </a:p>
        </p:txBody>
      </p:sp>
    </p:spTree>
    <p:extLst>
      <p:ext uri="{BB962C8B-B14F-4D97-AF65-F5344CB8AC3E}">
        <p14:creationId xmlns:p14="http://schemas.microsoft.com/office/powerpoint/2010/main" val="37263603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168422-417F-EE57-2B84-E59279D0982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92BD0E-1140-59AD-0A45-C2C4B0640F3E}"/>
              </a:ext>
            </a:extLst>
          </p:cNvPr>
          <p:cNvSpPr>
            <a:spLocks noGrp="1"/>
          </p:cNvSpPr>
          <p:nvPr>
            <p:ph idx="1"/>
          </p:nvPr>
        </p:nvSpPr>
        <p:spPr>
          <a:xfrm>
            <a:off x="402770" y="1208314"/>
            <a:ext cx="11364685" cy="5224238"/>
          </a:xfrm>
        </p:spPr>
        <p:txBody>
          <a:bodyPr anchor="t">
            <a:normAutofit fontScale="92500"/>
          </a:bodyPr>
          <a:lstStyle/>
          <a:p>
            <a:pPr lvl="1" indent="-327025">
              <a:lnSpc>
                <a:spcPct val="100000"/>
              </a:lnSpc>
              <a:spcBef>
                <a:spcPts val="600"/>
              </a:spcBef>
              <a:buFont typeface="Wingdings" panose="05000000000000000000" pitchFamily="2" charset="2"/>
              <a:buChar char="§"/>
            </a:pPr>
            <a:r>
              <a:rPr lang="en-US" sz="2600" b="1" i="1" dirty="0">
                <a:solidFill>
                  <a:schemeClr val="accent1">
                    <a:lumMod val="50000"/>
                  </a:schemeClr>
                </a:solidFill>
              </a:rPr>
              <a:t>Strategy games</a:t>
            </a:r>
            <a:r>
              <a:rPr kumimoji="0" lang="en-US" sz="2600" b="0" i="0" u="none" strike="noStrike" kern="1200" cap="none" spc="0" normalizeH="0" baseline="0" noProof="0" dirty="0">
                <a:ln>
                  <a:noFill/>
                </a:ln>
                <a:solidFill>
                  <a:prstClr val="black"/>
                </a:solidFill>
                <a:effectLst/>
                <a:uLnTx/>
                <a:uFillTx/>
                <a:ea typeface="+mn-ea"/>
                <a:cs typeface="+mn-cs"/>
              </a:rPr>
              <a:t> – </a:t>
            </a:r>
            <a:r>
              <a:rPr kumimoji="0" lang="en-US" sz="2600" b="0" i="0" u="none" strike="noStrike" kern="1200" cap="none" spc="0" normalizeH="0" baseline="0" noProof="0" dirty="0">
                <a:ln>
                  <a:noFill/>
                </a:ln>
                <a:effectLst/>
                <a:uLnTx/>
                <a:uFillTx/>
                <a:ea typeface="+mn-ea"/>
                <a:cs typeface="+mn-cs"/>
              </a:rPr>
              <a:t>these games requires players to plan, optimize solutions, manage resources, and adapt to changes in order to meet a set of rules or constraints. </a:t>
            </a:r>
          </a:p>
          <a:p>
            <a:pPr marL="457200" lvl="1" indent="0">
              <a:lnSpc>
                <a:spcPct val="100000"/>
              </a:lnSpc>
              <a:spcBef>
                <a:spcPts val="600"/>
              </a:spcBef>
              <a:buNone/>
            </a:pPr>
            <a:r>
              <a:rPr lang="en-US" sz="2600" dirty="0"/>
              <a:t>	</a:t>
            </a:r>
            <a:r>
              <a:rPr kumimoji="0" lang="en-US" sz="2600" b="0" i="0" u="none" strike="noStrike" kern="1200" cap="none" spc="0" normalizeH="0" baseline="0" noProof="0" dirty="0">
                <a:ln>
                  <a:noFill/>
                </a:ln>
                <a:effectLst/>
                <a:uLnTx/>
                <a:uFillTx/>
                <a:ea typeface="+mn-ea"/>
                <a:cs typeface="+mn-cs"/>
              </a:rPr>
              <a:t>In STEM they are used in teaching concepts such as engineering and economics</a:t>
            </a:r>
            <a:endParaRPr lang="en-US" sz="2600" b="1" i="1" dirty="0"/>
          </a:p>
          <a:p>
            <a:pPr lvl="1" indent="-327025">
              <a:lnSpc>
                <a:spcPct val="100000"/>
              </a:lnSpc>
              <a:spcBef>
                <a:spcPts val="600"/>
              </a:spcBef>
              <a:buFont typeface="Wingdings" panose="05000000000000000000" pitchFamily="2" charset="2"/>
              <a:buChar char="§"/>
            </a:pPr>
            <a:r>
              <a:rPr lang="en-US" sz="2600" b="1" i="1" dirty="0">
                <a:solidFill>
                  <a:schemeClr val="accent1">
                    <a:lumMod val="50000"/>
                  </a:schemeClr>
                </a:solidFill>
              </a:rPr>
              <a:t>Quiz games</a:t>
            </a:r>
            <a:r>
              <a:rPr kumimoji="0" lang="en-US" sz="2600" b="0" i="0" u="none" strike="noStrike" kern="1200" cap="none" spc="0" normalizeH="0" baseline="0" noProof="0" dirty="0">
                <a:ln>
                  <a:noFill/>
                </a:ln>
                <a:solidFill>
                  <a:prstClr val="black"/>
                </a:solidFill>
                <a:effectLst/>
                <a:uLnTx/>
                <a:uFillTx/>
                <a:ea typeface="+mn-ea"/>
                <a:cs typeface="+mn-cs"/>
              </a:rPr>
              <a:t> </a:t>
            </a:r>
            <a:r>
              <a:rPr kumimoji="0" lang="en-US" sz="2600" b="0" i="0" u="none" strike="noStrike" kern="1200" cap="none" spc="0" normalizeH="0" baseline="0" noProof="0" dirty="0">
                <a:ln>
                  <a:noFill/>
                </a:ln>
                <a:solidFill>
                  <a:schemeClr val="accent1">
                    <a:lumMod val="50000"/>
                  </a:schemeClr>
                </a:solidFill>
                <a:effectLst/>
                <a:uLnTx/>
                <a:uFillTx/>
                <a:ea typeface="+mn-ea"/>
                <a:cs typeface="+mn-cs"/>
              </a:rPr>
              <a:t>– </a:t>
            </a:r>
            <a:r>
              <a:rPr kumimoji="0" lang="en-US" sz="2600" b="0" i="0" u="none" strike="noStrike" kern="1200" cap="none" spc="0" normalizeH="0" baseline="0" noProof="0" dirty="0">
                <a:ln>
                  <a:noFill/>
                </a:ln>
                <a:effectLst/>
                <a:uLnTx/>
                <a:uFillTx/>
                <a:ea typeface="+mn-ea"/>
                <a:cs typeface="+mn-cs"/>
              </a:rPr>
              <a:t>in these games players are encouraged to recall information according to the topic of the questions in a quiz. They are most straightforward in science and mathematical education. </a:t>
            </a:r>
          </a:p>
          <a:p>
            <a:pPr marL="892175" lvl="1">
              <a:lnSpc>
                <a:spcPct val="100000"/>
              </a:lnSpc>
              <a:spcBef>
                <a:spcPts val="600"/>
              </a:spcBef>
              <a:buFont typeface="Wingdings" panose="05000000000000000000" pitchFamily="2" charset="2"/>
              <a:buChar char="Ø"/>
            </a:pPr>
            <a:r>
              <a:rPr kumimoji="0" lang="en-US" sz="2600" b="0" i="0" u="none" strike="noStrike" kern="1200" cap="none" spc="0" normalizeH="0" baseline="0" noProof="0" dirty="0">
                <a:ln>
                  <a:noFill/>
                </a:ln>
                <a:effectLst/>
                <a:uLnTx/>
                <a:uFillTx/>
                <a:ea typeface="+mn-ea"/>
                <a:cs typeface="+mn-cs"/>
              </a:rPr>
              <a:t> Strategy and quiz games are applicable when tutors want to encourage competition between students.</a:t>
            </a:r>
            <a:endParaRPr lang="en-US" sz="2600" b="1" i="1" dirty="0"/>
          </a:p>
          <a:p>
            <a:pPr lvl="1" indent="-327025">
              <a:lnSpc>
                <a:spcPct val="100000"/>
              </a:lnSpc>
              <a:spcBef>
                <a:spcPts val="600"/>
              </a:spcBef>
              <a:buFont typeface="Wingdings" panose="05000000000000000000" pitchFamily="2" charset="2"/>
              <a:buChar char="§"/>
            </a:pPr>
            <a:r>
              <a:rPr lang="en-US" sz="2600" b="1" i="1" dirty="0">
                <a:solidFill>
                  <a:schemeClr val="accent1">
                    <a:lumMod val="50000"/>
                  </a:schemeClr>
                </a:solidFill>
              </a:rPr>
              <a:t>Virtual/ Augmented Reality  games</a:t>
            </a:r>
            <a:r>
              <a:rPr kumimoji="0" lang="en-US" sz="2600" b="0" i="0" u="none" strike="noStrike" kern="1200" cap="none" spc="0" normalizeH="0" baseline="0" noProof="0" dirty="0">
                <a:ln>
                  <a:noFill/>
                </a:ln>
                <a:solidFill>
                  <a:schemeClr val="accent1">
                    <a:lumMod val="50000"/>
                  </a:schemeClr>
                </a:solidFill>
                <a:effectLst/>
                <a:uLnTx/>
                <a:uFillTx/>
                <a:ea typeface="+mn-ea"/>
                <a:cs typeface="+mn-cs"/>
              </a:rPr>
              <a:t> – </a:t>
            </a:r>
            <a:r>
              <a:rPr kumimoji="0" lang="en-US" sz="2600" b="0" i="0" u="none" strike="noStrike" kern="1200" cap="none" spc="0" normalizeH="0" baseline="0" noProof="0" dirty="0">
                <a:ln>
                  <a:noFill/>
                </a:ln>
                <a:effectLst/>
                <a:uLnTx/>
                <a:uFillTx/>
                <a:ea typeface="+mn-ea"/>
                <a:cs typeface="+mn-cs"/>
              </a:rPr>
              <a:t>VR and AR technologies provide interactive environments where students can engage with STEM concepts in various ways. </a:t>
            </a:r>
          </a:p>
          <a:p>
            <a:pPr marL="457200" lvl="1" indent="0">
              <a:lnSpc>
                <a:spcPct val="100000"/>
              </a:lnSpc>
              <a:spcBef>
                <a:spcPts val="600"/>
              </a:spcBef>
              <a:buNone/>
            </a:pPr>
            <a:r>
              <a:rPr kumimoji="0" lang="en-US" sz="2600" b="0" i="0" u="none" strike="noStrike" kern="1200" cap="none" spc="0" normalizeH="0" baseline="0" noProof="0" dirty="0">
                <a:ln>
                  <a:noFill/>
                </a:ln>
                <a:effectLst/>
                <a:uLnTx/>
                <a:uFillTx/>
                <a:ea typeface="+mn-ea"/>
                <a:cs typeface="+mn-cs"/>
              </a:rPr>
              <a:t>	- provide opportunities for virtual laboratory experiments (chemistry, physics, biology), explore human anatomy, simulate space missions,…</a:t>
            </a:r>
            <a:endParaRPr lang="en-US" sz="2600" b="1" dirty="0"/>
          </a:p>
        </p:txBody>
      </p:sp>
      <p:sp>
        <p:nvSpPr>
          <p:cNvPr id="4" name="Date Placeholder 3">
            <a:extLst>
              <a:ext uri="{FF2B5EF4-FFF2-40B4-BE49-F238E27FC236}">
                <a16:creationId xmlns:a16="http://schemas.microsoft.com/office/drawing/2014/main" id="{6368FE0D-71FC-925F-05B2-6192DA4A12ED}"/>
              </a:ext>
            </a:extLst>
          </p:cNvPr>
          <p:cNvSpPr>
            <a:spLocks noGrp="1"/>
          </p:cNvSpPr>
          <p:nvPr>
            <p:ph type="dt" sz="half" idx="10"/>
          </p:nvPr>
        </p:nvSpPr>
        <p:spPr/>
        <p:txBody>
          <a:bodyPr/>
          <a:lstStyle/>
          <a:p>
            <a:r>
              <a:rPr lang="bg-BG"/>
              <a:t>BdKCSE'2025</a:t>
            </a:r>
            <a:endParaRPr lang="en-US"/>
          </a:p>
        </p:txBody>
      </p:sp>
      <p:sp>
        <p:nvSpPr>
          <p:cNvPr id="5" name="Footer Placeholder 4">
            <a:extLst>
              <a:ext uri="{FF2B5EF4-FFF2-40B4-BE49-F238E27FC236}">
                <a16:creationId xmlns:a16="http://schemas.microsoft.com/office/drawing/2014/main" id="{C0833767-C51D-9018-53F1-9BF597B570BE}"/>
              </a:ext>
            </a:extLst>
          </p:cNvPr>
          <p:cNvSpPr>
            <a:spLocks noGrp="1"/>
          </p:cNvSpPr>
          <p:nvPr>
            <p:ph type="ftr" sz="quarter" idx="11"/>
          </p:nvPr>
        </p:nvSpPr>
        <p:spPr/>
        <p:txBody>
          <a:bodyPr/>
          <a:lstStyle/>
          <a:p>
            <a:r>
              <a:rPr lang="en-US"/>
              <a:t>Evaluation of Video Games for STEM Education </a:t>
            </a:r>
          </a:p>
        </p:txBody>
      </p:sp>
      <p:sp>
        <p:nvSpPr>
          <p:cNvPr id="6" name="Slide Number Placeholder 5">
            <a:extLst>
              <a:ext uri="{FF2B5EF4-FFF2-40B4-BE49-F238E27FC236}">
                <a16:creationId xmlns:a16="http://schemas.microsoft.com/office/drawing/2014/main" id="{C9BFB702-F8D3-4927-681B-AE08FF4A6423}"/>
              </a:ext>
            </a:extLst>
          </p:cNvPr>
          <p:cNvSpPr>
            <a:spLocks noGrp="1"/>
          </p:cNvSpPr>
          <p:nvPr>
            <p:ph type="sldNum" sz="quarter" idx="12"/>
          </p:nvPr>
        </p:nvSpPr>
        <p:spPr/>
        <p:txBody>
          <a:bodyPr/>
          <a:lstStyle/>
          <a:p>
            <a:fld id="{C1FF6DA9-008F-8B48-92A6-B652298478BF}" type="slidenum">
              <a:rPr lang="en-US" smtClean="0"/>
              <a:pPr/>
              <a:t>5</a:t>
            </a:fld>
            <a:endParaRPr lang="en-US"/>
          </a:p>
        </p:txBody>
      </p:sp>
      <p:sp>
        <p:nvSpPr>
          <p:cNvPr id="9" name="Title 1">
            <a:extLst>
              <a:ext uri="{FF2B5EF4-FFF2-40B4-BE49-F238E27FC236}">
                <a16:creationId xmlns:a16="http://schemas.microsoft.com/office/drawing/2014/main" id="{AAEB35F9-F0C9-A8DE-157A-D1EA606A9C66}"/>
              </a:ext>
            </a:extLst>
          </p:cNvPr>
          <p:cNvSpPr>
            <a:spLocks noGrp="1"/>
          </p:cNvSpPr>
          <p:nvPr>
            <p:ph type="title"/>
          </p:nvPr>
        </p:nvSpPr>
        <p:spPr>
          <a:xfrm>
            <a:off x="108857" y="245384"/>
            <a:ext cx="11996057" cy="547908"/>
          </a:xfrm>
        </p:spPr>
        <p:txBody>
          <a:bodyPr anchor="ctr">
            <a:noAutofit/>
          </a:bodyPr>
          <a:lstStyle/>
          <a:p>
            <a:r>
              <a:rPr lang="en-US" sz="3400" b="1" dirty="0">
                <a:solidFill>
                  <a:schemeClr val="accent1">
                    <a:lumMod val="50000"/>
                  </a:schemeClr>
                </a:solidFill>
                <a:latin typeface="Calibri" panose="020F0502020204030204" pitchFamily="34" charset="0"/>
                <a:cs typeface="Calibri" panose="020F0502020204030204" pitchFamily="34" charset="0"/>
              </a:rPr>
              <a:t>Popular genres of educational video games in STEM education </a:t>
            </a:r>
            <a:r>
              <a:rPr lang="en-US" sz="3400" b="1" dirty="0">
                <a:solidFill>
                  <a:schemeClr val="accent1">
                    <a:lumMod val="50000"/>
                  </a:schemeClr>
                </a:solidFill>
              </a:rPr>
              <a:t>2/2 </a:t>
            </a:r>
          </a:p>
        </p:txBody>
      </p:sp>
    </p:spTree>
    <p:extLst>
      <p:ext uri="{BB962C8B-B14F-4D97-AF65-F5344CB8AC3E}">
        <p14:creationId xmlns:p14="http://schemas.microsoft.com/office/powerpoint/2010/main" val="34290785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D3E8D-9AD5-3679-7DD0-442A89807E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223B0E-B08E-98C0-CB0F-98418E1EB2F1}"/>
              </a:ext>
            </a:extLst>
          </p:cNvPr>
          <p:cNvSpPr>
            <a:spLocks noGrp="1"/>
          </p:cNvSpPr>
          <p:nvPr>
            <p:ph type="title"/>
          </p:nvPr>
        </p:nvSpPr>
        <p:spPr>
          <a:xfrm>
            <a:off x="1894572" y="237674"/>
            <a:ext cx="8544829" cy="547908"/>
          </a:xfrm>
        </p:spPr>
        <p:txBody>
          <a:bodyPr anchor="ctr">
            <a:noAutofit/>
          </a:bodyPr>
          <a:lstStyle/>
          <a:p>
            <a:pPr algn="ctr"/>
            <a:r>
              <a:rPr lang="en-US" sz="3600" b="1" dirty="0">
                <a:latin typeface="Calibri" panose="020F0502020204030204" pitchFamily="34" charset="0"/>
                <a:cs typeface="Calibri" panose="020F0502020204030204" pitchFamily="34" charset="0"/>
              </a:rPr>
              <a:t>Game qualities and metrics - Validations </a:t>
            </a:r>
          </a:p>
        </p:txBody>
      </p:sp>
      <p:sp>
        <p:nvSpPr>
          <p:cNvPr id="3" name="Content Placeholder 2">
            <a:extLst>
              <a:ext uri="{FF2B5EF4-FFF2-40B4-BE49-F238E27FC236}">
                <a16:creationId xmlns:a16="http://schemas.microsoft.com/office/drawing/2014/main" id="{4FE93732-9D77-ACAA-5272-5723156A0C7B}"/>
              </a:ext>
            </a:extLst>
          </p:cNvPr>
          <p:cNvSpPr>
            <a:spLocks noGrp="1"/>
          </p:cNvSpPr>
          <p:nvPr>
            <p:ph idx="1"/>
          </p:nvPr>
        </p:nvSpPr>
        <p:spPr>
          <a:xfrm>
            <a:off x="228600" y="1012372"/>
            <a:ext cx="11832771" cy="5607954"/>
          </a:xfrm>
        </p:spPr>
        <p:txBody>
          <a:bodyPr anchor="t">
            <a:noAutofit/>
          </a:bodyPr>
          <a:lstStyle/>
          <a:p>
            <a:pPr marL="446088" indent="-446088">
              <a:lnSpc>
                <a:spcPct val="100000"/>
              </a:lnSpc>
              <a:buFont typeface="Wingdings" panose="05000000000000000000" pitchFamily="2" charset="2"/>
              <a:buChar char="q"/>
            </a:pPr>
            <a:r>
              <a:rPr lang="en-US" sz="2600" dirty="0"/>
              <a:t>Validation of video games for learning and educational purposes involves examining</a:t>
            </a:r>
            <a:r>
              <a:rPr lang="en-US" sz="2400" dirty="0"/>
              <a:t>:</a:t>
            </a:r>
          </a:p>
          <a:p>
            <a:pPr lvl="1">
              <a:lnSpc>
                <a:spcPct val="100000"/>
              </a:lnSpc>
              <a:buFont typeface="Wingdings" panose="05000000000000000000" pitchFamily="2" charset="2"/>
              <a:buChar char="§"/>
            </a:pPr>
            <a:r>
              <a:rPr lang="en-US" dirty="0"/>
              <a:t>Game qualities – e.g., design and </a:t>
            </a:r>
            <a:r>
              <a:rPr lang="en-US" b="1" dirty="0"/>
              <a:t>learning experience</a:t>
            </a:r>
          </a:p>
          <a:p>
            <a:pPr lvl="1">
              <a:lnSpc>
                <a:spcPct val="100000"/>
              </a:lnSpc>
              <a:buFont typeface="Wingdings" panose="05000000000000000000" pitchFamily="2" charset="2"/>
              <a:buChar char="§"/>
            </a:pPr>
            <a:r>
              <a:rPr lang="en-US" dirty="0"/>
              <a:t>Learning metrics – e.g., </a:t>
            </a:r>
            <a:r>
              <a:rPr lang="en-US" b="1" dirty="0"/>
              <a:t>educational outcomes:</a:t>
            </a:r>
          </a:p>
          <a:p>
            <a:pPr marL="990600" lvl="2" indent="-271463">
              <a:defRPr/>
            </a:pPr>
            <a:r>
              <a:rPr lang="en-US" sz="2400" dirty="0">
                <a:solidFill>
                  <a:prstClr val="black"/>
                </a:solidFill>
              </a:rPr>
              <a:t>Whether the game effectively supports the learning objectives stated by teachers and educators</a:t>
            </a:r>
          </a:p>
          <a:p>
            <a:pPr marL="990600" lvl="2" indent="-271463">
              <a:defRPr/>
            </a:pPr>
            <a:r>
              <a:rPr lang="en-US" sz="2400" dirty="0">
                <a:solidFill>
                  <a:prstClr val="black"/>
                </a:solidFill>
              </a:rPr>
              <a:t>Knowledge gains </a:t>
            </a:r>
            <a:r>
              <a:rPr lang="en-US" sz="2400" dirty="0"/>
              <a:t>–</a:t>
            </a:r>
            <a:r>
              <a:rPr lang="en-US" sz="2400" dirty="0">
                <a:solidFill>
                  <a:prstClr val="black"/>
                </a:solidFill>
              </a:rPr>
              <a:t> assessed through pre- and post-tests (before and after gameplay) </a:t>
            </a:r>
          </a:p>
          <a:p>
            <a:pPr marL="990600" lvl="2" indent="-271463">
              <a:defRPr/>
            </a:pPr>
            <a:r>
              <a:rPr lang="en-US" sz="2400" dirty="0">
                <a:solidFill>
                  <a:prstClr val="black"/>
                </a:solidFill>
              </a:rPr>
              <a:t>Knowledge retention over time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assessed </a:t>
            </a:r>
            <a:r>
              <a:rPr lang="en-US" sz="2400" dirty="0">
                <a:solidFill>
                  <a:prstClr val="black"/>
                </a:solidFill>
              </a:rPr>
              <a:t>through delayed post-tests. </a:t>
            </a:r>
          </a:p>
          <a:p>
            <a:pPr marL="990600" lvl="2" indent="-271463">
              <a:defRPr/>
            </a:pPr>
            <a:r>
              <a:rPr lang="en-US" sz="2400" dirty="0">
                <a:solidFill>
                  <a:prstClr val="black"/>
                </a:solidFill>
              </a:rPr>
              <a:t>Skills and competencies obtained through game-based learning (procedural fluency, decision-making, and problem-solving)</a:t>
            </a:r>
          </a:p>
          <a:p>
            <a:pPr marL="446088" indent="-446088">
              <a:lnSpc>
                <a:spcPct val="100000"/>
              </a:lnSpc>
              <a:buFont typeface="Wingdings" panose="05000000000000000000" pitchFamily="2" charset="2"/>
              <a:buChar char="q"/>
            </a:pPr>
            <a:r>
              <a:rPr lang="en-US" sz="2600" dirty="0"/>
              <a:t>Validations are conducted as</a:t>
            </a:r>
            <a:r>
              <a:rPr lang="en-US" sz="2400" dirty="0"/>
              <a:t>:</a:t>
            </a:r>
          </a:p>
          <a:p>
            <a:pPr lvl="1" indent="-239713">
              <a:lnSpc>
                <a:spcPct val="100000"/>
              </a:lnSpc>
              <a:buFont typeface="Wingdings" panose="05000000000000000000" pitchFamily="2" charset="2"/>
              <a:buChar char="§"/>
            </a:pPr>
            <a:r>
              <a:rPr lang="en-US" dirty="0"/>
              <a:t>Short-term (i.e., single session, day, or week) studies </a:t>
            </a:r>
          </a:p>
          <a:p>
            <a:pPr lvl="1" indent="-239713">
              <a:lnSpc>
                <a:spcPct val="100000"/>
              </a:lnSpc>
              <a:buFont typeface="Wingdings" panose="05000000000000000000" pitchFamily="2" charset="2"/>
              <a:buChar char="§"/>
            </a:pPr>
            <a:r>
              <a:rPr lang="en-US" dirty="0"/>
              <a:t>Longitudinal studies (i.e., month, semester, or year) studies </a:t>
            </a:r>
          </a:p>
        </p:txBody>
      </p:sp>
      <p:sp>
        <p:nvSpPr>
          <p:cNvPr id="4" name="Date Placeholder 3">
            <a:extLst>
              <a:ext uri="{FF2B5EF4-FFF2-40B4-BE49-F238E27FC236}">
                <a16:creationId xmlns:a16="http://schemas.microsoft.com/office/drawing/2014/main" id="{B158779A-0921-E03C-7AD9-FA181B641351}"/>
              </a:ext>
            </a:extLst>
          </p:cNvPr>
          <p:cNvSpPr>
            <a:spLocks noGrp="1"/>
          </p:cNvSpPr>
          <p:nvPr>
            <p:ph type="dt" sz="half" idx="10"/>
          </p:nvPr>
        </p:nvSpPr>
        <p:spPr/>
        <p:txBody>
          <a:bodyPr/>
          <a:lstStyle/>
          <a:p>
            <a:r>
              <a:rPr lang="bg-BG"/>
              <a:t>BdKCSE'2025</a:t>
            </a:r>
            <a:endParaRPr lang="en-US"/>
          </a:p>
        </p:txBody>
      </p:sp>
      <p:sp>
        <p:nvSpPr>
          <p:cNvPr id="5" name="Footer Placeholder 4">
            <a:extLst>
              <a:ext uri="{FF2B5EF4-FFF2-40B4-BE49-F238E27FC236}">
                <a16:creationId xmlns:a16="http://schemas.microsoft.com/office/drawing/2014/main" id="{CC116B1A-F6EB-93CF-D5BB-4A28466FD6ED}"/>
              </a:ext>
            </a:extLst>
          </p:cNvPr>
          <p:cNvSpPr>
            <a:spLocks noGrp="1"/>
          </p:cNvSpPr>
          <p:nvPr>
            <p:ph type="ftr" sz="quarter" idx="11"/>
          </p:nvPr>
        </p:nvSpPr>
        <p:spPr/>
        <p:txBody>
          <a:bodyPr/>
          <a:lstStyle/>
          <a:p>
            <a:r>
              <a:rPr lang="en-US"/>
              <a:t>Evaluation of Video Games for STEM Education </a:t>
            </a:r>
          </a:p>
        </p:txBody>
      </p:sp>
      <p:sp>
        <p:nvSpPr>
          <p:cNvPr id="6" name="Slide Number Placeholder 5">
            <a:extLst>
              <a:ext uri="{FF2B5EF4-FFF2-40B4-BE49-F238E27FC236}">
                <a16:creationId xmlns:a16="http://schemas.microsoft.com/office/drawing/2014/main" id="{110CC49A-5673-476F-8A4C-7BA7B4F262E3}"/>
              </a:ext>
            </a:extLst>
          </p:cNvPr>
          <p:cNvSpPr>
            <a:spLocks noGrp="1"/>
          </p:cNvSpPr>
          <p:nvPr>
            <p:ph type="sldNum" sz="quarter" idx="12"/>
          </p:nvPr>
        </p:nvSpPr>
        <p:spPr/>
        <p:txBody>
          <a:bodyPr/>
          <a:lstStyle/>
          <a:p>
            <a:fld id="{C1FF6DA9-008F-8B48-92A6-B652298478BF}" type="slidenum">
              <a:rPr lang="en-US" smtClean="0"/>
              <a:pPr/>
              <a:t>6</a:t>
            </a:fld>
            <a:endParaRPr lang="en-US"/>
          </a:p>
        </p:txBody>
      </p:sp>
    </p:spTree>
    <p:extLst>
      <p:ext uri="{BB962C8B-B14F-4D97-AF65-F5344CB8AC3E}">
        <p14:creationId xmlns:p14="http://schemas.microsoft.com/office/powerpoint/2010/main" val="37107522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2FBBC2-1E2C-23E4-04F7-D1ABD446AD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F519BD-2B3B-731F-340C-E8C27DFFD25A}"/>
              </a:ext>
            </a:extLst>
          </p:cNvPr>
          <p:cNvSpPr>
            <a:spLocks noGrp="1"/>
          </p:cNvSpPr>
          <p:nvPr>
            <p:ph type="title"/>
          </p:nvPr>
        </p:nvSpPr>
        <p:spPr>
          <a:xfrm>
            <a:off x="1894572" y="237674"/>
            <a:ext cx="8544829" cy="547908"/>
          </a:xfrm>
        </p:spPr>
        <p:txBody>
          <a:bodyPr anchor="ctr">
            <a:noAutofit/>
          </a:bodyPr>
          <a:lstStyle/>
          <a:p>
            <a:pPr algn="ctr"/>
            <a:r>
              <a:rPr kumimoji="0" lang="en-US" sz="3600" b="1" i="0" u="none" strike="noStrike" kern="1200" cap="none" spc="0" normalizeH="0" baseline="0" noProof="0" dirty="0">
                <a:ln>
                  <a:noFill/>
                </a:ln>
                <a:solidFill>
                  <a:prstClr val="black"/>
                </a:solidFill>
                <a:effectLst/>
                <a:uLnTx/>
                <a:uFillTx/>
                <a:latin typeface="Calibri" panose="020F0502020204030204" pitchFamily="34" charset="0"/>
                <a:ea typeface="+mj-ea"/>
                <a:cs typeface="Calibri" panose="020F0502020204030204" pitchFamily="34" charset="0"/>
              </a:rPr>
              <a:t>Game qualities and metrics – </a:t>
            </a:r>
            <a:r>
              <a:rPr kumimoji="0" lang="en-US" sz="3400" b="1" i="0" u="none" strike="noStrike" kern="1200" cap="none" spc="0" normalizeH="0" baseline="0" noProof="0" dirty="0">
                <a:ln>
                  <a:noFill/>
                </a:ln>
                <a:solidFill>
                  <a:schemeClr val="accent1">
                    <a:lumMod val="50000"/>
                  </a:schemeClr>
                </a:solidFill>
                <a:effectLst/>
                <a:uLnTx/>
                <a:uFillTx/>
                <a:latin typeface="Calibri" panose="020F0502020204030204" pitchFamily="34" charset="0"/>
                <a:cs typeface="Calibri" panose="020F0502020204030204" pitchFamily="34" charset="0"/>
              </a:rPr>
              <a:t>Assessment</a:t>
            </a:r>
            <a:r>
              <a:rPr lang="en-US" sz="3600" b="1" dirty="0">
                <a:solidFill>
                  <a:schemeClr val="accent1">
                    <a:lumMod val="50000"/>
                  </a:schemeClr>
                </a:solidFill>
              </a:rPr>
              <a:t> </a:t>
            </a:r>
          </a:p>
        </p:txBody>
      </p:sp>
      <p:sp>
        <p:nvSpPr>
          <p:cNvPr id="3" name="Content Placeholder 2">
            <a:extLst>
              <a:ext uri="{FF2B5EF4-FFF2-40B4-BE49-F238E27FC236}">
                <a16:creationId xmlns:a16="http://schemas.microsoft.com/office/drawing/2014/main" id="{82E78039-2E18-E228-29DF-03A224718418}"/>
              </a:ext>
            </a:extLst>
          </p:cNvPr>
          <p:cNvSpPr>
            <a:spLocks noGrp="1"/>
          </p:cNvSpPr>
          <p:nvPr>
            <p:ph idx="1"/>
          </p:nvPr>
        </p:nvSpPr>
        <p:spPr>
          <a:xfrm>
            <a:off x="386442" y="1012372"/>
            <a:ext cx="11419115" cy="4224982"/>
          </a:xfrm>
        </p:spPr>
        <p:txBody>
          <a:bodyPr anchor="t">
            <a:normAutofit fontScale="92500" lnSpcReduction="20000"/>
          </a:bodyPr>
          <a:lstStyle/>
          <a:p>
            <a:pPr marL="446088" indent="-446088">
              <a:lnSpc>
                <a:spcPct val="120000"/>
              </a:lnSpc>
              <a:spcBef>
                <a:spcPts val="600"/>
              </a:spcBef>
              <a:buFont typeface="Wingdings" panose="05000000000000000000" pitchFamily="2" charset="2"/>
              <a:buChar char="q"/>
            </a:pPr>
            <a:r>
              <a:rPr lang="en-US" dirty="0"/>
              <a:t>Assessment of educational video games concerns:</a:t>
            </a:r>
          </a:p>
          <a:p>
            <a:pPr lvl="1">
              <a:lnSpc>
                <a:spcPct val="120000"/>
              </a:lnSpc>
              <a:spcBef>
                <a:spcPts val="600"/>
              </a:spcBef>
              <a:buFont typeface="Wingdings" panose="05000000000000000000" pitchFamily="2" charset="2"/>
              <a:buChar char="§"/>
            </a:pPr>
            <a:r>
              <a:rPr lang="en-US" sz="2800" dirty="0"/>
              <a:t>Determining how </a:t>
            </a:r>
            <a:r>
              <a:rPr lang="en-US" sz="2800" b="1" dirty="0"/>
              <a:t>usable</a:t>
            </a:r>
            <a:r>
              <a:rPr lang="en-US" sz="2800" dirty="0"/>
              <a:t>, </a:t>
            </a:r>
            <a:r>
              <a:rPr lang="en-US" sz="2800" b="1" dirty="0"/>
              <a:t>engaging</a:t>
            </a:r>
            <a:r>
              <a:rPr lang="en-US" sz="2800" dirty="0"/>
              <a:t>, and </a:t>
            </a:r>
            <a:r>
              <a:rPr lang="en-US" sz="2800" b="1" dirty="0"/>
              <a:t>appropriate</a:t>
            </a:r>
            <a:r>
              <a:rPr lang="en-US" sz="2800" dirty="0"/>
              <a:t> it is for specific learning goals.</a:t>
            </a:r>
            <a:r>
              <a:rPr lang="en-US" sz="2800" b="1" dirty="0">
                <a:solidFill>
                  <a:prstClr val="black"/>
                </a:solidFill>
              </a:rPr>
              <a:t> </a:t>
            </a:r>
            <a:r>
              <a:rPr lang="en-US" sz="2800" b="1" dirty="0">
                <a:solidFill>
                  <a:schemeClr val="accent1">
                    <a:lumMod val="50000"/>
                  </a:schemeClr>
                </a:solidFill>
              </a:rPr>
              <a:t>Usability</a:t>
            </a:r>
            <a:r>
              <a:rPr lang="en-US" sz="2800" dirty="0">
                <a:solidFill>
                  <a:prstClr val="black"/>
                </a:solidFill>
              </a:rPr>
              <a:t> involves assessments of the following aspects</a:t>
            </a:r>
            <a:r>
              <a:rPr lang="en-US" sz="2600" dirty="0">
                <a:solidFill>
                  <a:prstClr val="black"/>
                </a:solidFill>
              </a:rPr>
              <a:t>:</a:t>
            </a:r>
          </a:p>
          <a:p>
            <a:pPr lvl="1">
              <a:lnSpc>
                <a:spcPct val="100000"/>
              </a:lnSpc>
              <a:buFont typeface="Wingdings" panose="05000000000000000000" pitchFamily="2" charset="2"/>
              <a:buChar char="§"/>
            </a:pPr>
            <a:endParaRPr lang="en-US" sz="2800" dirty="0"/>
          </a:p>
          <a:p>
            <a:pPr lvl="1">
              <a:lnSpc>
                <a:spcPct val="100000"/>
              </a:lnSpc>
              <a:buFont typeface="Wingdings" panose="05000000000000000000" pitchFamily="2" charset="2"/>
              <a:buChar char="§"/>
            </a:pPr>
            <a:endParaRPr lang="en-US" sz="2800" dirty="0"/>
          </a:p>
          <a:p>
            <a:pPr lvl="1">
              <a:lnSpc>
                <a:spcPct val="110000"/>
              </a:lnSpc>
              <a:buFont typeface="Wingdings" panose="05000000000000000000" pitchFamily="2" charset="2"/>
              <a:buChar char="§"/>
            </a:pPr>
            <a:endParaRPr lang="en-US" sz="2800" b="1" dirty="0"/>
          </a:p>
          <a:p>
            <a:pPr lvl="1">
              <a:lnSpc>
                <a:spcPct val="110000"/>
              </a:lnSpc>
              <a:buFont typeface="Wingdings" panose="05000000000000000000" pitchFamily="2" charset="2"/>
              <a:buChar char="§"/>
            </a:pPr>
            <a:endParaRPr lang="en-US" sz="2800" b="1" dirty="0"/>
          </a:p>
          <a:p>
            <a:pPr lvl="1">
              <a:lnSpc>
                <a:spcPct val="120000"/>
              </a:lnSpc>
              <a:spcBef>
                <a:spcPts val="600"/>
              </a:spcBef>
              <a:buFont typeface="Wingdings" panose="05000000000000000000" pitchFamily="2" charset="2"/>
              <a:buChar char="§"/>
            </a:pPr>
            <a:r>
              <a:rPr lang="en-US" sz="2800" b="1" dirty="0">
                <a:solidFill>
                  <a:schemeClr val="accent1">
                    <a:lumMod val="50000"/>
                  </a:schemeClr>
                </a:solidFill>
              </a:rPr>
              <a:t>Playability</a:t>
            </a:r>
            <a:r>
              <a:rPr lang="en-US" sz="2800" dirty="0"/>
              <a:t> – various facets of the player experience achieved while playing a game system, regarding the extent to which it feels enjoyable and entertaining. Focus on six core aspects of playability</a:t>
            </a:r>
            <a:r>
              <a:rPr lang="en-US" sz="2800" b="1" dirty="0"/>
              <a:t>:</a:t>
            </a:r>
            <a:endParaRPr lang="en-US" sz="2800" dirty="0"/>
          </a:p>
        </p:txBody>
      </p:sp>
      <p:sp>
        <p:nvSpPr>
          <p:cNvPr id="4" name="Date Placeholder 3">
            <a:extLst>
              <a:ext uri="{FF2B5EF4-FFF2-40B4-BE49-F238E27FC236}">
                <a16:creationId xmlns:a16="http://schemas.microsoft.com/office/drawing/2014/main" id="{B9BE55EE-DE9B-7B57-AE92-531B2434130E}"/>
              </a:ext>
            </a:extLst>
          </p:cNvPr>
          <p:cNvSpPr>
            <a:spLocks noGrp="1"/>
          </p:cNvSpPr>
          <p:nvPr>
            <p:ph type="dt" sz="half" idx="10"/>
          </p:nvPr>
        </p:nvSpPr>
        <p:spPr/>
        <p:txBody>
          <a:bodyPr/>
          <a:lstStyle/>
          <a:p>
            <a:r>
              <a:rPr lang="bg-BG"/>
              <a:t>BdKCSE'2025</a:t>
            </a:r>
            <a:endParaRPr lang="en-US"/>
          </a:p>
        </p:txBody>
      </p:sp>
      <p:sp>
        <p:nvSpPr>
          <p:cNvPr id="5" name="Footer Placeholder 4">
            <a:extLst>
              <a:ext uri="{FF2B5EF4-FFF2-40B4-BE49-F238E27FC236}">
                <a16:creationId xmlns:a16="http://schemas.microsoft.com/office/drawing/2014/main" id="{D7486761-9AAC-8893-A868-EAF03822668D}"/>
              </a:ext>
            </a:extLst>
          </p:cNvPr>
          <p:cNvSpPr>
            <a:spLocks noGrp="1"/>
          </p:cNvSpPr>
          <p:nvPr>
            <p:ph type="ftr" sz="quarter" idx="11"/>
          </p:nvPr>
        </p:nvSpPr>
        <p:spPr/>
        <p:txBody>
          <a:bodyPr/>
          <a:lstStyle/>
          <a:p>
            <a:r>
              <a:rPr lang="en-US"/>
              <a:t>Evaluation of Video Games for STEM Education </a:t>
            </a:r>
          </a:p>
        </p:txBody>
      </p:sp>
      <p:sp>
        <p:nvSpPr>
          <p:cNvPr id="6" name="Slide Number Placeholder 5">
            <a:extLst>
              <a:ext uri="{FF2B5EF4-FFF2-40B4-BE49-F238E27FC236}">
                <a16:creationId xmlns:a16="http://schemas.microsoft.com/office/drawing/2014/main" id="{4E27D262-1B6C-5AE6-4630-E93BEC9E5442}"/>
              </a:ext>
            </a:extLst>
          </p:cNvPr>
          <p:cNvSpPr>
            <a:spLocks noGrp="1"/>
          </p:cNvSpPr>
          <p:nvPr>
            <p:ph type="sldNum" sz="quarter" idx="12"/>
          </p:nvPr>
        </p:nvSpPr>
        <p:spPr/>
        <p:txBody>
          <a:bodyPr/>
          <a:lstStyle/>
          <a:p>
            <a:fld id="{C1FF6DA9-008F-8B48-92A6-B652298478BF}" type="slidenum">
              <a:rPr lang="en-US" smtClean="0"/>
              <a:pPr/>
              <a:t>7</a:t>
            </a:fld>
            <a:endParaRPr lang="en-US"/>
          </a:p>
        </p:txBody>
      </p:sp>
      <p:sp>
        <p:nvSpPr>
          <p:cNvPr id="8" name="TextBox 7">
            <a:extLst>
              <a:ext uri="{FF2B5EF4-FFF2-40B4-BE49-F238E27FC236}">
                <a16:creationId xmlns:a16="http://schemas.microsoft.com/office/drawing/2014/main" id="{DC0180FA-7C11-422A-E798-C679DFDDC6D5}"/>
              </a:ext>
            </a:extLst>
          </p:cNvPr>
          <p:cNvSpPr txBox="1"/>
          <p:nvPr/>
        </p:nvSpPr>
        <p:spPr>
          <a:xfrm>
            <a:off x="2514600" y="5206292"/>
            <a:ext cx="2596241" cy="1200329"/>
          </a:xfrm>
          <a:prstGeom prst="rect">
            <a:avLst/>
          </a:prstGeom>
          <a:noFill/>
        </p:spPr>
        <p:txBody>
          <a:bodyPr wrap="square" numCol="1">
            <a:spAutoFit/>
          </a:bodyPr>
          <a:lstStyle/>
          <a:p>
            <a:pPr marL="342900" indent="-342900">
              <a:buFont typeface="Arial" panose="020B0604020202020204" pitchFamily="34" charset="0"/>
              <a:buChar char="•"/>
            </a:pPr>
            <a:r>
              <a:rPr lang="en-US" sz="2400" dirty="0"/>
              <a:t>Intrinsic </a:t>
            </a:r>
          </a:p>
          <a:p>
            <a:pPr marL="342900" indent="-342900">
              <a:buFont typeface="Arial" panose="020B0604020202020204" pitchFamily="34" charset="0"/>
              <a:buChar char="•"/>
            </a:pPr>
            <a:r>
              <a:rPr lang="en-US" sz="2400" dirty="0"/>
              <a:t>Mechanical </a:t>
            </a:r>
          </a:p>
          <a:p>
            <a:pPr marL="342900" indent="-342900">
              <a:buFont typeface="Arial" panose="020B0604020202020204" pitchFamily="34" charset="0"/>
              <a:buChar char="•"/>
            </a:pPr>
            <a:r>
              <a:rPr lang="en-US" sz="2400" dirty="0"/>
              <a:t>Interactive</a:t>
            </a:r>
            <a:r>
              <a:rPr lang="en-US" sz="2200" dirty="0"/>
              <a:t> </a:t>
            </a:r>
          </a:p>
        </p:txBody>
      </p:sp>
      <p:sp>
        <p:nvSpPr>
          <p:cNvPr id="9" name="TextBox 8">
            <a:extLst>
              <a:ext uri="{FF2B5EF4-FFF2-40B4-BE49-F238E27FC236}">
                <a16:creationId xmlns:a16="http://schemas.microsoft.com/office/drawing/2014/main" id="{28769F6E-43CE-1CFC-0080-92020FBFCD5A}"/>
              </a:ext>
            </a:extLst>
          </p:cNvPr>
          <p:cNvSpPr txBox="1"/>
          <p:nvPr/>
        </p:nvSpPr>
        <p:spPr>
          <a:xfrm>
            <a:off x="6459197" y="5194330"/>
            <a:ext cx="3337945" cy="1200329"/>
          </a:xfrm>
          <a:prstGeom prst="rect">
            <a:avLst/>
          </a:prstGeom>
          <a:noFill/>
        </p:spPr>
        <p:txBody>
          <a:bodyPr wrap="square" numCol="1">
            <a:spAutoFit/>
          </a:bodyPr>
          <a:lstStyle/>
          <a:p>
            <a:pPr marL="342900" indent="-342900">
              <a:buFont typeface="Arial" panose="020B0604020202020204" pitchFamily="34" charset="0"/>
              <a:buChar char="•"/>
            </a:pPr>
            <a:r>
              <a:rPr lang="en-US" sz="2400" dirty="0"/>
              <a:t>Artistic </a:t>
            </a:r>
          </a:p>
          <a:p>
            <a:pPr marL="342900" indent="-342900">
              <a:buFont typeface="Arial" panose="020B0604020202020204" pitchFamily="34" charset="0"/>
              <a:buChar char="•"/>
            </a:pPr>
            <a:r>
              <a:rPr lang="en-US" sz="2400" dirty="0"/>
              <a:t>Intrapersonal</a:t>
            </a:r>
          </a:p>
          <a:p>
            <a:pPr marL="342900" indent="-342900">
              <a:buFont typeface="Arial" panose="020B0604020202020204" pitchFamily="34" charset="0"/>
              <a:buChar char="•"/>
            </a:pPr>
            <a:r>
              <a:rPr lang="en-US" sz="2400" dirty="0"/>
              <a:t>Interpersonal (social)</a:t>
            </a:r>
          </a:p>
        </p:txBody>
      </p:sp>
      <p:sp>
        <p:nvSpPr>
          <p:cNvPr id="10" name="TextBox 9">
            <a:extLst>
              <a:ext uri="{FF2B5EF4-FFF2-40B4-BE49-F238E27FC236}">
                <a16:creationId xmlns:a16="http://schemas.microsoft.com/office/drawing/2014/main" id="{A589C7C0-373F-E69D-4988-3BD389DA16B9}"/>
              </a:ext>
            </a:extLst>
          </p:cNvPr>
          <p:cNvSpPr txBox="1"/>
          <p:nvPr/>
        </p:nvSpPr>
        <p:spPr>
          <a:xfrm>
            <a:off x="1600199" y="2377753"/>
            <a:ext cx="3720421" cy="1217769"/>
          </a:xfrm>
          <a:prstGeom prst="rect">
            <a:avLst/>
          </a:prstGeom>
          <a:noFill/>
        </p:spPr>
        <p:txBody>
          <a:bodyPr wrap="square">
            <a:spAutoFit/>
          </a:bodyPr>
          <a:lstStyle/>
          <a:p>
            <a:pPr marL="1143000" marR="0" lvl="2"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Learnability</a:t>
            </a:r>
          </a:p>
          <a:p>
            <a:pPr marL="1143000" marR="0" lvl="2"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Efficiency </a:t>
            </a:r>
          </a:p>
          <a:p>
            <a:pPr marL="1143000" marR="0" lvl="2"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Satisfaction</a:t>
            </a:r>
          </a:p>
        </p:txBody>
      </p:sp>
      <p:sp>
        <p:nvSpPr>
          <p:cNvPr id="13" name="TextBox 12">
            <a:extLst>
              <a:ext uri="{FF2B5EF4-FFF2-40B4-BE49-F238E27FC236}">
                <a16:creationId xmlns:a16="http://schemas.microsoft.com/office/drawing/2014/main" id="{FE92CD54-9BEA-C915-99B8-11D60DFC4984}"/>
              </a:ext>
            </a:extLst>
          </p:cNvPr>
          <p:cNvSpPr txBox="1"/>
          <p:nvPr/>
        </p:nvSpPr>
        <p:spPr>
          <a:xfrm>
            <a:off x="6459197" y="2377753"/>
            <a:ext cx="3087573" cy="821250"/>
          </a:xfrm>
          <a:prstGeom prst="rect">
            <a:avLst/>
          </a:prstGeom>
          <a:noFill/>
        </p:spPr>
        <p:txBody>
          <a:bodyPr wrap="square">
            <a:spAutoFit/>
          </a:bodyPr>
          <a:lstStyle/>
          <a:p>
            <a:pPr marL="358775" marR="0" lvl="2"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Accessibility</a:t>
            </a:r>
          </a:p>
          <a:p>
            <a:pPr marL="358775" marR="0" lvl="2"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Error handling </a:t>
            </a:r>
          </a:p>
        </p:txBody>
      </p:sp>
    </p:spTree>
    <p:extLst>
      <p:ext uri="{BB962C8B-B14F-4D97-AF65-F5344CB8AC3E}">
        <p14:creationId xmlns:p14="http://schemas.microsoft.com/office/powerpoint/2010/main" val="16456945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60423" y="178004"/>
            <a:ext cx="7696190" cy="606755"/>
          </a:xfrm>
        </p:spPr>
        <p:txBody>
          <a:bodyPr anchor="ctr">
            <a:normAutofit fontScale="90000"/>
          </a:bodyPr>
          <a:lstStyle/>
          <a:p>
            <a:pPr algn="ctr"/>
            <a:r>
              <a:rPr lang="en-US" sz="4000" b="1" dirty="0">
                <a:solidFill>
                  <a:schemeClr val="accent1">
                    <a:lumMod val="50000"/>
                  </a:schemeClr>
                </a:solidFill>
                <a:latin typeface="Calibri" panose="020F0502020204030204" pitchFamily="34" charset="0"/>
                <a:cs typeface="Calibri" panose="020F0502020204030204" pitchFamily="34" charset="0"/>
              </a:rPr>
              <a:t>METHODOLOGY 1/2</a:t>
            </a:r>
          </a:p>
        </p:txBody>
      </p:sp>
      <p:sp>
        <p:nvSpPr>
          <p:cNvPr id="3" name="Content Placeholder 2"/>
          <p:cNvSpPr>
            <a:spLocks noGrp="1"/>
          </p:cNvSpPr>
          <p:nvPr>
            <p:ph idx="1"/>
          </p:nvPr>
        </p:nvSpPr>
        <p:spPr>
          <a:xfrm>
            <a:off x="653144" y="996045"/>
            <a:ext cx="10700656" cy="5447393"/>
          </a:xfrm>
        </p:spPr>
        <p:txBody>
          <a:bodyPr anchor="t">
            <a:normAutofit fontScale="92500"/>
          </a:bodyPr>
          <a:lstStyle/>
          <a:p>
            <a:pPr marL="446088" indent="-446088">
              <a:lnSpc>
                <a:spcPct val="110000"/>
              </a:lnSpc>
              <a:spcBef>
                <a:spcPts val="600"/>
              </a:spcBef>
              <a:buFont typeface="Wingdings" panose="05000000000000000000" pitchFamily="2" charset="2"/>
              <a:buChar char="q"/>
            </a:pPr>
            <a:r>
              <a:rPr lang="en-US" b="1" dirty="0">
                <a:solidFill>
                  <a:schemeClr val="accent1">
                    <a:lumMod val="50000"/>
                  </a:schemeClr>
                </a:solidFill>
              </a:rPr>
              <a:t>Goal:</a:t>
            </a:r>
            <a:r>
              <a:rPr lang="en-US" dirty="0"/>
              <a:t> to examine the characteristics of the most commonly used educational games in the teaching of STEM subjects and terms related to approaches to personalizing or adapting educational or learning games and their assessment or evaluation when used in STEM subjects</a:t>
            </a:r>
          </a:p>
          <a:p>
            <a:pPr marL="446088" indent="-446088">
              <a:buFont typeface="Wingdings" panose="05000000000000000000" pitchFamily="2" charset="2"/>
              <a:buChar char="q"/>
            </a:pPr>
            <a:r>
              <a:rPr lang="en-US" b="1" dirty="0">
                <a:solidFill>
                  <a:schemeClr val="accent1">
                    <a:lumMod val="50000"/>
                  </a:schemeClr>
                </a:solidFill>
              </a:rPr>
              <a:t>Approach:</a:t>
            </a:r>
            <a:r>
              <a:rPr lang="en-US" dirty="0"/>
              <a:t> applying both quantitative and qualitative analyses</a:t>
            </a:r>
          </a:p>
          <a:p>
            <a:pPr marL="446088" indent="-446088">
              <a:buFont typeface="Wingdings" panose="05000000000000000000" pitchFamily="2" charset="2"/>
              <a:buChar char="q"/>
            </a:pPr>
            <a:r>
              <a:rPr lang="en-US" b="1" dirty="0">
                <a:solidFill>
                  <a:schemeClr val="accent1">
                    <a:lumMod val="50000"/>
                  </a:schemeClr>
                </a:solidFill>
              </a:rPr>
              <a:t>Search query</a:t>
            </a:r>
            <a:r>
              <a:rPr lang="en-US" dirty="0"/>
              <a:t>:</a:t>
            </a:r>
            <a:endParaRPr lang="bg-BG" dirty="0"/>
          </a:p>
          <a:p>
            <a:pPr marL="533400" indent="0">
              <a:buNone/>
            </a:pPr>
            <a:r>
              <a:rPr lang="en-US" sz="2400" b="1" dirty="0">
                <a:solidFill>
                  <a:srgbClr val="C00000"/>
                </a:solidFill>
                <a:latin typeface="Courier New" panose="02070309020205020404" pitchFamily="49" charset="0"/>
                <a:ea typeface="Times New Roman" panose="02020603050405020304" pitchFamily="18" charset="0"/>
              </a:rPr>
              <a:t>((approach* OR method* OR model* OR framework*) AND (</a:t>
            </a:r>
            <a:r>
              <a:rPr lang="en-US" sz="2400" b="1" dirty="0" err="1">
                <a:solidFill>
                  <a:srgbClr val="C00000"/>
                </a:solidFill>
                <a:latin typeface="Courier New" panose="02070309020205020404" pitchFamily="49" charset="0"/>
                <a:ea typeface="Times New Roman" panose="02020603050405020304" pitchFamily="18" charset="0"/>
              </a:rPr>
              <a:t>personali</a:t>
            </a:r>
            <a:r>
              <a:rPr lang="en-US" sz="2400" b="1" dirty="0">
                <a:solidFill>
                  <a:srgbClr val="C00000"/>
                </a:solidFill>
                <a:latin typeface="Courier New" panose="02070309020205020404" pitchFamily="49" charset="0"/>
                <a:ea typeface="Times New Roman" panose="02020603050405020304" pitchFamily="18" charset="0"/>
              </a:rPr>
              <a:t>* OR adapt* OR tailor* OR </a:t>
            </a:r>
            <a:r>
              <a:rPr lang="en-US" sz="2400" b="1" dirty="0" err="1">
                <a:solidFill>
                  <a:srgbClr val="C00000"/>
                </a:solidFill>
                <a:latin typeface="Courier New" panose="02070309020205020404" pitchFamily="49" charset="0"/>
                <a:ea typeface="Times New Roman" panose="02020603050405020304" pitchFamily="18" charset="0"/>
              </a:rPr>
              <a:t>customi</a:t>
            </a:r>
            <a:r>
              <a:rPr lang="en-US" sz="2400" b="1" dirty="0">
                <a:solidFill>
                  <a:srgbClr val="C00000"/>
                </a:solidFill>
                <a:latin typeface="Courier New" panose="02070309020205020404" pitchFamily="49" charset="0"/>
                <a:ea typeface="Times New Roman" panose="02020603050405020304" pitchFamily="18" charset="0"/>
              </a:rPr>
              <a:t>*) AND (education* OR learn*) AND game* AND (student* OR learner* OR player*) AND (validation OR assessment OR evaluation) AND (STEM OR mathematic* OR science* OR engineering OR </a:t>
            </a:r>
            <a:r>
              <a:rPr lang="en-US" sz="2400" b="1" dirty="0" err="1">
                <a:solidFill>
                  <a:srgbClr val="C00000"/>
                </a:solidFill>
                <a:latin typeface="Courier New" panose="02070309020205020404" pitchFamily="49" charset="0"/>
                <a:ea typeface="Times New Roman" panose="02020603050405020304" pitchFamily="18" charset="0"/>
              </a:rPr>
              <a:t>technolog</a:t>
            </a:r>
            <a:r>
              <a:rPr lang="en-US" sz="2400" b="1" dirty="0">
                <a:solidFill>
                  <a:srgbClr val="C00000"/>
                </a:solidFill>
                <a:latin typeface="Courier New" panose="02070309020205020404" pitchFamily="49" charset="0"/>
                <a:ea typeface="Times New Roman" panose="02020603050405020304" pitchFamily="18" charset="0"/>
              </a:rPr>
              <a:t>*))</a:t>
            </a:r>
          </a:p>
          <a:p>
            <a:pPr marL="446088" indent="-446088">
              <a:buFont typeface="Wingdings" panose="05000000000000000000" pitchFamily="2" charset="2"/>
              <a:buChar char="ü"/>
            </a:pPr>
            <a:r>
              <a:rPr lang="en-US" dirty="0"/>
              <a:t>A standard spreadsheet processing software was used</a:t>
            </a:r>
            <a:endParaRPr lang="en-US" dirty="0">
              <a:solidFill>
                <a:schemeClr val="accent1">
                  <a:lumMod val="75000"/>
                </a:schemeClr>
              </a:solidFill>
              <a:latin typeface="Courier New" panose="02070309020205020404" pitchFamily="49" charset="0"/>
              <a:ea typeface="Times New Roman" panose="02020603050405020304" pitchFamily="18" charset="0"/>
            </a:endParaRPr>
          </a:p>
        </p:txBody>
      </p:sp>
      <p:sp>
        <p:nvSpPr>
          <p:cNvPr id="4" name="Date Placeholder 3">
            <a:extLst>
              <a:ext uri="{FF2B5EF4-FFF2-40B4-BE49-F238E27FC236}">
                <a16:creationId xmlns:a16="http://schemas.microsoft.com/office/drawing/2014/main" id="{DC4F980D-1789-4B19-9A23-19349BB7A084}"/>
              </a:ext>
            </a:extLst>
          </p:cNvPr>
          <p:cNvSpPr>
            <a:spLocks noGrp="1"/>
          </p:cNvSpPr>
          <p:nvPr>
            <p:ph type="dt" sz="half" idx="10"/>
          </p:nvPr>
        </p:nvSpPr>
        <p:spPr/>
        <p:txBody>
          <a:bodyPr/>
          <a:lstStyle/>
          <a:p>
            <a:r>
              <a:rPr lang="bg-BG" dirty="0"/>
              <a:t>BdKCSE'2025</a:t>
            </a:r>
            <a:endParaRPr lang="en-US" dirty="0"/>
          </a:p>
        </p:txBody>
      </p:sp>
      <p:sp>
        <p:nvSpPr>
          <p:cNvPr id="5" name="Footer Placeholder 4">
            <a:extLst>
              <a:ext uri="{FF2B5EF4-FFF2-40B4-BE49-F238E27FC236}">
                <a16:creationId xmlns:a16="http://schemas.microsoft.com/office/drawing/2014/main" id="{76C27CFC-2016-458C-9235-3EA99BE35D3C}"/>
              </a:ext>
            </a:extLst>
          </p:cNvPr>
          <p:cNvSpPr>
            <a:spLocks noGrp="1"/>
          </p:cNvSpPr>
          <p:nvPr>
            <p:ph type="ftr" sz="quarter" idx="11"/>
          </p:nvPr>
        </p:nvSpPr>
        <p:spPr/>
        <p:txBody>
          <a:bodyPr/>
          <a:lstStyle/>
          <a:p>
            <a:r>
              <a:rPr lang="en-US"/>
              <a:t>Evaluation of Video Games for STEM Education </a:t>
            </a:r>
            <a:endParaRPr lang="en-US" dirty="0"/>
          </a:p>
        </p:txBody>
      </p:sp>
      <p:sp>
        <p:nvSpPr>
          <p:cNvPr id="6" name="Slide Number Placeholder 5">
            <a:extLst>
              <a:ext uri="{FF2B5EF4-FFF2-40B4-BE49-F238E27FC236}">
                <a16:creationId xmlns:a16="http://schemas.microsoft.com/office/drawing/2014/main" id="{3113EBF6-9207-48CB-9F4C-358A617E9F91}"/>
              </a:ext>
            </a:extLst>
          </p:cNvPr>
          <p:cNvSpPr>
            <a:spLocks noGrp="1"/>
          </p:cNvSpPr>
          <p:nvPr>
            <p:ph type="sldNum" sz="quarter" idx="12"/>
          </p:nvPr>
        </p:nvSpPr>
        <p:spPr/>
        <p:txBody>
          <a:bodyPr/>
          <a:lstStyle/>
          <a:p>
            <a:fld id="{C1FF6DA9-008F-8B48-92A6-B652298478BF}" type="slidenum">
              <a:rPr lang="en-US" smtClean="0"/>
              <a:pPr/>
              <a:t>8</a:t>
            </a:fld>
            <a:endParaRPr lang="en-US"/>
          </a:p>
        </p:txBody>
      </p:sp>
    </p:spTree>
    <p:extLst>
      <p:ext uri="{BB962C8B-B14F-4D97-AF65-F5344CB8AC3E}">
        <p14:creationId xmlns:p14="http://schemas.microsoft.com/office/powerpoint/2010/main" val="41396007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260423" y="178004"/>
            <a:ext cx="7696190" cy="606755"/>
          </a:xfrm>
        </p:spPr>
        <p:txBody>
          <a:bodyPr anchor="ctr">
            <a:normAutofit fontScale="90000"/>
          </a:bodyPr>
          <a:lstStyle/>
          <a:p>
            <a:pPr algn="ctr"/>
            <a:r>
              <a:rPr lang="en-US" sz="4000" b="1" dirty="0">
                <a:latin typeface="Calibri" panose="020F0502020204030204" pitchFamily="34" charset="0"/>
                <a:cs typeface="Calibri" panose="020F0502020204030204" pitchFamily="34" charset="0"/>
              </a:rPr>
              <a:t>METHODOLOGY</a:t>
            </a:r>
            <a:r>
              <a:rPr lang="en-US" sz="4000" dirty="0">
                <a:latin typeface="Calibri" panose="020F0502020204030204" pitchFamily="34" charset="0"/>
                <a:cs typeface="Calibri" panose="020F0502020204030204" pitchFamily="34" charset="0"/>
              </a:rPr>
              <a:t> 2/2</a:t>
            </a:r>
          </a:p>
        </p:txBody>
      </p:sp>
      <p:sp>
        <p:nvSpPr>
          <p:cNvPr id="3" name="Content Placeholder 2"/>
          <p:cNvSpPr>
            <a:spLocks noGrp="1"/>
          </p:cNvSpPr>
          <p:nvPr>
            <p:ph idx="1"/>
          </p:nvPr>
        </p:nvSpPr>
        <p:spPr>
          <a:xfrm>
            <a:off x="343716" y="1061355"/>
            <a:ext cx="11504568" cy="5513615"/>
          </a:xfrm>
        </p:spPr>
        <p:txBody>
          <a:bodyPr anchor="t">
            <a:normAutofit/>
          </a:bodyPr>
          <a:lstStyle/>
          <a:p>
            <a:pPr marL="358775" indent="-358775">
              <a:spcBef>
                <a:spcPts val="600"/>
              </a:spcBef>
              <a:buFont typeface="Wingdings" panose="05000000000000000000" pitchFamily="2" charset="2"/>
              <a:buChar char="q"/>
            </a:pPr>
            <a:r>
              <a:rPr lang="en-US" sz="2400" b="1" dirty="0">
                <a:solidFill>
                  <a:schemeClr val="accent1">
                    <a:lumMod val="50000"/>
                  </a:schemeClr>
                </a:solidFill>
              </a:rPr>
              <a:t>Preferred Reporting Items for Systematic Reviews and Meta-Analyses </a:t>
            </a:r>
            <a:r>
              <a:rPr lang="en-US" sz="2400" dirty="0"/>
              <a:t>(PRISMA) – a transparent and comprehensive reporting of a systematic quantitative review </a:t>
            </a:r>
          </a:p>
          <a:p>
            <a:pPr marL="712787" indent="-342900">
              <a:spcBef>
                <a:spcPts val="600"/>
              </a:spcBef>
              <a:buFont typeface="Wingdings" panose="05000000000000000000" pitchFamily="2" charset="2"/>
              <a:buChar char="§"/>
            </a:pPr>
            <a:r>
              <a:rPr lang="en-US" sz="2400" b="1" i="1" dirty="0">
                <a:solidFill>
                  <a:schemeClr val="accent1">
                    <a:lumMod val="50000"/>
                  </a:schemeClr>
                </a:solidFill>
                <a:ea typeface="Times New Roman" panose="02020603050405020304" pitchFamily="18" charset="0"/>
              </a:rPr>
              <a:t>Inclusion criteria: </a:t>
            </a:r>
          </a:p>
          <a:p>
            <a:pPr marL="1077913" indent="-361950">
              <a:spcBef>
                <a:spcPts val="600"/>
              </a:spcBef>
              <a:buFont typeface="+mj-lt"/>
              <a:buAutoNum type="arabicParenR"/>
            </a:pPr>
            <a:r>
              <a:rPr lang="en-US" sz="2400" dirty="0">
                <a:ea typeface="Times New Roman" panose="02020603050405020304" pitchFamily="18" charset="0"/>
              </a:rPr>
              <a:t>time span of the last ten years (</a:t>
            </a:r>
            <a:r>
              <a:rPr lang="en-US" sz="2400" dirty="0"/>
              <a:t>2015-2025)</a:t>
            </a:r>
          </a:p>
          <a:p>
            <a:pPr marL="1077913" indent="-361950">
              <a:spcBef>
                <a:spcPts val="600"/>
              </a:spcBef>
              <a:buFont typeface="+mj-lt"/>
              <a:buAutoNum type="arabicParenR"/>
            </a:pPr>
            <a:r>
              <a:rPr lang="en-US" sz="2400" dirty="0">
                <a:ea typeface="Times New Roman" panose="02020603050405020304" pitchFamily="18" charset="0"/>
              </a:rPr>
              <a:t>only referred publications, i.e., indexed in </a:t>
            </a:r>
            <a:r>
              <a:rPr lang="en-US" sz="2400" dirty="0" err="1">
                <a:ea typeface="Times New Roman" panose="02020603050405020304" pitchFamily="18" charset="0"/>
              </a:rPr>
              <a:t>WoS</a:t>
            </a:r>
            <a:r>
              <a:rPr lang="en-US" sz="2400" dirty="0">
                <a:ea typeface="Times New Roman" panose="02020603050405020304" pitchFamily="18" charset="0"/>
              </a:rPr>
              <a:t> and Scopus databases </a:t>
            </a:r>
          </a:p>
          <a:p>
            <a:pPr marL="1077913" indent="-361950">
              <a:spcBef>
                <a:spcPts val="600"/>
              </a:spcBef>
              <a:buFont typeface="+mj-lt"/>
              <a:buAutoNum type="arabicParenR"/>
            </a:pPr>
            <a:r>
              <a:rPr lang="en-US" sz="2400" dirty="0">
                <a:ea typeface="Times New Roman" panose="02020603050405020304" pitchFamily="18" charset="0"/>
              </a:rPr>
              <a:t>documents that include the terms of the search query in their titles, abstracts, or authors’ keywords </a:t>
            </a:r>
          </a:p>
          <a:p>
            <a:pPr marL="1077913" indent="-361950">
              <a:spcBef>
                <a:spcPts val="600"/>
              </a:spcBef>
              <a:buFont typeface="+mj-lt"/>
              <a:buAutoNum type="arabicParenR"/>
            </a:pPr>
            <a:r>
              <a:rPr lang="en-US" sz="2400" dirty="0">
                <a:ea typeface="Times New Roman" panose="02020603050405020304" pitchFamily="18" charset="0"/>
              </a:rPr>
              <a:t>only documents in English</a:t>
            </a:r>
          </a:p>
          <a:p>
            <a:pPr marL="719138" indent="-361950">
              <a:spcBef>
                <a:spcPts val="600"/>
              </a:spcBef>
              <a:buFont typeface="Wingdings" panose="05000000000000000000" pitchFamily="2" charset="2"/>
              <a:buChar char="§"/>
            </a:pPr>
            <a:r>
              <a:rPr lang="en-US" sz="2400" b="1" i="1" dirty="0">
                <a:solidFill>
                  <a:schemeClr val="accent1">
                    <a:lumMod val="50000"/>
                  </a:schemeClr>
                </a:solidFill>
                <a:ea typeface="Times New Roman" panose="02020603050405020304" pitchFamily="18" charset="0"/>
              </a:rPr>
              <a:t>Exclusion criteria: </a:t>
            </a:r>
          </a:p>
          <a:p>
            <a:pPr marL="1077913" indent="-361950">
              <a:spcBef>
                <a:spcPts val="600"/>
              </a:spcBef>
              <a:buFont typeface="+mj-lt"/>
              <a:buAutoNum type="arabicParenR"/>
            </a:pPr>
            <a:r>
              <a:rPr lang="en-US" sz="2400" dirty="0">
                <a:ea typeface="Times New Roman" panose="02020603050405020304" pitchFamily="18" charset="0"/>
              </a:rPr>
              <a:t>editorial materials, conference reviews, retracted papers, notes, errata</a:t>
            </a:r>
          </a:p>
          <a:p>
            <a:pPr marL="1077913" indent="-361950">
              <a:spcBef>
                <a:spcPts val="600"/>
              </a:spcBef>
              <a:buFont typeface="+mj-lt"/>
              <a:buAutoNum type="arabicParenR"/>
            </a:pPr>
            <a:r>
              <a:rPr lang="en-US" sz="2400" dirty="0">
                <a:ea typeface="Times New Roman" panose="02020603050405020304" pitchFamily="18" charset="0"/>
              </a:rPr>
              <a:t>documents not related to the study scope</a:t>
            </a:r>
          </a:p>
          <a:p>
            <a:pPr marL="358775" indent="-358775">
              <a:spcBef>
                <a:spcPts val="600"/>
              </a:spcBef>
              <a:buFont typeface="Wingdings" panose="05000000000000000000" pitchFamily="2" charset="2"/>
              <a:buChar char="q"/>
            </a:pPr>
            <a:r>
              <a:rPr lang="en-US" sz="2400" dirty="0"/>
              <a:t>Focused on the types of educational games and their parameters such as: engagement, achieved learning outcomes, usability, users’ satisfaction, motivation, learnability and playability. </a:t>
            </a:r>
          </a:p>
        </p:txBody>
      </p:sp>
      <p:sp>
        <p:nvSpPr>
          <p:cNvPr id="4" name="Date Placeholder 3">
            <a:extLst>
              <a:ext uri="{FF2B5EF4-FFF2-40B4-BE49-F238E27FC236}">
                <a16:creationId xmlns:a16="http://schemas.microsoft.com/office/drawing/2014/main" id="{DC4F980D-1789-4B19-9A23-19349BB7A084}"/>
              </a:ext>
            </a:extLst>
          </p:cNvPr>
          <p:cNvSpPr>
            <a:spLocks noGrp="1"/>
          </p:cNvSpPr>
          <p:nvPr>
            <p:ph type="dt" sz="half" idx="10"/>
          </p:nvPr>
        </p:nvSpPr>
        <p:spPr/>
        <p:txBody>
          <a:bodyPr/>
          <a:lstStyle/>
          <a:p>
            <a:r>
              <a:rPr lang="bg-BG"/>
              <a:t>BdKCSE'2025</a:t>
            </a:r>
            <a:endParaRPr lang="en-US"/>
          </a:p>
        </p:txBody>
      </p:sp>
      <p:sp>
        <p:nvSpPr>
          <p:cNvPr id="5" name="Footer Placeholder 4">
            <a:extLst>
              <a:ext uri="{FF2B5EF4-FFF2-40B4-BE49-F238E27FC236}">
                <a16:creationId xmlns:a16="http://schemas.microsoft.com/office/drawing/2014/main" id="{76C27CFC-2016-458C-9235-3EA99BE35D3C}"/>
              </a:ext>
            </a:extLst>
          </p:cNvPr>
          <p:cNvSpPr>
            <a:spLocks noGrp="1"/>
          </p:cNvSpPr>
          <p:nvPr>
            <p:ph type="ftr" sz="quarter" idx="11"/>
          </p:nvPr>
        </p:nvSpPr>
        <p:spPr/>
        <p:txBody>
          <a:bodyPr/>
          <a:lstStyle/>
          <a:p>
            <a:r>
              <a:rPr lang="en-US"/>
              <a:t>Evaluation of Video Games for STEM Education </a:t>
            </a:r>
          </a:p>
        </p:txBody>
      </p:sp>
      <p:sp>
        <p:nvSpPr>
          <p:cNvPr id="6" name="Slide Number Placeholder 5">
            <a:extLst>
              <a:ext uri="{FF2B5EF4-FFF2-40B4-BE49-F238E27FC236}">
                <a16:creationId xmlns:a16="http://schemas.microsoft.com/office/drawing/2014/main" id="{AA84C6E6-C643-4F25-A2F2-DD28E1732093}"/>
              </a:ext>
            </a:extLst>
          </p:cNvPr>
          <p:cNvSpPr>
            <a:spLocks noGrp="1"/>
          </p:cNvSpPr>
          <p:nvPr>
            <p:ph type="sldNum" sz="quarter" idx="12"/>
          </p:nvPr>
        </p:nvSpPr>
        <p:spPr/>
        <p:txBody>
          <a:bodyPr/>
          <a:lstStyle/>
          <a:p>
            <a:fld id="{C1FF6DA9-008F-8B48-92A6-B652298478BF}" type="slidenum">
              <a:rPr lang="en-US" smtClean="0"/>
              <a:p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6B805-0140-B5EA-A6B9-CAF8F4F176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E23F1E-1B4B-8DFE-6EA4-A463E1235F0C}"/>
              </a:ext>
            </a:extLst>
          </p:cNvPr>
          <p:cNvSpPr>
            <a:spLocks noGrp="1"/>
          </p:cNvSpPr>
          <p:nvPr>
            <p:ph type="title"/>
          </p:nvPr>
        </p:nvSpPr>
        <p:spPr>
          <a:xfrm>
            <a:off x="1458686" y="113413"/>
            <a:ext cx="9437914" cy="658625"/>
          </a:xfrm>
        </p:spPr>
        <p:txBody>
          <a:bodyPr>
            <a:noAutofit/>
          </a:bodyPr>
          <a:lstStyle/>
          <a:p>
            <a:pPr algn="ctr"/>
            <a:r>
              <a:rPr lang="en-US" sz="3600" b="1" dirty="0">
                <a:solidFill>
                  <a:schemeClr val="accent1">
                    <a:lumMod val="50000"/>
                  </a:schemeClr>
                </a:solidFill>
                <a:latin typeface="Calibri" panose="020F0502020204030204" pitchFamily="34" charset="0"/>
                <a:cs typeface="Calibri" panose="020F0502020204030204" pitchFamily="34" charset="0"/>
              </a:rPr>
              <a:t>RESULTS </a:t>
            </a:r>
            <a:endParaRPr lang="bg-BG" sz="3600" b="1" dirty="0">
              <a:solidFill>
                <a:schemeClr val="accent1">
                  <a:lumMod val="50000"/>
                </a:schemeClr>
              </a:solidFill>
              <a:latin typeface="Calibri" panose="020F0502020204030204" pitchFamily="34" charset="0"/>
              <a:cs typeface="Calibri" panose="020F0502020204030204" pitchFamily="34" charset="0"/>
            </a:endParaRPr>
          </a:p>
        </p:txBody>
      </p:sp>
      <p:sp>
        <p:nvSpPr>
          <p:cNvPr id="4" name="Date Placeholder 3">
            <a:extLst>
              <a:ext uri="{FF2B5EF4-FFF2-40B4-BE49-F238E27FC236}">
                <a16:creationId xmlns:a16="http://schemas.microsoft.com/office/drawing/2014/main" id="{033B9BA7-CED5-1AA6-727B-1BDE8E6545E6}"/>
              </a:ext>
            </a:extLst>
          </p:cNvPr>
          <p:cNvSpPr>
            <a:spLocks noGrp="1"/>
          </p:cNvSpPr>
          <p:nvPr>
            <p:ph type="dt" sz="half" idx="10"/>
          </p:nvPr>
        </p:nvSpPr>
        <p:spPr/>
        <p:txBody>
          <a:bodyPr/>
          <a:lstStyle/>
          <a:p>
            <a:r>
              <a:rPr lang="bg-BG"/>
              <a:t>BdKCSE'2025</a:t>
            </a:r>
            <a:endParaRPr lang="en-US"/>
          </a:p>
        </p:txBody>
      </p:sp>
      <p:sp>
        <p:nvSpPr>
          <p:cNvPr id="5" name="Footer Placeholder 4">
            <a:extLst>
              <a:ext uri="{FF2B5EF4-FFF2-40B4-BE49-F238E27FC236}">
                <a16:creationId xmlns:a16="http://schemas.microsoft.com/office/drawing/2014/main" id="{796476DD-13AC-3826-15FB-890A6241BA41}"/>
              </a:ext>
            </a:extLst>
          </p:cNvPr>
          <p:cNvSpPr>
            <a:spLocks noGrp="1"/>
          </p:cNvSpPr>
          <p:nvPr>
            <p:ph type="ftr" sz="quarter" idx="11"/>
          </p:nvPr>
        </p:nvSpPr>
        <p:spPr/>
        <p:txBody>
          <a:bodyPr/>
          <a:lstStyle/>
          <a:p>
            <a:r>
              <a:rPr lang="en-US"/>
              <a:t>Evaluation of Video Games for STEM Education </a:t>
            </a:r>
          </a:p>
        </p:txBody>
      </p:sp>
      <p:sp>
        <p:nvSpPr>
          <p:cNvPr id="3" name="Slide Number Placeholder 2">
            <a:extLst>
              <a:ext uri="{FF2B5EF4-FFF2-40B4-BE49-F238E27FC236}">
                <a16:creationId xmlns:a16="http://schemas.microsoft.com/office/drawing/2014/main" id="{E73B4803-C884-4365-9DD2-37EDACAB1180}"/>
              </a:ext>
            </a:extLst>
          </p:cNvPr>
          <p:cNvSpPr>
            <a:spLocks noGrp="1"/>
          </p:cNvSpPr>
          <p:nvPr>
            <p:ph type="sldNum" sz="quarter" idx="12"/>
          </p:nvPr>
        </p:nvSpPr>
        <p:spPr/>
        <p:txBody>
          <a:bodyPr/>
          <a:lstStyle/>
          <a:p>
            <a:fld id="{C1FF6DA9-008F-8B48-92A6-B652298478BF}" type="slidenum">
              <a:rPr lang="en-US" smtClean="0"/>
              <a:pPr/>
              <a:t>10</a:t>
            </a:fld>
            <a:endParaRPr lang="en-US"/>
          </a:p>
        </p:txBody>
      </p:sp>
      <p:graphicFrame>
        <p:nvGraphicFramePr>
          <p:cNvPr id="6" name="Table 5">
            <a:extLst>
              <a:ext uri="{FF2B5EF4-FFF2-40B4-BE49-F238E27FC236}">
                <a16:creationId xmlns:a16="http://schemas.microsoft.com/office/drawing/2014/main" id="{6A401495-A06C-44C1-B5D2-4FDA5F4B6572}"/>
              </a:ext>
            </a:extLst>
          </p:cNvPr>
          <p:cNvGraphicFramePr>
            <a:graphicFrameLocks noGrp="1"/>
          </p:cNvGraphicFramePr>
          <p:nvPr>
            <p:extLst>
              <p:ext uri="{D42A27DB-BD31-4B8C-83A1-F6EECF244321}">
                <p14:modId xmlns:p14="http://schemas.microsoft.com/office/powerpoint/2010/main" val="80772441"/>
              </p:ext>
            </p:extLst>
          </p:nvPr>
        </p:nvGraphicFramePr>
        <p:xfrm>
          <a:off x="3166222" y="1096180"/>
          <a:ext cx="8406813" cy="5202175"/>
        </p:xfrm>
        <a:graphic>
          <a:graphicData uri="http://schemas.openxmlformats.org/drawingml/2006/table">
            <a:tbl>
              <a:tblPr firstRow="1" firstCol="1" bandRow="1">
                <a:tableStyleId>{5C22544A-7EE6-4342-B048-85BDC9FD1C3A}</a:tableStyleId>
              </a:tblPr>
              <a:tblGrid>
                <a:gridCol w="2257310">
                  <a:extLst>
                    <a:ext uri="{9D8B030D-6E8A-4147-A177-3AD203B41FA5}">
                      <a16:colId xmlns:a16="http://schemas.microsoft.com/office/drawing/2014/main" val="3698684907"/>
                    </a:ext>
                  </a:extLst>
                </a:gridCol>
                <a:gridCol w="1923382">
                  <a:extLst>
                    <a:ext uri="{9D8B030D-6E8A-4147-A177-3AD203B41FA5}">
                      <a16:colId xmlns:a16="http://schemas.microsoft.com/office/drawing/2014/main" val="1608809238"/>
                    </a:ext>
                  </a:extLst>
                </a:gridCol>
                <a:gridCol w="2089595">
                  <a:extLst>
                    <a:ext uri="{9D8B030D-6E8A-4147-A177-3AD203B41FA5}">
                      <a16:colId xmlns:a16="http://schemas.microsoft.com/office/drawing/2014/main" val="1245423089"/>
                    </a:ext>
                  </a:extLst>
                </a:gridCol>
                <a:gridCol w="2136526">
                  <a:extLst>
                    <a:ext uri="{9D8B030D-6E8A-4147-A177-3AD203B41FA5}">
                      <a16:colId xmlns:a16="http://schemas.microsoft.com/office/drawing/2014/main" val="2874146480"/>
                    </a:ext>
                  </a:extLst>
                </a:gridCol>
              </a:tblGrid>
              <a:tr h="352191">
                <a:tc rowSpan="2">
                  <a:txBody>
                    <a:bodyPr/>
                    <a:lstStyle/>
                    <a:p>
                      <a:pPr algn="ctr">
                        <a:buNone/>
                      </a:pPr>
                      <a:r>
                        <a:rPr lang="en-US" sz="2400" dirty="0">
                          <a:effectLst/>
                        </a:rPr>
                        <a:t>PRISMA </a:t>
                      </a:r>
                    </a:p>
                    <a:p>
                      <a:pPr algn="ctr">
                        <a:buNone/>
                      </a:pPr>
                      <a:r>
                        <a:rPr lang="en-US" sz="2400" dirty="0">
                          <a:effectLst/>
                        </a:rPr>
                        <a:t>stage</a:t>
                      </a:r>
                      <a:endParaRPr lang="en-US" sz="24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gridSpan="2">
                  <a:txBody>
                    <a:bodyPr/>
                    <a:lstStyle/>
                    <a:p>
                      <a:pPr algn="ctr">
                        <a:buNone/>
                      </a:pPr>
                      <a:r>
                        <a:rPr lang="en-US" sz="2400" dirty="0">
                          <a:effectLst/>
                        </a:rPr>
                        <a:t>Database</a:t>
                      </a:r>
                      <a:endParaRPr lang="en-US" sz="24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hMerge="1">
                  <a:txBody>
                    <a:bodyPr/>
                    <a:lstStyle/>
                    <a:p>
                      <a:endParaRPr lang="bg-BG"/>
                    </a:p>
                  </a:txBody>
                  <a:tcPr/>
                </a:tc>
                <a:tc rowSpan="2">
                  <a:txBody>
                    <a:bodyPr/>
                    <a:lstStyle/>
                    <a:p>
                      <a:pPr algn="ctr">
                        <a:buNone/>
                      </a:pPr>
                      <a:r>
                        <a:rPr lang="en-US" sz="2400" dirty="0">
                          <a:effectLst/>
                        </a:rPr>
                        <a:t>Excluded documents</a:t>
                      </a:r>
                      <a:endParaRPr lang="en-US" sz="24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318366209"/>
                  </a:ext>
                </a:extLst>
              </a:tr>
              <a:tr h="704381">
                <a:tc vMerge="1">
                  <a:txBody>
                    <a:bodyPr/>
                    <a:lstStyle/>
                    <a:p>
                      <a:endParaRPr lang="bg-BG"/>
                    </a:p>
                  </a:txBody>
                  <a:tcPr/>
                </a:tc>
                <a:tc>
                  <a:txBody>
                    <a:bodyPr/>
                    <a:lstStyle/>
                    <a:p>
                      <a:pPr algn="ctr">
                        <a:buNone/>
                      </a:pPr>
                      <a:r>
                        <a:rPr lang="en-US" sz="2400" dirty="0">
                          <a:effectLst/>
                        </a:rPr>
                        <a:t>Web of Science</a:t>
                      </a:r>
                      <a:endParaRPr lang="en-US" sz="24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algn="ctr">
                        <a:buNone/>
                      </a:pPr>
                      <a:r>
                        <a:rPr lang="en-US" sz="2400" dirty="0">
                          <a:effectLst/>
                        </a:rPr>
                        <a:t>Scopus</a:t>
                      </a:r>
                      <a:endParaRPr lang="en-US" sz="24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vMerge="1">
                  <a:txBody>
                    <a:bodyPr/>
                    <a:lstStyle/>
                    <a:p>
                      <a:endParaRPr lang="bg-BG"/>
                    </a:p>
                  </a:txBody>
                  <a:tcPr/>
                </a:tc>
                <a:extLst>
                  <a:ext uri="{0D108BD9-81ED-4DB2-BD59-A6C34878D82A}">
                    <a16:rowId xmlns:a16="http://schemas.microsoft.com/office/drawing/2014/main" val="2830560974"/>
                  </a:ext>
                </a:extLst>
              </a:tr>
              <a:tr h="461736">
                <a:tc rowSpan="2">
                  <a:txBody>
                    <a:bodyPr/>
                    <a:lstStyle/>
                    <a:p>
                      <a:pPr algn="l">
                        <a:buNone/>
                      </a:pPr>
                      <a:r>
                        <a:rPr lang="en-US" sz="2400">
                          <a:effectLst/>
                        </a:rPr>
                        <a:t>Identification</a:t>
                      </a:r>
                      <a:endParaRPr lang="en-US" sz="24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algn="ctr">
                        <a:buNone/>
                      </a:pPr>
                      <a:r>
                        <a:rPr lang="en-US" sz="2400" dirty="0">
                          <a:effectLst/>
                        </a:rPr>
                        <a:t>311</a:t>
                      </a:r>
                      <a:endParaRPr lang="en-US" sz="24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algn="ctr"/>
                      <a:r>
                        <a:rPr lang="en-US" sz="2400" dirty="0">
                          <a:effectLst/>
                        </a:rPr>
                        <a:t>403</a:t>
                      </a:r>
                      <a:endParaRPr lang="bg-BG" sz="2400" dirty="0"/>
                    </a:p>
                  </a:txBody>
                  <a:tcPr marL="68580" marR="68580" marT="0" marB="0" anchor="ctr"/>
                </a:tc>
                <a:tc rowSpan="2">
                  <a:txBody>
                    <a:bodyPr/>
                    <a:lstStyle/>
                    <a:p>
                      <a:pPr algn="ctr">
                        <a:buNone/>
                      </a:pPr>
                      <a:r>
                        <a:rPr lang="en-US" sz="2400" dirty="0">
                          <a:effectLst/>
                        </a:rPr>
                        <a:t>Duplicates </a:t>
                      </a:r>
                    </a:p>
                    <a:p>
                      <a:pPr algn="ctr">
                        <a:buNone/>
                      </a:pPr>
                      <a:r>
                        <a:rPr lang="en-US" sz="2400" dirty="0">
                          <a:effectLst/>
                        </a:rPr>
                        <a:t>(n = 185)</a:t>
                      </a:r>
                      <a:endParaRPr lang="en-US" sz="24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373701150"/>
                  </a:ext>
                </a:extLst>
              </a:tr>
              <a:tr h="601432">
                <a:tc vMerge="1">
                  <a:txBody>
                    <a:bodyPr/>
                    <a:lstStyle/>
                    <a:p>
                      <a:endParaRPr lang="bg-BG"/>
                    </a:p>
                  </a:txBody>
                  <a:tcPr/>
                </a:tc>
                <a:tc gridSpan="2">
                  <a:txBody>
                    <a:bodyPr/>
                    <a:lstStyle/>
                    <a:p>
                      <a:pPr algn="ctr">
                        <a:buNone/>
                      </a:pPr>
                      <a:r>
                        <a:rPr lang="en-US" sz="2400">
                          <a:effectLst/>
                        </a:rPr>
                        <a:t>Total (n = 714)</a:t>
                      </a:r>
                      <a:endParaRPr lang="en-US" sz="24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hMerge="1">
                  <a:txBody>
                    <a:bodyPr/>
                    <a:lstStyle/>
                    <a:p>
                      <a:endParaRPr lang="bg-BG"/>
                    </a:p>
                  </a:txBody>
                  <a:tcPr/>
                </a:tc>
                <a:tc vMerge="1">
                  <a:txBody>
                    <a:bodyPr/>
                    <a:lstStyle/>
                    <a:p>
                      <a:endParaRPr lang="bg-BG"/>
                    </a:p>
                  </a:txBody>
                  <a:tcPr/>
                </a:tc>
                <a:extLst>
                  <a:ext uri="{0D108BD9-81ED-4DB2-BD59-A6C34878D82A}">
                    <a16:rowId xmlns:a16="http://schemas.microsoft.com/office/drawing/2014/main" val="651629019"/>
                  </a:ext>
                </a:extLst>
              </a:tr>
              <a:tr h="969417">
                <a:tc>
                  <a:txBody>
                    <a:bodyPr/>
                    <a:lstStyle/>
                    <a:p>
                      <a:pPr algn="l">
                        <a:buNone/>
                      </a:pPr>
                      <a:r>
                        <a:rPr lang="en-US" sz="2400">
                          <a:effectLst/>
                        </a:rPr>
                        <a:t>Screening</a:t>
                      </a:r>
                      <a:endParaRPr lang="en-US" sz="24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gridSpan="2">
                  <a:txBody>
                    <a:bodyPr/>
                    <a:lstStyle/>
                    <a:p>
                      <a:pPr algn="ctr">
                        <a:buNone/>
                      </a:pPr>
                      <a:r>
                        <a:rPr lang="en-US" sz="2400" dirty="0">
                          <a:effectLst/>
                        </a:rPr>
                        <a:t>Publications screened manually (n = 529)</a:t>
                      </a:r>
                      <a:endParaRPr lang="en-US" sz="24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hMerge="1">
                  <a:txBody>
                    <a:bodyPr/>
                    <a:lstStyle/>
                    <a:p>
                      <a:endParaRPr lang="bg-BG"/>
                    </a:p>
                  </a:txBody>
                  <a:tcPr/>
                </a:tc>
                <a:tc>
                  <a:txBody>
                    <a:bodyPr/>
                    <a:lstStyle/>
                    <a:p>
                      <a:pPr algn="ctr">
                        <a:buNone/>
                      </a:pPr>
                      <a:r>
                        <a:rPr lang="en-US" sz="2400" dirty="0">
                          <a:effectLst/>
                        </a:rPr>
                        <a:t>Not relevant </a:t>
                      </a:r>
                    </a:p>
                    <a:p>
                      <a:pPr algn="ctr">
                        <a:buNone/>
                      </a:pPr>
                      <a:r>
                        <a:rPr lang="en-US" sz="2400" dirty="0">
                          <a:effectLst/>
                        </a:rPr>
                        <a:t>(n = 273)</a:t>
                      </a:r>
                      <a:endParaRPr lang="en-US" sz="24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989353180"/>
                  </a:ext>
                </a:extLst>
              </a:tr>
              <a:tr h="1039975">
                <a:tc>
                  <a:txBody>
                    <a:bodyPr/>
                    <a:lstStyle/>
                    <a:p>
                      <a:pPr algn="l">
                        <a:buNone/>
                      </a:pPr>
                      <a:r>
                        <a:rPr lang="en-US" sz="2400">
                          <a:effectLst/>
                        </a:rPr>
                        <a:t>Eligibility</a:t>
                      </a:r>
                      <a:endParaRPr lang="en-US" sz="24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gridSpan="2">
                  <a:txBody>
                    <a:bodyPr/>
                    <a:lstStyle/>
                    <a:p>
                      <a:pPr algn="ctr">
                        <a:buNone/>
                      </a:pPr>
                      <a:r>
                        <a:rPr lang="en-US" sz="2400" dirty="0">
                          <a:effectLst/>
                        </a:rPr>
                        <a:t>Publications evaluated by abstracts (n = 256)</a:t>
                      </a:r>
                      <a:endParaRPr lang="en-US" sz="24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hMerge="1">
                  <a:txBody>
                    <a:bodyPr/>
                    <a:lstStyle/>
                    <a:p>
                      <a:endParaRPr lang="bg-BG"/>
                    </a:p>
                  </a:txBody>
                  <a:tcPr/>
                </a:tc>
                <a:tc>
                  <a:txBody>
                    <a:bodyPr/>
                    <a:lstStyle/>
                    <a:p>
                      <a:pPr algn="l">
                        <a:buNone/>
                      </a:pPr>
                      <a:r>
                        <a:rPr lang="en-US" sz="2400">
                          <a:effectLst/>
                        </a:rPr>
                        <a:t> </a:t>
                      </a:r>
                      <a:endParaRPr lang="en-US" sz="24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89660878"/>
                  </a:ext>
                </a:extLst>
              </a:tr>
              <a:tr h="1032335">
                <a:tc>
                  <a:txBody>
                    <a:bodyPr/>
                    <a:lstStyle/>
                    <a:p>
                      <a:pPr algn="l">
                        <a:buNone/>
                      </a:pPr>
                      <a:r>
                        <a:rPr lang="en-US" sz="2400" dirty="0">
                          <a:effectLst/>
                        </a:rPr>
                        <a:t>Inclusion</a:t>
                      </a:r>
                      <a:endParaRPr lang="en-US" sz="24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gridSpan="2">
                  <a:txBody>
                    <a:bodyPr/>
                    <a:lstStyle/>
                    <a:p>
                      <a:pPr algn="ctr">
                        <a:buNone/>
                      </a:pPr>
                      <a:r>
                        <a:rPr lang="en-US" sz="2400" dirty="0">
                          <a:effectLst/>
                        </a:rPr>
                        <a:t>Publications to be included in qualitative analysis (n = 62)</a:t>
                      </a:r>
                      <a:endParaRPr lang="en-US" sz="24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hMerge="1">
                  <a:txBody>
                    <a:bodyPr/>
                    <a:lstStyle/>
                    <a:p>
                      <a:endParaRPr lang="bg-BG"/>
                    </a:p>
                  </a:txBody>
                  <a:tcPr/>
                </a:tc>
                <a:tc>
                  <a:txBody>
                    <a:bodyPr/>
                    <a:lstStyle/>
                    <a:p>
                      <a:pPr algn="l">
                        <a:buNone/>
                      </a:pPr>
                      <a:endParaRPr lang="en-US" sz="24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065767946"/>
                  </a:ext>
                </a:extLst>
              </a:tr>
            </a:tbl>
          </a:graphicData>
        </a:graphic>
      </p:graphicFrame>
      <p:sp>
        <p:nvSpPr>
          <p:cNvPr id="8" name="TextBox 7">
            <a:extLst>
              <a:ext uri="{FF2B5EF4-FFF2-40B4-BE49-F238E27FC236}">
                <a16:creationId xmlns:a16="http://schemas.microsoft.com/office/drawing/2014/main" id="{6803F9E7-02F0-F806-24F2-3F5206879A02}"/>
              </a:ext>
            </a:extLst>
          </p:cNvPr>
          <p:cNvSpPr txBox="1"/>
          <p:nvPr/>
        </p:nvSpPr>
        <p:spPr>
          <a:xfrm>
            <a:off x="195943" y="1889062"/>
            <a:ext cx="2884714" cy="892552"/>
          </a:xfrm>
          <a:prstGeom prst="rect">
            <a:avLst/>
          </a:prstGeom>
          <a:noFill/>
        </p:spPr>
        <p:txBody>
          <a:bodyPr wrap="square">
            <a:spAutoFit/>
          </a:bodyPr>
          <a:lstStyle/>
          <a:p>
            <a:r>
              <a:rPr lang="en-US" sz="2800" b="1" dirty="0">
                <a:solidFill>
                  <a:schemeClr val="accent1">
                    <a:lumMod val="50000"/>
                  </a:schemeClr>
                </a:solidFill>
              </a:rPr>
              <a:t>Prisma approach </a:t>
            </a:r>
            <a:r>
              <a:rPr lang="en-US" sz="2400" b="1" dirty="0">
                <a:solidFill>
                  <a:schemeClr val="accent1">
                    <a:lumMod val="50000"/>
                  </a:schemeClr>
                </a:solidFill>
              </a:rPr>
              <a:t>to the search query</a:t>
            </a:r>
            <a:endParaRPr lang="en-US" sz="2400" dirty="0"/>
          </a:p>
        </p:txBody>
      </p:sp>
    </p:spTree>
    <p:extLst>
      <p:ext uri="{BB962C8B-B14F-4D97-AF65-F5344CB8AC3E}">
        <p14:creationId xmlns:p14="http://schemas.microsoft.com/office/powerpoint/2010/main" val="40708001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16564-251D-48A9-96BB-86ADC6327782}"/>
              </a:ext>
            </a:extLst>
          </p:cNvPr>
          <p:cNvSpPr>
            <a:spLocks noGrp="1"/>
          </p:cNvSpPr>
          <p:nvPr>
            <p:ph type="title"/>
          </p:nvPr>
        </p:nvSpPr>
        <p:spPr>
          <a:xfrm>
            <a:off x="838200" y="201840"/>
            <a:ext cx="10515600" cy="593728"/>
          </a:xfrm>
        </p:spPr>
        <p:txBody>
          <a:bodyPr>
            <a:normAutofit/>
          </a:bodyPr>
          <a:lstStyle/>
          <a:p>
            <a:pPr algn="ctr"/>
            <a:r>
              <a:rPr kumimoji="0" lang="en-US" sz="3600" b="1" i="0" u="none" strike="noStrike" kern="1200" cap="none" spc="0" normalizeH="0" baseline="0" noProof="0" dirty="0">
                <a:ln>
                  <a:noFill/>
                </a:ln>
                <a:solidFill>
                  <a:srgbClr val="4472C4">
                    <a:lumMod val="50000"/>
                  </a:srgbClr>
                </a:solidFill>
                <a:effectLst/>
                <a:uLnTx/>
                <a:uFillTx/>
                <a:latin typeface="+mn-lt"/>
                <a:ea typeface="+mj-ea"/>
                <a:cs typeface="+mj-cs"/>
              </a:rPr>
              <a:t>Data preparation and processing</a:t>
            </a:r>
            <a:r>
              <a:rPr lang="en-US" sz="3600" b="1" dirty="0">
                <a:solidFill>
                  <a:schemeClr val="accent1">
                    <a:lumMod val="50000"/>
                  </a:schemeClr>
                </a:solidFill>
              </a:rPr>
              <a:t> </a:t>
            </a:r>
            <a:endParaRPr lang="bg-BG" sz="3600" b="1" dirty="0">
              <a:solidFill>
                <a:schemeClr val="accent1">
                  <a:lumMod val="50000"/>
                </a:schemeClr>
              </a:solidFill>
            </a:endParaRPr>
          </a:p>
        </p:txBody>
      </p:sp>
      <p:sp>
        <p:nvSpPr>
          <p:cNvPr id="3" name="Content Placeholder 2">
            <a:extLst>
              <a:ext uri="{FF2B5EF4-FFF2-40B4-BE49-F238E27FC236}">
                <a16:creationId xmlns:a16="http://schemas.microsoft.com/office/drawing/2014/main" id="{5DD953BA-E7C7-482B-BB9F-9888507DBD50}"/>
              </a:ext>
            </a:extLst>
          </p:cNvPr>
          <p:cNvSpPr>
            <a:spLocks noGrp="1"/>
          </p:cNvSpPr>
          <p:nvPr>
            <p:ph idx="1"/>
          </p:nvPr>
        </p:nvSpPr>
        <p:spPr>
          <a:xfrm>
            <a:off x="947057" y="1098816"/>
            <a:ext cx="10406743" cy="5622660"/>
          </a:xfrm>
        </p:spPr>
        <p:txBody>
          <a:bodyPr>
            <a:normAutofit/>
          </a:bodyPr>
          <a:lstStyle/>
          <a:p>
            <a:r>
              <a:rPr lang="en-US" sz="2600" dirty="0"/>
              <a:t>The SQ results from both databases were merged and screened for exclusion of duplicates. </a:t>
            </a:r>
          </a:p>
          <a:p>
            <a:r>
              <a:rPr lang="en-US" sz="2600" dirty="0"/>
              <a:t>The resulting pool of publications was subject to a qualitative analysis to obtain an exhaustive statistical view of the explored topic. </a:t>
            </a:r>
          </a:p>
          <a:p>
            <a:pPr lvl="1"/>
            <a:r>
              <a:rPr lang="en-US" dirty="0"/>
              <a:t>Independent evaluation of the paper abstracts for eligibility</a:t>
            </a:r>
          </a:p>
          <a:p>
            <a:pPr lvl="1"/>
            <a:r>
              <a:rPr lang="en-US" dirty="0"/>
              <a:t>Comparison of the evaluations to form the final data set of scientific publications that complied with the survey goals.</a:t>
            </a:r>
          </a:p>
          <a:p>
            <a:pPr lvl="1"/>
            <a:r>
              <a:rPr lang="en-US" dirty="0"/>
              <a:t>Analytical review of all papers in this final data set. </a:t>
            </a:r>
          </a:p>
          <a:p>
            <a:pPr lvl="2"/>
            <a:r>
              <a:rPr lang="en-US" sz="2400" dirty="0"/>
              <a:t>The review process includes the text in the titles, abstracts, and authors’ keywords of the documents </a:t>
            </a:r>
          </a:p>
          <a:p>
            <a:pPr lvl="2"/>
            <a:r>
              <a:rPr lang="en-US" sz="2400" dirty="0"/>
              <a:t>The most-cited open-access papers are manually screened in full-text mode by the researchers</a:t>
            </a:r>
          </a:p>
          <a:p>
            <a:pPr lvl="2"/>
            <a:r>
              <a:rPr lang="en-US" sz="2400" dirty="0"/>
              <a:t>The aim is to reveal the context of usage and the specific purpose of applying educational games in teaching STEM subjects</a:t>
            </a:r>
            <a:endParaRPr lang="bg-BG" dirty="0"/>
          </a:p>
        </p:txBody>
      </p:sp>
      <p:sp>
        <p:nvSpPr>
          <p:cNvPr id="4" name="Date Placeholder 3">
            <a:extLst>
              <a:ext uri="{FF2B5EF4-FFF2-40B4-BE49-F238E27FC236}">
                <a16:creationId xmlns:a16="http://schemas.microsoft.com/office/drawing/2014/main" id="{12458929-0308-4BF0-8FBF-9E556A4B31E2}"/>
              </a:ext>
            </a:extLst>
          </p:cNvPr>
          <p:cNvSpPr>
            <a:spLocks noGrp="1"/>
          </p:cNvSpPr>
          <p:nvPr>
            <p:ph type="dt" sz="half" idx="10"/>
          </p:nvPr>
        </p:nvSpPr>
        <p:spPr/>
        <p:txBody>
          <a:bodyPr/>
          <a:lstStyle/>
          <a:p>
            <a:r>
              <a:rPr lang="bg-BG"/>
              <a:t>BdKCSE'2025</a:t>
            </a:r>
            <a:endParaRPr lang="en-US"/>
          </a:p>
        </p:txBody>
      </p:sp>
      <p:sp>
        <p:nvSpPr>
          <p:cNvPr id="5" name="Footer Placeholder 4">
            <a:extLst>
              <a:ext uri="{FF2B5EF4-FFF2-40B4-BE49-F238E27FC236}">
                <a16:creationId xmlns:a16="http://schemas.microsoft.com/office/drawing/2014/main" id="{E482C53F-E060-4E7C-AE3D-A84FDA17548D}"/>
              </a:ext>
            </a:extLst>
          </p:cNvPr>
          <p:cNvSpPr>
            <a:spLocks noGrp="1"/>
          </p:cNvSpPr>
          <p:nvPr>
            <p:ph type="ftr" sz="quarter" idx="11"/>
          </p:nvPr>
        </p:nvSpPr>
        <p:spPr/>
        <p:txBody>
          <a:bodyPr/>
          <a:lstStyle/>
          <a:p>
            <a:r>
              <a:rPr lang="en-US"/>
              <a:t>Evaluation of Video Games for STEM Education </a:t>
            </a:r>
          </a:p>
        </p:txBody>
      </p:sp>
      <p:sp>
        <p:nvSpPr>
          <p:cNvPr id="6" name="Slide Number Placeholder 5">
            <a:extLst>
              <a:ext uri="{FF2B5EF4-FFF2-40B4-BE49-F238E27FC236}">
                <a16:creationId xmlns:a16="http://schemas.microsoft.com/office/drawing/2014/main" id="{2AC90117-49C7-408D-8C79-078443129F45}"/>
              </a:ext>
            </a:extLst>
          </p:cNvPr>
          <p:cNvSpPr>
            <a:spLocks noGrp="1"/>
          </p:cNvSpPr>
          <p:nvPr>
            <p:ph type="sldNum" sz="quarter" idx="12"/>
          </p:nvPr>
        </p:nvSpPr>
        <p:spPr/>
        <p:txBody>
          <a:bodyPr/>
          <a:lstStyle/>
          <a:p>
            <a:fld id="{C1FF6DA9-008F-8B48-92A6-B652298478BF}" type="slidenum">
              <a:rPr lang="en-US" smtClean="0"/>
              <a:pPr/>
              <a:t>11</a:t>
            </a:fld>
            <a:endParaRPr lang="en-US"/>
          </a:p>
        </p:txBody>
      </p:sp>
    </p:spTree>
    <p:extLst>
      <p:ext uri="{BB962C8B-B14F-4D97-AF65-F5344CB8AC3E}">
        <p14:creationId xmlns:p14="http://schemas.microsoft.com/office/powerpoint/2010/main" val="15854541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8E88B-C7B7-4C29-929F-C07D4BFA45E5}"/>
              </a:ext>
            </a:extLst>
          </p:cNvPr>
          <p:cNvSpPr>
            <a:spLocks noGrp="1"/>
          </p:cNvSpPr>
          <p:nvPr>
            <p:ph type="title"/>
          </p:nvPr>
        </p:nvSpPr>
        <p:spPr>
          <a:xfrm>
            <a:off x="2098862" y="60323"/>
            <a:ext cx="8215672" cy="856733"/>
          </a:xfrm>
        </p:spPr>
        <p:txBody>
          <a:bodyPr>
            <a:normAutofit/>
          </a:bodyPr>
          <a:lstStyle/>
          <a:p>
            <a:pPr algn="ctr"/>
            <a:r>
              <a:rPr lang="en-US" sz="3600" b="1" dirty="0">
                <a:solidFill>
                  <a:schemeClr val="accent1">
                    <a:lumMod val="50000"/>
                  </a:schemeClr>
                </a:solidFill>
                <a:latin typeface="Calibri" panose="020F0502020204030204" pitchFamily="34" charset="0"/>
                <a:cs typeface="Calibri" panose="020F0502020204030204" pitchFamily="34" charset="0"/>
              </a:rPr>
              <a:t>Publications: general statistics 1/2</a:t>
            </a:r>
            <a:endParaRPr lang="bg-BG" sz="3600" b="1" dirty="0">
              <a:solidFill>
                <a:schemeClr val="accent1">
                  <a:lumMod val="50000"/>
                </a:schemeClr>
              </a:solidFill>
              <a:latin typeface="Calibri" panose="020F0502020204030204" pitchFamily="34" charset="0"/>
              <a:cs typeface="Calibri" panose="020F0502020204030204" pitchFamily="34" charset="0"/>
            </a:endParaRPr>
          </a:p>
        </p:txBody>
      </p:sp>
      <p:sp>
        <p:nvSpPr>
          <p:cNvPr id="4" name="Date Placeholder 3">
            <a:extLst>
              <a:ext uri="{FF2B5EF4-FFF2-40B4-BE49-F238E27FC236}">
                <a16:creationId xmlns:a16="http://schemas.microsoft.com/office/drawing/2014/main" id="{F8797489-8559-41C8-8E6A-C63B1C9A63EA}"/>
              </a:ext>
            </a:extLst>
          </p:cNvPr>
          <p:cNvSpPr>
            <a:spLocks noGrp="1"/>
          </p:cNvSpPr>
          <p:nvPr>
            <p:ph type="dt" sz="half" idx="10"/>
          </p:nvPr>
        </p:nvSpPr>
        <p:spPr/>
        <p:txBody>
          <a:bodyPr/>
          <a:lstStyle/>
          <a:p>
            <a:r>
              <a:rPr lang="bg-BG"/>
              <a:t>BdKCSE'2025</a:t>
            </a:r>
            <a:endParaRPr lang="en-US"/>
          </a:p>
        </p:txBody>
      </p:sp>
      <p:sp>
        <p:nvSpPr>
          <p:cNvPr id="5" name="Footer Placeholder 4">
            <a:extLst>
              <a:ext uri="{FF2B5EF4-FFF2-40B4-BE49-F238E27FC236}">
                <a16:creationId xmlns:a16="http://schemas.microsoft.com/office/drawing/2014/main" id="{F262C41B-A52D-40A5-AE2E-4F1D12C9024B}"/>
              </a:ext>
            </a:extLst>
          </p:cNvPr>
          <p:cNvSpPr>
            <a:spLocks noGrp="1"/>
          </p:cNvSpPr>
          <p:nvPr>
            <p:ph type="ftr" sz="quarter" idx="11"/>
          </p:nvPr>
        </p:nvSpPr>
        <p:spPr/>
        <p:txBody>
          <a:bodyPr/>
          <a:lstStyle/>
          <a:p>
            <a:r>
              <a:rPr lang="en-US"/>
              <a:t>Evaluation of Video Games for STEM Education </a:t>
            </a:r>
          </a:p>
        </p:txBody>
      </p:sp>
      <p:sp>
        <p:nvSpPr>
          <p:cNvPr id="6" name="Slide Number Placeholder 5">
            <a:extLst>
              <a:ext uri="{FF2B5EF4-FFF2-40B4-BE49-F238E27FC236}">
                <a16:creationId xmlns:a16="http://schemas.microsoft.com/office/drawing/2014/main" id="{B4BD8F12-11FC-4906-85ED-7306E1096701}"/>
              </a:ext>
            </a:extLst>
          </p:cNvPr>
          <p:cNvSpPr>
            <a:spLocks noGrp="1"/>
          </p:cNvSpPr>
          <p:nvPr>
            <p:ph type="sldNum" sz="quarter" idx="12"/>
          </p:nvPr>
        </p:nvSpPr>
        <p:spPr/>
        <p:txBody>
          <a:bodyPr/>
          <a:lstStyle/>
          <a:p>
            <a:fld id="{C1FF6DA9-008F-8B48-92A6-B652298478BF}" type="slidenum">
              <a:rPr lang="en-US" smtClean="0"/>
              <a:pPr/>
              <a:t>12</a:t>
            </a:fld>
            <a:endParaRPr lang="en-US"/>
          </a:p>
        </p:txBody>
      </p:sp>
      <p:graphicFrame>
        <p:nvGraphicFramePr>
          <p:cNvPr id="8" name="Chart 7">
            <a:extLst>
              <a:ext uri="{FF2B5EF4-FFF2-40B4-BE49-F238E27FC236}">
                <a16:creationId xmlns:a16="http://schemas.microsoft.com/office/drawing/2014/main" id="{D71FA88A-89F9-DDE8-2E51-D9F02EC7ACCE}"/>
              </a:ext>
            </a:extLst>
          </p:cNvPr>
          <p:cNvGraphicFramePr>
            <a:graphicFrameLocks/>
          </p:cNvGraphicFramePr>
          <p:nvPr>
            <p:extLst>
              <p:ext uri="{D42A27DB-BD31-4B8C-83A1-F6EECF244321}">
                <p14:modId xmlns:p14="http://schemas.microsoft.com/office/powerpoint/2010/main" val="1309040420"/>
              </p:ext>
            </p:extLst>
          </p:nvPr>
        </p:nvGraphicFramePr>
        <p:xfrm>
          <a:off x="4572000" y="2343086"/>
          <a:ext cx="7511143" cy="3589628"/>
        </p:xfrm>
        <a:graphic>
          <a:graphicData uri="http://schemas.openxmlformats.org/drawingml/2006/chart">
            <c:chart xmlns:c="http://schemas.openxmlformats.org/drawingml/2006/chart" xmlns:r="http://schemas.openxmlformats.org/officeDocument/2006/relationships" r:id="rId2"/>
          </a:graphicData>
        </a:graphic>
      </p:graphicFrame>
      <p:sp>
        <p:nvSpPr>
          <p:cNvPr id="9" name="TextBox 8">
            <a:extLst>
              <a:ext uri="{FF2B5EF4-FFF2-40B4-BE49-F238E27FC236}">
                <a16:creationId xmlns:a16="http://schemas.microsoft.com/office/drawing/2014/main" id="{33B188AB-99BF-9055-535B-534C0471E542}"/>
              </a:ext>
            </a:extLst>
          </p:cNvPr>
          <p:cNvSpPr txBox="1"/>
          <p:nvPr/>
        </p:nvSpPr>
        <p:spPr>
          <a:xfrm>
            <a:off x="6792685" y="1597871"/>
            <a:ext cx="3701144" cy="461665"/>
          </a:xfrm>
          <a:prstGeom prst="rect">
            <a:avLst/>
          </a:prstGeom>
          <a:noFill/>
        </p:spPr>
        <p:txBody>
          <a:bodyPr wrap="square">
            <a:spAutoFit/>
          </a:bodyPr>
          <a:lstStyle/>
          <a:p>
            <a:r>
              <a:rPr lang="en-US" sz="2400" dirty="0"/>
              <a:t>near 80% increase for 2024 </a:t>
            </a:r>
          </a:p>
        </p:txBody>
      </p:sp>
      <p:graphicFrame>
        <p:nvGraphicFramePr>
          <p:cNvPr id="12" name="Chart 11">
            <a:extLst>
              <a:ext uri="{FF2B5EF4-FFF2-40B4-BE49-F238E27FC236}">
                <a16:creationId xmlns:a16="http://schemas.microsoft.com/office/drawing/2014/main" id="{A56B4C4F-D5EF-A203-B14E-C03D1B1873EF}"/>
              </a:ext>
            </a:extLst>
          </p:cNvPr>
          <p:cNvGraphicFramePr>
            <a:graphicFrameLocks/>
          </p:cNvGraphicFramePr>
          <p:nvPr>
            <p:extLst>
              <p:ext uri="{D42A27DB-BD31-4B8C-83A1-F6EECF244321}">
                <p14:modId xmlns:p14="http://schemas.microsoft.com/office/powerpoint/2010/main" val="855379721"/>
              </p:ext>
            </p:extLst>
          </p:nvPr>
        </p:nvGraphicFramePr>
        <p:xfrm>
          <a:off x="1" y="2224257"/>
          <a:ext cx="4376056" cy="4452258"/>
        </p:xfrm>
        <a:graphic>
          <a:graphicData uri="http://schemas.openxmlformats.org/drawingml/2006/chart">
            <c:chart xmlns:c="http://schemas.openxmlformats.org/drawingml/2006/chart" xmlns:r="http://schemas.openxmlformats.org/officeDocument/2006/relationships" r:id="rId3"/>
          </a:graphicData>
        </a:graphic>
      </p:graphicFrame>
      <p:sp>
        <p:nvSpPr>
          <p:cNvPr id="13" name="TextBox 12">
            <a:extLst>
              <a:ext uri="{FF2B5EF4-FFF2-40B4-BE49-F238E27FC236}">
                <a16:creationId xmlns:a16="http://schemas.microsoft.com/office/drawing/2014/main" id="{7954C6AE-53DB-2605-0D64-F925207B6F31}"/>
              </a:ext>
            </a:extLst>
          </p:cNvPr>
          <p:cNvSpPr txBox="1"/>
          <p:nvPr/>
        </p:nvSpPr>
        <p:spPr>
          <a:xfrm>
            <a:off x="1218987" y="1295218"/>
            <a:ext cx="4724825" cy="461665"/>
          </a:xfrm>
          <a:prstGeom prst="rect">
            <a:avLst/>
          </a:prstGeom>
          <a:noFill/>
        </p:spPr>
        <p:txBody>
          <a:bodyPr wrap="square">
            <a:spAutoFit/>
          </a:bodyPr>
          <a:lstStyle/>
          <a:p>
            <a:r>
              <a:rPr lang="en-US" sz="2400" dirty="0"/>
              <a:t>Publications by types</a:t>
            </a:r>
          </a:p>
        </p:txBody>
      </p:sp>
    </p:spTree>
    <p:extLst>
      <p:ext uri="{BB962C8B-B14F-4D97-AF65-F5344CB8AC3E}">
        <p14:creationId xmlns:p14="http://schemas.microsoft.com/office/powerpoint/2010/main" val="6814675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5A7C33-963F-6E4E-C14A-5A144257A745}"/>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0A8E3465-676C-D198-77A7-3D9BD7E771D3}"/>
              </a:ext>
            </a:extLst>
          </p:cNvPr>
          <p:cNvSpPr>
            <a:spLocks noGrp="1"/>
          </p:cNvSpPr>
          <p:nvPr>
            <p:ph type="dt" sz="half" idx="10"/>
          </p:nvPr>
        </p:nvSpPr>
        <p:spPr/>
        <p:txBody>
          <a:bodyPr/>
          <a:lstStyle/>
          <a:p>
            <a:r>
              <a:rPr lang="bg-BG"/>
              <a:t>BdKCSE'2025</a:t>
            </a:r>
            <a:endParaRPr lang="en-US"/>
          </a:p>
        </p:txBody>
      </p:sp>
      <p:sp>
        <p:nvSpPr>
          <p:cNvPr id="5" name="Footer Placeholder 4">
            <a:extLst>
              <a:ext uri="{FF2B5EF4-FFF2-40B4-BE49-F238E27FC236}">
                <a16:creationId xmlns:a16="http://schemas.microsoft.com/office/drawing/2014/main" id="{A82CE61A-94A5-9D6F-89B4-61F215ACD0D0}"/>
              </a:ext>
            </a:extLst>
          </p:cNvPr>
          <p:cNvSpPr>
            <a:spLocks noGrp="1"/>
          </p:cNvSpPr>
          <p:nvPr>
            <p:ph type="ftr" sz="quarter" idx="11"/>
          </p:nvPr>
        </p:nvSpPr>
        <p:spPr/>
        <p:txBody>
          <a:bodyPr/>
          <a:lstStyle/>
          <a:p>
            <a:r>
              <a:rPr lang="en-US"/>
              <a:t>Evaluation of Video Games for STEM Education </a:t>
            </a:r>
          </a:p>
        </p:txBody>
      </p:sp>
      <p:sp>
        <p:nvSpPr>
          <p:cNvPr id="6" name="Slide Number Placeholder 5">
            <a:extLst>
              <a:ext uri="{FF2B5EF4-FFF2-40B4-BE49-F238E27FC236}">
                <a16:creationId xmlns:a16="http://schemas.microsoft.com/office/drawing/2014/main" id="{E30BFB06-BAC5-FBBD-DF2F-23FCEBD1DDAE}"/>
              </a:ext>
            </a:extLst>
          </p:cNvPr>
          <p:cNvSpPr>
            <a:spLocks noGrp="1"/>
          </p:cNvSpPr>
          <p:nvPr>
            <p:ph type="sldNum" sz="quarter" idx="12"/>
          </p:nvPr>
        </p:nvSpPr>
        <p:spPr/>
        <p:txBody>
          <a:bodyPr/>
          <a:lstStyle/>
          <a:p>
            <a:fld id="{C1FF6DA9-008F-8B48-92A6-B652298478BF}" type="slidenum">
              <a:rPr lang="en-US" smtClean="0"/>
              <a:pPr/>
              <a:t>13</a:t>
            </a:fld>
            <a:endParaRPr lang="en-US"/>
          </a:p>
        </p:txBody>
      </p:sp>
      <p:graphicFrame>
        <p:nvGraphicFramePr>
          <p:cNvPr id="7" name="Chart 6">
            <a:extLst>
              <a:ext uri="{FF2B5EF4-FFF2-40B4-BE49-F238E27FC236}">
                <a16:creationId xmlns:a16="http://schemas.microsoft.com/office/drawing/2014/main" id="{84C204AD-A003-0F5B-D05D-E837AF286523}"/>
              </a:ext>
            </a:extLst>
          </p:cNvPr>
          <p:cNvGraphicFramePr>
            <a:graphicFrameLocks/>
          </p:cNvGraphicFramePr>
          <p:nvPr>
            <p:extLst>
              <p:ext uri="{D42A27DB-BD31-4B8C-83A1-F6EECF244321}">
                <p14:modId xmlns:p14="http://schemas.microsoft.com/office/powerpoint/2010/main" val="209233380"/>
              </p:ext>
            </p:extLst>
          </p:nvPr>
        </p:nvGraphicFramePr>
        <p:xfrm>
          <a:off x="359228" y="2035629"/>
          <a:ext cx="11114314" cy="4664077"/>
        </p:xfrm>
        <a:graphic>
          <a:graphicData uri="http://schemas.openxmlformats.org/drawingml/2006/chart">
            <c:chart xmlns:c="http://schemas.openxmlformats.org/drawingml/2006/chart" xmlns:r="http://schemas.openxmlformats.org/officeDocument/2006/relationships" r:id="rId2"/>
          </a:graphicData>
        </a:graphic>
      </p:graphicFrame>
      <p:sp>
        <p:nvSpPr>
          <p:cNvPr id="10" name="TextBox 9">
            <a:extLst>
              <a:ext uri="{FF2B5EF4-FFF2-40B4-BE49-F238E27FC236}">
                <a16:creationId xmlns:a16="http://schemas.microsoft.com/office/drawing/2014/main" id="{59A74065-C90E-C3E1-0195-DF75784904A0}"/>
              </a:ext>
            </a:extLst>
          </p:cNvPr>
          <p:cNvSpPr txBox="1"/>
          <p:nvPr/>
        </p:nvSpPr>
        <p:spPr>
          <a:xfrm>
            <a:off x="3774620" y="1000018"/>
            <a:ext cx="5978980" cy="954107"/>
          </a:xfrm>
          <a:prstGeom prst="rect">
            <a:avLst/>
          </a:prstGeom>
          <a:noFill/>
        </p:spPr>
        <p:txBody>
          <a:bodyPr wrap="square">
            <a:spAutoFit/>
          </a:bodyPr>
          <a:lstStyle/>
          <a:p>
            <a:r>
              <a:rPr lang="en-US" sz="2800" b="1" dirty="0">
                <a:solidFill>
                  <a:schemeClr val="accent1">
                    <a:lumMod val="75000"/>
                  </a:schemeClr>
                </a:solidFill>
              </a:rPr>
              <a:t>Publications by countries</a:t>
            </a:r>
          </a:p>
          <a:p>
            <a:r>
              <a:rPr lang="en-US" sz="2800" b="1" dirty="0">
                <a:solidFill>
                  <a:schemeClr val="accent1">
                    <a:lumMod val="75000"/>
                  </a:schemeClr>
                </a:solidFill>
              </a:rPr>
              <a:t> </a:t>
            </a:r>
            <a:r>
              <a:rPr lang="en-US" sz="2400" b="1" dirty="0">
                <a:solidFill>
                  <a:schemeClr val="accent1">
                    <a:lumMod val="75000"/>
                  </a:schemeClr>
                </a:solidFill>
              </a:rPr>
              <a:t>42% in </a:t>
            </a:r>
            <a:r>
              <a:rPr lang="en-US" sz="2400" b="1" dirty="0" err="1">
                <a:solidFill>
                  <a:schemeClr val="accent1">
                    <a:lumMod val="75000"/>
                  </a:schemeClr>
                </a:solidFill>
              </a:rPr>
              <a:t>WoS</a:t>
            </a:r>
            <a:r>
              <a:rPr lang="en-US" sz="2400" b="1" dirty="0">
                <a:solidFill>
                  <a:schemeClr val="accent1">
                    <a:lumMod val="75000"/>
                  </a:schemeClr>
                </a:solidFill>
              </a:rPr>
              <a:t> </a:t>
            </a:r>
            <a:r>
              <a:rPr lang="en-US" sz="2400" dirty="0"/>
              <a:t>and </a:t>
            </a:r>
            <a:r>
              <a:rPr lang="en-US" sz="2400" b="1" dirty="0">
                <a:solidFill>
                  <a:srgbClr val="C00000"/>
                </a:solidFill>
              </a:rPr>
              <a:t>45% in Scopus </a:t>
            </a:r>
          </a:p>
        </p:txBody>
      </p:sp>
      <p:sp>
        <p:nvSpPr>
          <p:cNvPr id="11" name="Oval 10">
            <a:extLst>
              <a:ext uri="{FF2B5EF4-FFF2-40B4-BE49-F238E27FC236}">
                <a16:creationId xmlns:a16="http://schemas.microsoft.com/office/drawing/2014/main" id="{076D51B5-39EC-8A0B-1BFC-BC8F861E51BE}"/>
              </a:ext>
            </a:extLst>
          </p:cNvPr>
          <p:cNvSpPr/>
          <p:nvPr/>
        </p:nvSpPr>
        <p:spPr>
          <a:xfrm>
            <a:off x="631372" y="1755811"/>
            <a:ext cx="3777343" cy="4318418"/>
          </a:xfrm>
          <a:prstGeom prst="ellipse">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AC241B8F-CFCC-7A84-4B8A-26200D729A1D}"/>
              </a:ext>
            </a:extLst>
          </p:cNvPr>
          <p:cNvSpPr txBox="1">
            <a:spLocks/>
          </p:cNvSpPr>
          <p:nvPr/>
        </p:nvSpPr>
        <p:spPr>
          <a:xfrm>
            <a:off x="2098862" y="60323"/>
            <a:ext cx="8215672" cy="85673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b="1" dirty="0">
                <a:solidFill>
                  <a:schemeClr val="accent1">
                    <a:lumMod val="50000"/>
                  </a:schemeClr>
                </a:solidFill>
                <a:latin typeface="Calibri" panose="020F0502020204030204" pitchFamily="34" charset="0"/>
                <a:cs typeface="Calibri" panose="020F0502020204030204" pitchFamily="34" charset="0"/>
              </a:rPr>
              <a:t>Publications: general statistics 2/2</a:t>
            </a:r>
            <a:endParaRPr lang="bg-BG" sz="3600" b="1" dirty="0">
              <a:solidFill>
                <a:schemeClr val="accent1">
                  <a:lumMod val="50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43724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B61645-F6F1-A212-8FBF-DB12A9D4E7D4}"/>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C2A02E5F-3521-D2B6-2A44-53F985C1002B}"/>
              </a:ext>
            </a:extLst>
          </p:cNvPr>
          <p:cNvSpPr>
            <a:spLocks noGrp="1"/>
          </p:cNvSpPr>
          <p:nvPr>
            <p:ph type="dt" sz="half" idx="10"/>
          </p:nvPr>
        </p:nvSpPr>
        <p:spPr/>
        <p:txBody>
          <a:bodyPr/>
          <a:lstStyle/>
          <a:p>
            <a:r>
              <a:rPr lang="bg-BG"/>
              <a:t>BdKCSE'2025</a:t>
            </a:r>
            <a:endParaRPr lang="en-US"/>
          </a:p>
        </p:txBody>
      </p:sp>
      <p:sp>
        <p:nvSpPr>
          <p:cNvPr id="5" name="Footer Placeholder 4">
            <a:extLst>
              <a:ext uri="{FF2B5EF4-FFF2-40B4-BE49-F238E27FC236}">
                <a16:creationId xmlns:a16="http://schemas.microsoft.com/office/drawing/2014/main" id="{0FA0E82F-F2AF-282F-25BA-D22CA3FEC427}"/>
              </a:ext>
            </a:extLst>
          </p:cNvPr>
          <p:cNvSpPr>
            <a:spLocks noGrp="1"/>
          </p:cNvSpPr>
          <p:nvPr>
            <p:ph type="ftr" sz="quarter" idx="11"/>
          </p:nvPr>
        </p:nvSpPr>
        <p:spPr/>
        <p:txBody>
          <a:bodyPr/>
          <a:lstStyle/>
          <a:p>
            <a:r>
              <a:rPr lang="en-US"/>
              <a:t>Evaluation of Video Games for STEM Education </a:t>
            </a:r>
          </a:p>
        </p:txBody>
      </p:sp>
      <p:sp>
        <p:nvSpPr>
          <p:cNvPr id="6" name="Slide Number Placeholder 5">
            <a:extLst>
              <a:ext uri="{FF2B5EF4-FFF2-40B4-BE49-F238E27FC236}">
                <a16:creationId xmlns:a16="http://schemas.microsoft.com/office/drawing/2014/main" id="{74FA7E78-3662-4943-9D7E-34D92850698C}"/>
              </a:ext>
            </a:extLst>
          </p:cNvPr>
          <p:cNvSpPr>
            <a:spLocks noGrp="1"/>
          </p:cNvSpPr>
          <p:nvPr>
            <p:ph type="sldNum" sz="quarter" idx="12"/>
          </p:nvPr>
        </p:nvSpPr>
        <p:spPr/>
        <p:txBody>
          <a:bodyPr/>
          <a:lstStyle/>
          <a:p>
            <a:fld id="{C1FF6DA9-008F-8B48-92A6-B652298478BF}" type="slidenum">
              <a:rPr lang="en-US" smtClean="0"/>
              <a:pPr/>
              <a:t>14</a:t>
            </a:fld>
            <a:endParaRPr lang="en-US"/>
          </a:p>
        </p:txBody>
      </p:sp>
      <p:pic>
        <p:nvPicPr>
          <p:cNvPr id="3" name="Picture 2">
            <a:extLst>
              <a:ext uri="{FF2B5EF4-FFF2-40B4-BE49-F238E27FC236}">
                <a16:creationId xmlns:a16="http://schemas.microsoft.com/office/drawing/2014/main" id="{6433BC97-40DE-E09F-12D1-8D07FD038501}"/>
              </a:ext>
            </a:extLst>
          </p:cNvPr>
          <p:cNvPicPr>
            <a:picLocks noChangeAspect="1"/>
          </p:cNvPicPr>
          <p:nvPr/>
        </p:nvPicPr>
        <p:blipFill rotWithShape="1">
          <a:blip r:embed="rId2"/>
          <a:srcRect l="980" r="980"/>
          <a:stretch/>
        </p:blipFill>
        <p:spPr bwMode="auto">
          <a:xfrm>
            <a:off x="2742771" y="2184748"/>
            <a:ext cx="6393018" cy="3877250"/>
          </a:xfrm>
          <a:prstGeom prst="rect">
            <a:avLst/>
          </a:prstGeom>
          <a:noFill/>
          <a:ln>
            <a:noFill/>
          </a:ln>
          <a:extLst>
            <a:ext uri="{53640926-AAD7-44D8-BBD7-CCE9431645EC}">
              <a14:shadowObscured xmlns:a14="http://schemas.microsoft.com/office/drawing/2010/main"/>
            </a:ext>
          </a:extLst>
        </p:spPr>
      </p:pic>
      <p:sp>
        <p:nvSpPr>
          <p:cNvPr id="9" name="TextBox 8">
            <a:extLst>
              <a:ext uri="{FF2B5EF4-FFF2-40B4-BE49-F238E27FC236}">
                <a16:creationId xmlns:a16="http://schemas.microsoft.com/office/drawing/2014/main" id="{52207ACE-BDAE-EC15-97EF-7B5C9539B28B}"/>
              </a:ext>
            </a:extLst>
          </p:cNvPr>
          <p:cNvSpPr txBox="1"/>
          <p:nvPr/>
        </p:nvSpPr>
        <p:spPr>
          <a:xfrm>
            <a:off x="1612714" y="1178666"/>
            <a:ext cx="9187968" cy="523220"/>
          </a:xfrm>
          <a:prstGeom prst="rect">
            <a:avLst/>
          </a:prstGeom>
          <a:noFill/>
        </p:spPr>
        <p:txBody>
          <a:bodyPr wrap="square">
            <a:spAutoFit/>
          </a:bodyPr>
          <a:lstStyle/>
          <a:p>
            <a:pPr algn="ctr"/>
            <a:r>
              <a:rPr lang="en-US" sz="2800" dirty="0"/>
              <a:t>User interface of evaluated educational games</a:t>
            </a:r>
          </a:p>
        </p:txBody>
      </p:sp>
      <p:sp>
        <p:nvSpPr>
          <p:cNvPr id="11" name="Title 1">
            <a:extLst>
              <a:ext uri="{FF2B5EF4-FFF2-40B4-BE49-F238E27FC236}">
                <a16:creationId xmlns:a16="http://schemas.microsoft.com/office/drawing/2014/main" id="{AD576FA2-F149-3771-F760-C870438F85B5}"/>
              </a:ext>
            </a:extLst>
          </p:cNvPr>
          <p:cNvSpPr>
            <a:spLocks noGrp="1"/>
          </p:cNvSpPr>
          <p:nvPr>
            <p:ph type="title"/>
          </p:nvPr>
        </p:nvSpPr>
        <p:spPr>
          <a:xfrm>
            <a:off x="2098862" y="60323"/>
            <a:ext cx="8215672" cy="856733"/>
          </a:xfrm>
        </p:spPr>
        <p:txBody>
          <a:bodyPr>
            <a:normAutofit/>
          </a:bodyPr>
          <a:lstStyle/>
          <a:p>
            <a:pPr algn="ctr"/>
            <a:r>
              <a:rPr lang="en-US" sz="3600" b="1" dirty="0">
                <a:solidFill>
                  <a:schemeClr val="accent1">
                    <a:lumMod val="50000"/>
                  </a:schemeClr>
                </a:solidFill>
                <a:latin typeface="Calibri" panose="020F0502020204030204" pitchFamily="34" charset="0"/>
                <a:cs typeface="Calibri" panose="020F0502020204030204" pitchFamily="34" charset="0"/>
              </a:rPr>
              <a:t>Publications: specific statistics 1/3</a:t>
            </a:r>
            <a:endParaRPr lang="bg-BG" sz="3600" b="1" dirty="0">
              <a:solidFill>
                <a:schemeClr val="accent1">
                  <a:lumMod val="50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016379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DE578-C280-FB87-E653-C986225DFD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AFD6D7-873D-3CCC-53CE-EF7AAF52ADC7}"/>
              </a:ext>
            </a:extLst>
          </p:cNvPr>
          <p:cNvSpPr>
            <a:spLocks noGrp="1"/>
          </p:cNvSpPr>
          <p:nvPr>
            <p:ph type="title"/>
          </p:nvPr>
        </p:nvSpPr>
        <p:spPr>
          <a:xfrm>
            <a:off x="1513115" y="1146467"/>
            <a:ext cx="9840685" cy="917055"/>
          </a:xfrm>
        </p:spPr>
        <p:txBody>
          <a:bodyPr>
            <a:normAutofit/>
          </a:bodyPr>
          <a:lstStyle/>
          <a:p>
            <a:pPr algn="ctr"/>
            <a:r>
              <a:rPr lang="en-US" sz="2800" b="1" dirty="0">
                <a:solidFill>
                  <a:schemeClr val="accent1">
                    <a:lumMod val="50000"/>
                  </a:schemeClr>
                </a:solidFill>
                <a:latin typeface="Calibri" panose="020F0502020204030204" pitchFamily="34" charset="0"/>
                <a:cs typeface="Calibri" panose="020F0502020204030204" pitchFamily="34" charset="0"/>
              </a:rPr>
              <a:t>Genres and types educational digital games</a:t>
            </a:r>
            <a:endParaRPr lang="bg-BG" sz="2800" b="1" dirty="0">
              <a:solidFill>
                <a:schemeClr val="accent1">
                  <a:lumMod val="50000"/>
                </a:schemeClr>
              </a:solidFill>
              <a:latin typeface="Calibri" panose="020F0502020204030204" pitchFamily="34" charset="0"/>
              <a:cs typeface="Calibri" panose="020F0502020204030204" pitchFamily="34" charset="0"/>
            </a:endParaRPr>
          </a:p>
        </p:txBody>
      </p:sp>
      <p:sp>
        <p:nvSpPr>
          <p:cNvPr id="4" name="Date Placeholder 3">
            <a:extLst>
              <a:ext uri="{FF2B5EF4-FFF2-40B4-BE49-F238E27FC236}">
                <a16:creationId xmlns:a16="http://schemas.microsoft.com/office/drawing/2014/main" id="{1B19038E-8F39-DC22-EADA-F95FAB8FA34B}"/>
              </a:ext>
            </a:extLst>
          </p:cNvPr>
          <p:cNvSpPr>
            <a:spLocks noGrp="1"/>
          </p:cNvSpPr>
          <p:nvPr>
            <p:ph type="dt" sz="half" idx="10"/>
          </p:nvPr>
        </p:nvSpPr>
        <p:spPr/>
        <p:txBody>
          <a:bodyPr/>
          <a:lstStyle/>
          <a:p>
            <a:r>
              <a:rPr lang="bg-BG"/>
              <a:t>BdKCSE'2025</a:t>
            </a:r>
            <a:endParaRPr lang="en-US"/>
          </a:p>
        </p:txBody>
      </p:sp>
      <p:sp>
        <p:nvSpPr>
          <p:cNvPr id="5" name="Footer Placeholder 4">
            <a:extLst>
              <a:ext uri="{FF2B5EF4-FFF2-40B4-BE49-F238E27FC236}">
                <a16:creationId xmlns:a16="http://schemas.microsoft.com/office/drawing/2014/main" id="{E420A490-893E-C25E-889D-2C297F90A814}"/>
              </a:ext>
            </a:extLst>
          </p:cNvPr>
          <p:cNvSpPr>
            <a:spLocks noGrp="1"/>
          </p:cNvSpPr>
          <p:nvPr>
            <p:ph type="ftr" sz="quarter" idx="11"/>
          </p:nvPr>
        </p:nvSpPr>
        <p:spPr/>
        <p:txBody>
          <a:bodyPr/>
          <a:lstStyle/>
          <a:p>
            <a:r>
              <a:rPr lang="en-US"/>
              <a:t>Evaluation of Video Games for STEM Education </a:t>
            </a:r>
          </a:p>
        </p:txBody>
      </p:sp>
      <p:sp>
        <p:nvSpPr>
          <p:cNvPr id="6" name="Slide Number Placeholder 5">
            <a:extLst>
              <a:ext uri="{FF2B5EF4-FFF2-40B4-BE49-F238E27FC236}">
                <a16:creationId xmlns:a16="http://schemas.microsoft.com/office/drawing/2014/main" id="{D88BCC5D-8136-46EA-A48D-2ADD1C7EDE51}"/>
              </a:ext>
            </a:extLst>
          </p:cNvPr>
          <p:cNvSpPr>
            <a:spLocks noGrp="1"/>
          </p:cNvSpPr>
          <p:nvPr>
            <p:ph type="sldNum" sz="quarter" idx="12"/>
          </p:nvPr>
        </p:nvSpPr>
        <p:spPr/>
        <p:txBody>
          <a:bodyPr/>
          <a:lstStyle/>
          <a:p>
            <a:fld id="{C1FF6DA9-008F-8B48-92A6-B652298478BF}" type="slidenum">
              <a:rPr lang="en-US" smtClean="0"/>
              <a:pPr/>
              <a:t>15</a:t>
            </a:fld>
            <a:endParaRPr lang="en-US"/>
          </a:p>
        </p:txBody>
      </p:sp>
      <p:pic>
        <p:nvPicPr>
          <p:cNvPr id="3" name="Picture 2">
            <a:extLst>
              <a:ext uri="{FF2B5EF4-FFF2-40B4-BE49-F238E27FC236}">
                <a16:creationId xmlns:a16="http://schemas.microsoft.com/office/drawing/2014/main" id="{D83879D4-5407-1ECB-1941-18AFFDF81C4B}"/>
              </a:ext>
            </a:extLst>
          </p:cNvPr>
          <p:cNvPicPr>
            <a:picLocks noChangeAspect="1"/>
          </p:cNvPicPr>
          <p:nvPr/>
        </p:nvPicPr>
        <p:blipFill rotWithShape="1">
          <a:blip r:embed="rId2"/>
          <a:srcRect t="947" b="947"/>
          <a:stretch>
            <a:fillRect/>
          </a:stretch>
        </p:blipFill>
        <p:spPr bwMode="auto">
          <a:xfrm>
            <a:off x="6350725" y="2824194"/>
            <a:ext cx="5704937" cy="3459906"/>
          </a:xfrm>
          <a:prstGeom prst="rect">
            <a:avLst/>
          </a:prstGeom>
          <a:noFill/>
          <a:ln>
            <a:noFill/>
          </a:ln>
          <a:extLst>
            <a:ext uri="{53640926-AAD7-44D8-BBD7-CCE9431645EC}">
              <a14:shadowObscured xmlns:a14="http://schemas.microsoft.com/office/drawing/2010/main"/>
            </a:ext>
          </a:extLst>
        </p:spPr>
      </p:pic>
      <p:pic>
        <p:nvPicPr>
          <p:cNvPr id="7" name="Picture 6">
            <a:extLst>
              <a:ext uri="{FF2B5EF4-FFF2-40B4-BE49-F238E27FC236}">
                <a16:creationId xmlns:a16="http://schemas.microsoft.com/office/drawing/2014/main" id="{1951300F-875B-9411-757E-2DB12227E241}"/>
              </a:ext>
            </a:extLst>
          </p:cNvPr>
          <p:cNvPicPr>
            <a:picLocks noChangeAspect="1"/>
          </p:cNvPicPr>
          <p:nvPr/>
        </p:nvPicPr>
        <p:blipFill rotWithShape="1">
          <a:blip r:embed="rId3"/>
          <a:srcRect t="2172" b="2172"/>
          <a:stretch/>
        </p:blipFill>
        <p:spPr bwMode="auto">
          <a:xfrm>
            <a:off x="370114" y="2801394"/>
            <a:ext cx="5471162" cy="3318127"/>
          </a:xfrm>
          <a:prstGeom prst="rect">
            <a:avLst/>
          </a:prstGeom>
          <a:noFill/>
          <a:ln>
            <a:noFill/>
          </a:ln>
          <a:extLst>
            <a:ext uri="{53640926-AAD7-44D8-BBD7-CCE9431645EC}">
              <a14:shadowObscured xmlns:a14="http://schemas.microsoft.com/office/drawing/2010/main"/>
            </a:ext>
          </a:extLst>
        </p:spPr>
      </p:pic>
      <p:sp>
        <p:nvSpPr>
          <p:cNvPr id="8" name="Title 1">
            <a:extLst>
              <a:ext uri="{FF2B5EF4-FFF2-40B4-BE49-F238E27FC236}">
                <a16:creationId xmlns:a16="http://schemas.microsoft.com/office/drawing/2014/main" id="{77BBCD02-4A5C-35D0-D465-7693DE94C1BC}"/>
              </a:ext>
            </a:extLst>
          </p:cNvPr>
          <p:cNvSpPr txBox="1">
            <a:spLocks/>
          </p:cNvSpPr>
          <p:nvPr/>
        </p:nvSpPr>
        <p:spPr>
          <a:xfrm>
            <a:off x="2098862" y="60323"/>
            <a:ext cx="8215672" cy="85673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b="1" dirty="0">
                <a:solidFill>
                  <a:schemeClr val="accent1">
                    <a:lumMod val="50000"/>
                  </a:schemeClr>
                </a:solidFill>
                <a:latin typeface="Calibri" panose="020F0502020204030204" pitchFamily="34" charset="0"/>
                <a:cs typeface="Calibri" panose="020F0502020204030204" pitchFamily="34" charset="0"/>
              </a:rPr>
              <a:t>Publications: specific statistics 2/2</a:t>
            </a:r>
            <a:endParaRPr lang="bg-BG" sz="3600" b="1" dirty="0">
              <a:solidFill>
                <a:schemeClr val="accent1">
                  <a:lumMod val="50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893668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77CC51-774A-478A-2F25-B69B46256DA2}"/>
              </a:ext>
            </a:extLst>
          </p:cNvPr>
          <p:cNvSpPr>
            <a:spLocks noGrp="1"/>
          </p:cNvSpPr>
          <p:nvPr>
            <p:ph idx="1"/>
          </p:nvPr>
        </p:nvSpPr>
        <p:spPr>
          <a:xfrm>
            <a:off x="370114" y="1023257"/>
            <a:ext cx="11408229" cy="5235123"/>
          </a:xfrm>
        </p:spPr>
        <p:txBody>
          <a:bodyPr>
            <a:normAutofit fontScale="92500" lnSpcReduction="10000"/>
          </a:bodyPr>
          <a:lstStyle/>
          <a:p>
            <a:pPr>
              <a:lnSpc>
                <a:spcPct val="110000"/>
              </a:lnSpc>
              <a:spcBef>
                <a:spcPts val="600"/>
              </a:spcBef>
              <a:buFont typeface="Wingdings" panose="05000000000000000000" pitchFamily="2" charset="2"/>
              <a:buChar char="§"/>
            </a:pPr>
            <a:r>
              <a:rPr lang="en-US" dirty="0"/>
              <a:t>273 non-relevant items </a:t>
            </a:r>
          </a:p>
          <a:p>
            <a:pPr>
              <a:lnSpc>
                <a:spcPct val="110000"/>
              </a:lnSpc>
              <a:spcBef>
                <a:spcPts val="600"/>
              </a:spcBef>
              <a:buFont typeface="Wingdings" panose="05000000000000000000" pitchFamily="2" charset="2"/>
              <a:buChar char="§"/>
            </a:pPr>
            <a:r>
              <a:rPr lang="en-US" dirty="0"/>
              <a:t>Considered and analyzed 256 scientific publications:  </a:t>
            </a:r>
          </a:p>
          <a:p>
            <a:pPr marL="533400" indent="-261938">
              <a:lnSpc>
                <a:spcPct val="110000"/>
              </a:lnSpc>
              <a:spcBef>
                <a:spcPts val="600"/>
              </a:spcBef>
            </a:pPr>
            <a:r>
              <a:rPr lang="en-US" dirty="0"/>
              <a:t>143 (56%) presented results from a quantitative analysis </a:t>
            </a:r>
          </a:p>
          <a:p>
            <a:pPr marL="533400" indent="-261938">
              <a:lnSpc>
                <a:spcPct val="110000"/>
              </a:lnSpc>
              <a:spcBef>
                <a:spcPts val="600"/>
              </a:spcBef>
            </a:pPr>
            <a:r>
              <a:rPr lang="en-US" dirty="0"/>
              <a:t>105 (41%) reported findings from a qualitative analysis, </a:t>
            </a:r>
          </a:p>
          <a:p>
            <a:pPr marL="533400" indent="-261938">
              <a:lnSpc>
                <a:spcPct val="110000"/>
              </a:lnSpc>
              <a:spcBef>
                <a:spcPts val="600"/>
              </a:spcBef>
            </a:pPr>
            <a:r>
              <a:rPr lang="en-US" dirty="0"/>
              <a:t>42 (16%) presented both qualitative and quantitative findings. </a:t>
            </a:r>
          </a:p>
          <a:p>
            <a:pPr marL="533400" indent="-261938">
              <a:lnSpc>
                <a:spcPct val="110000"/>
              </a:lnSpc>
              <a:spcBef>
                <a:spcPts val="600"/>
              </a:spcBef>
            </a:pPr>
            <a:r>
              <a:rPr lang="en-US" dirty="0"/>
              <a:t>124 (48%) focused on short-term studies (lasting no longer than one week), </a:t>
            </a:r>
          </a:p>
          <a:p>
            <a:pPr marL="533400" indent="-261938">
              <a:lnSpc>
                <a:spcPct val="110000"/>
              </a:lnSpc>
              <a:spcBef>
                <a:spcPts val="600"/>
              </a:spcBef>
            </a:pPr>
            <a:r>
              <a:rPr lang="en-US" dirty="0"/>
              <a:t>60 (23%) reported a longitudinal study.</a:t>
            </a:r>
          </a:p>
          <a:p>
            <a:pPr>
              <a:lnSpc>
                <a:spcPct val="110000"/>
              </a:lnSpc>
              <a:spcBef>
                <a:spcPts val="600"/>
              </a:spcBef>
              <a:buFont typeface="Wingdings" panose="05000000000000000000" pitchFamily="2" charset="2"/>
              <a:buChar char="§"/>
            </a:pPr>
            <a:r>
              <a:rPr lang="en-US" dirty="0"/>
              <a:t>Presented results about the goal of the game evaluation: </a:t>
            </a:r>
          </a:p>
          <a:p>
            <a:pPr marL="533400">
              <a:lnSpc>
                <a:spcPct val="110000"/>
              </a:lnSpc>
              <a:spcBef>
                <a:spcPts val="600"/>
              </a:spcBef>
            </a:pPr>
            <a:r>
              <a:rPr lang="en-US" dirty="0"/>
              <a:t>145 (57%) publications on learning outcomes, 101 (39%) – on game learnability,</a:t>
            </a:r>
          </a:p>
          <a:p>
            <a:pPr marL="533400">
              <a:lnSpc>
                <a:spcPct val="110000"/>
              </a:lnSpc>
              <a:spcBef>
                <a:spcPts val="600"/>
              </a:spcBef>
            </a:pPr>
            <a:r>
              <a:rPr lang="en-US" dirty="0"/>
              <a:t>100 (39%) – on validating usability, 92 (36%) – on engagement, </a:t>
            </a:r>
          </a:p>
          <a:p>
            <a:pPr marL="533400">
              <a:lnSpc>
                <a:spcPct val="110000"/>
              </a:lnSpc>
              <a:spcBef>
                <a:spcPts val="600"/>
              </a:spcBef>
            </a:pPr>
            <a:r>
              <a:rPr lang="en-US" dirty="0"/>
              <a:t>63 (25%) – on motivation, and 37 (15%) – on game playability.</a:t>
            </a:r>
          </a:p>
          <a:p>
            <a:endParaRPr lang="en-US" dirty="0"/>
          </a:p>
        </p:txBody>
      </p:sp>
      <p:sp>
        <p:nvSpPr>
          <p:cNvPr id="4" name="Date Placeholder 3">
            <a:extLst>
              <a:ext uri="{FF2B5EF4-FFF2-40B4-BE49-F238E27FC236}">
                <a16:creationId xmlns:a16="http://schemas.microsoft.com/office/drawing/2014/main" id="{FA40D81D-6F7C-3562-98A9-0CD58A033C6D}"/>
              </a:ext>
            </a:extLst>
          </p:cNvPr>
          <p:cNvSpPr>
            <a:spLocks noGrp="1"/>
          </p:cNvSpPr>
          <p:nvPr>
            <p:ph type="dt" sz="half" idx="10"/>
          </p:nvPr>
        </p:nvSpPr>
        <p:spPr/>
        <p:txBody>
          <a:bodyPr/>
          <a:lstStyle/>
          <a:p>
            <a:r>
              <a:rPr lang="bg-BG"/>
              <a:t>BdKCSE'2025</a:t>
            </a:r>
            <a:endParaRPr lang="en-US" dirty="0"/>
          </a:p>
        </p:txBody>
      </p:sp>
      <p:sp>
        <p:nvSpPr>
          <p:cNvPr id="5" name="Footer Placeholder 4">
            <a:extLst>
              <a:ext uri="{FF2B5EF4-FFF2-40B4-BE49-F238E27FC236}">
                <a16:creationId xmlns:a16="http://schemas.microsoft.com/office/drawing/2014/main" id="{4782F857-E93E-967F-DAA6-CCEC23A3678D}"/>
              </a:ext>
            </a:extLst>
          </p:cNvPr>
          <p:cNvSpPr>
            <a:spLocks noGrp="1"/>
          </p:cNvSpPr>
          <p:nvPr>
            <p:ph type="ftr" sz="quarter" idx="11"/>
          </p:nvPr>
        </p:nvSpPr>
        <p:spPr/>
        <p:txBody>
          <a:bodyPr/>
          <a:lstStyle/>
          <a:p>
            <a:r>
              <a:rPr lang="en-US"/>
              <a:t>Evaluation of Video Games for STEM Education </a:t>
            </a:r>
            <a:endParaRPr lang="en-US" dirty="0"/>
          </a:p>
        </p:txBody>
      </p:sp>
      <p:sp>
        <p:nvSpPr>
          <p:cNvPr id="6" name="Slide Number Placeholder 5">
            <a:extLst>
              <a:ext uri="{FF2B5EF4-FFF2-40B4-BE49-F238E27FC236}">
                <a16:creationId xmlns:a16="http://schemas.microsoft.com/office/drawing/2014/main" id="{3928654B-76F1-DFEF-0DD3-F5862178147C}"/>
              </a:ext>
            </a:extLst>
          </p:cNvPr>
          <p:cNvSpPr>
            <a:spLocks noGrp="1"/>
          </p:cNvSpPr>
          <p:nvPr>
            <p:ph type="sldNum" sz="quarter" idx="12"/>
          </p:nvPr>
        </p:nvSpPr>
        <p:spPr/>
        <p:txBody>
          <a:bodyPr/>
          <a:lstStyle/>
          <a:p>
            <a:fld id="{C1FF6DA9-008F-8B48-92A6-B652298478BF}" type="slidenum">
              <a:rPr lang="en-US" smtClean="0"/>
              <a:pPr/>
              <a:t>16</a:t>
            </a:fld>
            <a:endParaRPr lang="en-US" dirty="0"/>
          </a:p>
        </p:txBody>
      </p:sp>
      <p:sp>
        <p:nvSpPr>
          <p:cNvPr id="9" name="Title 1">
            <a:extLst>
              <a:ext uri="{FF2B5EF4-FFF2-40B4-BE49-F238E27FC236}">
                <a16:creationId xmlns:a16="http://schemas.microsoft.com/office/drawing/2014/main" id="{2EC748B6-9A3D-B952-AF88-ED3900D084F4}"/>
              </a:ext>
            </a:extLst>
          </p:cNvPr>
          <p:cNvSpPr>
            <a:spLocks noGrp="1"/>
          </p:cNvSpPr>
          <p:nvPr>
            <p:ph type="title"/>
          </p:nvPr>
        </p:nvSpPr>
        <p:spPr>
          <a:xfrm>
            <a:off x="2098862" y="60323"/>
            <a:ext cx="8215672" cy="856733"/>
          </a:xfrm>
        </p:spPr>
        <p:txBody>
          <a:bodyPr>
            <a:normAutofit/>
          </a:bodyPr>
          <a:lstStyle/>
          <a:p>
            <a:pPr algn="ctr"/>
            <a:r>
              <a:rPr lang="en-US" sz="3600" b="1" dirty="0">
                <a:solidFill>
                  <a:schemeClr val="accent1">
                    <a:lumMod val="50000"/>
                  </a:schemeClr>
                </a:solidFill>
                <a:latin typeface="Calibri" panose="020F0502020204030204" pitchFamily="34" charset="0"/>
                <a:cs typeface="Calibri" panose="020F0502020204030204" pitchFamily="34" charset="0"/>
              </a:rPr>
              <a:t>Publications: specific statistics 3/3</a:t>
            </a:r>
            <a:endParaRPr lang="bg-BG" sz="3600" b="1" dirty="0">
              <a:solidFill>
                <a:schemeClr val="accent1">
                  <a:lumMod val="50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373043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DB6AF9-8886-49FF-B719-DDFE9EE249CB}"/>
              </a:ext>
            </a:extLst>
          </p:cNvPr>
          <p:cNvSpPr>
            <a:spLocks noGrp="1"/>
          </p:cNvSpPr>
          <p:nvPr>
            <p:ph idx="1"/>
          </p:nvPr>
        </p:nvSpPr>
        <p:spPr>
          <a:xfrm>
            <a:off x="533400" y="1001825"/>
            <a:ext cx="11136085" cy="5441613"/>
          </a:xfrm>
        </p:spPr>
        <p:txBody>
          <a:bodyPr>
            <a:noAutofit/>
          </a:bodyPr>
          <a:lstStyle/>
          <a:p>
            <a:pPr>
              <a:spcBef>
                <a:spcPts val="600"/>
              </a:spcBef>
            </a:pPr>
            <a:r>
              <a:rPr lang="en-US" sz="2600" dirty="0"/>
              <a:t>The survey results asserts that video games in STEM learning are a current topic in education </a:t>
            </a:r>
          </a:p>
          <a:p>
            <a:pPr>
              <a:spcBef>
                <a:spcPts val="600"/>
              </a:spcBef>
            </a:pPr>
            <a:r>
              <a:rPr lang="en-US" sz="2600" dirty="0"/>
              <a:t>The study examined publications evaluating modern educational video games and other games and game platforms with didactic content from different genres, such as: RPGs, escape rooms, simulations, puzzle games, augmented/ virtual reality (AR/VR) games, strategy games, etc. </a:t>
            </a:r>
          </a:p>
          <a:p>
            <a:pPr>
              <a:spcBef>
                <a:spcPts val="600"/>
              </a:spcBef>
            </a:pPr>
            <a:r>
              <a:rPr lang="en-US" sz="2600" dirty="0"/>
              <a:t>The survey findings show that educational video games are successfully applied in STEM education – </a:t>
            </a:r>
          </a:p>
          <a:p>
            <a:pPr lvl="1">
              <a:spcBef>
                <a:spcPts val="600"/>
              </a:spcBef>
            </a:pPr>
            <a:r>
              <a:rPr lang="en-US" dirty="0"/>
              <a:t>Gamification and game-based learning are particularly efficient in educating young people</a:t>
            </a:r>
          </a:p>
          <a:p>
            <a:pPr>
              <a:spcBef>
                <a:spcPts val="600"/>
              </a:spcBef>
            </a:pPr>
            <a:r>
              <a:rPr lang="en-US" sz="2600" dirty="0"/>
              <a:t>Puzzles and simulation games are used in a STEM context:</a:t>
            </a:r>
          </a:p>
          <a:p>
            <a:pPr lvl="1">
              <a:spcBef>
                <a:spcPts val="600"/>
              </a:spcBef>
            </a:pPr>
            <a:r>
              <a:rPr lang="en-US" dirty="0"/>
              <a:t>Especially well-suited for presenting related knowledge.</a:t>
            </a:r>
          </a:p>
          <a:p>
            <a:pPr lvl="1">
              <a:spcBef>
                <a:spcPts val="600"/>
              </a:spcBef>
            </a:pPr>
            <a:r>
              <a:rPr lang="en-US" dirty="0"/>
              <a:t>Their features and game mechanics interpret science concepts and simulate natural phenomena </a:t>
            </a:r>
          </a:p>
          <a:p>
            <a:endParaRPr lang="en-US" dirty="0"/>
          </a:p>
        </p:txBody>
      </p:sp>
      <p:sp>
        <p:nvSpPr>
          <p:cNvPr id="4" name="Date Placeholder 3">
            <a:extLst>
              <a:ext uri="{FF2B5EF4-FFF2-40B4-BE49-F238E27FC236}">
                <a16:creationId xmlns:a16="http://schemas.microsoft.com/office/drawing/2014/main" id="{2CC6AA6F-1A31-4CB5-83D8-5A5BB9678410}"/>
              </a:ext>
            </a:extLst>
          </p:cNvPr>
          <p:cNvSpPr>
            <a:spLocks noGrp="1"/>
          </p:cNvSpPr>
          <p:nvPr>
            <p:ph type="dt" sz="half" idx="10"/>
          </p:nvPr>
        </p:nvSpPr>
        <p:spPr/>
        <p:txBody>
          <a:bodyPr/>
          <a:lstStyle/>
          <a:p>
            <a:r>
              <a:rPr lang="bg-BG"/>
              <a:t>BdKCSE'2025</a:t>
            </a:r>
            <a:endParaRPr lang="en-US"/>
          </a:p>
        </p:txBody>
      </p:sp>
      <p:sp>
        <p:nvSpPr>
          <p:cNvPr id="5" name="Footer Placeholder 4">
            <a:extLst>
              <a:ext uri="{FF2B5EF4-FFF2-40B4-BE49-F238E27FC236}">
                <a16:creationId xmlns:a16="http://schemas.microsoft.com/office/drawing/2014/main" id="{77307C73-2771-4D15-8A7E-3A08E63565D0}"/>
              </a:ext>
            </a:extLst>
          </p:cNvPr>
          <p:cNvSpPr>
            <a:spLocks noGrp="1"/>
          </p:cNvSpPr>
          <p:nvPr>
            <p:ph type="ftr" sz="quarter" idx="11"/>
          </p:nvPr>
        </p:nvSpPr>
        <p:spPr/>
        <p:txBody>
          <a:bodyPr/>
          <a:lstStyle/>
          <a:p>
            <a:r>
              <a:rPr lang="en-US"/>
              <a:t>Evaluation of Video Games for STEM Education </a:t>
            </a:r>
          </a:p>
        </p:txBody>
      </p:sp>
      <p:sp>
        <p:nvSpPr>
          <p:cNvPr id="6" name="Slide Number Placeholder 5">
            <a:extLst>
              <a:ext uri="{FF2B5EF4-FFF2-40B4-BE49-F238E27FC236}">
                <a16:creationId xmlns:a16="http://schemas.microsoft.com/office/drawing/2014/main" id="{2AB418D2-2743-4957-B73D-BAED52DC5062}"/>
              </a:ext>
            </a:extLst>
          </p:cNvPr>
          <p:cNvSpPr>
            <a:spLocks noGrp="1"/>
          </p:cNvSpPr>
          <p:nvPr>
            <p:ph type="sldNum" sz="quarter" idx="12"/>
          </p:nvPr>
        </p:nvSpPr>
        <p:spPr/>
        <p:txBody>
          <a:bodyPr/>
          <a:lstStyle/>
          <a:p>
            <a:fld id="{C1FF6DA9-008F-8B48-92A6-B652298478BF}" type="slidenum">
              <a:rPr lang="en-US" smtClean="0"/>
              <a:pPr/>
              <a:t>17</a:t>
            </a:fld>
            <a:endParaRPr lang="en-US"/>
          </a:p>
        </p:txBody>
      </p:sp>
      <p:sp>
        <p:nvSpPr>
          <p:cNvPr id="12" name="Title 1">
            <a:extLst>
              <a:ext uri="{FF2B5EF4-FFF2-40B4-BE49-F238E27FC236}">
                <a16:creationId xmlns:a16="http://schemas.microsoft.com/office/drawing/2014/main" id="{338D2D1F-E951-F21F-7B65-5EC4FDA9ADB4}"/>
              </a:ext>
            </a:extLst>
          </p:cNvPr>
          <p:cNvSpPr>
            <a:spLocks noGrp="1"/>
          </p:cNvSpPr>
          <p:nvPr>
            <p:ph type="title"/>
          </p:nvPr>
        </p:nvSpPr>
        <p:spPr>
          <a:xfrm>
            <a:off x="772884" y="263072"/>
            <a:ext cx="10515600" cy="462189"/>
          </a:xfrm>
        </p:spPr>
        <p:txBody>
          <a:bodyPr>
            <a:normAutofit fontScale="90000"/>
          </a:bodyPr>
          <a:lstStyle/>
          <a:p>
            <a:pPr algn="ctr"/>
            <a:r>
              <a:rPr lang="en-US" sz="4000" b="1" dirty="0">
                <a:solidFill>
                  <a:schemeClr val="accent1">
                    <a:lumMod val="50000"/>
                  </a:schemeClr>
                </a:solidFill>
                <a:latin typeface="Calibri" panose="020F0502020204030204" pitchFamily="34" charset="0"/>
                <a:cs typeface="Calibri" panose="020F0502020204030204" pitchFamily="34" charset="0"/>
              </a:rPr>
              <a:t>DISCUSSION 1/3</a:t>
            </a:r>
            <a:r>
              <a:rPr lang="en-US" b="1" dirty="0">
                <a:solidFill>
                  <a:schemeClr val="accent1">
                    <a:lumMod val="50000"/>
                  </a:schemeClr>
                </a:solidFill>
                <a:latin typeface="Calibri" panose="020F0502020204030204" pitchFamily="34" charset="0"/>
                <a:cs typeface="Calibri" panose="020F0502020204030204" pitchFamily="34" charset="0"/>
              </a:rPr>
              <a:t> </a:t>
            </a:r>
            <a:endParaRPr lang="bg-BG"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503139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8A1728-BA47-49C3-9050-D5B118796E9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0B0973-18DB-4CEA-656C-F58413D1D294}"/>
              </a:ext>
            </a:extLst>
          </p:cNvPr>
          <p:cNvSpPr>
            <a:spLocks noGrp="1"/>
          </p:cNvSpPr>
          <p:nvPr>
            <p:ph idx="1"/>
          </p:nvPr>
        </p:nvSpPr>
        <p:spPr>
          <a:xfrm>
            <a:off x="446315" y="1023826"/>
            <a:ext cx="11266714" cy="5408726"/>
          </a:xfrm>
        </p:spPr>
        <p:txBody>
          <a:bodyPr>
            <a:noAutofit/>
          </a:bodyPr>
          <a:lstStyle/>
          <a:p>
            <a:pPr>
              <a:lnSpc>
                <a:spcPct val="100000"/>
              </a:lnSpc>
              <a:spcBef>
                <a:spcPts val="600"/>
              </a:spcBef>
            </a:pPr>
            <a:r>
              <a:rPr lang="en-US" sz="2600" dirty="0"/>
              <a:t>The gamification approach is typically applied to enhance comprehension of more complex notions</a:t>
            </a:r>
          </a:p>
          <a:p>
            <a:pPr>
              <a:lnSpc>
                <a:spcPct val="100000"/>
              </a:lnSpc>
              <a:spcBef>
                <a:spcPts val="600"/>
              </a:spcBef>
            </a:pPr>
            <a:r>
              <a:rPr lang="en-US" sz="2600" dirty="0"/>
              <a:t>The presented studies analyzed and evaluated in detail the influence, impact and benefits on learners (students, pupils, learners) for: </a:t>
            </a:r>
          </a:p>
          <a:p>
            <a:pPr lvl="1">
              <a:lnSpc>
                <a:spcPct val="100000"/>
              </a:lnSpc>
              <a:spcBef>
                <a:spcPts val="600"/>
              </a:spcBef>
            </a:pPr>
            <a:r>
              <a:rPr lang="en-US" dirty="0"/>
              <a:t>Student interest, behavior and engagement</a:t>
            </a:r>
          </a:p>
          <a:p>
            <a:pPr lvl="1">
              <a:lnSpc>
                <a:spcPct val="100000"/>
              </a:lnSpc>
              <a:spcBef>
                <a:spcPts val="600"/>
              </a:spcBef>
            </a:pPr>
            <a:r>
              <a:rPr lang="en-US" dirty="0"/>
              <a:t>Increase of the success in STEM education and knowledge acquisition in various fields.</a:t>
            </a:r>
          </a:p>
          <a:p>
            <a:pPr>
              <a:lnSpc>
                <a:spcPct val="100000"/>
              </a:lnSpc>
              <a:spcBef>
                <a:spcPts val="600"/>
              </a:spcBef>
            </a:pPr>
            <a:r>
              <a:rPr lang="en-US" sz="2600" dirty="0"/>
              <a:t>The research presented explores several factors</a:t>
            </a:r>
          </a:p>
          <a:p>
            <a:pPr lvl="1">
              <a:lnSpc>
                <a:spcPct val="100000"/>
              </a:lnSpc>
              <a:spcBef>
                <a:spcPts val="600"/>
              </a:spcBef>
            </a:pPr>
            <a:r>
              <a:rPr lang="en-US" sz="2600" dirty="0"/>
              <a:t>Usability, motivation, engagement, learnability, playability, and learning performance or outcomes</a:t>
            </a:r>
          </a:p>
          <a:p>
            <a:pPr lvl="1">
              <a:lnSpc>
                <a:spcPct val="100000"/>
              </a:lnSpc>
              <a:spcBef>
                <a:spcPts val="600"/>
              </a:spcBef>
            </a:pPr>
            <a:r>
              <a:rPr lang="en-US" sz="2600" dirty="0"/>
              <a:t>The integration of intelligent technologies (large language models) in a flipped classroom approach- usual practice in computer science education</a:t>
            </a:r>
          </a:p>
        </p:txBody>
      </p:sp>
      <p:sp>
        <p:nvSpPr>
          <p:cNvPr id="4" name="Date Placeholder 3">
            <a:extLst>
              <a:ext uri="{FF2B5EF4-FFF2-40B4-BE49-F238E27FC236}">
                <a16:creationId xmlns:a16="http://schemas.microsoft.com/office/drawing/2014/main" id="{496FA31B-10DC-172C-B0F4-BB634447AD8D}"/>
              </a:ext>
            </a:extLst>
          </p:cNvPr>
          <p:cNvSpPr>
            <a:spLocks noGrp="1"/>
          </p:cNvSpPr>
          <p:nvPr>
            <p:ph type="dt" sz="half" idx="10"/>
          </p:nvPr>
        </p:nvSpPr>
        <p:spPr/>
        <p:txBody>
          <a:bodyPr/>
          <a:lstStyle/>
          <a:p>
            <a:r>
              <a:rPr lang="bg-BG"/>
              <a:t>BdKCSE'2025</a:t>
            </a:r>
            <a:endParaRPr lang="en-US"/>
          </a:p>
        </p:txBody>
      </p:sp>
      <p:sp>
        <p:nvSpPr>
          <p:cNvPr id="5" name="Footer Placeholder 4">
            <a:extLst>
              <a:ext uri="{FF2B5EF4-FFF2-40B4-BE49-F238E27FC236}">
                <a16:creationId xmlns:a16="http://schemas.microsoft.com/office/drawing/2014/main" id="{60468FA5-4B1E-01C3-DAA0-37237F417CD2}"/>
              </a:ext>
            </a:extLst>
          </p:cNvPr>
          <p:cNvSpPr>
            <a:spLocks noGrp="1"/>
          </p:cNvSpPr>
          <p:nvPr>
            <p:ph type="ftr" sz="quarter" idx="11"/>
          </p:nvPr>
        </p:nvSpPr>
        <p:spPr/>
        <p:txBody>
          <a:bodyPr/>
          <a:lstStyle/>
          <a:p>
            <a:r>
              <a:rPr lang="en-US"/>
              <a:t>Evaluation of Video Games for STEM Education </a:t>
            </a:r>
          </a:p>
        </p:txBody>
      </p:sp>
      <p:sp>
        <p:nvSpPr>
          <p:cNvPr id="6" name="Slide Number Placeholder 5">
            <a:extLst>
              <a:ext uri="{FF2B5EF4-FFF2-40B4-BE49-F238E27FC236}">
                <a16:creationId xmlns:a16="http://schemas.microsoft.com/office/drawing/2014/main" id="{A346901B-8F41-47E8-BE79-FF616BF51547}"/>
              </a:ext>
            </a:extLst>
          </p:cNvPr>
          <p:cNvSpPr>
            <a:spLocks noGrp="1"/>
          </p:cNvSpPr>
          <p:nvPr>
            <p:ph type="sldNum" sz="quarter" idx="12"/>
          </p:nvPr>
        </p:nvSpPr>
        <p:spPr/>
        <p:txBody>
          <a:bodyPr/>
          <a:lstStyle/>
          <a:p>
            <a:fld id="{C1FF6DA9-008F-8B48-92A6-B652298478BF}" type="slidenum">
              <a:rPr lang="en-US" smtClean="0"/>
              <a:pPr/>
              <a:t>18</a:t>
            </a:fld>
            <a:endParaRPr lang="en-US"/>
          </a:p>
        </p:txBody>
      </p:sp>
      <p:sp>
        <p:nvSpPr>
          <p:cNvPr id="9" name="Title 1">
            <a:extLst>
              <a:ext uri="{FF2B5EF4-FFF2-40B4-BE49-F238E27FC236}">
                <a16:creationId xmlns:a16="http://schemas.microsoft.com/office/drawing/2014/main" id="{9F4C65CD-8878-5B52-BFE4-06483CE7B9FF}"/>
              </a:ext>
            </a:extLst>
          </p:cNvPr>
          <p:cNvSpPr>
            <a:spLocks noGrp="1"/>
          </p:cNvSpPr>
          <p:nvPr>
            <p:ph type="title"/>
          </p:nvPr>
        </p:nvSpPr>
        <p:spPr>
          <a:xfrm>
            <a:off x="772884" y="263072"/>
            <a:ext cx="10515600" cy="462189"/>
          </a:xfrm>
        </p:spPr>
        <p:txBody>
          <a:bodyPr>
            <a:normAutofit fontScale="90000"/>
          </a:bodyPr>
          <a:lstStyle/>
          <a:p>
            <a:pPr algn="ctr"/>
            <a:r>
              <a:rPr lang="en-US" sz="4000" b="1" dirty="0">
                <a:solidFill>
                  <a:schemeClr val="accent1">
                    <a:lumMod val="50000"/>
                  </a:schemeClr>
                </a:solidFill>
                <a:latin typeface="Calibri" panose="020F0502020204030204" pitchFamily="34" charset="0"/>
                <a:cs typeface="Calibri" panose="020F0502020204030204" pitchFamily="34" charset="0"/>
              </a:rPr>
              <a:t>DISCUSSION 2/3</a:t>
            </a:r>
            <a:r>
              <a:rPr lang="en-US" b="1" dirty="0">
                <a:solidFill>
                  <a:schemeClr val="accent1">
                    <a:lumMod val="50000"/>
                  </a:schemeClr>
                </a:solidFill>
                <a:latin typeface="Calibri" panose="020F0502020204030204" pitchFamily="34" charset="0"/>
                <a:cs typeface="Calibri" panose="020F0502020204030204" pitchFamily="34" charset="0"/>
              </a:rPr>
              <a:t> </a:t>
            </a:r>
            <a:endParaRPr lang="bg-BG"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130010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7D85DA-083A-3123-2AF2-8857D99BA4B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4E145CB-2118-A8F2-7D22-90E408351A68}"/>
              </a:ext>
            </a:extLst>
          </p:cNvPr>
          <p:cNvSpPr>
            <a:spLocks noGrp="1"/>
          </p:cNvSpPr>
          <p:nvPr>
            <p:ph idx="1"/>
          </p:nvPr>
        </p:nvSpPr>
        <p:spPr>
          <a:xfrm>
            <a:off x="620486" y="1099795"/>
            <a:ext cx="10951028" cy="5170375"/>
          </a:xfrm>
        </p:spPr>
        <p:txBody>
          <a:bodyPr>
            <a:noAutofit/>
          </a:bodyPr>
          <a:lstStyle/>
          <a:p>
            <a:pPr>
              <a:lnSpc>
                <a:spcPct val="100000"/>
              </a:lnSpc>
            </a:pPr>
            <a:r>
              <a:rPr lang="en-US" sz="2600" dirty="0"/>
              <a:t>The most explored topics in the area of video games for STEM education are:</a:t>
            </a:r>
          </a:p>
          <a:p>
            <a:pPr lvl="1">
              <a:lnSpc>
                <a:spcPct val="100000"/>
              </a:lnSpc>
            </a:pPr>
            <a:r>
              <a:rPr lang="en-US" sz="2600" dirty="0"/>
              <a:t>Game-based learning, </a:t>
            </a:r>
          </a:p>
          <a:p>
            <a:pPr lvl="1">
              <a:lnSpc>
                <a:spcPct val="100000"/>
              </a:lnSpc>
            </a:pPr>
            <a:r>
              <a:rPr lang="en-US" sz="2600" dirty="0"/>
              <a:t>Gamification</a:t>
            </a:r>
          </a:p>
          <a:p>
            <a:pPr lvl="1">
              <a:lnSpc>
                <a:spcPct val="100000"/>
              </a:lnSpc>
            </a:pPr>
            <a:r>
              <a:rPr lang="en-US" sz="2600" dirty="0"/>
              <a:t>Virtual and augmented reality, </a:t>
            </a:r>
          </a:p>
          <a:p>
            <a:pPr lvl="1">
              <a:lnSpc>
                <a:spcPct val="100000"/>
              </a:lnSpc>
            </a:pPr>
            <a:r>
              <a:rPr lang="en-US" sz="2600" dirty="0"/>
              <a:t>Artificial intelligence. </a:t>
            </a:r>
          </a:p>
          <a:p>
            <a:pPr>
              <a:lnSpc>
                <a:spcPct val="100000"/>
              </a:lnSpc>
            </a:pPr>
            <a:r>
              <a:rPr lang="en-US" sz="2600" dirty="0"/>
              <a:t>There are relatively few games for student assessment and personalized learning. </a:t>
            </a:r>
          </a:p>
          <a:p>
            <a:pPr>
              <a:lnSpc>
                <a:spcPct val="100000"/>
              </a:lnSpc>
            </a:pPr>
            <a:r>
              <a:rPr lang="en-US" sz="2600" dirty="0"/>
              <a:t>The most used game platforms are Scratch, Kahoot!, and Minecraft. </a:t>
            </a:r>
          </a:p>
          <a:p>
            <a:pPr>
              <a:lnSpc>
                <a:spcPct val="100000"/>
              </a:lnSpc>
            </a:pPr>
            <a:r>
              <a:rPr lang="en-US" sz="2600" dirty="0"/>
              <a:t>Educational video games (unlike entertainment games) are predominantly designed for Web and desktop computers, while the mobile and platform games take a relatively small share. </a:t>
            </a:r>
          </a:p>
        </p:txBody>
      </p:sp>
      <p:sp>
        <p:nvSpPr>
          <p:cNvPr id="4" name="Date Placeholder 3">
            <a:extLst>
              <a:ext uri="{FF2B5EF4-FFF2-40B4-BE49-F238E27FC236}">
                <a16:creationId xmlns:a16="http://schemas.microsoft.com/office/drawing/2014/main" id="{BA1290B5-B3A6-1856-7501-D5A4F67DC1A4}"/>
              </a:ext>
            </a:extLst>
          </p:cNvPr>
          <p:cNvSpPr>
            <a:spLocks noGrp="1"/>
          </p:cNvSpPr>
          <p:nvPr>
            <p:ph type="dt" sz="half" idx="10"/>
          </p:nvPr>
        </p:nvSpPr>
        <p:spPr/>
        <p:txBody>
          <a:bodyPr/>
          <a:lstStyle/>
          <a:p>
            <a:r>
              <a:rPr lang="bg-BG"/>
              <a:t>BdKCSE'2025</a:t>
            </a:r>
            <a:endParaRPr lang="en-US"/>
          </a:p>
        </p:txBody>
      </p:sp>
      <p:sp>
        <p:nvSpPr>
          <p:cNvPr id="5" name="Footer Placeholder 4">
            <a:extLst>
              <a:ext uri="{FF2B5EF4-FFF2-40B4-BE49-F238E27FC236}">
                <a16:creationId xmlns:a16="http://schemas.microsoft.com/office/drawing/2014/main" id="{4370D0CD-5A28-BEB8-90A2-9A67F6BA08D6}"/>
              </a:ext>
            </a:extLst>
          </p:cNvPr>
          <p:cNvSpPr>
            <a:spLocks noGrp="1"/>
          </p:cNvSpPr>
          <p:nvPr>
            <p:ph type="ftr" sz="quarter" idx="11"/>
          </p:nvPr>
        </p:nvSpPr>
        <p:spPr/>
        <p:txBody>
          <a:bodyPr/>
          <a:lstStyle/>
          <a:p>
            <a:r>
              <a:rPr lang="en-US"/>
              <a:t>Evaluation of Video Games for STEM Education </a:t>
            </a:r>
          </a:p>
        </p:txBody>
      </p:sp>
      <p:sp>
        <p:nvSpPr>
          <p:cNvPr id="6" name="Slide Number Placeholder 5">
            <a:extLst>
              <a:ext uri="{FF2B5EF4-FFF2-40B4-BE49-F238E27FC236}">
                <a16:creationId xmlns:a16="http://schemas.microsoft.com/office/drawing/2014/main" id="{84A2660D-A899-4692-AD6B-2A9028BAC691}"/>
              </a:ext>
            </a:extLst>
          </p:cNvPr>
          <p:cNvSpPr>
            <a:spLocks noGrp="1"/>
          </p:cNvSpPr>
          <p:nvPr>
            <p:ph type="sldNum" sz="quarter" idx="12"/>
          </p:nvPr>
        </p:nvSpPr>
        <p:spPr/>
        <p:txBody>
          <a:bodyPr/>
          <a:lstStyle/>
          <a:p>
            <a:fld id="{C1FF6DA9-008F-8B48-92A6-B652298478BF}" type="slidenum">
              <a:rPr lang="en-US" smtClean="0"/>
              <a:pPr/>
              <a:t>19</a:t>
            </a:fld>
            <a:endParaRPr lang="en-US"/>
          </a:p>
        </p:txBody>
      </p:sp>
      <p:sp>
        <p:nvSpPr>
          <p:cNvPr id="9" name="Title 1">
            <a:extLst>
              <a:ext uri="{FF2B5EF4-FFF2-40B4-BE49-F238E27FC236}">
                <a16:creationId xmlns:a16="http://schemas.microsoft.com/office/drawing/2014/main" id="{01B8144E-F144-5164-2AA9-AD25D3AD3DD7}"/>
              </a:ext>
            </a:extLst>
          </p:cNvPr>
          <p:cNvSpPr>
            <a:spLocks noGrp="1"/>
          </p:cNvSpPr>
          <p:nvPr>
            <p:ph type="title"/>
          </p:nvPr>
        </p:nvSpPr>
        <p:spPr>
          <a:xfrm>
            <a:off x="772884" y="263072"/>
            <a:ext cx="10515600" cy="462189"/>
          </a:xfrm>
        </p:spPr>
        <p:txBody>
          <a:bodyPr>
            <a:normAutofit fontScale="90000"/>
          </a:bodyPr>
          <a:lstStyle/>
          <a:p>
            <a:pPr algn="ctr"/>
            <a:r>
              <a:rPr lang="en-US" sz="4000" b="1" dirty="0">
                <a:solidFill>
                  <a:schemeClr val="accent1">
                    <a:lumMod val="50000"/>
                  </a:schemeClr>
                </a:solidFill>
                <a:latin typeface="Calibri" panose="020F0502020204030204" pitchFamily="34" charset="0"/>
                <a:cs typeface="Calibri" panose="020F0502020204030204" pitchFamily="34" charset="0"/>
              </a:rPr>
              <a:t>DISCUSSION 3/3</a:t>
            </a:r>
            <a:r>
              <a:rPr lang="en-US" b="1" dirty="0">
                <a:solidFill>
                  <a:schemeClr val="accent1">
                    <a:lumMod val="50000"/>
                  </a:schemeClr>
                </a:solidFill>
                <a:latin typeface="Calibri" panose="020F0502020204030204" pitchFamily="34" charset="0"/>
                <a:cs typeface="Calibri" panose="020F0502020204030204" pitchFamily="34" charset="0"/>
              </a:rPr>
              <a:t> </a:t>
            </a:r>
            <a:endParaRPr lang="bg-BG"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903553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067944" y="234014"/>
            <a:ext cx="6056111" cy="598772"/>
          </a:xfrm>
        </p:spPr>
        <p:txBody>
          <a:bodyPr anchor="ctr">
            <a:normAutofit fontScale="90000"/>
          </a:bodyPr>
          <a:lstStyle/>
          <a:p>
            <a:pPr algn="ctr"/>
            <a:r>
              <a:rPr lang="en-US" sz="4000" b="1" dirty="0">
                <a:solidFill>
                  <a:schemeClr val="accent1">
                    <a:lumMod val="50000"/>
                  </a:schemeClr>
                </a:solidFill>
                <a:latin typeface="Calibri" panose="020F0502020204030204" pitchFamily="34" charset="0"/>
                <a:cs typeface="Calibri" panose="020F0502020204030204" pitchFamily="34" charset="0"/>
              </a:rPr>
              <a:t>Limitations of the study</a:t>
            </a:r>
          </a:p>
        </p:txBody>
      </p:sp>
      <p:sp>
        <p:nvSpPr>
          <p:cNvPr id="3" name="Content Placeholder 2"/>
          <p:cNvSpPr>
            <a:spLocks noGrp="1"/>
          </p:cNvSpPr>
          <p:nvPr>
            <p:ph idx="1"/>
          </p:nvPr>
        </p:nvSpPr>
        <p:spPr>
          <a:xfrm>
            <a:off x="598714" y="1066800"/>
            <a:ext cx="10961915" cy="5376638"/>
          </a:xfrm>
        </p:spPr>
        <p:txBody>
          <a:bodyPr anchor="t">
            <a:normAutofit lnSpcReduction="10000"/>
          </a:bodyPr>
          <a:lstStyle/>
          <a:p>
            <a:pPr marL="631825" indent="-273050"/>
            <a:r>
              <a:rPr lang="en-US" sz="2400" dirty="0"/>
              <a:t>PRISMA bias toward well-cited networks; may miss some work</a:t>
            </a:r>
          </a:p>
          <a:p>
            <a:pPr marL="631825" indent="-273050"/>
            <a:r>
              <a:rPr lang="en-US" sz="2400" dirty="0"/>
              <a:t>English-language publications are only useful for tracking enduring characteristics across time</a:t>
            </a:r>
          </a:p>
          <a:p>
            <a:pPr marL="631825" indent="-273050"/>
            <a:r>
              <a:rPr lang="en-US" sz="2400" dirty="0"/>
              <a:t>Limited period – 2015-2025</a:t>
            </a:r>
          </a:p>
          <a:p>
            <a:pPr marL="631825" indent="-273050"/>
            <a:r>
              <a:rPr lang="en-US" sz="2400" dirty="0"/>
              <a:t>Search in </a:t>
            </a:r>
            <a:r>
              <a:rPr lang="en-US" sz="2400" dirty="0" err="1"/>
              <a:t>WoS</a:t>
            </a:r>
            <a:r>
              <a:rPr lang="en-US" sz="2400" dirty="0"/>
              <a:t> and Scopus databases only</a:t>
            </a:r>
          </a:p>
          <a:p>
            <a:pPr marL="631825" indent="-273050">
              <a:lnSpc>
                <a:spcPct val="100000"/>
              </a:lnSpc>
              <a:spcBef>
                <a:spcPts val="600"/>
              </a:spcBef>
              <a:spcAft>
                <a:spcPts val="1200"/>
              </a:spcAft>
            </a:pPr>
            <a:r>
              <a:rPr lang="en-US" sz="2400" dirty="0"/>
              <a:t>Analysis of the publication abstracts only</a:t>
            </a:r>
          </a:p>
          <a:p>
            <a:pPr>
              <a:buFont typeface="Wingdings" panose="05000000000000000000" pitchFamily="2" charset="2"/>
              <a:buChar char="§"/>
            </a:pPr>
            <a:r>
              <a:rPr lang="en-US" sz="2400" dirty="0"/>
              <a:t>Additional efforts are required to assess the motivational and playability aspects of video game applications.</a:t>
            </a:r>
          </a:p>
          <a:p>
            <a:pPr>
              <a:buFont typeface="Wingdings" panose="05000000000000000000" pitchFamily="2" charset="2"/>
              <a:buChar char="§"/>
            </a:pPr>
            <a:r>
              <a:rPr lang="en-US" sz="2400" dirty="0"/>
              <a:t>Most research in game evaluation focuses on short-term studies, which may lower the significance of the results.</a:t>
            </a:r>
          </a:p>
          <a:p>
            <a:pPr>
              <a:buFont typeface="Wingdings" panose="05000000000000000000" pitchFamily="2" charset="2"/>
              <a:buChar char="§"/>
            </a:pPr>
            <a:r>
              <a:rPr lang="en-US" sz="2400" dirty="0"/>
              <a:t>There are not enough works on long-term evaluation.</a:t>
            </a:r>
          </a:p>
          <a:p>
            <a:pPr>
              <a:buFont typeface="Wingdings" panose="05000000000000000000" pitchFamily="2" charset="2"/>
              <a:buChar char="§"/>
            </a:pPr>
            <a:r>
              <a:rPr lang="en-US" sz="2400" dirty="0"/>
              <a:t>Most abstracts do not provide comprehensive information about the specifics that the authors seek to explore.</a:t>
            </a:r>
          </a:p>
        </p:txBody>
      </p:sp>
      <p:sp>
        <p:nvSpPr>
          <p:cNvPr id="4" name="Date Placeholder 3">
            <a:extLst>
              <a:ext uri="{FF2B5EF4-FFF2-40B4-BE49-F238E27FC236}">
                <a16:creationId xmlns:a16="http://schemas.microsoft.com/office/drawing/2014/main" id="{80220E18-32AD-44E7-9924-B965140BAF75}"/>
              </a:ext>
            </a:extLst>
          </p:cNvPr>
          <p:cNvSpPr>
            <a:spLocks noGrp="1"/>
          </p:cNvSpPr>
          <p:nvPr>
            <p:ph type="dt" sz="half" idx="10"/>
          </p:nvPr>
        </p:nvSpPr>
        <p:spPr/>
        <p:txBody>
          <a:bodyPr/>
          <a:lstStyle/>
          <a:p>
            <a:r>
              <a:rPr lang="bg-BG"/>
              <a:t>BdKCSE'2025</a:t>
            </a:r>
            <a:endParaRPr lang="en-US"/>
          </a:p>
        </p:txBody>
      </p:sp>
      <p:sp>
        <p:nvSpPr>
          <p:cNvPr id="5" name="Footer Placeholder 4">
            <a:extLst>
              <a:ext uri="{FF2B5EF4-FFF2-40B4-BE49-F238E27FC236}">
                <a16:creationId xmlns:a16="http://schemas.microsoft.com/office/drawing/2014/main" id="{9F6E1CCA-6952-4314-8980-EC3CA795DB83}"/>
              </a:ext>
            </a:extLst>
          </p:cNvPr>
          <p:cNvSpPr>
            <a:spLocks noGrp="1"/>
          </p:cNvSpPr>
          <p:nvPr>
            <p:ph type="ftr" sz="quarter" idx="11"/>
          </p:nvPr>
        </p:nvSpPr>
        <p:spPr/>
        <p:txBody>
          <a:bodyPr/>
          <a:lstStyle/>
          <a:p>
            <a:r>
              <a:rPr lang="en-US"/>
              <a:t>Evaluation of Video Games for STEM Education </a:t>
            </a:r>
          </a:p>
        </p:txBody>
      </p:sp>
      <p:sp>
        <p:nvSpPr>
          <p:cNvPr id="6" name="Slide Number Placeholder 5">
            <a:extLst>
              <a:ext uri="{FF2B5EF4-FFF2-40B4-BE49-F238E27FC236}">
                <a16:creationId xmlns:a16="http://schemas.microsoft.com/office/drawing/2014/main" id="{723D78AF-B413-4291-A403-CF882880237B}"/>
              </a:ext>
            </a:extLst>
          </p:cNvPr>
          <p:cNvSpPr>
            <a:spLocks noGrp="1"/>
          </p:cNvSpPr>
          <p:nvPr>
            <p:ph type="sldNum" sz="quarter" idx="12"/>
          </p:nvPr>
        </p:nvSpPr>
        <p:spPr/>
        <p:txBody>
          <a:bodyPr/>
          <a:lstStyle/>
          <a:p>
            <a:fld id="{C1FF6DA9-008F-8B48-92A6-B652298478BF}" type="slidenum">
              <a:rPr lang="en-US" smtClean="0"/>
              <a:pPr/>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486024" y="233248"/>
            <a:ext cx="7219951" cy="536801"/>
          </a:xfrm>
        </p:spPr>
        <p:txBody>
          <a:bodyPr anchor="ctr">
            <a:normAutofit fontScale="90000"/>
          </a:bodyPr>
          <a:lstStyle/>
          <a:p>
            <a:pPr algn="ctr"/>
            <a:r>
              <a:rPr lang="en-US" sz="4000" b="1" kern="0" dirty="0">
                <a:solidFill>
                  <a:schemeClr val="accent1">
                    <a:lumMod val="50000"/>
                  </a:schemeClr>
                </a:solidFill>
                <a:latin typeface="Calibri" panose="020F0502020204030204" pitchFamily="34" charset="0"/>
                <a:cs typeface="Calibri" panose="020F0502020204030204" pitchFamily="34" charset="0"/>
              </a:rPr>
              <a:t>CONCLUSIONS</a:t>
            </a:r>
          </a:p>
        </p:txBody>
      </p:sp>
      <p:sp>
        <p:nvSpPr>
          <p:cNvPr id="3" name="Content Placeholder 2"/>
          <p:cNvSpPr>
            <a:spLocks noGrp="1"/>
          </p:cNvSpPr>
          <p:nvPr>
            <p:ph idx="1"/>
          </p:nvPr>
        </p:nvSpPr>
        <p:spPr>
          <a:xfrm>
            <a:off x="642257" y="1039093"/>
            <a:ext cx="10961913" cy="5317258"/>
          </a:xfrm>
        </p:spPr>
        <p:txBody>
          <a:bodyPr anchor="t">
            <a:normAutofit fontScale="77500" lnSpcReduction="20000"/>
          </a:bodyPr>
          <a:lstStyle/>
          <a:p>
            <a:pPr marL="446088" indent="-446088">
              <a:lnSpc>
                <a:spcPct val="120000"/>
              </a:lnSpc>
              <a:spcBef>
                <a:spcPts val="600"/>
              </a:spcBef>
              <a:buFont typeface="Wingdings" panose="05000000000000000000" pitchFamily="2" charset="2"/>
              <a:buChar char="q"/>
            </a:pPr>
            <a:r>
              <a:rPr lang="en-US" sz="3100" dirty="0"/>
              <a:t>The research results demonstrate the advancement of game-based learning and its integration into STEM education</a:t>
            </a:r>
          </a:p>
          <a:p>
            <a:pPr marL="446088" indent="-446088">
              <a:lnSpc>
                <a:spcPct val="120000"/>
              </a:lnSpc>
              <a:spcBef>
                <a:spcPts val="600"/>
              </a:spcBef>
              <a:buFont typeface="Wingdings" panose="05000000000000000000" pitchFamily="2" charset="2"/>
              <a:buChar char="q"/>
            </a:pPr>
            <a:r>
              <a:rPr lang="en-US" sz="3100" dirty="0"/>
              <a:t>Educational video games, gamification, and game-based learning enable students to achieve better results in their STEM studies by engaging in an intriguing technological environment and having fun</a:t>
            </a:r>
          </a:p>
          <a:p>
            <a:pPr marL="446088" indent="-446088">
              <a:lnSpc>
                <a:spcPct val="120000"/>
              </a:lnSpc>
              <a:spcBef>
                <a:spcPts val="600"/>
              </a:spcBef>
              <a:buFont typeface="Wingdings" panose="05000000000000000000" pitchFamily="2" charset="2"/>
              <a:buChar char="q"/>
            </a:pPr>
            <a:r>
              <a:rPr lang="en-US" sz="3100" dirty="0"/>
              <a:t>Educational video games have been steadily applied and have influenced STEM education over the last decade </a:t>
            </a:r>
          </a:p>
          <a:p>
            <a:pPr marL="446088" indent="-446088">
              <a:lnSpc>
                <a:spcPct val="120000"/>
              </a:lnSpc>
              <a:spcBef>
                <a:spcPts val="600"/>
              </a:spcBef>
              <a:buFont typeface="Wingdings" panose="05000000000000000000" pitchFamily="2" charset="2"/>
              <a:buChar char="Ø"/>
            </a:pPr>
            <a:r>
              <a:rPr lang="en-US" sz="3100" b="1" dirty="0">
                <a:solidFill>
                  <a:schemeClr val="accent1">
                    <a:lumMod val="50000"/>
                  </a:schemeClr>
                </a:solidFill>
              </a:rPr>
              <a:t>Further research</a:t>
            </a:r>
            <a:r>
              <a:rPr lang="en-US" sz="3100" dirty="0"/>
              <a:t>:</a:t>
            </a:r>
          </a:p>
          <a:p>
            <a:pPr lvl="1">
              <a:lnSpc>
                <a:spcPct val="120000"/>
              </a:lnSpc>
              <a:spcBef>
                <a:spcPts val="600"/>
              </a:spcBef>
              <a:buFont typeface="Wingdings" panose="05000000000000000000" pitchFamily="2" charset="2"/>
              <a:buChar char="§"/>
            </a:pPr>
            <a:r>
              <a:rPr lang="en-US" sz="2800" dirty="0"/>
              <a:t>Full-text analysis of selected publications </a:t>
            </a:r>
          </a:p>
          <a:p>
            <a:pPr lvl="1">
              <a:lnSpc>
                <a:spcPct val="120000"/>
              </a:lnSpc>
              <a:spcBef>
                <a:spcPts val="600"/>
              </a:spcBef>
              <a:buFont typeface="Wingdings" panose="05000000000000000000" pitchFamily="2" charset="2"/>
              <a:buChar char="§"/>
            </a:pPr>
            <a:r>
              <a:rPr lang="en-US" sz="2800" dirty="0"/>
              <a:t>Profiling the application of STEM video games across different educational stages (primary school, secondary education, and university environments) </a:t>
            </a:r>
          </a:p>
          <a:p>
            <a:pPr lvl="1">
              <a:lnSpc>
                <a:spcPct val="120000"/>
              </a:lnSpc>
              <a:spcBef>
                <a:spcPts val="600"/>
              </a:spcBef>
              <a:buFont typeface="Wingdings" panose="05000000000000000000" pitchFamily="2" charset="2"/>
              <a:buChar char="§"/>
            </a:pPr>
            <a:r>
              <a:rPr lang="en-US" sz="2800" dirty="0"/>
              <a:t>Providing educators with recommendations for implementing appropriate learning and teaching scenarios using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educational </a:t>
            </a:r>
            <a:r>
              <a:rPr lang="en-US" sz="2800" dirty="0"/>
              <a:t>video games</a:t>
            </a:r>
          </a:p>
        </p:txBody>
      </p:sp>
      <p:sp>
        <p:nvSpPr>
          <p:cNvPr id="4" name="Date Placeholder 3">
            <a:extLst>
              <a:ext uri="{FF2B5EF4-FFF2-40B4-BE49-F238E27FC236}">
                <a16:creationId xmlns:a16="http://schemas.microsoft.com/office/drawing/2014/main" id="{3FA0B1B6-19E6-403A-A9F2-538E4E0CD3AE}"/>
              </a:ext>
            </a:extLst>
          </p:cNvPr>
          <p:cNvSpPr>
            <a:spLocks noGrp="1"/>
          </p:cNvSpPr>
          <p:nvPr>
            <p:ph type="dt" sz="half" idx="10"/>
          </p:nvPr>
        </p:nvSpPr>
        <p:spPr/>
        <p:txBody>
          <a:bodyPr/>
          <a:lstStyle/>
          <a:p>
            <a:r>
              <a:rPr lang="bg-BG"/>
              <a:t>BdKCSE'2025</a:t>
            </a:r>
            <a:endParaRPr lang="en-US"/>
          </a:p>
        </p:txBody>
      </p:sp>
      <p:sp>
        <p:nvSpPr>
          <p:cNvPr id="5" name="Footer Placeholder 4">
            <a:extLst>
              <a:ext uri="{FF2B5EF4-FFF2-40B4-BE49-F238E27FC236}">
                <a16:creationId xmlns:a16="http://schemas.microsoft.com/office/drawing/2014/main" id="{8E8ACA00-F0CE-4A4C-BB5B-8443F3F7F442}"/>
              </a:ext>
            </a:extLst>
          </p:cNvPr>
          <p:cNvSpPr>
            <a:spLocks noGrp="1"/>
          </p:cNvSpPr>
          <p:nvPr>
            <p:ph type="ftr" sz="quarter" idx="11"/>
          </p:nvPr>
        </p:nvSpPr>
        <p:spPr/>
        <p:txBody>
          <a:bodyPr/>
          <a:lstStyle/>
          <a:p>
            <a:r>
              <a:rPr lang="en-US"/>
              <a:t>Evaluation of Video Games for STEM Education </a:t>
            </a:r>
          </a:p>
        </p:txBody>
      </p:sp>
      <p:sp>
        <p:nvSpPr>
          <p:cNvPr id="6" name="Slide Number Placeholder 5">
            <a:extLst>
              <a:ext uri="{FF2B5EF4-FFF2-40B4-BE49-F238E27FC236}">
                <a16:creationId xmlns:a16="http://schemas.microsoft.com/office/drawing/2014/main" id="{CC8335E3-BB84-4ED3-8B70-FF8900CD2292}"/>
              </a:ext>
            </a:extLst>
          </p:cNvPr>
          <p:cNvSpPr>
            <a:spLocks noGrp="1"/>
          </p:cNvSpPr>
          <p:nvPr>
            <p:ph type="sldNum" sz="quarter" idx="12"/>
          </p:nvPr>
        </p:nvSpPr>
        <p:spPr/>
        <p:txBody>
          <a:bodyPr/>
          <a:lstStyle/>
          <a:p>
            <a:fld id="{C1FF6DA9-008F-8B48-92A6-B652298478BF}" type="slidenum">
              <a:rPr lang="en-US" smtClean="0"/>
              <a:pPr/>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30990-A67C-48E9-81D9-27C1B03D63D7}"/>
              </a:ext>
            </a:extLst>
          </p:cNvPr>
          <p:cNvSpPr>
            <a:spLocks noGrp="1"/>
          </p:cNvSpPr>
          <p:nvPr>
            <p:ph type="title"/>
          </p:nvPr>
        </p:nvSpPr>
        <p:spPr>
          <a:xfrm>
            <a:off x="2269666" y="250304"/>
            <a:ext cx="7712534" cy="627478"/>
          </a:xfrm>
        </p:spPr>
        <p:txBody>
          <a:bodyPr>
            <a:noAutofit/>
          </a:bodyPr>
          <a:lstStyle/>
          <a:p>
            <a:pPr algn="ctr"/>
            <a:r>
              <a:rPr lang="en-US" sz="3600" b="1" dirty="0">
                <a:solidFill>
                  <a:schemeClr val="accent1">
                    <a:lumMod val="50000"/>
                  </a:schemeClr>
                </a:solidFill>
                <a:latin typeface="Calibri" panose="020F0502020204030204" pitchFamily="34" charset="0"/>
                <a:cs typeface="Calibri" panose="020F0502020204030204" pitchFamily="34" charset="0"/>
              </a:rPr>
              <a:t>Thank You for Your Attention</a:t>
            </a:r>
            <a:r>
              <a:rPr lang="en-US" sz="4000" b="1" dirty="0">
                <a:latin typeface="Calibri" panose="020F0502020204030204" pitchFamily="34" charset="0"/>
                <a:cs typeface="Calibri" panose="020F0502020204030204" pitchFamily="34" charset="0"/>
              </a:rPr>
              <a:t>!</a:t>
            </a:r>
            <a:endParaRPr lang="bg-BG" sz="4000" b="1" dirty="0">
              <a:latin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89A1B3B8-4634-4C67-BE4E-4DB41BCD1F51}"/>
              </a:ext>
            </a:extLst>
          </p:cNvPr>
          <p:cNvSpPr>
            <a:spLocks noGrp="1"/>
          </p:cNvSpPr>
          <p:nvPr>
            <p:ph idx="1"/>
          </p:nvPr>
        </p:nvSpPr>
        <p:spPr>
          <a:xfrm>
            <a:off x="542649" y="1445520"/>
            <a:ext cx="5107037" cy="3354709"/>
          </a:xfrm>
        </p:spPr>
        <p:txBody>
          <a:bodyPr>
            <a:normAutofit/>
          </a:bodyPr>
          <a:lstStyle/>
          <a:p>
            <a:pPr marL="0" indent="0">
              <a:buNone/>
            </a:pPr>
            <a:r>
              <a:rPr lang="en-US" sz="2400" dirty="0"/>
              <a:t>If you have any questions, write to us:</a:t>
            </a:r>
          </a:p>
          <a:p>
            <a:pPr marL="0" indent="0">
              <a:buNone/>
            </a:pPr>
            <a:endParaRPr lang="en-US" sz="2400" dirty="0"/>
          </a:p>
          <a:p>
            <a:pPr indent="144145">
              <a:spcAft>
                <a:spcPts val="1000"/>
              </a:spcAft>
            </a:pPr>
            <a:r>
              <a:rPr lang="en-US" sz="2400" dirty="0">
                <a:ea typeface="SimSun" panose="02010600030101010101" pitchFamily="2" charset="-122"/>
                <a:cs typeface="Arial" panose="020B0604020202020204" pitchFamily="34" charset="0"/>
              </a:rPr>
              <a:t>valentina.terzieva@iict.bas.bg </a:t>
            </a:r>
          </a:p>
          <a:p>
            <a:pPr indent="144145">
              <a:spcAft>
                <a:spcPts val="1000"/>
              </a:spcAft>
            </a:pPr>
            <a:r>
              <a:rPr lang="en-US" sz="2400" dirty="0">
                <a:ea typeface="SimSun" panose="02010600030101010101" pitchFamily="2" charset="-122"/>
                <a:cs typeface="Arial" panose="020B0604020202020204" pitchFamily="34" charset="0"/>
              </a:rPr>
              <a:t>bbontchev@fmi.uni-sofia.bg</a:t>
            </a:r>
          </a:p>
          <a:p>
            <a:pPr indent="144145">
              <a:spcAft>
                <a:spcPts val="1000"/>
              </a:spcAft>
            </a:pPr>
            <a:r>
              <a:rPr lang="en-US" sz="2400" dirty="0">
                <a:ea typeface="SimSun" panose="02010600030101010101" pitchFamily="2" charset="-122"/>
                <a:cs typeface="Arial" panose="020B0604020202020204" pitchFamily="34" charset="0"/>
              </a:rPr>
              <a:t>yavor.dankov@fmi.uni-sofia.bg</a:t>
            </a:r>
          </a:p>
          <a:p>
            <a:pPr indent="144145">
              <a:spcAft>
                <a:spcPts val="1000"/>
              </a:spcAft>
            </a:pPr>
            <a:r>
              <a:rPr lang="en-US" sz="2400" dirty="0">
                <a:ea typeface="SimSun" panose="02010600030101010101" pitchFamily="2" charset="-122"/>
                <a:cs typeface="Arial" panose="020B0604020202020204" pitchFamily="34" charset="0"/>
              </a:rPr>
              <a:t>aldi@fmi.uni-sofia.bg</a:t>
            </a:r>
            <a:endParaRPr lang="bg-BG" sz="2400" dirty="0">
              <a:ea typeface="SimSun" panose="02010600030101010101" pitchFamily="2" charset="-122"/>
              <a:cs typeface="Arial" panose="020B0604020202020204" pitchFamily="34" charset="0"/>
            </a:endParaRPr>
          </a:p>
        </p:txBody>
      </p:sp>
      <p:sp>
        <p:nvSpPr>
          <p:cNvPr id="7" name="Date Placeholder 6">
            <a:extLst>
              <a:ext uri="{FF2B5EF4-FFF2-40B4-BE49-F238E27FC236}">
                <a16:creationId xmlns:a16="http://schemas.microsoft.com/office/drawing/2014/main" id="{40F7EDB1-8FD7-4C7A-A772-439100F9D753}"/>
              </a:ext>
            </a:extLst>
          </p:cNvPr>
          <p:cNvSpPr>
            <a:spLocks noGrp="1"/>
          </p:cNvSpPr>
          <p:nvPr>
            <p:ph type="dt" sz="half" idx="10"/>
          </p:nvPr>
        </p:nvSpPr>
        <p:spPr/>
        <p:txBody>
          <a:bodyPr/>
          <a:lstStyle/>
          <a:p>
            <a:r>
              <a:rPr lang="bg-BG"/>
              <a:t>BdKCSE'2025</a:t>
            </a:r>
            <a:endParaRPr lang="en-US"/>
          </a:p>
        </p:txBody>
      </p:sp>
      <p:sp>
        <p:nvSpPr>
          <p:cNvPr id="8" name="Footer Placeholder 7">
            <a:extLst>
              <a:ext uri="{FF2B5EF4-FFF2-40B4-BE49-F238E27FC236}">
                <a16:creationId xmlns:a16="http://schemas.microsoft.com/office/drawing/2014/main" id="{C54A57B9-E646-46CA-9E86-A0C987516221}"/>
              </a:ext>
            </a:extLst>
          </p:cNvPr>
          <p:cNvSpPr>
            <a:spLocks noGrp="1"/>
          </p:cNvSpPr>
          <p:nvPr>
            <p:ph type="ftr" sz="quarter" idx="11"/>
          </p:nvPr>
        </p:nvSpPr>
        <p:spPr/>
        <p:txBody>
          <a:bodyPr/>
          <a:lstStyle/>
          <a:p>
            <a:r>
              <a:rPr lang="en-US"/>
              <a:t>Evaluation of Video Games for STEM Education </a:t>
            </a:r>
          </a:p>
        </p:txBody>
      </p:sp>
      <p:sp>
        <p:nvSpPr>
          <p:cNvPr id="9" name="Slide Number Placeholder 8">
            <a:extLst>
              <a:ext uri="{FF2B5EF4-FFF2-40B4-BE49-F238E27FC236}">
                <a16:creationId xmlns:a16="http://schemas.microsoft.com/office/drawing/2014/main" id="{3F8F64BA-BA7A-4F0B-9434-EBE3E4C28C4B}"/>
              </a:ext>
            </a:extLst>
          </p:cNvPr>
          <p:cNvSpPr>
            <a:spLocks noGrp="1"/>
          </p:cNvSpPr>
          <p:nvPr>
            <p:ph type="sldNum" sz="quarter" idx="12"/>
          </p:nvPr>
        </p:nvSpPr>
        <p:spPr/>
        <p:txBody>
          <a:bodyPr/>
          <a:lstStyle/>
          <a:p>
            <a:fld id="{C1FF6DA9-008F-8B48-92A6-B652298478BF}" type="slidenum">
              <a:rPr lang="en-US" smtClean="0"/>
              <a:t>22</a:t>
            </a:fld>
            <a:endParaRPr lang="en-US"/>
          </a:p>
        </p:txBody>
      </p:sp>
      <p:pic>
        <p:nvPicPr>
          <p:cNvPr id="4" name="Picture 2" descr="Image result for question mark">
            <a:extLst>
              <a:ext uri="{FF2B5EF4-FFF2-40B4-BE49-F238E27FC236}">
                <a16:creationId xmlns:a16="http://schemas.microsoft.com/office/drawing/2014/main" id="{61087E74-DD1F-46E0-BB30-415CEBF4B8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46763" y="1086439"/>
            <a:ext cx="5107037" cy="35052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ADB21D67-AC74-41D4-9E3C-D5341CC999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3924" y="5210576"/>
            <a:ext cx="1304361" cy="1209729"/>
          </a:xfrm>
          <a:prstGeom prst="rect">
            <a:avLst/>
          </a:prstGeom>
        </p:spPr>
      </p:pic>
      <p:sp>
        <p:nvSpPr>
          <p:cNvPr id="13" name="TextBox 12">
            <a:extLst>
              <a:ext uri="{FF2B5EF4-FFF2-40B4-BE49-F238E27FC236}">
                <a16:creationId xmlns:a16="http://schemas.microsoft.com/office/drawing/2014/main" id="{5A759CD2-4FE9-FB49-46CE-2D92EC383E61}"/>
              </a:ext>
            </a:extLst>
          </p:cNvPr>
          <p:cNvSpPr txBox="1"/>
          <p:nvPr/>
        </p:nvSpPr>
        <p:spPr>
          <a:xfrm>
            <a:off x="2239733" y="5232223"/>
            <a:ext cx="7712534" cy="1200329"/>
          </a:xfrm>
          <a:prstGeom prst="rect">
            <a:avLst/>
          </a:prstGeom>
          <a:noFill/>
        </p:spPr>
        <p:txBody>
          <a:bodyPr wrap="square">
            <a:spAutoFit/>
          </a:bodyPr>
          <a:lstStyle/>
          <a:p>
            <a:pPr algn="just"/>
            <a:r>
              <a:rPr lang="en-US" dirty="0"/>
              <a:t>The research is funded by project “</a:t>
            </a:r>
            <a:r>
              <a:rPr lang="en-US" dirty="0" err="1"/>
              <a:t>MOdeling</a:t>
            </a:r>
            <a:r>
              <a:rPr lang="en-US" dirty="0"/>
              <a:t> </a:t>
            </a:r>
            <a:r>
              <a:rPr lang="en-US" dirty="0" err="1"/>
              <a:t>inTelligent</a:t>
            </a:r>
            <a:r>
              <a:rPr lang="en-US" dirty="0"/>
              <a:t> Instruments for </a:t>
            </a:r>
            <a:r>
              <a:rPr lang="en-US" dirty="0" err="1"/>
              <a:t>adaptIVe</a:t>
            </a:r>
            <a:r>
              <a:rPr lang="en-US" dirty="0"/>
              <a:t> and </a:t>
            </a:r>
            <a:r>
              <a:rPr lang="en-US" dirty="0" err="1"/>
              <a:t>personAlized</a:t>
            </a:r>
            <a:r>
              <a:rPr lang="en-US" dirty="0"/>
              <a:t> </a:t>
            </a:r>
            <a:r>
              <a:rPr lang="en-US" dirty="0" err="1"/>
              <a:t>educaTional</a:t>
            </a:r>
            <a:r>
              <a:rPr lang="en-US" dirty="0"/>
              <a:t> STEM video </a:t>
            </a:r>
            <a:r>
              <a:rPr lang="en-US" dirty="0" err="1"/>
              <a:t>gamEs</a:t>
            </a:r>
            <a:r>
              <a:rPr lang="en-US" dirty="0"/>
              <a:t>” (MOTIVATE), contract No. КП-06-Н85/2 dated 05/12/2024 with the Bulgarian National Science Fund, and by the project </a:t>
            </a:r>
            <a:r>
              <a:rPr lang="en-US" dirty="0" err="1"/>
              <a:t>UNITe</a:t>
            </a:r>
            <a:r>
              <a:rPr lang="en-US" dirty="0"/>
              <a:t> BG16RFPR002-1.014-0004 funded by PRIDST.</a:t>
            </a:r>
            <a:endParaRPr lang="bg-BG" dirty="0"/>
          </a:p>
        </p:txBody>
      </p:sp>
      <p:pic>
        <p:nvPicPr>
          <p:cNvPr id="10" name="Picture 9">
            <a:extLst>
              <a:ext uri="{FF2B5EF4-FFF2-40B4-BE49-F238E27FC236}">
                <a16:creationId xmlns:a16="http://schemas.microsoft.com/office/drawing/2014/main" id="{E20C3C2B-81A1-501F-22E9-A808F9C0EC82}"/>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619" t="3081" r="5092" b="6152"/>
          <a:stretch/>
        </p:blipFill>
        <p:spPr>
          <a:xfrm>
            <a:off x="10293715" y="5210576"/>
            <a:ext cx="1229980" cy="1204576"/>
          </a:xfrm>
          <a:prstGeom prst="rect">
            <a:avLst/>
          </a:prstGeom>
        </p:spPr>
      </p:pic>
    </p:spTree>
    <p:extLst>
      <p:ext uri="{BB962C8B-B14F-4D97-AF65-F5344CB8AC3E}">
        <p14:creationId xmlns:p14="http://schemas.microsoft.com/office/powerpoint/2010/main" val="3295794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circle(in)">
                                      <p:cBhvr>
                                        <p:cTn id="12"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emplate>Office 2013 - 2022 Theme</Template>
  <TotalTime>1538</TotalTime>
  <Words>2212</Words>
  <Application>Microsoft Office PowerPoint</Application>
  <PresentationFormat>Widescreen</PresentationFormat>
  <Paragraphs>262</Paragraphs>
  <Slides>22</Slides>
  <Notes>10</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22</vt:i4>
      </vt:variant>
    </vt:vector>
  </HeadingPairs>
  <TitlesOfParts>
    <vt:vector size="31" baseType="lpstr">
      <vt:lpstr>Aptos</vt:lpstr>
      <vt:lpstr>Arial</vt:lpstr>
      <vt:lpstr>Calibri</vt:lpstr>
      <vt:lpstr>Calibri Light</vt:lpstr>
      <vt:lpstr>Courier New</vt:lpstr>
      <vt:lpstr>Times New Roman</vt:lpstr>
      <vt:lpstr>Wingdings</vt:lpstr>
      <vt:lpstr>Office Theme</vt:lpstr>
      <vt:lpstr>Picture</vt:lpstr>
      <vt:lpstr>Evaluation of Video Games for STEM Education </vt:lpstr>
      <vt:lpstr>INTRODUCTION </vt:lpstr>
      <vt:lpstr>Educational video games in STEM education  </vt:lpstr>
      <vt:lpstr>Popular genres of educational video games in STEM education 1/2 </vt:lpstr>
      <vt:lpstr>Popular genres of educational video games in STEM education 2/2 </vt:lpstr>
      <vt:lpstr>Game qualities and metrics - Validations </vt:lpstr>
      <vt:lpstr>Game qualities and metrics – Assessment </vt:lpstr>
      <vt:lpstr>METHODOLOGY 1/2</vt:lpstr>
      <vt:lpstr>METHODOLOGY 2/2</vt:lpstr>
      <vt:lpstr>RESULTS </vt:lpstr>
      <vt:lpstr>Data preparation and processing </vt:lpstr>
      <vt:lpstr>Publications: general statistics 1/2</vt:lpstr>
      <vt:lpstr>PowerPoint Presentation</vt:lpstr>
      <vt:lpstr>Publications: specific statistics 1/3</vt:lpstr>
      <vt:lpstr>Genres and types educational digital games</vt:lpstr>
      <vt:lpstr>Publications: specific statistics 3/3</vt:lpstr>
      <vt:lpstr>DISCUSSION 1/3 </vt:lpstr>
      <vt:lpstr>DISCUSSION 2/3 </vt:lpstr>
      <vt:lpstr>DISCUSSION 3/3 </vt:lpstr>
      <vt:lpstr>Limitations of the study</vt:lpstr>
      <vt:lpstr>CONCLUSIONS</vt:lpstr>
      <vt:lpstr>Thank You for Your Attention!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Key Characteristics of Educational Video Games for STEM Education  — A Literature Review</dc:title>
  <dc:subject/>
  <dc:creator>Borislav</dc:creator>
  <cp:keywords/>
  <dc:description>generated using python-pptx</dc:description>
  <cp:lastModifiedBy>Boyan</cp:lastModifiedBy>
  <cp:revision>138</cp:revision>
  <dcterms:created xsi:type="dcterms:W3CDTF">2013-01-27T09:14:16Z</dcterms:created>
  <dcterms:modified xsi:type="dcterms:W3CDTF">2025-11-05T20:54:02Z</dcterms:modified>
  <cp:category/>
</cp:coreProperties>
</file>