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57" r:id="rId3"/>
    <p:sldId id="261" r:id="rId4"/>
    <p:sldId id="280" r:id="rId5"/>
    <p:sldId id="277" r:id="rId6"/>
    <p:sldId id="278" r:id="rId7"/>
    <p:sldId id="279" r:id="rId8"/>
    <p:sldId id="281" r:id="rId9"/>
    <p:sldId id="282" r:id="rId10"/>
    <p:sldId id="284" r:id="rId11"/>
    <p:sldId id="283" r:id="rId12"/>
    <p:sldId id="285" r:id="rId13"/>
    <p:sldId id="286" r:id="rId14"/>
    <p:sldId id="287" r:id="rId15"/>
    <p:sldId id="271"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92" d="100"/>
          <a:sy n="92" d="100"/>
        </p:scale>
        <p:origin x="8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3A44EC-54D3-4E7C-A6EE-50BA034FE47A}"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7465FE27-3263-4FF2-9F5F-77273F164D7B}">
      <dgm:prSet phldrT="[Text]" custT="1"/>
      <dgm:spPr>
        <a:solidFill>
          <a:schemeClr val="accent1">
            <a:lumMod val="50000"/>
          </a:schemeClr>
        </a:solidFill>
        <a:ln>
          <a:solidFill>
            <a:schemeClr val="tx2">
              <a:lumMod val="75000"/>
            </a:schemeClr>
          </a:solidFill>
        </a:ln>
      </dgm:spPr>
      <dgm:t>
        <a:bodyPr/>
        <a:lstStyle/>
        <a:p>
          <a:r>
            <a:rPr lang="en-US" sz="2800" b="1" dirty="0">
              <a:solidFill>
                <a:schemeClr val="accent4">
                  <a:lumMod val="40000"/>
                  <a:lumOff val="60000"/>
                </a:schemeClr>
              </a:solidFill>
            </a:rPr>
            <a:t>Player-Centric Digital Games</a:t>
          </a:r>
        </a:p>
      </dgm:t>
    </dgm:pt>
    <dgm:pt modelId="{FE5CF257-ACB9-40B9-876E-ACAC7884372A}" type="parTrans" cxnId="{C10EBEF1-0198-4ED5-925B-67847B64F433}">
      <dgm:prSet/>
      <dgm:spPr/>
      <dgm:t>
        <a:bodyPr/>
        <a:lstStyle/>
        <a:p>
          <a:endParaRPr lang="en-US" sz="2000"/>
        </a:p>
      </dgm:t>
    </dgm:pt>
    <dgm:pt modelId="{015543AA-3CF4-4062-8B1D-4D20A37707AB}" type="sibTrans" cxnId="{C10EBEF1-0198-4ED5-925B-67847B64F433}">
      <dgm:prSet/>
      <dgm:spPr/>
      <dgm:t>
        <a:bodyPr/>
        <a:lstStyle/>
        <a:p>
          <a:endParaRPr lang="en-US" sz="2000"/>
        </a:p>
      </dgm:t>
    </dgm:pt>
    <dgm:pt modelId="{D7B0CC2D-9698-4174-8AAB-0CFEF8E80F88}">
      <dgm:prSet/>
      <dgm:spPr/>
      <dgm:t>
        <a:bodyPr/>
        <a:lstStyle/>
        <a:p>
          <a:endParaRPr lang="en-US" sz="2000"/>
        </a:p>
      </dgm:t>
    </dgm:pt>
    <dgm:pt modelId="{BB886E08-B6C5-4929-B33C-7656A0B62278}" type="parTrans" cxnId="{2F65F2A4-E15E-4DC6-A423-904D92D011C1}">
      <dgm:prSet/>
      <dgm:spPr/>
      <dgm:t>
        <a:bodyPr/>
        <a:lstStyle/>
        <a:p>
          <a:endParaRPr lang="en-US" sz="2000"/>
        </a:p>
      </dgm:t>
    </dgm:pt>
    <dgm:pt modelId="{2201E95A-C849-4B13-911A-6A202F530F0A}" type="sibTrans" cxnId="{2F65F2A4-E15E-4DC6-A423-904D92D011C1}">
      <dgm:prSet/>
      <dgm:spPr/>
      <dgm:t>
        <a:bodyPr/>
        <a:lstStyle/>
        <a:p>
          <a:endParaRPr lang="en-US" sz="2000"/>
        </a:p>
      </dgm:t>
    </dgm:pt>
    <dgm:pt modelId="{ED389BE2-9778-43E5-9149-E1AC535902E1}">
      <dgm:prSet phldrT="[Text]" custT="1"/>
      <dgm:spPr>
        <a:solidFill>
          <a:schemeClr val="accent1">
            <a:lumMod val="50000"/>
          </a:schemeClr>
        </a:solidFill>
      </dgm:spPr>
      <dgm:t>
        <a:bodyPr/>
        <a:lstStyle/>
        <a:p>
          <a:r>
            <a:rPr lang="en-US" sz="2000" dirty="0">
              <a:solidFill>
                <a:schemeClr val="accent4">
                  <a:lumMod val="20000"/>
                  <a:lumOff val="80000"/>
                </a:schemeClr>
              </a:solidFill>
            </a:rPr>
            <a:t>Game design, generation, and analysis tools</a:t>
          </a:r>
        </a:p>
      </dgm:t>
    </dgm:pt>
    <dgm:pt modelId="{226F0013-CDF3-41C2-B4C8-F9BA0BE1D07A}" type="parTrans" cxnId="{DA122F3A-5E9C-44C3-93CA-59C54D322D83}">
      <dgm:prSet/>
      <dgm:spPr/>
      <dgm:t>
        <a:bodyPr/>
        <a:lstStyle/>
        <a:p>
          <a:endParaRPr lang="en-US" sz="2000"/>
        </a:p>
      </dgm:t>
    </dgm:pt>
    <dgm:pt modelId="{F68144D6-21FD-4E4C-B2A3-6648F35BDE04}" type="sibTrans" cxnId="{DA122F3A-5E9C-44C3-93CA-59C54D322D83}">
      <dgm:prSet/>
      <dgm:spPr/>
      <dgm:t>
        <a:bodyPr/>
        <a:lstStyle/>
        <a:p>
          <a:endParaRPr lang="en-US" sz="2000"/>
        </a:p>
      </dgm:t>
    </dgm:pt>
    <dgm:pt modelId="{84410739-D25F-42D0-A058-8F37B6EAEA09}">
      <dgm:prSet custT="1"/>
      <dgm:spPr>
        <a:solidFill>
          <a:schemeClr val="accent1">
            <a:lumMod val="50000"/>
          </a:schemeClr>
        </a:solidFill>
        <a:ln>
          <a:solidFill>
            <a:schemeClr val="tx2">
              <a:lumMod val="75000"/>
            </a:schemeClr>
          </a:solidFill>
        </a:ln>
      </dgm:spPr>
      <dgm:t>
        <a:bodyPr/>
        <a:lstStyle/>
        <a:p>
          <a:r>
            <a:rPr lang="en-US" sz="1800" dirty="0">
              <a:solidFill>
                <a:schemeClr val="accent4">
                  <a:lumMod val="20000"/>
                  <a:lumOff val="80000"/>
                </a:schemeClr>
              </a:solidFill>
            </a:rPr>
            <a:t>Recognizing and tracking player emotions &amp; outcomes</a:t>
          </a:r>
        </a:p>
      </dgm:t>
    </dgm:pt>
    <dgm:pt modelId="{EE83AB6B-0A02-4B4B-ACBB-DCD706C6C583}" type="parTrans" cxnId="{F68BEF63-E4B8-43E4-A648-8FFBB2EAEA9D}">
      <dgm:prSet/>
      <dgm:spPr/>
      <dgm:t>
        <a:bodyPr/>
        <a:lstStyle/>
        <a:p>
          <a:endParaRPr lang="en-US" sz="2000"/>
        </a:p>
      </dgm:t>
    </dgm:pt>
    <dgm:pt modelId="{2DA07857-A5FB-40A6-AEA8-523000514B8F}" type="sibTrans" cxnId="{F68BEF63-E4B8-43E4-A648-8FFBB2EAEA9D}">
      <dgm:prSet/>
      <dgm:spPr/>
      <dgm:t>
        <a:bodyPr/>
        <a:lstStyle/>
        <a:p>
          <a:endParaRPr lang="en-US" sz="2000"/>
        </a:p>
      </dgm:t>
    </dgm:pt>
    <dgm:pt modelId="{8BD388B0-A313-4D3D-8948-F65435F8C0AE}">
      <dgm:prSet custT="1"/>
      <dgm:spPr>
        <a:solidFill>
          <a:srgbClr val="C00000"/>
        </a:solidFill>
      </dgm:spPr>
      <dgm:t>
        <a:bodyPr/>
        <a:lstStyle/>
        <a:p>
          <a:r>
            <a:rPr lang="en-US" sz="2000" dirty="0">
              <a:solidFill>
                <a:schemeClr val="accent4">
                  <a:lumMod val="20000"/>
                  <a:lumOff val="80000"/>
                </a:schemeClr>
              </a:solidFill>
            </a:rPr>
            <a:t>NPC with adaptive behavior</a:t>
          </a:r>
        </a:p>
      </dgm:t>
    </dgm:pt>
    <dgm:pt modelId="{E6605F32-ED89-4E00-BA48-E32141B49EE3}" type="parTrans" cxnId="{3948C60C-100A-48DB-BF12-5AE4BB9D07E3}">
      <dgm:prSet/>
      <dgm:spPr/>
      <dgm:t>
        <a:bodyPr/>
        <a:lstStyle/>
        <a:p>
          <a:endParaRPr lang="en-US" sz="2000"/>
        </a:p>
      </dgm:t>
    </dgm:pt>
    <dgm:pt modelId="{3964FABE-F44B-421F-92C3-AC8F48E38A1D}" type="sibTrans" cxnId="{3948C60C-100A-48DB-BF12-5AE4BB9D07E3}">
      <dgm:prSet/>
      <dgm:spPr/>
      <dgm:t>
        <a:bodyPr/>
        <a:lstStyle/>
        <a:p>
          <a:endParaRPr lang="en-US" sz="2000"/>
        </a:p>
      </dgm:t>
    </dgm:pt>
    <dgm:pt modelId="{A7DD5E0B-7314-4C1F-B121-147268F1A6F7}">
      <dgm:prSet custT="1"/>
      <dgm:spPr>
        <a:solidFill>
          <a:schemeClr val="accent1">
            <a:lumMod val="50000"/>
          </a:schemeClr>
        </a:solidFill>
        <a:ln>
          <a:solidFill>
            <a:schemeClr val="tx2">
              <a:lumMod val="75000"/>
            </a:schemeClr>
          </a:solidFill>
        </a:ln>
      </dgm:spPr>
      <dgm:t>
        <a:bodyPr/>
        <a:lstStyle/>
        <a:p>
          <a:r>
            <a:rPr lang="en-US" sz="1800" dirty="0">
              <a:solidFill>
                <a:schemeClr val="accent4">
                  <a:lumMod val="20000"/>
                  <a:lumOff val="80000"/>
                </a:schemeClr>
              </a:solidFill>
            </a:rPr>
            <a:t>Personalized content based on the player model</a:t>
          </a:r>
        </a:p>
      </dgm:t>
    </dgm:pt>
    <dgm:pt modelId="{2329C955-669C-4163-ACAB-3DCD3753D8A5}" type="parTrans" cxnId="{22AAB931-2AAD-4D23-AD28-D2E372EBC52D}">
      <dgm:prSet/>
      <dgm:spPr/>
      <dgm:t>
        <a:bodyPr/>
        <a:lstStyle/>
        <a:p>
          <a:endParaRPr lang="en-US" sz="2000"/>
        </a:p>
      </dgm:t>
    </dgm:pt>
    <dgm:pt modelId="{ABED8E4D-DA92-4D21-AAF8-8533F8E66553}" type="sibTrans" cxnId="{22AAB931-2AAD-4D23-AD28-D2E372EBC52D}">
      <dgm:prSet/>
      <dgm:spPr/>
      <dgm:t>
        <a:bodyPr/>
        <a:lstStyle/>
        <a:p>
          <a:endParaRPr lang="en-US" sz="2000"/>
        </a:p>
      </dgm:t>
    </dgm:pt>
    <dgm:pt modelId="{F514C455-619F-40F4-B8B0-F001690839A4}">
      <dgm:prSet custT="1"/>
      <dgm:spPr>
        <a:solidFill>
          <a:schemeClr val="accent1">
            <a:lumMod val="50000"/>
          </a:schemeClr>
        </a:solidFill>
        <a:ln>
          <a:solidFill>
            <a:schemeClr val="tx2">
              <a:lumMod val="75000"/>
            </a:schemeClr>
          </a:solidFill>
        </a:ln>
      </dgm:spPr>
      <dgm:t>
        <a:bodyPr/>
        <a:lstStyle/>
        <a:p>
          <a:r>
            <a:rPr lang="en-US" sz="2000" dirty="0">
              <a:solidFill>
                <a:schemeClr val="accent4">
                  <a:lumMod val="20000"/>
                  <a:lumOff val="80000"/>
                </a:schemeClr>
              </a:solidFill>
            </a:rPr>
            <a:t>AI for creating customized games</a:t>
          </a:r>
        </a:p>
      </dgm:t>
    </dgm:pt>
    <dgm:pt modelId="{F32876BA-AEFF-4722-A5C5-65B3D6F4A033}" type="parTrans" cxnId="{6FDC7547-1631-4C20-B781-23A8CA8EF88C}">
      <dgm:prSet/>
      <dgm:spPr/>
      <dgm:t>
        <a:bodyPr/>
        <a:lstStyle/>
        <a:p>
          <a:endParaRPr lang="en-US" sz="2000"/>
        </a:p>
      </dgm:t>
    </dgm:pt>
    <dgm:pt modelId="{AF54DF66-F102-4C35-A1FF-805404D86F76}" type="sibTrans" cxnId="{6FDC7547-1631-4C20-B781-23A8CA8EF88C}">
      <dgm:prSet/>
      <dgm:spPr/>
      <dgm:t>
        <a:bodyPr/>
        <a:lstStyle/>
        <a:p>
          <a:endParaRPr lang="en-US" sz="2000"/>
        </a:p>
      </dgm:t>
    </dgm:pt>
    <dgm:pt modelId="{2F43D0E9-F1A8-4436-B57A-A66FD198D68D}">
      <dgm:prSet custT="1"/>
      <dgm:spPr>
        <a:solidFill>
          <a:schemeClr val="accent1">
            <a:lumMod val="50000"/>
          </a:schemeClr>
        </a:solidFill>
        <a:ln>
          <a:solidFill>
            <a:schemeClr val="tx2">
              <a:lumMod val="75000"/>
            </a:schemeClr>
          </a:solidFill>
        </a:ln>
      </dgm:spPr>
      <dgm:t>
        <a:bodyPr/>
        <a:lstStyle/>
        <a:p>
          <a:r>
            <a:rPr lang="en-US" sz="1800" dirty="0">
              <a:solidFill>
                <a:schemeClr val="accent4">
                  <a:lumMod val="20000"/>
                  <a:lumOff val="80000"/>
                </a:schemeClr>
              </a:solidFill>
            </a:rPr>
            <a:t>Dynamic difficulty adjustment</a:t>
          </a:r>
        </a:p>
      </dgm:t>
    </dgm:pt>
    <dgm:pt modelId="{392BE9A4-A9DE-40DF-AFEA-86C8FB0E9298}" type="parTrans" cxnId="{CDFCF734-EC8D-484D-9293-949D67C5503A}">
      <dgm:prSet/>
      <dgm:spPr/>
      <dgm:t>
        <a:bodyPr/>
        <a:lstStyle/>
        <a:p>
          <a:endParaRPr lang="en-US" sz="2000"/>
        </a:p>
      </dgm:t>
    </dgm:pt>
    <dgm:pt modelId="{A3E55B26-8736-42FB-A819-4C72A3284ED7}" type="sibTrans" cxnId="{CDFCF734-EC8D-484D-9293-949D67C5503A}">
      <dgm:prSet/>
      <dgm:spPr/>
      <dgm:t>
        <a:bodyPr/>
        <a:lstStyle/>
        <a:p>
          <a:endParaRPr lang="en-US" sz="2000"/>
        </a:p>
      </dgm:t>
    </dgm:pt>
    <dgm:pt modelId="{C18B2DF3-65B0-455D-B81A-721AA42CB8B8}" type="pres">
      <dgm:prSet presAssocID="{363A44EC-54D3-4E7C-A6EE-50BA034FE47A}" presName="Name0" presStyleCnt="0">
        <dgm:presLayoutVars>
          <dgm:chMax val="1"/>
          <dgm:chPref val="1"/>
          <dgm:dir/>
          <dgm:animOne val="branch"/>
          <dgm:animLvl val="lvl"/>
        </dgm:presLayoutVars>
      </dgm:prSet>
      <dgm:spPr/>
    </dgm:pt>
    <dgm:pt modelId="{90EC7A82-3F4E-4D3F-939D-5D4E96F797A3}" type="pres">
      <dgm:prSet presAssocID="{7465FE27-3263-4FF2-9F5F-77273F164D7B}" presName="Parent" presStyleLbl="node0" presStyleIdx="0" presStyleCnt="1" custScaleX="106078" custScaleY="104834">
        <dgm:presLayoutVars>
          <dgm:chMax val="6"/>
          <dgm:chPref val="6"/>
        </dgm:presLayoutVars>
      </dgm:prSet>
      <dgm:spPr/>
    </dgm:pt>
    <dgm:pt modelId="{FA3DEECA-70D6-4D25-82BE-D105C1A28123}" type="pres">
      <dgm:prSet presAssocID="{ED389BE2-9778-43E5-9149-E1AC535902E1}" presName="Accent1" presStyleCnt="0"/>
      <dgm:spPr/>
    </dgm:pt>
    <dgm:pt modelId="{D2A4F600-496A-41FA-8367-400C0AE81298}" type="pres">
      <dgm:prSet presAssocID="{ED389BE2-9778-43E5-9149-E1AC535902E1}" presName="Accent" presStyleLbl="bgShp" presStyleIdx="0" presStyleCnt="6"/>
      <dgm:spPr/>
    </dgm:pt>
    <dgm:pt modelId="{5550229D-DBD9-454E-84C9-5D0DEE27F2A7}" type="pres">
      <dgm:prSet presAssocID="{ED389BE2-9778-43E5-9149-E1AC535902E1}" presName="Child1" presStyleLbl="node1" presStyleIdx="0" presStyleCnt="6" custScaleX="106078" custScaleY="104834">
        <dgm:presLayoutVars>
          <dgm:chMax val="0"/>
          <dgm:chPref val="0"/>
          <dgm:bulletEnabled val="1"/>
        </dgm:presLayoutVars>
      </dgm:prSet>
      <dgm:spPr/>
    </dgm:pt>
    <dgm:pt modelId="{F38E1452-4971-40E5-9D6D-AA6E5F6E6591}" type="pres">
      <dgm:prSet presAssocID="{84410739-D25F-42D0-A058-8F37B6EAEA09}" presName="Accent2" presStyleCnt="0"/>
      <dgm:spPr/>
    </dgm:pt>
    <dgm:pt modelId="{225FA2E0-FFF3-4DB8-9A12-F19C3683ADF9}" type="pres">
      <dgm:prSet presAssocID="{84410739-D25F-42D0-A058-8F37B6EAEA09}" presName="Accent" presStyleLbl="bgShp" presStyleIdx="1" presStyleCnt="6"/>
      <dgm:spPr/>
    </dgm:pt>
    <dgm:pt modelId="{B8DFE378-E234-4588-A928-35581D545723}" type="pres">
      <dgm:prSet presAssocID="{84410739-D25F-42D0-A058-8F37B6EAEA09}" presName="Child2" presStyleLbl="node1" presStyleIdx="1" presStyleCnt="6">
        <dgm:presLayoutVars>
          <dgm:chMax val="0"/>
          <dgm:chPref val="0"/>
          <dgm:bulletEnabled val="1"/>
        </dgm:presLayoutVars>
      </dgm:prSet>
      <dgm:spPr/>
    </dgm:pt>
    <dgm:pt modelId="{4983ABC1-C915-44FB-B4B0-BD9316193D9C}" type="pres">
      <dgm:prSet presAssocID="{8BD388B0-A313-4D3D-8948-F65435F8C0AE}" presName="Accent3" presStyleCnt="0"/>
      <dgm:spPr/>
    </dgm:pt>
    <dgm:pt modelId="{BF178122-900B-4D83-9C25-6CA089D38D00}" type="pres">
      <dgm:prSet presAssocID="{8BD388B0-A313-4D3D-8948-F65435F8C0AE}" presName="Accent" presStyleLbl="bgShp" presStyleIdx="2" presStyleCnt="6"/>
      <dgm:spPr/>
    </dgm:pt>
    <dgm:pt modelId="{D8EC0DD3-EF19-44A2-987B-C23D6C99F61B}" type="pres">
      <dgm:prSet presAssocID="{8BD388B0-A313-4D3D-8948-F65435F8C0AE}" presName="Child3" presStyleLbl="node1" presStyleIdx="2" presStyleCnt="6">
        <dgm:presLayoutVars>
          <dgm:chMax val="0"/>
          <dgm:chPref val="0"/>
          <dgm:bulletEnabled val="1"/>
        </dgm:presLayoutVars>
      </dgm:prSet>
      <dgm:spPr/>
    </dgm:pt>
    <dgm:pt modelId="{9BEFF787-D792-4221-A9EC-9346EE2B4987}" type="pres">
      <dgm:prSet presAssocID="{2F43D0E9-F1A8-4436-B57A-A66FD198D68D}" presName="Accent4" presStyleCnt="0"/>
      <dgm:spPr/>
    </dgm:pt>
    <dgm:pt modelId="{FAFEA679-CF3A-4965-8D4E-A019D4BADB55}" type="pres">
      <dgm:prSet presAssocID="{2F43D0E9-F1A8-4436-B57A-A66FD198D68D}" presName="Accent" presStyleLbl="bgShp" presStyleIdx="3" presStyleCnt="6"/>
      <dgm:spPr/>
    </dgm:pt>
    <dgm:pt modelId="{4CD5BBB6-BEF7-4A1C-9871-A8D8FFA56BE0}" type="pres">
      <dgm:prSet presAssocID="{2F43D0E9-F1A8-4436-B57A-A66FD198D68D}" presName="Child4" presStyleLbl="node1" presStyleIdx="3" presStyleCnt="6">
        <dgm:presLayoutVars>
          <dgm:chMax val="0"/>
          <dgm:chPref val="0"/>
          <dgm:bulletEnabled val="1"/>
        </dgm:presLayoutVars>
      </dgm:prSet>
      <dgm:spPr/>
    </dgm:pt>
    <dgm:pt modelId="{1FBF1441-9A09-49EE-8A8B-E0CDCF340E87}" type="pres">
      <dgm:prSet presAssocID="{A7DD5E0B-7314-4C1F-B121-147268F1A6F7}" presName="Accent5" presStyleCnt="0"/>
      <dgm:spPr/>
    </dgm:pt>
    <dgm:pt modelId="{BB782EF0-1657-4626-8E43-0068D5470911}" type="pres">
      <dgm:prSet presAssocID="{A7DD5E0B-7314-4C1F-B121-147268F1A6F7}" presName="Accent" presStyleLbl="bgShp" presStyleIdx="4" presStyleCnt="6"/>
      <dgm:spPr/>
    </dgm:pt>
    <dgm:pt modelId="{4FC0B268-6B64-4D76-B9CB-C4038E20B905}" type="pres">
      <dgm:prSet presAssocID="{A7DD5E0B-7314-4C1F-B121-147268F1A6F7}" presName="Child5" presStyleLbl="node1" presStyleIdx="4" presStyleCnt="6">
        <dgm:presLayoutVars>
          <dgm:chMax val="0"/>
          <dgm:chPref val="0"/>
          <dgm:bulletEnabled val="1"/>
        </dgm:presLayoutVars>
      </dgm:prSet>
      <dgm:spPr/>
    </dgm:pt>
    <dgm:pt modelId="{E109103C-C264-40E1-9457-905E1960920F}" type="pres">
      <dgm:prSet presAssocID="{F514C455-619F-40F4-B8B0-F001690839A4}" presName="Accent6" presStyleCnt="0"/>
      <dgm:spPr/>
    </dgm:pt>
    <dgm:pt modelId="{D2B3064A-5915-4DBF-A55E-A006B208031A}" type="pres">
      <dgm:prSet presAssocID="{F514C455-619F-40F4-B8B0-F001690839A4}" presName="Accent" presStyleLbl="bgShp" presStyleIdx="5" presStyleCnt="6"/>
      <dgm:spPr/>
    </dgm:pt>
    <dgm:pt modelId="{2633375E-6C6F-4C8C-806A-F07D6AF95DF8}" type="pres">
      <dgm:prSet presAssocID="{F514C455-619F-40F4-B8B0-F001690839A4}" presName="Child6" presStyleLbl="node1" presStyleIdx="5" presStyleCnt="6">
        <dgm:presLayoutVars>
          <dgm:chMax val="0"/>
          <dgm:chPref val="0"/>
          <dgm:bulletEnabled val="1"/>
        </dgm:presLayoutVars>
      </dgm:prSet>
      <dgm:spPr/>
    </dgm:pt>
  </dgm:ptLst>
  <dgm:cxnLst>
    <dgm:cxn modelId="{36616F09-22BB-4F7C-B42A-087335A2493D}" type="presOf" srcId="{84410739-D25F-42D0-A058-8F37B6EAEA09}" destId="{B8DFE378-E234-4588-A928-35581D545723}" srcOrd="0" destOrd="0" presId="urn:microsoft.com/office/officeart/2011/layout/HexagonRadial"/>
    <dgm:cxn modelId="{3948C60C-100A-48DB-BF12-5AE4BB9D07E3}" srcId="{7465FE27-3263-4FF2-9F5F-77273F164D7B}" destId="{8BD388B0-A313-4D3D-8948-F65435F8C0AE}" srcOrd="2" destOrd="0" parTransId="{E6605F32-ED89-4E00-BA48-E32141B49EE3}" sibTransId="{3964FABE-F44B-421F-92C3-AC8F48E38A1D}"/>
    <dgm:cxn modelId="{22AAB931-2AAD-4D23-AD28-D2E372EBC52D}" srcId="{7465FE27-3263-4FF2-9F5F-77273F164D7B}" destId="{A7DD5E0B-7314-4C1F-B121-147268F1A6F7}" srcOrd="4" destOrd="0" parTransId="{2329C955-669C-4163-ACAB-3DCD3753D8A5}" sibTransId="{ABED8E4D-DA92-4D21-AAF8-8533F8E66553}"/>
    <dgm:cxn modelId="{CDFCF734-EC8D-484D-9293-949D67C5503A}" srcId="{7465FE27-3263-4FF2-9F5F-77273F164D7B}" destId="{2F43D0E9-F1A8-4436-B57A-A66FD198D68D}" srcOrd="3" destOrd="0" parTransId="{392BE9A4-A9DE-40DF-AFEA-86C8FB0E9298}" sibTransId="{A3E55B26-8736-42FB-A819-4C72A3284ED7}"/>
    <dgm:cxn modelId="{DA122F3A-5E9C-44C3-93CA-59C54D322D83}" srcId="{7465FE27-3263-4FF2-9F5F-77273F164D7B}" destId="{ED389BE2-9778-43E5-9149-E1AC535902E1}" srcOrd="0" destOrd="0" parTransId="{226F0013-CDF3-41C2-B4C8-F9BA0BE1D07A}" sibTransId="{F68144D6-21FD-4E4C-B2A3-6648F35BDE04}"/>
    <dgm:cxn modelId="{F68BEF63-E4B8-43E4-A648-8FFBB2EAEA9D}" srcId="{7465FE27-3263-4FF2-9F5F-77273F164D7B}" destId="{84410739-D25F-42D0-A058-8F37B6EAEA09}" srcOrd="1" destOrd="0" parTransId="{EE83AB6B-0A02-4B4B-ACBB-DCD706C6C583}" sibTransId="{2DA07857-A5FB-40A6-AEA8-523000514B8F}"/>
    <dgm:cxn modelId="{6FDC7547-1631-4C20-B781-23A8CA8EF88C}" srcId="{7465FE27-3263-4FF2-9F5F-77273F164D7B}" destId="{F514C455-619F-40F4-B8B0-F001690839A4}" srcOrd="5" destOrd="0" parTransId="{F32876BA-AEFF-4722-A5C5-65B3D6F4A033}" sibTransId="{AF54DF66-F102-4C35-A1FF-805404D86F76}"/>
    <dgm:cxn modelId="{4AC4624C-50EF-4292-B9F2-DA7585C064D0}" type="presOf" srcId="{F514C455-619F-40F4-B8B0-F001690839A4}" destId="{2633375E-6C6F-4C8C-806A-F07D6AF95DF8}" srcOrd="0" destOrd="0" presId="urn:microsoft.com/office/officeart/2011/layout/HexagonRadial"/>
    <dgm:cxn modelId="{18418D6D-3D2C-40AA-A945-97E79CE2A388}" type="presOf" srcId="{ED389BE2-9778-43E5-9149-E1AC535902E1}" destId="{5550229D-DBD9-454E-84C9-5D0DEE27F2A7}" srcOrd="0" destOrd="0" presId="urn:microsoft.com/office/officeart/2011/layout/HexagonRadial"/>
    <dgm:cxn modelId="{A679D576-B5C1-41C4-A108-8E08106CE3C9}" type="presOf" srcId="{A7DD5E0B-7314-4C1F-B121-147268F1A6F7}" destId="{4FC0B268-6B64-4D76-B9CB-C4038E20B905}" srcOrd="0" destOrd="0" presId="urn:microsoft.com/office/officeart/2011/layout/HexagonRadial"/>
    <dgm:cxn modelId="{C555F792-2D6E-4EEB-84F7-DEAE7D36145C}" type="presOf" srcId="{8BD388B0-A313-4D3D-8948-F65435F8C0AE}" destId="{D8EC0DD3-EF19-44A2-987B-C23D6C99F61B}" srcOrd="0" destOrd="0" presId="urn:microsoft.com/office/officeart/2011/layout/HexagonRadial"/>
    <dgm:cxn modelId="{8D829B96-145D-450E-B454-A38A9FCCF95B}" type="presOf" srcId="{2F43D0E9-F1A8-4436-B57A-A66FD198D68D}" destId="{4CD5BBB6-BEF7-4A1C-9871-A8D8FFA56BE0}" srcOrd="0" destOrd="0" presId="urn:microsoft.com/office/officeart/2011/layout/HexagonRadial"/>
    <dgm:cxn modelId="{2F65F2A4-E15E-4DC6-A423-904D92D011C1}" srcId="{363A44EC-54D3-4E7C-A6EE-50BA034FE47A}" destId="{D7B0CC2D-9698-4174-8AAB-0CFEF8E80F88}" srcOrd="1" destOrd="0" parTransId="{BB886E08-B6C5-4929-B33C-7656A0B62278}" sibTransId="{2201E95A-C849-4B13-911A-6A202F530F0A}"/>
    <dgm:cxn modelId="{C9BA29D7-EC28-444C-A311-63B2491FE171}" type="presOf" srcId="{7465FE27-3263-4FF2-9F5F-77273F164D7B}" destId="{90EC7A82-3F4E-4D3F-939D-5D4E96F797A3}" srcOrd="0" destOrd="0" presId="urn:microsoft.com/office/officeart/2011/layout/HexagonRadial"/>
    <dgm:cxn modelId="{50E511DC-E7A1-4737-84AF-2B5A3907726D}" type="presOf" srcId="{363A44EC-54D3-4E7C-A6EE-50BA034FE47A}" destId="{C18B2DF3-65B0-455D-B81A-721AA42CB8B8}" srcOrd="0" destOrd="0" presId="urn:microsoft.com/office/officeart/2011/layout/HexagonRadial"/>
    <dgm:cxn modelId="{C10EBEF1-0198-4ED5-925B-67847B64F433}" srcId="{363A44EC-54D3-4E7C-A6EE-50BA034FE47A}" destId="{7465FE27-3263-4FF2-9F5F-77273F164D7B}" srcOrd="0" destOrd="0" parTransId="{FE5CF257-ACB9-40B9-876E-ACAC7884372A}" sibTransId="{015543AA-3CF4-4062-8B1D-4D20A37707AB}"/>
    <dgm:cxn modelId="{177E1C3B-D23E-48FB-B7A9-FE104D1EE3BD}" type="presParOf" srcId="{C18B2DF3-65B0-455D-B81A-721AA42CB8B8}" destId="{90EC7A82-3F4E-4D3F-939D-5D4E96F797A3}" srcOrd="0" destOrd="0" presId="urn:microsoft.com/office/officeart/2011/layout/HexagonRadial"/>
    <dgm:cxn modelId="{88090EA8-823D-4E7F-BB35-0DAF0C484D3E}" type="presParOf" srcId="{C18B2DF3-65B0-455D-B81A-721AA42CB8B8}" destId="{FA3DEECA-70D6-4D25-82BE-D105C1A28123}" srcOrd="1" destOrd="0" presId="urn:microsoft.com/office/officeart/2011/layout/HexagonRadial"/>
    <dgm:cxn modelId="{235EA6E1-7ACA-4211-B95E-21255C1A6ADE}" type="presParOf" srcId="{FA3DEECA-70D6-4D25-82BE-D105C1A28123}" destId="{D2A4F600-496A-41FA-8367-400C0AE81298}" srcOrd="0" destOrd="0" presId="urn:microsoft.com/office/officeart/2011/layout/HexagonRadial"/>
    <dgm:cxn modelId="{F27B2362-756B-4B88-92E6-EF03B8B764A2}" type="presParOf" srcId="{C18B2DF3-65B0-455D-B81A-721AA42CB8B8}" destId="{5550229D-DBD9-454E-84C9-5D0DEE27F2A7}" srcOrd="2" destOrd="0" presId="urn:microsoft.com/office/officeart/2011/layout/HexagonRadial"/>
    <dgm:cxn modelId="{FBFF2F32-2EFD-4253-8B0D-E4CFD12FB2A2}" type="presParOf" srcId="{C18B2DF3-65B0-455D-B81A-721AA42CB8B8}" destId="{F38E1452-4971-40E5-9D6D-AA6E5F6E6591}" srcOrd="3" destOrd="0" presId="urn:microsoft.com/office/officeart/2011/layout/HexagonRadial"/>
    <dgm:cxn modelId="{B007F8C0-6B9D-4BC6-9A82-3A34D50CFC11}" type="presParOf" srcId="{F38E1452-4971-40E5-9D6D-AA6E5F6E6591}" destId="{225FA2E0-FFF3-4DB8-9A12-F19C3683ADF9}" srcOrd="0" destOrd="0" presId="urn:microsoft.com/office/officeart/2011/layout/HexagonRadial"/>
    <dgm:cxn modelId="{04657167-5C4D-4BCE-95B1-CD26C6B318F6}" type="presParOf" srcId="{C18B2DF3-65B0-455D-B81A-721AA42CB8B8}" destId="{B8DFE378-E234-4588-A928-35581D545723}" srcOrd="4" destOrd="0" presId="urn:microsoft.com/office/officeart/2011/layout/HexagonRadial"/>
    <dgm:cxn modelId="{B539EA86-58B1-4472-9E9A-822AF300560A}" type="presParOf" srcId="{C18B2DF3-65B0-455D-B81A-721AA42CB8B8}" destId="{4983ABC1-C915-44FB-B4B0-BD9316193D9C}" srcOrd="5" destOrd="0" presId="urn:microsoft.com/office/officeart/2011/layout/HexagonRadial"/>
    <dgm:cxn modelId="{3311C712-5442-40AC-A08A-D2BA367F2F5B}" type="presParOf" srcId="{4983ABC1-C915-44FB-B4B0-BD9316193D9C}" destId="{BF178122-900B-4D83-9C25-6CA089D38D00}" srcOrd="0" destOrd="0" presId="urn:microsoft.com/office/officeart/2011/layout/HexagonRadial"/>
    <dgm:cxn modelId="{C8A30BFD-C5AE-40B5-9987-EB01A508F66E}" type="presParOf" srcId="{C18B2DF3-65B0-455D-B81A-721AA42CB8B8}" destId="{D8EC0DD3-EF19-44A2-987B-C23D6C99F61B}" srcOrd="6" destOrd="0" presId="urn:microsoft.com/office/officeart/2011/layout/HexagonRadial"/>
    <dgm:cxn modelId="{60E3766C-DF10-4685-91A4-BC1A5EF156C9}" type="presParOf" srcId="{C18B2DF3-65B0-455D-B81A-721AA42CB8B8}" destId="{9BEFF787-D792-4221-A9EC-9346EE2B4987}" srcOrd="7" destOrd="0" presId="urn:microsoft.com/office/officeart/2011/layout/HexagonRadial"/>
    <dgm:cxn modelId="{F4ECF580-13E0-4C52-83DF-EDFA18831AC8}" type="presParOf" srcId="{9BEFF787-D792-4221-A9EC-9346EE2B4987}" destId="{FAFEA679-CF3A-4965-8D4E-A019D4BADB55}" srcOrd="0" destOrd="0" presId="urn:microsoft.com/office/officeart/2011/layout/HexagonRadial"/>
    <dgm:cxn modelId="{43D70204-C9F3-442B-856F-DB20DA92A65B}" type="presParOf" srcId="{C18B2DF3-65B0-455D-B81A-721AA42CB8B8}" destId="{4CD5BBB6-BEF7-4A1C-9871-A8D8FFA56BE0}" srcOrd="8" destOrd="0" presId="urn:microsoft.com/office/officeart/2011/layout/HexagonRadial"/>
    <dgm:cxn modelId="{9F3AA8A6-1E7E-4327-8A9F-1B01D1BCEC1F}" type="presParOf" srcId="{C18B2DF3-65B0-455D-B81A-721AA42CB8B8}" destId="{1FBF1441-9A09-49EE-8A8B-E0CDCF340E87}" srcOrd="9" destOrd="0" presId="urn:microsoft.com/office/officeart/2011/layout/HexagonRadial"/>
    <dgm:cxn modelId="{2584B228-9931-4E97-8A44-ADBEA195E141}" type="presParOf" srcId="{1FBF1441-9A09-49EE-8A8B-E0CDCF340E87}" destId="{BB782EF0-1657-4626-8E43-0068D5470911}" srcOrd="0" destOrd="0" presId="urn:microsoft.com/office/officeart/2011/layout/HexagonRadial"/>
    <dgm:cxn modelId="{3601AF6F-1364-4CDC-99F4-739BB9797850}" type="presParOf" srcId="{C18B2DF3-65B0-455D-B81A-721AA42CB8B8}" destId="{4FC0B268-6B64-4D76-B9CB-C4038E20B905}" srcOrd="10" destOrd="0" presId="urn:microsoft.com/office/officeart/2011/layout/HexagonRadial"/>
    <dgm:cxn modelId="{BBCCD913-A891-48AD-9BF2-8AC139FC3662}" type="presParOf" srcId="{C18B2DF3-65B0-455D-B81A-721AA42CB8B8}" destId="{E109103C-C264-40E1-9457-905E1960920F}" srcOrd="11" destOrd="0" presId="urn:microsoft.com/office/officeart/2011/layout/HexagonRadial"/>
    <dgm:cxn modelId="{B6EAD79D-AAE4-46DB-B9DE-60D8A5ABB75A}" type="presParOf" srcId="{E109103C-C264-40E1-9457-905E1960920F}" destId="{D2B3064A-5915-4DBF-A55E-A006B208031A}" srcOrd="0" destOrd="0" presId="urn:microsoft.com/office/officeart/2011/layout/HexagonRadial"/>
    <dgm:cxn modelId="{C9A61CF4-00AC-4ADA-B2F6-CD6EB6378905}" type="presParOf" srcId="{C18B2DF3-65B0-455D-B81A-721AA42CB8B8}" destId="{2633375E-6C6F-4C8C-806A-F07D6AF95DF8}"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C7A82-3F4E-4D3F-939D-5D4E96F797A3}">
      <dsp:nvSpPr>
        <dsp:cNvPr id="0" name=""/>
        <dsp:cNvSpPr/>
      </dsp:nvSpPr>
      <dsp:spPr>
        <a:xfrm>
          <a:off x="3489802" y="1736620"/>
          <a:ext cx="2378793" cy="2033620"/>
        </a:xfrm>
        <a:prstGeom prst="hexagon">
          <a:avLst>
            <a:gd name="adj" fmla="val 28570"/>
            <a:gd name="vf" fmla="val 115470"/>
          </a:avLst>
        </a:prstGeom>
        <a:solidFill>
          <a:schemeClr val="accent1">
            <a:lumMod val="50000"/>
          </a:schemeClr>
        </a:solidFill>
        <a:ln w="12700" cap="flat" cmpd="sng" algn="ctr">
          <a:solidFill>
            <a:schemeClr val="tx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accent4">
                  <a:lumMod val="40000"/>
                  <a:lumOff val="60000"/>
                </a:schemeClr>
              </a:solidFill>
            </a:rPr>
            <a:t>Player-Centric Digital Games</a:t>
          </a:r>
        </a:p>
      </dsp:txBody>
      <dsp:txXfrm>
        <a:off x="3881703" y="2071655"/>
        <a:ext cx="1594991" cy="1363550"/>
      </dsp:txXfrm>
    </dsp:sp>
    <dsp:sp modelId="{225FA2E0-FFF3-4DB8-9A12-F19C3683ADF9}">
      <dsp:nvSpPr>
        <dsp:cNvPr id="0" name=""/>
        <dsp:cNvSpPr/>
      </dsp:nvSpPr>
      <dsp:spPr>
        <a:xfrm>
          <a:off x="4962183" y="855420"/>
          <a:ext cx="846086" cy="72901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50229D-DBD9-454E-84C9-5D0DEE27F2A7}">
      <dsp:nvSpPr>
        <dsp:cNvPr id="0" name=""/>
        <dsp:cNvSpPr/>
      </dsp:nvSpPr>
      <dsp:spPr>
        <a:xfrm>
          <a:off x="3708669" y="-19213"/>
          <a:ext cx="1949404" cy="1666685"/>
        </a:xfrm>
        <a:prstGeom prst="hexagon">
          <a:avLst>
            <a:gd name="adj" fmla="val 28570"/>
            <a:gd name="vf" fmla="val 115470"/>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accent4">
                  <a:lumMod val="20000"/>
                  <a:lumOff val="80000"/>
                </a:schemeClr>
              </a:solidFill>
            </a:rPr>
            <a:t>Game design, generation, and analysis tools</a:t>
          </a:r>
        </a:p>
      </dsp:txBody>
      <dsp:txXfrm>
        <a:off x="4029843" y="255382"/>
        <a:ext cx="1307056" cy="1117495"/>
      </dsp:txXfrm>
    </dsp:sp>
    <dsp:sp modelId="{BF178122-900B-4D83-9C25-6CA089D38D00}">
      <dsp:nvSpPr>
        <dsp:cNvPr id="0" name=""/>
        <dsp:cNvSpPr/>
      </dsp:nvSpPr>
      <dsp:spPr>
        <a:xfrm>
          <a:off x="5949632" y="2218291"/>
          <a:ext cx="846086" cy="72901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DFE378-E234-4588-A928-35581D545723}">
      <dsp:nvSpPr>
        <dsp:cNvPr id="0" name=""/>
        <dsp:cNvSpPr/>
      </dsp:nvSpPr>
      <dsp:spPr>
        <a:xfrm>
          <a:off x="5449909" y="997067"/>
          <a:ext cx="1837708" cy="1589833"/>
        </a:xfrm>
        <a:prstGeom prst="hexagon">
          <a:avLst>
            <a:gd name="adj" fmla="val 28570"/>
            <a:gd name="vf" fmla="val 115470"/>
          </a:avLst>
        </a:prstGeom>
        <a:solidFill>
          <a:schemeClr val="accent1">
            <a:lumMod val="50000"/>
          </a:schemeClr>
        </a:solidFill>
        <a:ln w="12700" cap="flat" cmpd="sng" algn="ctr">
          <a:solidFill>
            <a:schemeClr val="tx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4">
                  <a:lumMod val="20000"/>
                  <a:lumOff val="80000"/>
                </a:schemeClr>
              </a:solidFill>
            </a:rPr>
            <a:t>Recognizing and tracking player emotions &amp; outcomes</a:t>
          </a:r>
        </a:p>
      </dsp:txBody>
      <dsp:txXfrm>
        <a:off x="5754456" y="1260536"/>
        <a:ext cx="1228614" cy="1062895"/>
      </dsp:txXfrm>
    </dsp:sp>
    <dsp:sp modelId="{FAFEA679-CF3A-4965-8D4E-A019D4BADB55}">
      <dsp:nvSpPr>
        <dsp:cNvPr id="0" name=""/>
        <dsp:cNvSpPr/>
      </dsp:nvSpPr>
      <dsp:spPr>
        <a:xfrm>
          <a:off x="5263686" y="3756716"/>
          <a:ext cx="846086" cy="72901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EC0DD3-EF19-44A2-987B-C23D6C99F61B}">
      <dsp:nvSpPr>
        <dsp:cNvPr id="0" name=""/>
        <dsp:cNvSpPr/>
      </dsp:nvSpPr>
      <dsp:spPr>
        <a:xfrm>
          <a:off x="5449909" y="2919414"/>
          <a:ext cx="1837708" cy="1589833"/>
        </a:xfrm>
        <a:prstGeom prst="hexagon">
          <a:avLst>
            <a:gd name="adj" fmla="val 28570"/>
            <a:gd name="vf" fmla="val 11547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accent4">
                  <a:lumMod val="20000"/>
                  <a:lumOff val="80000"/>
                </a:schemeClr>
              </a:solidFill>
            </a:rPr>
            <a:t>NPC with adaptive behavior</a:t>
          </a:r>
        </a:p>
      </dsp:txBody>
      <dsp:txXfrm>
        <a:off x="5754456" y="3182883"/>
        <a:ext cx="1228614" cy="1062895"/>
      </dsp:txXfrm>
    </dsp:sp>
    <dsp:sp modelId="{BB782EF0-1657-4626-8E43-0068D5470911}">
      <dsp:nvSpPr>
        <dsp:cNvPr id="0" name=""/>
        <dsp:cNvSpPr/>
      </dsp:nvSpPr>
      <dsp:spPr>
        <a:xfrm>
          <a:off x="3562124" y="3916410"/>
          <a:ext cx="846086" cy="72901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D5BBB6-BEF7-4A1C-9871-A8D8FFA56BE0}">
      <dsp:nvSpPr>
        <dsp:cNvPr id="0" name=""/>
        <dsp:cNvSpPr/>
      </dsp:nvSpPr>
      <dsp:spPr>
        <a:xfrm>
          <a:off x="3764517" y="3898362"/>
          <a:ext cx="1837708" cy="1589833"/>
        </a:xfrm>
        <a:prstGeom prst="hexagon">
          <a:avLst>
            <a:gd name="adj" fmla="val 28570"/>
            <a:gd name="vf" fmla="val 115470"/>
          </a:avLst>
        </a:prstGeom>
        <a:solidFill>
          <a:schemeClr val="accent1">
            <a:lumMod val="50000"/>
          </a:schemeClr>
        </a:solidFill>
        <a:ln w="12700" cap="flat" cmpd="sng" algn="ctr">
          <a:solidFill>
            <a:schemeClr val="tx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4">
                  <a:lumMod val="20000"/>
                  <a:lumOff val="80000"/>
                </a:schemeClr>
              </a:solidFill>
            </a:rPr>
            <a:t>Dynamic difficulty adjustment</a:t>
          </a:r>
        </a:p>
      </dsp:txBody>
      <dsp:txXfrm>
        <a:off x="4069064" y="4161831"/>
        <a:ext cx="1228614" cy="1062895"/>
      </dsp:txXfrm>
    </dsp:sp>
    <dsp:sp modelId="{D2B3064A-5915-4DBF-A55E-A006B208031A}">
      <dsp:nvSpPr>
        <dsp:cNvPr id="0" name=""/>
        <dsp:cNvSpPr/>
      </dsp:nvSpPr>
      <dsp:spPr>
        <a:xfrm>
          <a:off x="2558505" y="2554086"/>
          <a:ext cx="846086" cy="729015"/>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C0B268-6B64-4D76-B9CB-C4038E20B905}">
      <dsp:nvSpPr>
        <dsp:cNvPr id="0" name=""/>
        <dsp:cNvSpPr/>
      </dsp:nvSpPr>
      <dsp:spPr>
        <a:xfrm>
          <a:off x="2071301" y="2920508"/>
          <a:ext cx="1837708" cy="1589833"/>
        </a:xfrm>
        <a:prstGeom prst="hexagon">
          <a:avLst>
            <a:gd name="adj" fmla="val 28570"/>
            <a:gd name="vf" fmla="val 115470"/>
          </a:avLst>
        </a:prstGeom>
        <a:solidFill>
          <a:schemeClr val="accent1">
            <a:lumMod val="50000"/>
          </a:schemeClr>
        </a:solidFill>
        <a:ln w="12700" cap="flat" cmpd="sng" algn="ctr">
          <a:solidFill>
            <a:schemeClr val="tx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4">
                  <a:lumMod val="20000"/>
                  <a:lumOff val="80000"/>
                </a:schemeClr>
              </a:solidFill>
            </a:rPr>
            <a:t>Personalized content based on the player model</a:t>
          </a:r>
        </a:p>
      </dsp:txBody>
      <dsp:txXfrm>
        <a:off x="2375848" y="3183977"/>
        <a:ext cx="1228614" cy="1062895"/>
      </dsp:txXfrm>
    </dsp:sp>
    <dsp:sp modelId="{2633375E-6C6F-4C8C-806A-F07D6AF95DF8}">
      <dsp:nvSpPr>
        <dsp:cNvPr id="0" name=""/>
        <dsp:cNvSpPr/>
      </dsp:nvSpPr>
      <dsp:spPr>
        <a:xfrm>
          <a:off x="2071301" y="994879"/>
          <a:ext cx="1837708" cy="1589833"/>
        </a:xfrm>
        <a:prstGeom prst="hexagon">
          <a:avLst>
            <a:gd name="adj" fmla="val 28570"/>
            <a:gd name="vf" fmla="val 115470"/>
          </a:avLst>
        </a:prstGeom>
        <a:solidFill>
          <a:schemeClr val="accent1">
            <a:lumMod val="50000"/>
          </a:schemeClr>
        </a:solidFill>
        <a:ln w="12700" cap="flat" cmpd="sng" algn="ctr">
          <a:solidFill>
            <a:schemeClr val="tx2">
              <a:lumMod val="7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accent4">
                  <a:lumMod val="20000"/>
                  <a:lumOff val="80000"/>
                </a:schemeClr>
              </a:solidFill>
            </a:rPr>
            <a:t>AI for creating customized games</a:t>
          </a:r>
        </a:p>
      </dsp:txBody>
      <dsp:txXfrm>
        <a:off x="2375848" y="1258348"/>
        <a:ext cx="1228614" cy="1062895"/>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B3DE2-F3D1-409F-83E0-29479852194F}" type="datetimeFigureOut">
              <a:rPr lang="en-US" smtClean="0"/>
              <a:t>6/17/2025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4BE4CD-AE67-467E-ACCD-8F95697FFEFA}" type="slidenum">
              <a:rPr lang="en-US" smtClean="0"/>
              <a:t>‹#›</a:t>
            </a:fld>
            <a:endParaRPr lang="en-US"/>
          </a:p>
        </p:txBody>
      </p:sp>
    </p:spTree>
    <p:extLst>
      <p:ext uri="{BB962C8B-B14F-4D97-AF65-F5344CB8AC3E}">
        <p14:creationId xmlns:p14="http://schemas.microsoft.com/office/powerpoint/2010/main" val="229933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1">
                <a:solidFill>
                  <a:schemeClr val="accent5">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524000" y="3602037"/>
            <a:ext cx="9144000" cy="2602819"/>
          </a:xfrm>
        </p:spPr>
        <p:txBody>
          <a:bodyPr/>
          <a:lstStyle>
            <a:lvl1pPr marL="0" indent="0" algn="ctr">
              <a:buNone/>
              <a:defRPr sz="2400">
                <a:solidFill>
                  <a:schemeClr val="accent5">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a:t>Event name, year</a:t>
            </a:r>
          </a:p>
        </p:txBody>
      </p:sp>
      <p:sp>
        <p:nvSpPr>
          <p:cNvPr id="6" name="Slide Number Placeholder 5"/>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2803662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34786" y="185511"/>
            <a:ext cx="11209564" cy="810532"/>
          </a:xfrm>
        </p:spPr>
        <p:txBody>
          <a:bodyPr/>
          <a:lstStyle>
            <a:lvl1pPr>
              <a:defRPr b="1">
                <a:solidFill>
                  <a:schemeClr val="accent5">
                    <a:lumMod val="75000"/>
                  </a:schemeClr>
                </a:solidFill>
              </a:defRPr>
            </a:lvl1pPr>
          </a:lstStyle>
          <a:p>
            <a:r>
              <a:rPr lang="en-US" dirty="0"/>
              <a:t>Click to edit Master title style</a:t>
            </a:r>
          </a:p>
        </p:txBody>
      </p:sp>
      <p:sp>
        <p:nvSpPr>
          <p:cNvPr id="3" name="Content Placeholder 2"/>
          <p:cNvSpPr>
            <a:spLocks noGrp="1"/>
          </p:cNvSpPr>
          <p:nvPr>
            <p:ph idx="1"/>
          </p:nvPr>
        </p:nvSpPr>
        <p:spPr>
          <a:xfrm>
            <a:off x="775607" y="1118506"/>
            <a:ext cx="11152414" cy="533944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92875"/>
            <a:ext cx="1047750" cy="365125"/>
          </a:xfrm>
        </p:spPr>
        <p:txBody>
          <a:bodyPr/>
          <a:lstStyle>
            <a:lvl1pPr>
              <a:defRPr sz="1400">
                <a:solidFill>
                  <a:schemeClr val="tx1"/>
                </a:solidFill>
              </a:defRPr>
            </a:lvl1pPr>
          </a:lstStyle>
          <a:p>
            <a:r>
              <a:rPr lang="en-US" dirty="0"/>
              <a:t>18/06/2025</a:t>
            </a:r>
          </a:p>
        </p:txBody>
      </p:sp>
      <p:sp>
        <p:nvSpPr>
          <p:cNvPr id="5" name="Footer Placeholder 4"/>
          <p:cNvSpPr>
            <a:spLocks noGrp="1"/>
          </p:cNvSpPr>
          <p:nvPr>
            <p:ph type="ftr" sz="quarter" idx="11"/>
          </p:nvPr>
        </p:nvSpPr>
        <p:spPr>
          <a:xfrm>
            <a:off x="2147207" y="6492875"/>
            <a:ext cx="8278586" cy="365125"/>
          </a:xfrm>
        </p:spPr>
        <p:txBody>
          <a:bodyPr/>
          <a:lstStyle>
            <a:lvl1pPr>
              <a:defRPr sz="1400">
                <a:solidFill>
                  <a:schemeClr val="tx1"/>
                </a:solidFill>
              </a:defRPr>
            </a:lvl1pPr>
          </a:lstStyle>
          <a:p>
            <a:r>
              <a:rPr lang="en-US" dirty="0"/>
              <a:t>Towards Educational Video Games with Enhanced Virtual Players</a:t>
            </a:r>
          </a:p>
        </p:txBody>
      </p:sp>
      <p:sp>
        <p:nvSpPr>
          <p:cNvPr id="6" name="Slide Number Placeholder 5"/>
          <p:cNvSpPr>
            <a:spLocks noGrp="1"/>
          </p:cNvSpPr>
          <p:nvPr>
            <p:ph type="sldNum" sz="quarter" idx="12"/>
          </p:nvPr>
        </p:nvSpPr>
        <p:spPr>
          <a:xfrm>
            <a:off x="10678886" y="6492875"/>
            <a:ext cx="1238250" cy="365125"/>
          </a:xfrm>
        </p:spPr>
        <p:txBody>
          <a:bodyPr/>
          <a:lstStyle>
            <a:lvl1pPr>
              <a:defRPr sz="1400">
                <a:solidFill>
                  <a:schemeClr val="tx1"/>
                </a:solidFill>
              </a:defRPr>
            </a:lvl1pPr>
          </a:lstStyle>
          <a:p>
            <a:fld id="{75BBA16B-9D76-409E-A4DB-EDE76CDC68EC}" type="slidenum">
              <a:rPr lang="en-US" smtClean="0"/>
              <a:pPr/>
              <a:t>‹#›</a:t>
            </a:fld>
            <a:endParaRPr lang="en-US"/>
          </a:p>
        </p:txBody>
      </p:sp>
      <p:sp>
        <p:nvSpPr>
          <p:cNvPr id="7" name="Rounded Rectangle 6"/>
          <p:cNvSpPr/>
          <p:nvPr userDrawn="1"/>
        </p:nvSpPr>
        <p:spPr>
          <a:xfrm>
            <a:off x="767443" y="922565"/>
            <a:ext cx="11340192" cy="57150"/>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917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a:t>Event name, year</a:t>
            </a:r>
          </a:p>
        </p:txBody>
      </p:sp>
      <p:sp>
        <p:nvSpPr>
          <p:cNvPr id="6" name="Slide Number Placeholder 5"/>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3082469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dirty="0"/>
              <a:t>18/06/2025</a:t>
            </a:r>
          </a:p>
        </p:txBody>
      </p:sp>
      <p:sp>
        <p:nvSpPr>
          <p:cNvPr id="6" name="Footer Placeholder 5"/>
          <p:cNvSpPr>
            <a:spLocks noGrp="1"/>
          </p:cNvSpPr>
          <p:nvPr>
            <p:ph type="ftr" sz="quarter" idx="11"/>
          </p:nvPr>
        </p:nvSpPr>
        <p:spPr/>
        <p:txBody>
          <a:bodyPr/>
          <a:lstStyle/>
          <a:p>
            <a:r>
              <a:rPr lang="en-US"/>
              <a:t>Event name, year</a:t>
            </a:r>
          </a:p>
        </p:txBody>
      </p:sp>
      <p:sp>
        <p:nvSpPr>
          <p:cNvPr id="7" name="Slide Number Placeholder 6"/>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2902865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dirty="0"/>
              <a:t>18/06/2025</a:t>
            </a:r>
          </a:p>
        </p:txBody>
      </p:sp>
      <p:sp>
        <p:nvSpPr>
          <p:cNvPr id="8" name="Footer Placeholder 7"/>
          <p:cNvSpPr>
            <a:spLocks noGrp="1"/>
          </p:cNvSpPr>
          <p:nvPr>
            <p:ph type="ftr" sz="quarter" idx="11"/>
          </p:nvPr>
        </p:nvSpPr>
        <p:spPr/>
        <p:txBody>
          <a:bodyPr/>
          <a:lstStyle/>
          <a:p>
            <a:r>
              <a:rPr lang="en-US"/>
              <a:t>Event name, year</a:t>
            </a:r>
          </a:p>
        </p:txBody>
      </p:sp>
      <p:sp>
        <p:nvSpPr>
          <p:cNvPr id="9" name="Slide Number Placeholder 8"/>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745069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dirty="0"/>
              <a:t>18/06/2025</a:t>
            </a:r>
          </a:p>
        </p:txBody>
      </p:sp>
      <p:sp>
        <p:nvSpPr>
          <p:cNvPr id="4" name="Footer Placeholder 3"/>
          <p:cNvSpPr>
            <a:spLocks noGrp="1"/>
          </p:cNvSpPr>
          <p:nvPr>
            <p:ph type="ftr" sz="quarter" idx="11"/>
          </p:nvPr>
        </p:nvSpPr>
        <p:spPr/>
        <p:txBody>
          <a:bodyPr/>
          <a:lstStyle/>
          <a:p>
            <a:r>
              <a:rPr lang="en-US"/>
              <a:t>Event name, year</a:t>
            </a:r>
          </a:p>
        </p:txBody>
      </p:sp>
      <p:sp>
        <p:nvSpPr>
          <p:cNvPr id="5" name="Slide Number Placeholder 4"/>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1125182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18/06/2025</a:t>
            </a:r>
          </a:p>
        </p:txBody>
      </p:sp>
      <p:sp>
        <p:nvSpPr>
          <p:cNvPr id="3" name="Footer Placeholder 2"/>
          <p:cNvSpPr>
            <a:spLocks noGrp="1"/>
          </p:cNvSpPr>
          <p:nvPr>
            <p:ph type="ftr" sz="quarter" idx="11"/>
          </p:nvPr>
        </p:nvSpPr>
        <p:spPr/>
        <p:txBody>
          <a:bodyPr/>
          <a:lstStyle/>
          <a:p>
            <a:r>
              <a:rPr lang="en-US"/>
              <a:t>Event name, year</a:t>
            </a:r>
          </a:p>
        </p:txBody>
      </p:sp>
      <p:sp>
        <p:nvSpPr>
          <p:cNvPr id="4" name="Slide Number Placeholder 3"/>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1387475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US" dirty="0"/>
              <a:t>18/06/2025</a:t>
            </a:r>
          </a:p>
        </p:txBody>
      </p:sp>
      <p:sp>
        <p:nvSpPr>
          <p:cNvPr id="6" name="Footer Placeholder 5"/>
          <p:cNvSpPr>
            <a:spLocks noGrp="1"/>
          </p:cNvSpPr>
          <p:nvPr>
            <p:ph type="ftr" sz="quarter" idx="11"/>
          </p:nvPr>
        </p:nvSpPr>
        <p:spPr/>
        <p:txBody>
          <a:bodyPr/>
          <a:lstStyle/>
          <a:p>
            <a:r>
              <a:rPr lang="en-US"/>
              <a:t>Event name, year</a:t>
            </a:r>
          </a:p>
        </p:txBody>
      </p:sp>
      <p:sp>
        <p:nvSpPr>
          <p:cNvPr id="7" name="Slide Number Placeholder 6"/>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48330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US" dirty="0"/>
              <a:t>18/06/2025</a:t>
            </a:r>
          </a:p>
        </p:txBody>
      </p:sp>
      <p:sp>
        <p:nvSpPr>
          <p:cNvPr id="6" name="Footer Placeholder 5"/>
          <p:cNvSpPr>
            <a:spLocks noGrp="1"/>
          </p:cNvSpPr>
          <p:nvPr>
            <p:ph type="ftr" sz="quarter" idx="11"/>
          </p:nvPr>
        </p:nvSpPr>
        <p:spPr/>
        <p:txBody>
          <a:bodyPr/>
          <a:lstStyle/>
          <a:p>
            <a:r>
              <a:rPr lang="en-US"/>
              <a:t>Event name, year</a:t>
            </a:r>
          </a:p>
        </p:txBody>
      </p:sp>
      <p:sp>
        <p:nvSpPr>
          <p:cNvPr id="7" name="Slide Number Placeholder 6"/>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3371855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a:t>Event name, year</a:t>
            </a:r>
          </a:p>
        </p:txBody>
      </p:sp>
      <p:sp>
        <p:nvSpPr>
          <p:cNvPr id="6" name="Slide Number Placeholder 5"/>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2035594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a:t>Event name, year</a:t>
            </a:r>
          </a:p>
        </p:txBody>
      </p:sp>
      <p:sp>
        <p:nvSpPr>
          <p:cNvPr id="6" name="Slide Number Placeholder 5"/>
          <p:cNvSpPr>
            <a:spLocks noGrp="1"/>
          </p:cNvSpPr>
          <p:nvPr>
            <p:ph type="sldNum" sz="quarter" idx="12"/>
          </p:nvPr>
        </p:nvSpPr>
        <p:spPr/>
        <p:txBody>
          <a:bodyPr/>
          <a:lstStyle/>
          <a:p>
            <a:fld id="{75BBA16B-9D76-409E-A4DB-EDE76CDC68EC}" type="slidenum">
              <a:rPr lang="en-US" smtClean="0"/>
              <a:t>‹#›</a:t>
            </a:fld>
            <a:endParaRPr lang="en-US"/>
          </a:p>
        </p:txBody>
      </p:sp>
    </p:spTree>
    <p:extLst>
      <p:ext uri="{BB962C8B-B14F-4D97-AF65-F5344CB8AC3E}">
        <p14:creationId xmlns:p14="http://schemas.microsoft.com/office/powerpoint/2010/main" val="2119946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18/06/2025</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Event name, year</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BA16B-9D76-409E-A4DB-EDE76CDC68EC}" type="slidenum">
              <a:rPr lang="en-US" smtClean="0"/>
              <a:t>‹#›</a:t>
            </a:fld>
            <a:endParaRPr lang="en-US"/>
          </a:p>
        </p:txBody>
      </p:sp>
    </p:spTree>
    <p:extLst>
      <p:ext uri="{BB962C8B-B14F-4D97-AF65-F5344CB8AC3E}">
        <p14:creationId xmlns:p14="http://schemas.microsoft.com/office/powerpoint/2010/main" val="3779015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ddessy@gmai.com" TargetMode="External"/><Relationship Id="rId2" Type="http://schemas.openxmlformats.org/officeDocument/2006/relationships/hyperlink" Target="mailto:bbontchev@fmi.uni-sofia.bg"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hyperlink" Target="mailto:valentina.terzieva@iict.bas.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003222"/>
          </a:xfrm>
        </p:spPr>
        <p:txBody>
          <a:bodyPr>
            <a:noAutofit/>
          </a:bodyPr>
          <a:lstStyle/>
          <a:p>
            <a:r>
              <a:rPr lang="en-US" sz="4400" dirty="0">
                <a:latin typeface="+mn-lt"/>
                <a:ea typeface="+mn-ea"/>
                <a:cs typeface="+mn-cs"/>
              </a:rPr>
              <a:t>Towards Educational Video Games with Enhanced Virtual Players</a:t>
            </a:r>
          </a:p>
        </p:txBody>
      </p:sp>
      <p:sp>
        <p:nvSpPr>
          <p:cNvPr id="3" name="Subtitle 2"/>
          <p:cNvSpPr>
            <a:spLocks noGrp="1"/>
          </p:cNvSpPr>
          <p:nvPr>
            <p:ph type="subTitle" idx="1"/>
          </p:nvPr>
        </p:nvSpPr>
        <p:spPr>
          <a:xfrm>
            <a:off x="1524000" y="3558746"/>
            <a:ext cx="9498676" cy="3171568"/>
          </a:xfrm>
        </p:spPr>
        <p:txBody>
          <a:bodyPr>
            <a:normAutofit fontScale="85000" lnSpcReduction="20000"/>
          </a:bodyPr>
          <a:lstStyle/>
          <a:p>
            <a:pPr>
              <a:spcAft>
                <a:spcPts val="600"/>
              </a:spcAft>
            </a:pPr>
            <a:r>
              <a:rPr lang="en-US" sz="3600" dirty="0" err="1"/>
              <a:t>Boyan</a:t>
            </a:r>
            <a:r>
              <a:rPr lang="en-US" sz="3600" dirty="0"/>
              <a:t> </a:t>
            </a:r>
            <a:r>
              <a:rPr lang="en-US" sz="3600" dirty="0" err="1"/>
              <a:t>Bontchev</a:t>
            </a:r>
            <a:r>
              <a:rPr lang="en-US" sz="3600" dirty="0"/>
              <a:t>, Dessislava Vassileva, </a:t>
            </a:r>
            <a:br>
              <a:rPr lang="en-US" sz="3600" dirty="0"/>
            </a:br>
            <a:r>
              <a:rPr lang="en-US" sz="3600" dirty="0" err="1"/>
              <a:t>Velin</a:t>
            </a:r>
            <a:r>
              <a:rPr lang="en-US" sz="3600" dirty="0"/>
              <a:t> </a:t>
            </a:r>
            <a:r>
              <a:rPr lang="en-US" sz="3600" dirty="0" err="1"/>
              <a:t>Avramov</a:t>
            </a:r>
            <a:r>
              <a:rPr lang="en-US" sz="3600" dirty="0"/>
              <a:t>, and </a:t>
            </a:r>
            <a:r>
              <a:rPr lang="en-US" sz="3600" dirty="0" err="1"/>
              <a:t>Dimitar</a:t>
            </a:r>
            <a:r>
              <a:rPr lang="en-US" sz="3600" dirty="0"/>
              <a:t> </a:t>
            </a:r>
            <a:r>
              <a:rPr lang="en-US" sz="3600" dirty="0" err="1"/>
              <a:t>Manchev</a:t>
            </a:r>
            <a:endParaRPr lang="en-US" sz="3600" dirty="0"/>
          </a:p>
          <a:p>
            <a:r>
              <a:rPr lang="en-US" sz="3200" i="1" dirty="0">
                <a:solidFill>
                  <a:schemeClr val="tx1"/>
                </a:solidFill>
              </a:rPr>
              <a:t>Faculty of Mathematics and Informatics, </a:t>
            </a:r>
          </a:p>
          <a:p>
            <a:r>
              <a:rPr lang="en-US" sz="3200" i="1" dirty="0">
                <a:solidFill>
                  <a:schemeClr val="tx1"/>
                </a:solidFill>
              </a:rPr>
              <a:t>Sofia University “St. </a:t>
            </a:r>
            <a:r>
              <a:rPr lang="en-US" sz="3200" i="1" dirty="0" err="1">
                <a:solidFill>
                  <a:schemeClr val="tx1"/>
                </a:solidFill>
              </a:rPr>
              <a:t>Kliment</a:t>
            </a:r>
            <a:r>
              <a:rPr lang="en-US" sz="3200" i="1" dirty="0">
                <a:solidFill>
                  <a:schemeClr val="tx1"/>
                </a:solidFill>
              </a:rPr>
              <a:t> </a:t>
            </a:r>
            <a:r>
              <a:rPr lang="en-US" sz="3200" i="1" dirty="0" err="1">
                <a:solidFill>
                  <a:schemeClr val="tx1"/>
                </a:solidFill>
              </a:rPr>
              <a:t>Ohridski</a:t>
            </a:r>
            <a:r>
              <a:rPr lang="en-US" sz="3200" i="1" dirty="0">
                <a:solidFill>
                  <a:schemeClr val="tx1"/>
                </a:solidFill>
              </a:rPr>
              <a:t>”, Sofia, Bulgaria</a:t>
            </a:r>
          </a:p>
          <a:p>
            <a:endParaRPr lang="en-US" dirty="0"/>
          </a:p>
          <a:p>
            <a:r>
              <a:rPr lang="en-US" sz="2800" i="1" dirty="0">
                <a:solidFill>
                  <a:schemeClr val="tx1"/>
                </a:solidFill>
              </a:rPr>
              <a:t>CISTI’2025</a:t>
            </a:r>
            <a:endParaRPr lang="en-US" i="1" dirty="0">
              <a:solidFill>
                <a:schemeClr val="tx1"/>
              </a:solidFill>
            </a:endParaRPr>
          </a:p>
          <a:p>
            <a:r>
              <a:rPr lang="en-US" i="1" dirty="0">
                <a:solidFill>
                  <a:schemeClr val="tx1"/>
                </a:solidFill>
              </a:rPr>
              <a:t>Lisbon, Portugal</a:t>
            </a:r>
          </a:p>
          <a:p>
            <a:r>
              <a:rPr lang="en-US" i="1" dirty="0">
                <a:solidFill>
                  <a:schemeClr val="tx1"/>
                </a:solidFill>
              </a:rPr>
              <a:t>June 16-19, 2025</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322783"/>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006" y="4329835"/>
            <a:ext cx="2502981" cy="2390130"/>
          </a:xfrm>
          <a:prstGeom prst="rect">
            <a:avLst/>
          </a:prstGeom>
        </p:spPr>
      </p:pic>
    </p:spTree>
    <p:extLst>
      <p:ext uri="{BB962C8B-B14F-4D97-AF65-F5344CB8AC3E}">
        <p14:creationId xmlns:p14="http://schemas.microsoft.com/office/powerpoint/2010/main" val="1197214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Educational video games</a:t>
            </a:r>
          </a:p>
          <a:p>
            <a:r>
              <a:rPr lang="en-US" dirty="0"/>
              <a:t>Intelligent player-centric tailoring of digital games for education</a:t>
            </a:r>
          </a:p>
          <a:p>
            <a:r>
              <a:rPr lang="en-US" dirty="0"/>
              <a:t>Virtual players or non-playable characters (NPC)</a:t>
            </a:r>
          </a:p>
          <a:p>
            <a:r>
              <a:rPr lang="en-US" dirty="0"/>
              <a:t>Roles of NPCs in educational video games</a:t>
            </a:r>
          </a:p>
          <a:p>
            <a:r>
              <a:rPr lang="en-US" dirty="0"/>
              <a:t>NPCs in educational video mazes</a:t>
            </a:r>
          </a:p>
          <a:p>
            <a:r>
              <a:rPr lang="en-US" dirty="0"/>
              <a:t>Automatic generation of personalized and adapted SG</a:t>
            </a:r>
          </a:p>
          <a:p>
            <a:r>
              <a:rPr lang="en-US" dirty="0"/>
              <a:t>Maze games with complex NPC with adaptive behavior</a:t>
            </a:r>
          </a:p>
          <a:p>
            <a:r>
              <a:rPr lang="en-US" dirty="0"/>
              <a:t>Workflow of dynamic game adaptation control</a:t>
            </a:r>
          </a:p>
          <a:p>
            <a:r>
              <a:rPr lang="en-US" dirty="0"/>
              <a:t>Results</a:t>
            </a:r>
          </a:p>
          <a:p>
            <a:r>
              <a:rPr lang="en-US" dirty="0"/>
              <a:t>Conclusion</a:t>
            </a:r>
          </a:p>
          <a:p>
            <a:endParaRPr lang="es-ES" dirty="0"/>
          </a:p>
        </p:txBody>
      </p:sp>
      <p:sp>
        <p:nvSpPr>
          <p:cNvPr id="4" name="Date Placeholder 3"/>
          <p:cNvSpPr>
            <a:spLocks noGrp="1"/>
          </p:cNvSpPr>
          <p:nvPr>
            <p:ph type="dt" sz="half" idx="10"/>
          </p:nvPr>
        </p:nvSpPr>
        <p:spPr>
          <a:xfrm>
            <a:off x="838200" y="6492875"/>
            <a:ext cx="2743200" cy="365125"/>
          </a:xfrm>
        </p:spPr>
        <p:txBody>
          <a:bodyPr/>
          <a:lstStyle/>
          <a:p>
            <a:r>
              <a:rPr lang="en-US" sz="1400" dirty="0">
                <a:solidFill>
                  <a:schemeClr val="tx1"/>
                </a:solidFill>
              </a:rPr>
              <a:t>18/06/2025</a:t>
            </a:r>
          </a:p>
        </p:txBody>
      </p:sp>
      <p:sp>
        <p:nvSpPr>
          <p:cNvPr id="5" name="Footer Placeholder 4"/>
          <p:cNvSpPr>
            <a:spLocks noGrp="1"/>
          </p:cNvSpPr>
          <p:nvPr>
            <p:ph type="ftr" sz="quarter" idx="11"/>
          </p:nvPr>
        </p:nvSpPr>
        <p:spPr>
          <a:xfrm>
            <a:off x="4038600" y="6492875"/>
            <a:ext cx="4114800" cy="365125"/>
          </a:xfrm>
        </p:spPr>
        <p:txBody>
          <a:bodyPr/>
          <a:lstStyle/>
          <a:p>
            <a:r>
              <a:rPr lang="en-US" sz="1400" dirty="0">
                <a:solidFill>
                  <a:schemeClr val="tx1"/>
                </a:solidFill>
              </a:rPr>
              <a:t>Towards Educational Video Games with Enhanced Virtual Players</a:t>
            </a:r>
          </a:p>
        </p:txBody>
      </p:sp>
      <p:sp>
        <p:nvSpPr>
          <p:cNvPr id="6" name="Slide Number Placeholder 5"/>
          <p:cNvSpPr>
            <a:spLocks noGrp="1"/>
          </p:cNvSpPr>
          <p:nvPr>
            <p:ph type="sldNum" sz="quarter" idx="12"/>
          </p:nvPr>
        </p:nvSpPr>
        <p:spPr>
          <a:xfrm>
            <a:off x="8610600" y="6492875"/>
            <a:ext cx="2743200" cy="365125"/>
          </a:xfrm>
        </p:spPr>
        <p:txBody>
          <a:bodyPr/>
          <a:lstStyle/>
          <a:p>
            <a:fld id="{75BBA16B-9D76-409E-A4DB-EDE76CDC68EC}" type="slidenum">
              <a:rPr lang="en-US" sz="1400" smtClean="0">
                <a:solidFill>
                  <a:schemeClr val="tx1"/>
                </a:solidFill>
              </a:rPr>
              <a:t>2</a:t>
            </a:fld>
            <a:endParaRPr lang="en-US" sz="1400">
              <a:solidFill>
                <a:schemeClr val="tx1"/>
              </a:solidFill>
            </a:endParaRPr>
          </a:p>
        </p:txBody>
      </p:sp>
    </p:spTree>
    <p:extLst>
      <p:ext uri="{BB962C8B-B14F-4D97-AF65-F5344CB8AC3E}">
        <p14:creationId xmlns:p14="http://schemas.microsoft.com/office/powerpoint/2010/main" val="2101674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Educational video games</a:t>
            </a:r>
          </a:p>
        </p:txBody>
      </p:sp>
      <p:sp>
        <p:nvSpPr>
          <p:cNvPr id="3" name="Content Placeholder 2"/>
          <p:cNvSpPr>
            <a:spLocks noGrp="1"/>
          </p:cNvSpPr>
          <p:nvPr>
            <p:ph idx="1"/>
          </p:nvPr>
        </p:nvSpPr>
        <p:spPr/>
        <p:txBody>
          <a:bodyPr>
            <a:normAutofit/>
          </a:bodyPr>
          <a:lstStyle/>
          <a:p>
            <a:r>
              <a:rPr lang="en-US" dirty="0"/>
              <a:t>Serious/applied video games for education purposes</a:t>
            </a:r>
          </a:p>
          <a:p>
            <a:r>
              <a:rPr lang="en-US" dirty="0"/>
              <a:t>Features:</a:t>
            </a:r>
          </a:p>
          <a:p>
            <a:pPr lvl="1"/>
            <a:r>
              <a:rPr lang="en-US" b="1" dirty="0"/>
              <a:t>Engagement &amp; Motivation </a:t>
            </a:r>
            <a:r>
              <a:rPr lang="en-US" dirty="0"/>
              <a:t>– interactive gameplay increases student interest and participation. </a:t>
            </a:r>
          </a:p>
          <a:p>
            <a:pPr lvl="1"/>
            <a:r>
              <a:rPr lang="en-US" b="1" dirty="0"/>
              <a:t>Personalized Learning </a:t>
            </a:r>
            <a:r>
              <a:rPr lang="en-US" dirty="0"/>
              <a:t>– AI-driven adaptations cater to individual learning styles.</a:t>
            </a:r>
          </a:p>
          <a:p>
            <a:pPr lvl="1"/>
            <a:r>
              <a:rPr lang="en-US" b="1" dirty="0"/>
              <a:t>Critical Thinking &amp; Problem-Solving </a:t>
            </a:r>
            <a:r>
              <a:rPr lang="en-US" dirty="0"/>
              <a:t>– Games foster decision-making skills and strategic thinking. </a:t>
            </a:r>
          </a:p>
          <a:p>
            <a:pPr lvl="1"/>
            <a:r>
              <a:rPr lang="en-US" b="1" dirty="0"/>
              <a:t>Language &amp; STEM &amp; Arts &amp; Soft Skills Development </a:t>
            </a:r>
            <a:r>
              <a:rPr lang="en-US" dirty="0"/>
              <a:t>– integrates science, technology, engineering, and mathematics with creativity and collaboration. </a:t>
            </a:r>
          </a:p>
          <a:p>
            <a:pPr lvl="1"/>
            <a:r>
              <a:rPr lang="en-US" b="1" dirty="0"/>
              <a:t>Immersive Learning Experiences </a:t>
            </a:r>
            <a:r>
              <a:rPr lang="en-US" dirty="0"/>
              <a:t>– virtual environments enhance concept retention and application.</a:t>
            </a:r>
          </a:p>
          <a:p>
            <a:pPr lvl="1"/>
            <a:endParaRPr lang="en-US" dirty="0"/>
          </a:p>
          <a:p>
            <a:pPr marL="0" indent="0">
              <a:buNone/>
            </a:pPr>
            <a:r>
              <a:rPr lang="en-US" sz="2600" dirty="0">
                <a:solidFill>
                  <a:srgbClr val="7030A0"/>
                </a:solidFill>
              </a:rPr>
              <a:t>💡 “</a:t>
            </a:r>
            <a:r>
              <a:rPr lang="en-US" sz="2600" i="1" dirty="0">
                <a:solidFill>
                  <a:srgbClr val="7030A0"/>
                </a:solidFill>
              </a:rPr>
              <a:t>Learning is most effective when it’s fun and interactive!” – Dr. Susan Curtiss</a:t>
            </a:r>
            <a:endParaRPr lang="en-US" sz="2600" dirty="0">
              <a:solidFill>
                <a:srgbClr val="7030A0"/>
              </a:solidFill>
            </a:endParaRPr>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dirty="0"/>
              <a:t>Towards Educational Video Games with Enhanced Virtual Players</a:t>
            </a:r>
          </a:p>
        </p:txBody>
      </p:sp>
      <p:sp>
        <p:nvSpPr>
          <p:cNvPr id="6" name="Slide Number Placeholder 5"/>
          <p:cNvSpPr>
            <a:spLocks noGrp="1"/>
          </p:cNvSpPr>
          <p:nvPr>
            <p:ph type="sldNum" sz="quarter" idx="12"/>
          </p:nvPr>
        </p:nvSpPr>
        <p:spPr/>
        <p:txBody>
          <a:bodyPr/>
          <a:lstStyle/>
          <a:p>
            <a:fld id="{75BBA16B-9D76-409E-A4DB-EDE76CDC68EC}" type="slidenum">
              <a:rPr lang="en-US" smtClean="0"/>
              <a:pPr/>
              <a:t>3</a:t>
            </a:fld>
            <a:endParaRPr lang="en-US"/>
          </a:p>
        </p:txBody>
      </p:sp>
    </p:spTree>
    <p:extLst>
      <p:ext uri="{BB962C8B-B14F-4D97-AF65-F5344CB8AC3E}">
        <p14:creationId xmlns:p14="http://schemas.microsoft.com/office/powerpoint/2010/main" val="3742751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5A564-98A1-4713-BFA6-70C61ED7150E}"/>
              </a:ext>
            </a:extLst>
          </p:cNvPr>
          <p:cNvSpPr>
            <a:spLocks noGrp="1"/>
          </p:cNvSpPr>
          <p:nvPr>
            <p:ph type="title"/>
          </p:nvPr>
        </p:nvSpPr>
        <p:spPr>
          <a:xfrm>
            <a:off x="374073" y="185511"/>
            <a:ext cx="11817927" cy="810532"/>
          </a:xfrm>
        </p:spPr>
        <p:txBody>
          <a:bodyPr>
            <a:noAutofit/>
          </a:bodyPr>
          <a:lstStyle/>
          <a:p>
            <a:r>
              <a:rPr lang="en-US" sz="3600" dirty="0">
                <a:solidFill>
                  <a:schemeClr val="accent1">
                    <a:lumMod val="75000"/>
                  </a:schemeClr>
                </a:solidFill>
              </a:rPr>
              <a:t>Intelligent Player-Centric Tailoring of Digital Games for Education</a:t>
            </a:r>
            <a:endParaRPr lang="bg-BG" sz="3600" dirty="0"/>
          </a:p>
        </p:txBody>
      </p:sp>
      <p:sp>
        <p:nvSpPr>
          <p:cNvPr id="4" name="Date Placeholder 3">
            <a:extLst>
              <a:ext uri="{FF2B5EF4-FFF2-40B4-BE49-F238E27FC236}">
                <a16:creationId xmlns:a16="http://schemas.microsoft.com/office/drawing/2014/main" id="{0A5A521B-492C-4BE4-ABD1-738F316929AB}"/>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0B5FCA91-8942-4324-B47A-6D45147F7D70}"/>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0BEC939A-DB93-43D2-8C78-45AD570A7AB5}"/>
              </a:ext>
            </a:extLst>
          </p:cNvPr>
          <p:cNvSpPr>
            <a:spLocks noGrp="1"/>
          </p:cNvSpPr>
          <p:nvPr>
            <p:ph type="sldNum" sz="quarter" idx="12"/>
          </p:nvPr>
        </p:nvSpPr>
        <p:spPr/>
        <p:txBody>
          <a:bodyPr/>
          <a:lstStyle/>
          <a:p>
            <a:fld id="{75BBA16B-9D76-409E-A4DB-EDE76CDC68EC}" type="slidenum">
              <a:rPr lang="en-US" smtClean="0"/>
              <a:pPr/>
              <a:t>4</a:t>
            </a:fld>
            <a:endParaRPr lang="en-US"/>
          </a:p>
        </p:txBody>
      </p:sp>
      <p:graphicFrame>
        <p:nvGraphicFramePr>
          <p:cNvPr id="8" name="Content Placeholder 6">
            <a:extLst>
              <a:ext uri="{FF2B5EF4-FFF2-40B4-BE49-F238E27FC236}">
                <a16:creationId xmlns:a16="http://schemas.microsoft.com/office/drawing/2014/main" id="{7051FC6E-F23A-48C5-AA81-C56A145123B0}"/>
              </a:ext>
            </a:extLst>
          </p:cNvPr>
          <p:cNvGraphicFramePr>
            <a:graphicFrameLocks/>
          </p:cNvGraphicFramePr>
          <p:nvPr>
            <p:extLst>
              <p:ext uri="{D42A27DB-BD31-4B8C-83A1-F6EECF244321}">
                <p14:modId xmlns:p14="http://schemas.microsoft.com/office/powerpoint/2010/main" val="4154491162"/>
              </p:ext>
            </p:extLst>
          </p:nvPr>
        </p:nvGraphicFramePr>
        <p:xfrm>
          <a:off x="1256433" y="1090394"/>
          <a:ext cx="9358919" cy="5468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766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E0E3B-45B7-4A3A-AB64-52C5345258FC}"/>
              </a:ext>
            </a:extLst>
          </p:cNvPr>
          <p:cNvSpPr>
            <a:spLocks noGrp="1"/>
          </p:cNvSpPr>
          <p:nvPr>
            <p:ph type="title"/>
          </p:nvPr>
        </p:nvSpPr>
        <p:spPr/>
        <p:txBody>
          <a:bodyPr>
            <a:normAutofit/>
          </a:bodyPr>
          <a:lstStyle/>
          <a:p>
            <a:r>
              <a:rPr lang="en-US" dirty="0"/>
              <a:t>Virtual players or non-playable characters (NPCs)</a:t>
            </a:r>
            <a:endParaRPr lang="bg-BG" dirty="0"/>
          </a:p>
        </p:txBody>
      </p:sp>
      <p:sp>
        <p:nvSpPr>
          <p:cNvPr id="3" name="Content Placeholder 2">
            <a:extLst>
              <a:ext uri="{FF2B5EF4-FFF2-40B4-BE49-F238E27FC236}">
                <a16:creationId xmlns:a16="http://schemas.microsoft.com/office/drawing/2014/main" id="{9455D4B7-5BAA-4748-9321-F4A551906BAA}"/>
              </a:ext>
            </a:extLst>
          </p:cNvPr>
          <p:cNvSpPr>
            <a:spLocks noGrp="1"/>
          </p:cNvSpPr>
          <p:nvPr>
            <p:ph idx="1"/>
          </p:nvPr>
        </p:nvSpPr>
        <p:spPr>
          <a:xfrm>
            <a:off x="775607" y="1118506"/>
            <a:ext cx="11152414" cy="5339443"/>
          </a:xfrm>
        </p:spPr>
        <p:txBody>
          <a:bodyPr/>
          <a:lstStyle/>
          <a:p>
            <a:r>
              <a:rPr lang="en-US" i="1" dirty="0"/>
              <a:t>Virtual players/characters </a:t>
            </a:r>
            <a:r>
              <a:rPr lang="en-US" dirty="0"/>
              <a:t>(so called </a:t>
            </a:r>
            <a:r>
              <a:rPr lang="en-US" i="1" dirty="0"/>
              <a:t>NPCs</a:t>
            </a:r>
            <a:r>
              <a:rPr lang="en-US" dirty="0"/>
              <a:t>) are an important element in educational video games, as they help create a more engaging, realistic, and effective learning environment for players.</a:t>
            </a:r>
          </a:p>
          <a:p>
            <a:r>
              <a:rPr lang="en-US" dirty="0"/>
              <a:t>They are an integral part of most modern video games, as they </a:t>
            </a:r>
            <a:r>
              <a:rPr lang="en-US" i="1" dirty="0"/>
              <a:t>add depth, realism, and opportunities for interaction</a:t>
            </a:r>
          </a:p>
          <a:p>
            <a:endParaRPr lang="en-US" dirty="0"/>
          </a:p>
          <a:p>
            <a:endParaRPr lang="bg-BG" dirty="0"/>
          </a:p>
        </p:txBody>
      </p:sp>
      <p:sp>
        <p:nvSpPr>
          <p:cNvPr id="4" name="Date Placeholder 3">
            <a:extLst>
              <a:ext uri="{FF2B5EF4-FFF2-40B4-BE49-F238E27FC236}">
                <a16:creationId xmlns:a16="http://schemas.microsoft.com/office/drawing/2014/main" id="{7216606C-7543-4B94-BF22-3052ABFBCA4F}"/>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AC27BE9D-A7E3-4251-A729-6AE2C9FA3D25}"/>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C6F6D21D-4DEE-4C73-B76B-27D2EB080850}"/>
              </a:ext>
            </a:extLst>
          </p:cNvPr>
          <p:cNvSpPr>
            <a:spLocks noGrp="1"/>
          </p:cNvSpPr>
          <p:nvPr>
            <p:ph type="sldNum" sz="quarter" idx="12"/>
          </p:nvPr>
        </p:nvSpPr>
        <p:spPr/>
        <p:txBody>
          <a:bodyPr/>
          <a:lstStyle/>
          <a:p>
            <a:fld id="{75BBA16B-9D76-409E-A4DB-EDE76CDC68EC}" type="slidenum">
              <a:rPr lang="en-US" smtClean="0"/>
              <a:pPr/>
              <a:t>5</a:t>
            </a:fld>
            <a:endParaRPr lang="en-US"/>
          </a:p>
        </p:txBody>
      </p:sp>
      <p:pic>
        <p:nvPicPr>
          <p:cNvPr id="11" name="Picture 4" descr="https://i.ytimg.com/vi/pOzfEIWn4f4/maxresdefault.jpg">
            <a:extLst>
              <a:ext uri="{FF2B5EF4-FFF2-40B4-BE49-F238E27FC236}">
                <a16:creationId xmlns:a16="http://schemas.microsoft.com/office/drawing/2014/main" id="{5255517C-E4EE-4169-8B10-4843401FB2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3241" y="3306764"/>
            <a:ext cx="5633152" cy="316864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6BD9186-CC6B-4D7B-8C0A-5B5C2F8C154B}"/>
              </a:ext>
            </a:extLst>
          </p:cNvPr>
          <p:cNvPicPr>
            <a:picLocks noChangeAspect="1"/>
          </p:cNvPicPr>
          <p:nvPr/>
        </p:nvPicPr>
        <p:blipFill>
          <a:blip r:embed="rId3"/>
          <a:stretch>
            <a:fillRect/>
          </a:stretch>
        </p:blipFill>
        <p:spPr>
          <a:xfrm>
            <a:off x="1443188" y="3300498"/>
            <a:ext cx="3157451" cy="3157451"/>
          </a:xfrm>
          <a:prstGeom prst="rect">
            <a:avLst/>
          </a:prstGeom>
        </p:spPr>
      </p:pic>
    </p:spTree>
    <p:extLst>
      <p:ext uri="{BB962C8B-B14F-4D97-AF65-F5344CB8AC3E}">
        <p14:creationId xmlns:p14="http://schemas.microsoft.com/office/powerpoint/2010/main" val="2788615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2BFF8-683C-460D-92C6-35C7169FA71F}"/>
              </a:ext>
            </a:extLst>
          </p:cNvPr>
          <p:cNvSpPr>
            <a:spLocks noGrp="1"/>
          </p:cNvSpPr>
          <p:nvPr>
            <p:ph type="title"/>
          </p:nvPr>
        </p:nvSpPr>
        <p:spPr/>
        <p:txBody>
          <a:bodyPr/>
          <a:lstStyle/>
          <a:p>
            <a:r>
              <a:rPr lang="en-US" dirty="0"/>
              <a:t>Roles of NPCs in educational video games</a:t>
            </a:r>
            <a:endParaRPr lang="bg-BG" dirty="0"/>
          </a:p>
        </p:txBody>
      </p:sp>
      <p:sp>
        <p:nvSpPr>
          <p:cNvPr id="3" name="Content Placeholder 2">
            <a:extLst>
              <a:ext uri="{FF2B5EF4-FFF2-40B4-BE49-F238E27FC236}">
                <a16:creationId xmlns:a16="http://schemas.microsoft.com/office/drawing/2014/main" id="{CD494F6C-9755-4A8E-B9B5-704F65F44F5E}"/>
              </a:ext>
            </a:extLst>
          </p:cNvPr>
          <p:cNvSpPr>
            <a:spLocks noGrp="1"/>
          </p:cNvSpPr>
          <p:nvPr>
            <p:ph idx="1"/>
          </p:nvPr>
        </p:nvSpPr>
        <p:spPr/>
        <p:txBody>
          <a:bodyPr>
            <a:normAutofit/>
          </a:bodyPr>
          <a:lstStyle/>
          <a:p>
            <a:pPr lvl="0"/>
            <a:r>
              <a:rPr lang="en-US" b="1" dirty="0"/>
              <a:t>A teaching assistant </a:t>
            </a:r>
            <a:r>
              <a:rPr lang="en-US" dirty="0"/>
              <a:t>who provides information and feedback to the player</a:t>
            </a:r>
            <a:endParaRPr lang="bg-BG" dirty="0"/>
          </a:p>
          <a:p>
            <a:pPr lvl="0"/>
            <a:r>
              <a:rPr lang="en-US" b="1" dirty="0"/>
              <a:t>Testing and assessing the knowledge and skills </a:t>
            </a:r>
            <a:r>
              <a:rPr lang="en-US" dirty="0"/>
              <a:t>of the real player</a:t>
            </a:r>
            <a:endParaRPr lang="bg-BG" dirty="0"/>
          </a:p>
          <a:p>
            <a:pPr lvl="0"/>
            <a:r>
              <a:rPr lang="en-US" b="1" dirty="0"/>
              <a:t>A rival or adversary </a:t>
            </a:r>
            <a:r>
              <a:rPr lang="en-US" dirty="0"/>
              <a:t>with whom the real player competes – e.g., through competitive gameplay with NPCs representing different historical civilizations in “Civilization VI” or NPCs embodying historical figures in Assassin's Creed: Discovery Tour</a:t>
            </a:r>
            <a:endParaRPr lang="bg-BG" dirty="0"/>
          </a:p>
          <a:p>
            <a:pPr lvl="0"/>
            <a:r>
              <a:rPr lang="en-US" b="1" cap="all" dirty="0"/>
              <a:t>A</a:t>
            </a:r>
            <a:r>
              <a:rPr lang="en-US" b="1" dirty="0"/>
              <a:t> partner </a:t>
            </a:r>
            <a:r>
              <a:rPr lang="en-US" dirty="0"/>
              <a:t>with whom the player interacts to achieve a specific goal, for example to simulate realistic social interactions </a:t>
            </a:r>
          </a:p>
          <a:p>
            <a:pPr lvl="0"/>
            <a:r>
              <a:rPr lang="en-US" dirty="0"/>
              <a:t>A virtual character that </a:t>
            </a:r>
            <a:r>
              <a:rPr lang="en-US" b="1" dirty="0"/>
              <a:t>helps to create a believable and engaging game </a:t>
            </a:r>
            <a:r>
              <a:rPr lang="en-US" dirty="0"/>
              <a:t>environment in order to improve user experience and engagement in different contexts – balance between believability and effectiveness depends on the context.</a:t>
            </a:r>
            <a:endParaRPr lang="bg-BG" dirty="0"/>
          </a:p>
          <a:p>
            <a:endParaRPr lang="bg-BG" dirty="0"/>
          </a:p>
        </p:txBody>
      </p:sp>
      <p:sp>
        <p:nvSpPr>
          <p:cNvPr id="4" name="Date Placeholder 3">
            <a:extLst>
              <a:ext uri="{FF2B5EF4-FFF2-40B4-BE49-F238E27FC236}">
                <a16:creationId xmlns:a16="http://schemas.microsoft.com/office/drawing/2014/main" id="{D3B0E10F-FFD7-4600-A79D-7E6B7E6D3C80}"/>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CA7B2BFA-1E2E-4FC9-88D9-23680B90081D}"/>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BA96B798-A7EA-4FA5-98A7-4726D7F51B3F}"/>
              </a:ext>
            </a:extLst>
          </p:cNvPr>
          <p:cNvSpPr>
            <a:spLocks noGrp="1"/>
          </p:cNvSpPr>
          <p:nvPr>
            <p:ph type="sldNum" sz="quarter" idx="12"/>
          </p:nvPr>
        </p:nvSpPr>
        <p:spPr/>
        <p:txBody>
          <a:bodyPr/>
          <a:lstStyle/>
          <a:p>
            <a:fld id="{75BBA16B-9D76-409E-A4DB-EDE76CDC68EC}" type="slidenum">
              <a:rPr lang="en-US" smtClean="0"/>
              <a:pPr/>
              <a:t>6</a:t>
            </a:fld>
            <a:endParaRPr lang="en-US"/>
          </a:p>
        </p:txBody>
      </p:sp>
    </p:spTree>
    <p:extLst>
      <p:ext uri="{BB962C8B-B14F-4D97-AF65-F5344CB8AC3E}">
        <p14:creationId xmlns:p14="http://schemas.microsoft.com/office/powerpoint/2010/main" val="2631498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80E3-4522-4B42-AF11-450157C7BB2F}"/>
              </a:ext>
            </a:extLst>
          </p:cNvPr>
          <p:cNvSpPr>
            <a:spLocks noGrp="1"/>
          </p:cNvSpPr>
          <p:nvPr>
            <p:ph type="title"/>
          </p:nvPr>
        </p:nvSpPr>
        <p:spPr/>
        <p:txBody>
          <a:bodyPr>
            <a:normAutofit/>
          </a:bodyPr>
          <a:lstStyle/>
          <a:p>
            <a:r>
              <a:rPr lang="en-US" dirty="0"/>
              <a:t>NPCs in educational video mazes</a:t>
            </a:r>
            <a:endParaRPr lang="bg-BG" dirty="0"/>
          </a:p>
        </p:txBody>
      </p:sp>
      <p:sp>
        <p:nvSpPr>
          <p:cNvPr id="3" name="Content Placeholder 2">
            <a:extLst>
              <a:ext uri="{FF2B5EF4-FFF2-40B4-BE49-F238E27FC236}">
                <a16:creationId xmlns:a16="http://schemas.microsoft.com/office/drawing/2014/main" id="{3254B440-ADE3-42A0-AE03-D644072764E8}"/>
              </a:ext>
            </a:extLst>
          </p:cNvPr>
          <p:cNvSpPr>
            <a:spLocks noGrp="1"/>
          </p:cNvSpPr>
          <p:nvPr>
            <p:ph idx="1"/>
          </p:nvPr>
        </p:nvSpPr>
        <p:spPr/>
        <p:txBody>
          <a:bodyPr>
            <a:normAutofit/>
          </a:bodyPr>
          <a:lstStyle/>
          <a:p>
            <a:r>
              <a:rPr lang="en-US" dirty="0"/>
              <a:t>Educational video maze games combine interactive learning with problem-solving challenges. They motivate players to explore theoretical concepts while navigating through engaging mazes and challenges.</a:t>
            </a:r>
          </a:p>
          <a:p>
            <a:r>
              <a:rPr lang="en-US" dirty="0"/>
              <a:t>Research and implementation of educational video maze games have demonstrated their effectiveness in adaptive learning, where players navigate through a structured environment while interacting with didactic mini-games, NPCs (non-player characters), and intelligent agents</a:t>
            </a:r>
          </a:p>
          <a:p>
            <a:r>
              <a:rPr lang="en-US" dirty="0"/>
              <a:t>The Video Maze Generator, designed for the automatic generation of educational games, provides a framework for creating such games from non-IT people. </a:t>
            </a:r>
          </a:p>
          <a:p>
            <a:r>
              <a:rPr lang="en-US" dirty="0"/>
              <a:t>The platform allows teachers to incorporate text-based challenges, visual storytelling, and AI-driven NPC interactions. </a:t>
            </a:r>
            <a:endParaRPr lang="bg-BG" dirty="0"/>
          </a:p>
        </p:txBody>
      </p:sp>
      <p:sp>
        <p:nvSpPr>
          <p:cNvPr id="4" name="Date Placeholder 3">
            <a:extLst>
              <a:ext uri="{FF2B5EF4-FFF2-40B4-BE49-F238E27FC236}">
                <a16:creationId xmlns:a16="http://schemas.microsoft.com/office/drawing/2014/main" id="{2EFE57CF-004E-4DEC-A369-2996DA32172F}"/>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E370E880-8E83-4279-8598-14F00FCB45D6}"/>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68018F69-E0ED-4C8C-90BF-5CF1169EA28F}"/>
              </a:ext>
            </a:extLst>
          </p:cNvPr>
          <p:cNvSpPr>
            <a:spLocks noGrp="1"/>
          </p:cNvSpPr>
          <p:nvPr>
            <p:ph type="sldNum" sz="quarter" idx="12"/>
          </p:nvPr>
        </p:nvSpPr>
        <p:spPr/>
        <p:txBody>
          <a:bodyPr/>
          <a:lstStyle/>
          <a:p>
            <a:fld id="{75BBA16B-9D76-409E-A4DB-EDE76CDC68EC}" type="slidenum">
              <a:rPr lang="en-US" smtClean="0"/>
              <a:pPr/>
              <a:t>7</a:t>
            </a:fld>
            <a:endParaRPr lang="en-US"/>
          </a:p>
        </p:txBody>
      </p:sp>
    </p:spTree>
    <p:extLst>
      <p:ext uri="{BB962C8B-B14F-4D97-AF65-F5344CB8AC3E}">
        <p14:creationId xmlns:p14="http://schemas.microsoft.com/office/powerpoint/2010/main" val="2500950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15AB6-9546-4538-ABB0-F829F7C12782}"/>
              </a:ext>
            </a:extLst>
          </p:cNvPr>
          <p:cNvSpPr>
            <a:spLocks noGrp="1"/>
          </p:cNvSpPr>
          <p:nvPr>
            <p:ph type="title"/>
          </p:nvPr>
        </p:nvSpPr>
        <p:spPr>
          <a:xfrm>
            <a:off x="723705" y="426784"/>
            <a:ext cx="11551425" cy="802522"/>
          </a:xfrm>
        </p:spPr>
        <p:txBody>
          <a:bodyPr>
            <a:normAutofit fontScale="90000"/>
          </a:bodyPr>
          <a:lstStyle/>
          <a:p>
            <a:r>
              <a:rPr lang="en-US" dirty="0">
                <a:solidFill>
                  <a:schemeClr val="accent1">
                    <a:lumMod val="75000"/>
                  </a:schemeClr>
                </a:solidFill>
              </a:rPr>
              <a:t>Automatic generation of personalized &amp; adapted games</a:t>
            </a:r>
            <a:br>
              <a:rPr lang="en-US" dirty="0"/>
            </a:br>
            <a:endParaRPr lang="bg-BG" dirty="0"/>
          </a:p>
        </p:txBody>
      </p:sp>
      <p:sp>
        <p:nvSpPr>
          <p:cNvPr id="4" name="Date Placeholder 3">
            <a:extLst>
              <a:ext uri="{FF2B5EF4-FFF2-40B4-BE49-F238E27FC236}">
                <a16:creationId xmlns:a16="http://schemas.microsoft.com/office/drawing/2014/main" id="{A00E28ED-B6E3-47E9-B8BA-32F7F8B97FC5}"/>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6758642E-306A-4223-8766-76F88871334F}"/>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ED20733A-B6B1-4ED6-8A83-35FA57A9E848}"/>
              </a:ext>
            </a:extLst>
          </p:cNvPr>
          <p:cNvSpPr>
            <a:spLocks noGrp="1"/>
          </p:cNvSpPr>
          <p:nvPr>
            <p:ph type="sldNum" sz="quarter" idx="12"/>
          </p:nvPr>
        </p:nvSpPr>
        <p:spPr/>
        <p:txBody>
          <a:bodyPr/>
          <a:lstStyle/>
          <a:p>
            <a:fld id="{75BBA16B-9D76-409E-A4DB-EDE76CDC68EC}" type="slidenum">
              <a:rPr lang="en-US" smtClean="0"/>
              <a:pPr/>
              <a:t>8</a:t>
            </a:fld>
            <a:endParaRPr lang="en-US"/>
          </a:p>
        </p:txBody>
      </p:sp>
      <p:sp>
        <p:nvSpPr>
          <p:cNvPr id="7" name="Правоъгълник 6">
            <a:extLst>
              <a:ext uri="{FF2B5EF4-FFF2-40B4-BE49-F238E27FC236}">
                <a16:creationId xmlns:a16="http://schemas.microsoft.com/office/drawing/2014/main" id="{0D4A374E-3D2E-4447-890B-6BF89A2960D6}"/>
              </a:ext>
            </a:extLst>
          </p:cNvPr>
          <p:cNvSpPr/>
          <p:nvPr/>
        </p:nvSpPr>
        <p:spPr>
          <a:xfrm>
            <a:off x="7000139" y="5592633"/>
            <a:ext cx="4533244" cy="369332"/>
          </a:xfrm>
          <a:prstGeom prst="rect">
            <a:avLst/>
          </a:prstGeom>
        </p:spPr>
        <p:txBody>
          <a:bodyPr wrap="square">
            <a:spAutoFit/>
          </a:bodyPr>
          <a:lstStyle/>
          <a:p>
            <a:r>
              <a:rPr lang="en-US" i="1" kern="0" dirty="0">
                <a:solidFill>
                  <a:schemeClr val="accent1">
                    <a:lumMod val="75000"/>
                  </a:schemeClr>
                </a:solidFill>
              </a:rPr>
              <a:t>Note: dashed modules are under development</a:t>
            </a:r>
            <a:endParaRPr lang="bg-BG" dirty="0">
              <a:solidFill>
                <a:schemeClr val="accent1">
                  <a:lumMod val="75000"/>
                </a:schemeClr>
              </a:solidFill>
            </a:endParaRPr>
          </a:p>
        </p:txBody>
      </p:sp>
      <p:sp>
        <p:nvSpPr>
          <p:cNvPr id="8" name="Rounded Rectangle 35">
            <a:extLst>
              <a:ext uri="{FF2B5EF4-FFF2-40B4-BE49-F238E27FC236}">
                <a16:creationId xmlns:a16="http://schemas.microsoft.com/office/drawing/2014/main" id="{79C6024F-430D-49E0-BDB6-B2B73944478F}"/>
              </a:ext>
            </a:extLst>
          </p:cNvPr>
          <p:cNvSpPr/>
          <p:nvPr/>
        </p:nvSpPr>
        <p:spPr>
          <a:xfrm>
            <a:off x="3173512" y="1341582"/>
            <a:ext cx="3578945" cy="4009491"/>
          </a:xfrm>
          <a:prstGeom prst="roundRect">
            <a:avLst/>
          </a:prstGeom>
          <a:solidFill>
            <a:schemeClr val="accent1">
              <a:lumMod val="40000"/>
              <a:lumOff val="60000"/>
            </a:schemeClr>
          </a:solidFill>
          <a:ln>
            <a:solidFill>
              <a:schemeClr val="accent1">
                <a:lumMod val="60000"/>
                <a:lumOff val="40000"/>
              </a:schemeClr>
            </a:solidFill>
          </a:ln>
          <a:effectLst>
            <a:outerShdw blurRad="508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5" b="1"/>
          </a:p>
        </p:txBody>
      </p:sp>
      <p:sp>
        <p:nvSpPr>
          <p:cNvPr id="9" name="Rounded Rectangle 35">
            <a:extLst>
              <a:ext uri="{FF2B5EF4-FFF2-40B4-BE49-F238E27FC236}">
                <a16:creationId xmlns:a16="http://schemas.microsoft.com/office/drawing/2014/main" id="{14AC4E2C-1A1D-4501-8703-4DD4FF874D57}"/>
              </a:ext>
            </a:extLst>
          </p:cNvPr>
          <p:cNvSpPr/>
          <p:nvPr/>
        </p:nvSpPr>
        <p:spPr>
          <a:xfrm>
            <a:off x="7067982" y="1563879"/>
            <a:ext cx="1839055" cy="3517064"/>
          </a:xfrm>
          <a:prstGeom prst="roundRect">
            <a:avLst/>
          </a:prstGeom>
          <a:solidFill>
            <a:schemeClr val="tx2">
              <a:lumMod val="50000"/>
            </a:schemeClr>
          </a:solidFill>
          <a:effectLst>
            <a:outerShdw blurRad="508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5" b="1"/>
          </a:p>
        </p:txBody>
      </p:sp>
      <p:sp>
        <p:nvSpPr>
          <p:cNvPr id="10" name="Rounded Rectangle 36">
            <a:extLst>
              <a:ext uri="{FF2B5EF4-FFF2-40B4-BE49-F238E27FC236}">
                <a16:creationId xmlns:a16="http://schemas.microsoft.com/office/drawing/2014/main" id="{9D6657CF-05B0-4E71-B0D1-51AEB1D7E9F5}"/>
              </a:ext>
            </a:extLst>
          </p:cNvPr>
          <p:cNvSpPr/>
          <p:nvPr/>
        </p:nvSpPr>
        <p:spPr>
          <a:xfrm>
            <a:off x="7223919" y="2015415"/>
            <a:ext cx="1545753" cy="152650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solidFill>
                <a:schemeClr val="accent1">
                  <a:lumMod val="75000"/>
                </a:schemeClr>
              </a:solidFill>
            </a:endParaRPr>
          </a:p>
        </p:txBody>
      </p:sp>
      <p:sp>
        <p:nvSpPr>
          <p:cNvPr id="11" name="Rounded Rectangle 7">
            <a:extLst>
              <a:ext uri="{FF2B5EF4-FFF2-40B4-BE49-F238E27FC236}">
                <a16:creationId xmlns:a16="http://schemas.microsoft.com/office/drawing/2014/main" id="{1EF73F9B-9461-4887-AB98-F322AA9F30A6}"/>
              </a:ext>
            </a:extLst>
          </p:cNvPr>
          <p:cNvSpPr/>
          <p:nvPr/>
        </p:nvSpPr>
        <p:spPr>
          <a:xfrm>
            <a:off x="1049993" y="1556736"/>
            <a:ext cx="1839055" cy="3559438"/>
          </a:xfrm>
          <a:prstGeom prst="roundRect">
            <a:avLst/>
          </a:prstGeom>
          <a:solidFill>
            <a:schemeClr val="tx2">
              <a:lumMod val="50000"/>
            </a:schemeClr>
          </a:solidFill>
          <a:ln w="50800">
            <a:solidFill>
              <a:schemeClr val="accent1">
                <a:lumMod val="40000"/>
                <a:lumOff val="60000"/>
              </a:schemeClr>
            </a:solidFill>
            <a:prstDash val="sysDash"/>
          </a:ln>
          <a:effectLst>
            <a:outerShdw blurRad="508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5" b="1"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a:p>
            <a:pPr algn="ctr"/>
            <a:endParaRPr lang="en-US" sz="1350" dirty="0"/>
          </a:p>
        </p:txBody>
      </p:sp>
      <p:sp>
        <p:nvSpPr>
          <p:cNvPr id="12" name="Rounded Rectangle 10">
            <a:extLst>
              <a:ext uri="{FF2B5EF4-FFF2-40B4-BE49-F238E27FC236}">
                <a16:creationId xmlns:a16="http://schemas.microsoft.com/office/drawing/2014/main" id="{3FCBCC96-777D-4078-B895-529768EB7F99}"/>
              </a:ext>
            </a:extLst>
          </p:cNvPr>
          <p:cNvSpPr/>
          <p:nvPr/>
        </p:nvSpPr>
        <p:spPr>
          <a:xfrm>
            <a:off x="1221444" y="3249804"/>
            <a:ext cx="1494232" cy="1779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a:p>
            <a:pPr algn="ctr"/>
            <a:endParaRPr lang="en-US" sz="1500" b="1" dirty="0"/>
          </a:p>
          <a:p>
            <a:pPr algn="ctr"/>
            <a:endParaRPr lang="en-US" sz="1500" b="1" dirty="0"/>
          </a:p>
          <a:p>
            <a:pPr algn="ctr"/>
            <a:endParaRPr lang="en-US" sz="1500" b="1" dirty="0"/>
          </a:p>
          <a:p>
            <a:pPr algn="ctr"/>
            <a:endParaRPr lang="en-US" sz="1500" b="1" dirty="0"/>
          </a:p>
        </p:txBody>
      </p:sp>
      <p:sp>
        <p:nvSpPr>
          <p:cNvPr id="13" name="TextBox 27">
            <a:extLst>
              <a:ext uri="{FF2B5EF4-FFF2-40B4-BE49-F238E27FC236}">
                <a16:creationId xmlns:a16="http://schemas.microsoft.com/office/drawing/2014/main" id="{A24C35CD-F1B9-4F4B-AC4B-D46AAA021150}"/>
              </a:ext>
            </a:extLst>
          </p:cNvPr>
          <p:cNvSpPr txBox="1"/>
          <p:nvPr/>
        </p:nvSpPr>
        <p:spPr>
          <a:xfrm>
            <a:off x="1398498" y="3544725"/>
            <a:ext cx="1161126" cy="276999"/>
          </a:xfrm>
          <a:prstGeom prst="rect">
            <a:avLst/>
          </a:prstGeom>
          <a:solidFill>
            <a:schemeClr val="accent6">
              <a:lumMod val="20000"/>
              <a:lumOff val="80000"/>
            </a:schemeClr>
          </a:solidFill>
        </p:spPr>
        <p:txBody>
          <a:bodyPr wrap="square" rtlCol="0">
            <a:spAutoFit/>
          </a:bodyPr>
          <a:lstStyle/>
          <a:p>
            <a:pPr algn="ctr"/>
            <a:r>
              <a:rPr lang="en-US" sz="1200" dirty="0">
                <a:solidFill>
                  <a:schemeClr val="accent1">
                    <a:lumMod val="50000"/>
                  </a:schemeClr>
                </a:solidFill>
              </a:rPr>
              <a:t>Textual content</a:t>
            </a:r>
            <a:endParaRPr lang="en-US" dirty="0">
              <a:solidFill>
                <a:schemeClr val="accent1">
                  <a:lumMod val="50000"/>
                </a:schemeClr>
              </a:solidFill>
            </a:endParaRPr>
          </a:p>
        </p:txBody>
      </p:sp>
      <p:sp>
        <p:nvSpPr>
          <p:cNvPr id="14" name="TextBox 28">
            <a:extLst>
              <a:ext uri="{FF2B5EF4-FFF2-40B4-BE49-F238E27FC236}">
                <a16:creationId xmlns:a16="http://schemas.microsoft.com/office/drawing/2014/main" id="{A37AE5DD-7EA9-4D05-86AC-59B70953BA6C}"/>
              </a:ext>
            </a:extLst>
          </p:cNvPr>
          <p:cNvSpPr txBox="1"/>
          <p:nvPr/>
        </p:nvSpPr>
        <p:spPr>
          <a:xfrm>
            <a:off x="1398498" y="3834161"/>
            <a:ext cx="1161125" cy="276999"/>
          </a:xfrm>
          <a:prstGeom prst="rect">
            <a:avLst/>
          </a:prstGeom>
          <a:solidFill>
            <a:schemeClr val="accent6">
              <a:lumMod val="20000"/>
              <a:lumOff val="80000"/>
            </a:schemeClr>
          </a:solidFill>
        </p:spPr>
        <p:txBody>
          <a:bodyPr wrap="square" rtlCol="0">
            <a:spAutoFit/>
          </a:bodyPr>
          <a:lstStyle/>
          <a:p>
            <a:pPr algn="ctr"/>
            <a:r>
              <a:rPr lang="en-US" sz="1200" dirty="0">
                <a:solidFill>
                  <a:schemeClr val="tx2">
                    <a:lumMod val="75000"/>
                  </a:schemeClr>
                </a:solidFill>
              </a:rPr>
              <a:t>Graphics</a:t>
            </a:r>
            <a:endParaRPr lang="en-US" dirty="0">
              <a:solidFill>
                <a:schemeClr val="tx2">
                  <a:lumMod val="75000"/>
                </a:schemeClr>
              </a:solidFill>
            </a:endParaRPr>
          </a:p>
        </p:txBody>
      </p:sp>
      <p:sp>
        <p:nvSpPr>
          <p:cNvPr id="15" name="TextBox 29">
            <a:extLst>
              <a:ext uri="{FF2B5EF4-FFF2-40B4-BE49-F238E27FC236}">
                <a16:creationId xmlns:a16="http://schemas.microsoft.com/office/drawing/2014/main" id="{8575C780-26EF-41F5-994F-CA36C7D9F420}"/>
              </a:ext>
            </a:extLst>
          </p:cNvPr>
          <p:cNvSpPr txBox="1"/>
          <p:nvPr/>
        </p:nvSpPr>
        <p:spPr>
          <a:xfrm>
            <a:off x="1398498" y="4123368"/>
            <a:ext cx="1161126" cy="276999"/>
          </a:xfrm>
          <a:prstGeom prst="rect">
            <a:avLst/>
          </a:prstGeom>
          <a:solidFill>
            <a:schemeClr val="accent6">
              <a:lumMod val="20000"/>
              <a:lumOff val="80000"/>
            </a:schemeClr>
          </a:solidFill>
        </p:spPr>
        <p:txBody>
          <a:bodyPr wrap="square" rtlCol="0">
            <a:spAutoFit/>
          </a:bodyPr>
          <a:lstStyle/>
          <a:p>
            <a:pPr algn="ctr"/>
            <a:r>
              <a:rPr lang="en-US" sz="1200" dirty="0">
                <a:solidFill>
                  <a:schemeClr val="accent1">
                    <a:lumMod val="50000"/>
                  </a:schemeClr>
                </a:solidFill>
              </a:rPr>
              <a:t>Audio content</a:t>
            </a:r>
            <a:endParaRPr lang="en-US" dirty="0">
              <a:solidFill>
                <a:schemeClr val="accent1">
                  <a:lumMod val="50000"/>
                </a:schemeClr>
              </a:solidFill>
            </a:endParaRPr>
          </a:p>
        </p:txBody>
      </p:sp>
      <p:sp>
        <p:nvSpPr>
          <p:cNvPr id="16" name="Flowchart: Multidocument 31">
            <a:extLst>
              <a:ext uri="{FF2B5EF4-FFF2-40B4-BE49-F238E27FC236}">
                <a16:creationId xmlns:a16="http://schemas.microsoft.com/office/drawing/2014/main" id="{F0B52CC5-9350-497B-9F81-13FEFE870883}"/>
              </a:ext>
            </a:extLst>
          </p:cNvPr>
          <p:cNvSpPr/>
          <p:nvPr/>
        </p:nvSpPr>
        <p:spPr>
          <a:xfrm>
            <a:off x="3413318" y="2223765"/>
            <a:ext cx="991243" cy="1502101"/>
          </a:xfrm>
          <a:prstGeom prst="flowChartMultidocumen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Rectangle 34">
            <a:extLst>
              <a:ext uri="{FF2B5EF4-FFF2-40B4-BE49-F238E27FC236}">
                <a16:creationId xmlns:a16="http://schemas.microsoft.com/office/drawing/2014/main" id="{BC620484-5934-4FAA-AE48-330C9BB1C539}"/>
              </a:ext>
            </a:extLst>
          </p:cNvPr>
          <p:cNvSpPr/>
          <p:nvPr/>
        </p:nvSpPr>
        <p:spPr>
          <a:xfrm>
            <a:off x="3395250" y="2445731"/>
            <a:ext cx="955847" cy="1118255"/>
          </a:xfrm>
          <a:prstGeom prst="rect">
            <a:avLst/>
          </a:prstGeom>
        </p:spPr>
        <p:txBody>
          <a:bodyPr wrap="square">
            <a:spAutoFit/>
          </a:bodyPr>
          <a:lstStyle/>
          <a:p>
            <a:pPr>
              <a:lnSpc>
                <a:spcPts val="1600"/>
              </a:lnSpc>
            </a:pPr>
            <a:r>
              <a:rPr lang="en-US" sz="1500" b="1" spc="-100" dirty="0">
                <a:solidFill>
                  <a:schemeClr val="accent1">
                    <a:lumMod val="50000"/>
                  </a:schemeClr>
                </a:solidFill>
              </a:rPr>
              <a:t>Generated</a:t>
            </a:r>
            <a:r>
              <a:rPr lang="en-US" sz="1500" b="1" dirty="0">
                <a:solidFill>
                  <a:schemeClr val="accent1">
                    <a:lumMod val="50000"/>
                  </a:schemeClr>
                </a:solidFill>
              </a:rPr>
              <a:t> </a:t>
            </a:r>
            <a:br>
              <a:rPr lang="en-US" sz="1500" b="1" dirty="0">
                <a:solidFill>
                  <a:schemeClr val="accent1">
                    <a:lumMod val="50000"/>
                  </a:schemeClr>
                </a:solidFill>
              </a:rPr>
            </a:br>
            <a:r>
              <a:rPr lang="en-US" sz="1500" b="1" dirty="0">
                <a:solidFill>
                  <a:schemeClr val="accent1">
                    <a:lumMod val="50000"/>
                  </a:schemeClr>
                </a:solidFill>
              </a:rPr>
              <a:t>XML +</a:t>
            </a:r>
            <a:br>
              <a:rPr lang="en-US" sz="1500" b="1" dirty="0">
                <a:solidFill>
                  <a:schemeClr val="accent1">
                    <a:lumMod val="50000"/>
                  </a:schemeClr>
                </a:solidFill>
              </a:rPr>
            </a:br>
            <a:r>
              <a:rPr lang="en-US" sz="1500" b="1" dirty="0">
                <a:solidFill>
                  <a:schemeClr val="accent1">
                    <a:lumMod val="50000"/>
                  </a:schemeClr>
                </a:solidFill>
              </a:rPr>
              <a:t>multi-</a:t>
            </a:r>
            <a:br>
              <a:rPr lang="en-US" sz="1500" b="1" dirty="0">
                <a:solidFill>
                  <a:schemeClr val="accent1">
                    <a:lumMod val="50000"/>
                  </a:schemeClr>
                </a:solidFill>
              </a:rPr>
            </a:br>
            <a:r>
              <a:rPr lang="en-US" sz="1500" b="1" dirty="0">
                <a:solidFill>
                  <a:schemeClr val="accent1">
                    <a:lumMod val="50000"/>
                  </a:schemeClr>
                </a:solidFill>
              </a:rPr>
              <a:t>media</a:t>
            </a:r>
          </a:p>
          <a:p>
            <a:pPr>
              <a:lnSpc>
                <a:spcPts val="1600"/>
              </a:lnSpc>
            </a:pPr>
            <a:r>
              <a:rPr lang="en-US" sz="1500" b="1" dirty="0">
                <a:solidFill>
                  <a:schemeClr val="accent1">
                    <a:lumMod val="50000"/>
                  </a:schemeClr>
                </a:solidFill>
              </a:rPr>
              <a:t>content</a:t>
            </a:r>
          </a:p>
        </p:txBody>
      </p:sp>
      <p:sp>
        <p:nvSpPr>
          <p:cNvPr id="18" name="Rounded Rectangle 35">
            <a:extLst>
              <a:ext uri="{FF2B5EF4-FFF2-40B4-BE49-F238E27FC236}">
                <a16:creationId xmlns:a16="http://schemas.microsoft.com/office/drawing/2014/main" id="{EE6B3550-2441-42A9-91FC-0A1C214EF0B3}"/>
              </a:ext>
            </a:extLst>
          </p:cNvPr>
          <p:cNvSpPr/>
          <p:nvPr/>
        </p:nvSpPr>
        <p:spPr>
          <a:xfrm>
            <a:off x="4670618" y="1521899"/>
            <a:ext cx="1839055" cy="3672966"/>
          </a:xfrm>
          <a:prstGeom prst="roundRect">
            <a:avLst/>
          </a:prstGeom>
          <a:solidFill>
            <a:schemeClr val="tx2">
              <a:lumMod val="50000"/>
            </a:schemeClr>
          </a:solidFill>
          <a:effectLst>
            <a:outerShdw blurRad="508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5" b="1"/>
          </a:p>
        </p:txBody>
      </p:sp>
      <p:sp>
        <p:nvSpPr>
          <p:cNvPr id="19" name="Rounded Rectangle 36">
            <a:extLst>
              <a:ext uri="{FF2B5EF4-FFF2-40B4-BE49-F238E27FC236}">
                <a16:creationId xmlns:a16="http://schemas.microsoft.com/office/drawing/2014/main" id="{A97DD69A-94A2-406F-9356-95498599EF9E}"/>
              </a:ext>
            </a:extLst>
          </p:cNvPr>
          <p:cNvSpPr/>
          <p:nvPr/>
        </p:nvSpPr>
        <p:spPr>
          <a:xfrm>
            <a:off x="4833699" y="1881972"/>
            <a:ext cx="1560184" cy="38696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accent1">
                    <a:lumMod val="75000"/>
                  </a:schemeClr>
                </a:solidFill>
              </a:rPr>
              <a:t>Unity3D API</a:t>
            </a:r>
          </a:p>
        </p:txBody>
      </p:sp>
      <p:sp>
        <p:nvSpPr>
          <p:cNvPr id="20" name="Rounded Rectangle 37">
            <a:extLst>
              <a:ext uri="{FF2B5EF4-FFF2-40B4-BE49-F238E27FC236}">
                <a16:creationId xmlns:a16="http://schemas.microsoft.com/office/drawing/2014/main" id="{F4167D76-C129-4FF1-861F-28E0138AF1E7}"/>
              </a:ext>
            </a:extLst>
          </p:cNvPr>
          <p:cNvSpPr/>
          <p:nvPr/>
        </p:nvSpPr>
        <p:spPr>
          <a:xfrm>
            <a:off x="4840669" y="2425581"/>
            <a:ext cx="1544415" cy="10556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t>Unity3D Editor</a:t>
            </a:r>
          </a:p>
          <a:p>
            <a:pPr algn="ctr"/>
            <a:endParaRPr lang="en-US" sz="1500" b="1" dirty="0"/>
          </a:p>
          <a:p>
            <a:pPr algn="ctr"/>
            <a:endParaRPr lang="en-US" sz="900" b="1" dirty="0"/>
          </a:p>
          <a:p>
            <a:pPr algn="ctr"/>
            <a:endParaRPr lang="en-US" sz="1500" b="1" dirty="0"/>
          </a:p>
          <a:p>
            <a:pPr algn="ctr"/>
            <a:endParaRPr lang="en-US" sz="1500" b="1" dirty="0"/>
          </a:p>
        </p:txBody>
      </p:sp>
      <p:grpSp>
        <p:nvGrpSpPr>
          <p:cNvPr id="21" name="Group 20">
            <a:extLst>
              <a:ext uri="{FF2B5EF4-FFF2-40B4-BE49-F238E27FC236}">
                <a16:creationId xmlns:a16="http://schemas.microsoft.com/office/drawing/2014/main" id="{23997173-B329-421C-BCEB-3888C9130E44}"/>
              </a:ext>
            </a:extLst>
          </p:cNvPr>
          <p:cNvGrpSpPr/>
          <p:nvPr/>
        </p:nvGrpSpPr>
        <p:grpSpPr>
          <a:xfrm>
            <a:off x="4849513" y="3648658"/>
            <a:ext cx="1544279" cy="623823"/>
            <a:chOff x="4499372" y="3993657"/>
            <a:chExt cx="1432935" cy="631011"/>
          </a:xfrm>
        </p:grpSpPr>
        <p:sp>
          <p:nvSpPr>
            <p:cNvPr id="22" name="Rounded Rectangle 44">
              <a:extLst>
                <a:ext uri="{FF2B5EF4-FFF2-40B4-BE49-F238E27FC236}">
                  <a16:creationId xmlns:a16="http://schemas.microsoft.com/office/drawing/2014/main" id="{445E3695-32F5-435F-856E-8367BC54286B}"/>
                </a:ext>
              </a:extLst>
            </p:cNvPr>
            <p:cNvSpPr/>
            <p:nvPr/>
          </p:nvSpPr>
          <p:spPr>
            <a:xfrm>
              <a:off x="4727972" y="4161803"/>
              <a:ext cx="1204335" cy="4628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23" name="Rounded Rectangle 43">
              <a:extLst>
                <a:ext uri="{FF2B5EF4-FFF2-40B4-BE49-F238E27FC236}">
                  <a16:creationId xmlns:a16="http://schemas.microsoft.com/office/drawing/2014/main" id="{36522655-4FE4-4540-9578-E3EF94416BE9}"/>
                </a:ext>
              </a:extLst>
            </p:cNvPr>
            <p:cNvSpPr/>
            <p:nvPr/>
          </p:nvSpPr>
          <p:spPr>
            <a:xfrm>
              <a:off x="4613672" y="4088172"/>
              <a:ext cx="1204335" cy="4628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24" name="Rounded Rectangle 38">
              <a:extLst>
                <a:ext uri="{FF2B5EF4-FFF2-40B4-BE49-F238E27FC236}">
                  <a16:creationId xmlns:a16="http://schemas.microsoft.com/office/drawing/2014/main" id="{0A282A2A-A8F3-4B69-B073-CF3A5BFABB24}"/>
                </a:ext>
              </a:extLst>
            </p:cNvPr>
            <p:cNvSpPr/>
            <p:nvPr/>
          </p:nvSpPr>
          <p:spPr>
            <a:xfrm>
              <a:off x="4499372" y="3993657"/>
              <a:ext cx="1204335" cy="4628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t>Didactic game tasks</a:t>
              </a:r>
            </a:p>
          </p:txBody>
        </p:sp>
      </p:grpSp>
      <p:sp>
        <p:nvSpPr>
          <p:cNvPr id="25" name="Right Arrow 47">
            <a:extLst>
              <a:ext uri="{FF2B5EF4-FFF2-40B4-BE49-F238E27FC236}">
                <a16:creationId xmlns:a16="http://schemas.microsoft.com/office/drawing/2014/main" id="{09B6B2C0-B0A6-4748-882D-847E38E37DA0}"/>
              </a:ext>
            </a:extLst>
          </p:cNvPr>
          <p:cNvSpPr/>
          <p:nvPr/>
        </p:nvSpPr>
        <p:spPr>
          <a:xfrm>
            <a:off x="2922501" y="2756887"/>
            <a:ext cx="493570" cy="235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Right Arrow 48">
            <a:extLst>
              <a:ext uri="{FF2B5EF4-FFF2-40B4-BE49-F238E27FC236}">
                <a16:creationId xmlns:a16="http://schemas.microsoft.com/office/drawing/2014/main" id="{057EC8EE-9E72-4C8F-BD0E-4984E7A3922E}"/>
              </a:ext>
            </a:extLst>
          </p:cNvPr>
          <p:cNvSpPr/>
          <p:nvPr/>
        </p:nvSpPr>
        <p:spPr>
          <a:xfrm>
            <a:off x="4270568" y="2756887"/>
            <a:ext cx="402293" cy="2351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Right Arrow 50">
            <a:extLst>
              <a:ext uri="{FF2B5EF4-FFF2-40B4-BE49-F238E27FC236}">
                <a16:creationId xmlns:a16="http://schemas.microsoft.com/office/drawing/2014/main" id="{23C99EB5-98B9-49A6-BC32-06C8AAC30FC4}"/>
              </a:ext>
            </a:extLst>
          </p:cNvPr>
          <p:cNvSpPr/>
          <p:nvPr/>
        </p:nvSpPr>
        <p:spPr>
          <a:xfrm>
            <a:off x="6499418" y="2724764"/>
            <a:ext cx="567943" cy="2248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8" name="Group 1">
            <a:extLst>
              <a:ext uri="{FF2B5EF4-FFF2-40B4-BE49-F238E27FC236}">
                <a16:creationId xmlns:a16="http://schemas.microsoft.com/office/drawing/2014/main" id="{E82702D6-EDC7-42F7-B630-8E6FCEECD3B7}"/>
              </a:ext>
            </a:extLst>
          </p:cNvPr>
          <p:cNvGrpSpPr/>
          <p:nvPr/>
        </p:nvGrpSpPr>
        <p:grpSpPr>
          <a:xfrm>
            <a:off x="2904571" y="3979446"/>
            <a:ext cx="1631710" cy="872513"/>
            <a:chOff x="2357718" y="4202952"/>
            <a:chExt cx="2163481" cy="1176754"/>
          </a:xfrm>
        </p:grpSpPr>
        <p:sp>
          <p:nvSpPr>
            <p:cNvPr id="29" name="Right Arrow Callout 33">
              <a:extLst>
                <a:ext uri="{FF2B5EF4-FFF2-40B4-BE49-F238E27FC236}">
                  <a16:creationId xmlns:a16="http://schemas.microsoft.com/office/drawing/2014/main" id="{0EFFAEB6-7882-4567-BC36-3F3FBA4EBFAE}"/>
                </a:ext>
              </a:extLst>
            </p:cNvPr>
            <p:cNvSpPr/>
            <p:nvPr/>
          </p:nvSpPr>
          <p:spPr>
            <a:xfrm flipH="1">
              <a:off x="2357718" y="4202952"/>
              <a:ext cx="2163481" cy="1176754"/>
            </a:xfrm>
            <a:prstGeom prst="rightArrowCallout">
              <a:avLst>
                <a:gd name="adj1" fmla="val 23617"/>
                <a:gd name="adj2" fmla="val 23657"/>
                <a:gd name="adj3" fmla="val 17896"/>
                <a:gd name="adj4" fmla="val 72709"/>
              </a:avLst>
            </a:prstGeom>
            <a:solidFill>
              <a:schemeClr val="accent6">
                <a:lumMod val="20000"/>
                <a:lumOff val="80000"/>
              </a:schemeClr>
            </a:solidFill>
            <a:ln w="12700" cmpd="sng">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lowchart: Multidocument 40">
              <a:extLst>
                <a:ext uri="{FF2B5EF4-FFF2-40B4-BE49-F238E27FC236}">
                  <a16:creationId xmlns:a16="http://schemas.microsoft.com/office/drawing/2014/main" id="{88908651-D67D-49A8-9762-BA861FE0A59B}"/>
                </a:ext>
              </a:extLst>
            </p:cNvPr>
            <p:cNvSpPr/>
            <p:nvPr/>
          </p:nvSpPr>
          <p:spPr>
            <a:xfrm>
              <a:off x="3134662" y="4346147"/>
              <a:ext cx="1290916" cy="918047"/>
            </a:xfrm>
            <a:prstGeom prst="flowChartMultidocument">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Title 2">
              <a:extLst>
                <a:ext uri="{FF2B5EF4-FFF2-40B4-BE49-F238E27FC236}">
                  <a16:creationId xmlns:a16="http://schemas.microsoft.com/office/drawing/2014/main" id="{3C69644C-69A2-458C-B67B-EA5CB55632C9}"/>
                </a:ext>
              </a:extLst>
            </p:cNvPr>
            <p:cNvSpPr txBox="1">
              <a:spLocks/>
            </p:cNvSpPr>
            <p:nvPr/>
          </p:nvSpPr>
          <p:spPr>
            <a:xfrm>
              <a:off x="3062944" y="4603370"/>
              <a:ext cx="1290917" cy="718678"/>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450"/>
                </a:spcBef>
              </a:pPr>
              <a:r>
                <a:rPr lang="en-US" sz="1500" b="1" dirty="0">
                  <a:solidFill>
                    <a:schemeClr val="accent1">
                      <a:lumMod val="50000"/>
                    </a:schemeClr>
                  </a:solidFill>
                  <a:latin typeface="Calibri" panose="020F0502020204030204" pitchFamily="34" charset="0"/>
                </a:rPr>
                <a:t>Metadata</a:t>
              </a:r>
              <a:br>
                <a:rPr lang="en-US" sz="1500" b="1" dirty="0">
                  <a:solidFill>
                    <a:schemeClr val="accent1">
                      <a:lumMod val="50000"/>
                    </a:schemeClr>
                  </a:solidFill>
                  <a:latin typeface="Calibri" panose="020F0502020204030204" pitchFamily="34" charset="0"/>
                </a:rPr>
              </a:br>
              <a:r>
                <a:rPr lang="en-US" sz="1500" b="1" dirty="0">
                  <a:solidFill>
                    <a:schemeClr val="accent1">
                      <a:lumMod val="50000"/>
                    </a:schemeClr>
                  </a:solidFill>
                  <a:latin typeface="Calibri" panose="020F0502020204030204" pitchFamily="34" charset="0"/>
                </a:rPr>
                <a:t>(XSD)</a:t>
              </a:r>
              <a:br>
                <a:rPr lang="en-US" sz="1500" b="1" dirty="0">
                  <a:solidFill>
                    <a:schemeClr val="accent1">
                      <a:lumMod val="50000"/>
                    </a:schemeClr>
                  </a:solidFill>
                  <a:latin typeface="Calibri" panose="020F0502020204030204" pitchFamily="34" charset="0"/>
                </a:rPr>
              </a:br>
              <a:endParaRPr lang="en-US" sz="1500" b="1" dirty="0">
                <a:solidFill>
                  <a:schemeClr val="accent1">
                    <a:lumMod val="50000"/>
                  </a:schemeClr>
                </a:solidFill>
                <a:latin typeface="Calibri" panose="020F0502020204030204" pitchFamily="34" charset="0"/>
              </a:endParaRPr>
            </a:p>
          </p:txBody>
        </p:sp>
      </p:grpSp>
      <p:sp>
        <p:nvSpPr>
          <p:cNvPr id="32" name="Rounded Rectangle 42">
            <a:extLst>
              <a:ext uri="{FF2B5EF4-FFF2-40B4-BE49-F238E27FC236}">
                <a16:creationId xmlns:a16="http://schemas.microsoft.com/office/drawing/2014/main" id="{54E027C4-9503-4999-89DF-00DA6CD70E14}"/>
              </a:ext>
            </a:extLst>
          </p:cNvPr>
          <p:cNvSpPr/>
          <p:nvPr/>
        </p:nvSpPr>
        <p:spPr>
          <a:xfrm>
            <a:off x="1220219" y="2045678"/>
            <a:ext cx="1520262" cy="999728"/>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sz="1500" b="1" dirty="0">
                <a:solidFill>
                  <a:schemeClr val="accent1">
                    <a:lumMod val="50000"/>
                  </a:schemeClr>
                </a:solidFill>
              </a:rPr>
              <a:t>Connectivity Editor</a:t>
            </a:r>
          </a:p>
          <a:p>
            <a:pPr algn="ctr"/>
            <a:endParaRPr lang="en-US" sz="1350" dirty="0">
              <a:solidFill>
                <a:schemeClr val="accent1">
                  <a:lumMod val="50000"/>
                </a:schemeClr>
              </a:solidFill>
            </a:endParaRPr>
          </a:p>
          <a:p>
            <a:pPr algn="ctr"/>
            <a:endParaRPr lang="en-US" sz="1350" dirty="0">
              <a:solidFill>
                <a:schemeClr val="accent1">
                  <a:lumMod val="50000"/>
                </a:schemeClr>
              </a:solidFill>
            </a:endParaRPr>
          </a:p>
          <a:p>
            <a:pPr algn="ctr"/>
            <a:endParaRPr lang="en-US" sz="1350" dirty="0">
              <a:solidFill>
                <a:schemeClr val="accent1">
                  <a:lumMod val="50000"/>
                </a:schemeClr>
              </a:solidFill>
            </a:endParaRPr>
          </a:p>
        </p:txBody>
      </p:sp>
      <p:grpSp>
        <p:nvGrpSpPr>
          <p:cNvPr id="33" name="Group 49">
            <a:extLst>
              <a:ext uri="{FF2B5EF4-FFF2-40B4-BE49-F238E27FC236}">
                <a16:creationId xmlns:a16="http://schemas.microsoft.com/office/drawing/2014/main" id="{E2E2A5B0-4E73-47D8-9731-31F229A65BD7}"/>
              </a:ext>
            </a:extLst>
          </p:cNvPr>
          <p:cNvGrpSpPr/>
          <p:nvPr/>
        </p:nvGrpSpPr>
        <p:grpSpPr>
          <a:xfrm>
            <a:off x="1282393" y="2328524"/>
            <a:ext cx="1415493" cy="683935"/>
            <a:chOff x="609600" y="2852351"/>
            <a:chExt cx="2209800" cy="1141613"/>
          </a:xfrm>
        </p:grpSpPr>
        <p:sp>
          <p:nvSpPr>
            <p:cNvPr id="34" name="Oval 51">
              <a:extLst>
                <a:ext uri="{FF2B5EF4-FFF2-40B4-BE49-F238E27FC236}">
                  <a16:creationId xmlns:a16="http://schemas.microsoft.com/office/drawing/2014/main" id="{0028E7D2-C632-4808-817F-F82BB89DF6A3}"/>
                </a:ext>
              </a:extLst>
            </p:cNvPr>
            <p:cNvSpPr/>
            <p:nvPr/>
          </p:nvSpPr>
          <p:spPr>
            <a:xfrm>
              <a:off x="1447800" y="2992394"/>
              <a:ext cx="304800" cy="304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5" name="Oval 52">
              <a:extLst>
                <a:ext uri="{FF2B5EF4-FFF2-40B4-BE49-F238E27FC236}">
                  <a16:creationId xmlns:a16="http://schemas.microsoft.com/office/drawing/2014/main" id="{3DA41AC6-A8A8-4CD9-8801-C2691A35AA67}"/>
                </a:ext>
              </a:extLst>
            </p:cNvPr>
            <p:cNvSpPr/>
            <p:nvPr/>
          </p:nvSpPr>
          <p:spPr>
            <a:xfrm>
              <a:off x="2133600" y="285235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Oval 53">
              <a:extLst>
                <a:ext uri="{FF2B5EF4-FFF2-40B4-BE49-F238E27FC236}">
                  <a16:creationId xmlns:a16="http://schemas.microsoft.com/office/drawing/2014/main" id="{FA78797D-DE43-43FE-B57C-44A20675E972}"/>
                </a:ext>
              </a:extLst>
            </p:cNvPr>
            <p:cNvSpPr/>
            <p:nvPr/>
          </p:nvSpPr>
          <p:spPr>
            <a:xfrm>
              <a:off x="2514600" y="342900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Oval 54">
              <a:extLst>
                <a:ext uri="{FF2B5EF4-FFF2-40B4-BE49-F238E27FC236}">
                  <a16:creationId xmlns:a16="http://schemas.microsoft.com/office/drawing/2014/main" id="{D949C1D1-3C9A-47FF-A1FB-EAF8586A82E0}"/>
                </a:ext>
              </a:extLst>
            </p:cNvPr>
            <p:cNvSpPr/>
            <p:nvPr/>
          </p:nvSpPr>
          <p:spPr>
            <a:xfrm>
              <a:off x="1828800" y="3667897"/>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8" name="Oval 55">
              <a:extLst>
                <a:ext uri="{FF2B5EF4-FFF2-40B4-BE49-F238E27FC236}">
                  <a16:creationId xmlns:a16="http://schemas.microsoft.com/office/drawing/2014/main" id="{FEB5C977-8210-4DA6-AB21-31E1FE95E538}"/>
                </a:ext>
              </a:extLst>
            </p:cNvPr>
            <p:cNvSpPr/>
            <p:nvPr/>
          </p:nvSpPr>
          <p:spPr>
            <a:xfrm>
              <a:off x="609600" y="3048001"/>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39" name="Straight Arrow Connector 56">
              <a:extLst>
                <a:ext uri="{FF2B5EF4-FFF2-40B4-BE49-F238E27FC236}">
                  <a16:creationId xmlns:a16="http://schemas.microsoft.com/office/drawing/2014/main" id="{13A78C97-CB28-4BBC-A558-24C3875BA85B}"/>
                </a:ext>
              </a:extLst>
            </p:cNvPr>
            <p:cNvCxnSpPr>
              <a:stCxn id="37" idx="2"/>
              <a:endCxn id="38" idx="5"/>
            </p:cNvCxnSpPr>
            <p:nvPr/>
          </p:nvCxnSpPr>
          <p:spPr>
            <a:xfrm flipH="1" flipV="1">
              <a:off x="869763" y="3308165"/>
              <a:ext cx="959037" cy="512133"/>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0" name="Straight Arrow Connector 57">
              <a:extLst>
                <a:ext uri="{FF2B5EF4-FFF2-40B4-BE49-F238E27FC236}">
                  <a16:creationId xmlns:a16="http://schemas.microsoft.com/office/drawing/2014/main" id="{16163C49-EF42-43B2-8E88-7C3C1F7E8373}"/>
                </a:ext>
              </a:extLst>
            </p:cNvPr>
            <p:cNvCxnSpPr>
              <a:stCxn id="38" idx="0"/>
              <a:endCxn id="34" idx="2"/>
            </p:cNvCxnSpPr>
            <p:nvPr/>
          </p:nvCxnSpPr>
          <p:spPr>
            <a:xfrm>
              <a:off x="762000" y="3048001"/>
              <a:ext cx="685800" cy="96793"/>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1" name="Straight Arrow Connector 58">
              <a:extLst>
                <a:ext uri="{FF2B5EF4-FFF2-40B4-BE49-F238E27FC236}">
                  <a16:creationId xmlns:a16="http://schemas.microsoft.com/office/drawing/2014/main" id="{83569C77-40BE-461B-B1A1-F268B4D0F24C}"/>
                </a:ext>
              </a:extLst>
            </p:cNvPr>
            <p:cNvCxnSpPr>
              <a:stCxn id="34" idx="6"/>
              <a:endCxn id="35" idx="3"/>
            </p:cNvCxnSpPr>
            <p:nvPr/>
          </p:nvCxnSpPr>
          <p:spPr>
            <a:xfrm flipV="1">
              <a:off x="1752600" y="3112514"/>
              <a:ext cx="425637" cy="32280"/>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2" name="Straight Arrow Connector 59">
              <a:extLst>
                <a:ext uri="{FF2B5EF4-FFF2-40B4-BE49-F238E27FC236}">
                  <a16:creationId xmlns:a16="http://schemas.microsoft.com/office/drawing/2014/main" id="{2F8C0108-1FB9-4A57-85DE-E105412F3758}"/>
                </a:ext>
              </a:extLst>
            </p:cNvPr>
            <p:cNvCxnSpPr>
              <a:stCxn id="36" idx="2"/>
              <a:endCxn id="34" idx="5"/>
            </p:cNvCxnSpPr>
            <p:nvPr/>
          </p:nvCxnSpPr>
          <p:spPr>
            <a:xfrm flipH="1" flipV="1">
              <a:off x="1707963" y="3252557"/>
              <a:ext cx="806637" cy="328845"/>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3" name="Straight Arrow Connector 60">
              <a:extLst>
                <a:ext uri="{FF2B5EF4-FFF2-40B4-BE49-F238E27FC236}">
                  <a16:creationId xmlns:a16="http://schemas.microsoft.com/office/drawing/2014/main" id="{AB885B13-360A-414C-9F01-F42565BEA3AD}"/>
                </a:ext>
              </a:extLst>
            </p:cNvPr>
            <p:cNvCxnSpPr>
              <a:stCxn id="36" idx="1"/>
              <a:endCxn id="35" idx="4"/>
            </p:cNvCxnSpPr>
            <p:nvPr/>
          </p:nvCxnSpPr>
          <p:spPr>
            <a:xfrm flipH="1" flipV="1">
              <a:off x="2285999" y="3157151"/>
              <a:ext cx="273238" cy="316487"/>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4" name="Straight Arrow Connector 61">
              <a:extLst>
                <a:ext uri="{FF2B5EF4-FFF2-40B4-BE49-F238E27FC236}">
                  <a16:creationId xmlns:a16="http://schemas.microsoft.com/office/drawing/2014/main" id="{3FDF3128-B9CE-4A55-A085-794A949B5011}"/>
                </a:ext>
              </a:extLst>
            </p:cNvPr>
            <p:cNvCxnSpPr>
              <a:stCxn id="37" idx="6"/>
              <a:endCxn id="36" idx="3"/>
            </p:cNvCxnSpPr>
            <p:nvPr/>
          </p:nvCxnSpPr>
          <p:spPr>
            <a:xfrm flipV="1">
              <a:off x="2133600" y="3689165"/>
              <a:ext cx="425638" cy="131133"/>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5" name="Straight Arrow Connector 62">
              <a:extLst>
                <a:ext uri="{FF2B5EF4-FFF2-40B4-BE49-F238E27FC236}">
                  <a16:creationId xmlns:a16="http://schemas.microsoft.com/office/drawing/2014/main" id="{33C64DD8-FA2A-4F49-925E-36FC1F084060}"/>
                </a:ext>
              </a:extLst>
            </p:cNvPr>
            <p:cNvCxnSpPr>
              <a:stCxn id="35" idx="3"/>
              <a:endCxn id="37" idx="7"/>
            </p:cNvCxnSpPr>
            <p:nvPr/>
          </p:nvCxnSpPr>
          <p:spPr>
            <a:xfrm flipH="1">
              <a:off x="2088962" y="3112514"/>
              <a:ext cx="89274" cy="600020"/>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6" name="Straight Arrow Connector 63">
              <a:extLst>
                <a:ext uri="{FF2B5EF4-FFF2-40B4-BE49-F238E27FC236}">
                  <a16:creationId xmlns:a16="http://schemas.microsoft.com/office/drawing/2014/main" id="{3F21C254-E580-4D8A-87C1-F1CE184D087A}"/>
                </a:ext>
              </a:extLst>
            </p:cNvPr>
            <p:cNvCxnSpPr>
              <a:stCxn id="34" idx="3"/>
              <a:endCxn id="48" idx="0"/>
            </p:cNvCxnSpPr>
            <p:nvPr/>
          </p:nvCxnSpPr>
          <p:spPr>
            <a:xfrm flipH="1">
              <a:off x="990600" y="3252557"/>
              <a:ext cx="501838" cy="436607"/>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cxnSp>
          <p:nvCxnSpPr>
            <p:cNvPr id="47" name="Straight Arrow Connector 64">
              <a:extLst>
                <a:ext uri="{FF2B5EF4-FFF2-40B4-BE49-F238E27FC236}">
                  <a16:creationId xmlns:a16="http://schemas.microsoft.com/office/drawing/2014/main" id="{E17F0E2C-76A0-43DC-AA12-BBA23AA39920}"/>
                </a:ext>
              </a:extLst>
            </p:cNvPr>
            <p:cNvCxnSpPr>
              <a:stCxn id="48" idx="6"/>
              <a:endCxn id="37" idx="3"/>
            </p:cNvCxnSpPr>
            <p:nvPr/>
          </p:nvCxnSpPr>
          <p:spPr>
            <a:xfrm>
              <a:off x="1142999" y="3841564"/>
              <a:ext cx="730438" cy="86496"/>
            </a:xfrm>
            <a:prstGeom prst="straightConnector1">
              <a:avLst/>
            </a:prstGeom>
            <a:ln w="31750" cmpd="sng">
              <a:tailEnd type="stealth"/>
            </a:ln>
          </p:spPr>
          <p:style>
            <a:lnRef idx="1">
              <a:schemeClr val="accent1"/>
            </a:lnRef>
            <a:fillRef idx="0">
              <a:schemeClr val="accent1"/>
            </a:fillRef>
            <a:effectRef idx="0">
              <a:schemeClr val="accent1"/>
            </a:effectRef>
            <a:fontRef idx="minor">
              <a:schemeClr val="tx1"/>
            </a:fontRef>
          </p:style>
        </p:cxnSp>
        <p:sp>
          <p:nvSpPr>
            <p:cNvPr id="48" name="Oval 65">
              <a:extLst>
                <a:ext uri="{FF2B5EF4-FFF2-40B4-BE49-F238E27FC236}">
                  <a16:creationId xmlns:a16="http://schemas.microsoft.com/office/drawing/2014/main" id="{FCAEDB2B-3BC1-41AE-B5E9-04A0630A9FCF}"/>
                </a:ext>
              </a:extLst>
            </p:cNvPr>
            <p:cNvSpPr/>
            <p:nvPr/>
          </p:nvSpPr>
          <p:spPr>
            <a:xfrm>
              <a:off x="838200" y="3689164"/>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cxnSp>
        <p:nvCxnSpPr>
          <p:cNvPr id="49" name="Straight Arrow Connector 30">
            <a:extLst>
              <a:ext uri="{FF2B5EF4-FFF2-40B4-BE49-F238E27FC236}">
                <a16:creationId xmlns:a16="http://schemas.microsoft.com/office/drawing/2014/main" id="{5B31F622-6A90-446B-AFE3-6B41AB431557}"/>
              </a:ext>
            </a:extLst>
          </p:cNvPr>
          <p:cNvCxnSpPr>
            <a:stCxn id="34" idx="4"/>
            <a:endCxn id="12" idx="0"/>
          </p:cNvCxnSpPr>
          <p:nvPr/>
        </p:nvCxnSpPr>
        <p:spPr>
          <a:xfrm>
            <a:off x="1916924" y="2595027"/>
            <a:ext cx="51636" cy="654777"/>
          </a:xfrm>
          <a:prstGeom prst="straightConnector1">
            <a:avLst/>
          </a:prstGeom>
          <a:ln w="25400">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50" name="TextBox 29">
            <a:extLst>
              <a:ext uri="{FF2B5EF4-FFF2-40B4-BE49-F238E27FC236}">
                <a16:creationId xmlns:a16="http://schemas.microsoft.com/office/drawing/2014/main" id="{D827CAF3-EB19-4B61-A801-8683C500A5E4}"/>
              </a:ext>
            </a:extLst>
          </p:cNvPr>
          <p:cNvSpPr txBox="1"/>
          <p:nvPr/>
        </p:nvSpPr>
        <p:spPr>
          <a:xfrm>
            <a:off x="1398498" y="4416262"/>
            <a:ext cx="1161126" cy="276999"/>
          </a:xfrm>
          <a:prstGeom prst="rect">
            <a:avLst/>
          </a:prstGeom>
          <a:solidFill>
            <a:schemeClr val="accent6">
              <a:lumMod val="20000"/>
              <a:lumOff val="80000"/>
            </a:schemeClr>
          </a:solidFill>
        </p:spPr>
        <p:txBody>
          <a:bodyPr wrap="square" rtlCol="0">
            <a:spAutoFit/>
          </a:bodyPr>
          <a:lstStyle/>
          <a:p>
            <a:pPr algn="ctr"/>
            <a:r>
              <a:rPr lang="en-US" sz="1200" dirty="0">
                <a:solidFill>
                  <a:schemeClr val="accent1">
                    <a:lumMod val="50000"/>
                  </a:schemeClr>
                </a:solidFill>
              </a:rPr>
              <a:t>Didactic tasks</a:t>
            </a:r>
            <a:endParaRPr lang="en-US" dirty="0">
              <a:solidFill>
                <a:schemeClr val="accent1">
                  <a:lumMod val="50000"/>
                </a:schemeClr>
              </a:solidFill>
            </a:endParaRPr>
          </a:p>
        </p:txBody>
      </p:sp>
      <p:sp>
        <p:nvSpPr>
          <p:cNvPr id="51" name="Правоъгълник 48">
            <a:extLst>
              <a:ext uri="{FF2B5EF4-FFF2-40B4-BE49-F238E27FC236}">
                <a16:creationId xmlns:a16="http://schemas.microsoft.com/office/drawing/2014/main" id="{203503A4-231F-4D77-966F-154493FE4803}"/>
              </a:ext>
            </a:extLst>
          </p:cNvPr>
          <p:cNvSpPr/>
          <p:nvPr/>
        </p:nvSpPr>
        <p:spPr>
          <a:xfrm>
            <a:off x="1304823" y="3247037"/>
            <a:ext cx="1415007" cy="323165"/>
          </a:xfrm>
          <a:prstGeom prst="rect">
            <a:avLst/>
          </a:prstGeom>
        </p:spPr>
        <p:txBody>
          <a:bodyPr wrap="square">
            <a:spAutoFit/>
          </a:bodyPr>
          <a:lstStyle/>
          <a:p>
            <a:r>
              <a:rPr lang="en-US" sz="1500" b="1" dirty="0">
                <a:solidFill>
                  <a:schemeClr val="bg1"/>
                </a:solidFill>
              </a:rPr>
              <a:t>Property Editor</a:t>
            </a:r>
            <a:endParaRPr lang="bg-BG" sz="1500" dirty="0">
              <a:solidFill>
                <a:schemeClr val="bg1"/>
              </a:solidFill>
            </a:endParaRPr>
          </a:p>
        </p:txBody>
      </p:sp>
      <p:sp>
        <p:nvSpPr>
          <p:cNvPr id="52" name="Правоъгълник 49">
            <a:extLst>
              <a:ext uri="{FF2B5EF4-FFF2-40B4-BE49-F238E27FC236}">
                <a16:creationId xmlns:a16="http://schemas.microsoft.com/office/drawing/2014/main" id="{032BC66B-C5AB-4935-B84E-22088884CB2B}"/>
              </a:ext>
            </a:extLst>
          </p:cNvPr>
          <p:cNvSpPr/>
          <p:nvPr/>
        </p:nvSpPr>
        <p:spPr>
          <a:xfrm>
            <a:off x="1380208" y="1657007"/>
            <a:ext cx="1146191" cy="277768"/>
          </a:xfrm>
          <a:prstGeom prst="rect">
            <a:avLst/>
          </a:prstGeom>
        </p:spPr>
        <p:txBody>
          <a:bodyPr wrap="square">
            <a:spAutoFit/>
          </a:bodyPr>
          <a:lstStyle/>
          <a:p>
            <a:pPr algn="ctr">
              <a:lnSpc>
                <a:spcPts val="1350"/>
              </a:lnSpc>
            </a:pPr>
            <a:r>
              <a:rPr lang="en-US" sz="1500" b="1" dirty="0">
                <a:solidFill>
                  <a:schemeClr val="accent6">
                    <a:lumMod val="20000"/>
                    <a:lumOff val="80000"/>
                  </a:schemeClr>
                </a:solidFill>
              </a:rPr>
              <a:t>Maze Editor</a:t>
            </a:r>
          </a:p>
        </p:txBody>
      </p:sp>
      <p:sp>
        <p:nvSpPr>
          <p:cNvPr id="53" name="Правоъгълник 52">
            <a:extLst>
              <a:ext uri="{FF2B5EF4-FFF2-40B4-BE49-F238E27FC236}">
                <a16:creationId xmlns:a16="http://schemas.microsoft.com/office/drawing/2014/main" id="{8BD31CC8-E49E-4712-9609-DC9734E7E511}"/>
              </a:ext>
            </a:extLst>
          </p:cNvPr>
          <p:cNvSpPr/>
          <p:nvPr/>
        </p:nvSpPr>
        <p:spPr>
          <a:xfrm>
            <a:off x="4950647" y="1581512"/>
            <a:ext cx="1237946" cy="277768"/>
          </a:xfrm>
          <a:prstGeom prst="rect">
            <a:avLst/>
          </a:prstGeom>
        </p:spPr>
        <p:txBody>
          <a:bodyPr wrap="square">
            <a:spAutoFit/>
          </a:bodyPr>
          <a:lstStyle/>
          <a:p>
            <a:pPr algn="ctr">
              <a:lnSpc>
                <a:spcPts val="1350"/>
              </a:lnSpc>
            </a:pPr>
            <a:r>
              <a:rPr lang="en-US" sz="1500" b="1" dirty="0">
                <a:solidFill>
                  <a:schemeClr val="accent6">
                    <a:lumMod val="20000"/>
                    <a:lumOff val="80000"/>
                  </a:schemeClr>
                </a:solidFill>
              </a:rPr>
              <a:t>Maze Builder</a:t>
            </a:r>
          </a:p>
        </p:txBody>
      </p:sp>
      <p:grpSp>
        <p:nvGrpSpPr>
          <p:cNvPr id="54" name="Group 53">
            <a:extLst>
              <a:ext uri="{FF2B5EF4-FFF2-40B4-BE49-F238E27FC236}">
                <a16:creationId xmlns:a16="http://schemas.microsoft.com/office/drawing/2014/main" id="{D4E0EF04-7389-4D09-B281-87296E3F3241}"/>
              </a:ext>
            </a:extLst>
          </p:cNvPr>
          <p:cNvGrpSpPr/>
          <p:nvPr/>
        </p:nvGrpSpPr>
        <p:grpSpPr>
          <a:xfrm>
            <a:off x="4851079" y="4463842"/>
            <a:ext cx="1533948" cy="610994"/>
            <a:chOff x="4492228" y="4817550"/>
            <a:chExt cx="1432935" cy="618034"/>
          </a:xfrm>
        </p:grpSpPr>
        <p:sp>
          <p:nvSpPr>
            <p:cNvPr id="55" name="Rounded Rectangle 44">
              <a:extLst>
                <a:ext uri="{FF2B5EF4-FFF2-40B4-BE49-F238E27FC236}">
                  <a16:creationId xmlns:a16="http://schemas.microsoft.com/office/drawing/2014/main" id="{8D39233B-A8A2-4875-9938-189762D399EF}"/>
                </a:ext>
              </a:extLst>
            </p:cNvPr>
            <p:cNvSpPr/>
            <p:nvPr/>
          </p:nvSpPr>
          <p:spPr>
            <a:xfrm>
              <a:off x="4720828" y="4985696"/>
              <a:ext cx="1204335" cy="449888"/>
            </a:xfrm>
            <a:prstGeom prst="roundRect">
              <a:avLst/>
            </a:prstGeom>
            <a:ln w="25400">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56" name="Rounded Rectangle 43">
              <a:extLst>
                <a:ext uri="{FF2B5EF4-FFF2-40B4-BE49-F238E27FC236}">
                  <a16:creationId xmlns:a16="http://schemas.microsoft.com/office/drawing/2014/main" id="{F2F83C4D-D2BD-4595-942D-E094DD4F7AFF}"/>
                </a:ext>
              </a:extLst>
            </p:cNvPr>
            <p:cNvSpPr/>
            <p:nvPr/>
          </p:nvSpPr>
          <p:spPr>
            <a:xfrm>
              <a:off x="4606528" y="4912066"/>
              <a:ext cx="1204335" cy="449888"/>
            </a:xfrm>
            <a:prstGeom prst="roundRect">
              <a:avLst/>
            </a:prstGeom>
            <a:ln w="25400">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b="1" dirty="0"/>
            </a:p>
          </p:txBody>
        </p:sp>
        <p:sp>
          <p:nvSpPr>
            <p:cNvPr id="57" name="Rounded Rectangle 38">
              <a:extLst>
                <a:ext uri="{FF2B5EF4-FFF2-40B4-BE49-F238E27FC236}">
                  <a16:creationId xmlns:a16="http://schemas.microsoft.com/office/drawing/2014/main" id="{510D50E8-9E51-4585-903B-11A049AB7783}"/>
                </a:ext>
              </a:extLst>
            </p:cNvPr>
            <p:cNvSpPr/>
            <p:nvPr/>
          </p:nvSpPr>
          <p:spPr>
            <a:xfrm>
              <a:off x="4492228" y="4817550"/>
              <a:ext cx="1204335" cy="449888"/>
            </a:xfrm>
            <a:prstGeom prst="roundRect">
              <a:avLst/>
            </a:prstGeom>
            <a:ln w="25400">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t>Virtual players</a:t>
              </a:r>
            </a:p>
          </p:txBody>
        </p:sp>
      </p:grpSp>
      <p:sp>
        <p:nvSpPr>
          <p:cNvPr id="58" name="Rounded Rectangle 37">
            <a:extLst>
              <a:ext uri="{FF2B5EF4-FFF2-40B4-BE49-F238E27FC236}">
                <a16:creationId xmlns:a16="http://schemas.microsoft.com/office/drawing/2014/main" id="{9335AD02-0943-468C-8C0E-168891644F14}"/>
              </a:ext>
            </a:extLst>
          </p:cNvPr>
          <p:cNvSpPr/>
          <p:nvPr/>
        </p:nvSpPr>
        <p:spPr>
          <a:xfrm>
            <a:off x="7239432" y="4390030"/>
            <a:ext cx="1530152" cy="532422"/>
          </a:xfrm>
          <a:prstGeom prst="roundRect">
            <a:avLst/>
          </a:prstGeom>
          <a:ln w="25400">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b="1" dirty="0"/>
              <a:t>Intelligent Q</a:t>
            </a:r>
            <a:r>
              <a:rPr lang="es-ES" sz="1500" b="1" dirty="0"/>
              <a:t>&amp;A</a:t>
            </a:r>
            <a:br>
              <a:rPr lang="es-ES" sz="1500" b="1" dirty="0"/>
            </a:br>
            <a:r>
              <a:rPr lang="es-ES" sz="1500" b="1" dirty="0"/>
              <a:t>agent</a:t>
            </a:r>
            <a:r>
              <a:rPr lang="en-US" sz="1500" b="1" dirty="0"/>
              <a:t>s</a:t>
            </a:r>
          </a:p>
        </p:txBody>
      </p:sp>
      <p:sp>
        <p:nvSpPr>
          <p:cNvPr id="59" name="Правоъгълник 59">
            <a:extLst>
              <a:ext uri="{FF2B5EF4-FFF2-40B4-BE49-F238E27FC236}">
                <a16:creationId xmlns:a16="http://schemas.microsoft.com/office/drawing/2014/main" id="{11594CBD-2A32-41A6-804F-368AD2CC32F8}"/>
              </a:ext>
            </a:extLst>
          </p:cNvPr>
          <p:cNvSpPr/>
          <p:nvPr/>
        </p:nvSpPr>
        <p:spPr>
          <a:xfrm>
            <a:off x="7342731" y="1671293"/>
            <a:ext cx="1272120" cy="277768"/>
          </a:xfrm>
          <a:prstGeom prst="rect">
            <a:avLst/>
          </a:prstGeom>
        </p:spPr>
        <p:txBody>
          <a:bodyPr wrap="square">
            <a:spAutoFit/>
          </a:bodyPr>
          <a:lstStyle/>
          <a:p>
            <a:pPr algn="ctr">
              <a:lnSpc>
                <a:spcPts val="1350"/>
              </a:lnSpc>
            </a:pPr>
            <a:r>
              <a:rPr lang="en-US" sz="1500" b="1" dirty="0">
                <a:solidFill>
                  <a:schemeClr val="accent6">
                    <a:lumMod val="20000"/>
                    <a:lumOff val="80000"/>
                  </a:schemeClr>
                </a:solidFill>
              </a:rPr>
              <a:t>Online games</a:t>
            </a:r>
          </a:p>
        </p:txBody>
      </p:sp>
      <p:sp>
        <p:nvSpPr>
          <p:cNvPr id="60" name="Правоъгълник 61">
            <a:extLst>
              <a:ext uri="{FF2B5EF4-FFF2-40B4-BE49-F238E27FC236}">
                <a16:creationId xmlns:a16="http://schemas.microsoft.com/office/drawing/2014/main" id="{D3139073-5A32-4971-8C56-E56F424F6D77}"/>
              </a:ext>
            </a:extLst>
          </p:cNvPr>
          <p:cNvSpPr/>
          <p:nvPr/>
        </p:nvSpPr>
        <p:spPr>
          <a:xfrm>
            <a:off x="7213379" y="2011167"/>
            <a:ext cx="1503537" cy="636841"/>
          </a:xfrm>
          <a:prstGeom prst="rect">
            <a:avLst/>
          </a:prstGeom>
        </p:spPr>
        <p:txBody>
          <a:bodyPr wrap="square">
            <a:spAutoFit/>
          </a:bodyPr>
          <a:lstStyle/>
          <a:p>
            <a:pPr algn="ctr">
              <a:lnSpc>
                <a:spcPts val="1400"/>
              </a:lnSpc>
            </a:pPr>
            <a:r>
              <a:rPr lang="en-US" sz="1500" b="1" dirty="0">
                <a:solidFill>
                  <a:schemeClr val="accent1">
                    <a:lumMod val="75000"/>
                  </a:schemeClr>
                </a:solidFill>
              </a:rPr>
              <a:t>Unity3D game</a:t>
            </a:r>
            <a:br>
              <a:rPr lang="en-US" sz="1500" b="1" dirty="0">
                <a:solidFill>
                  <a:schemeClr val="accent1">
                    <a:lumMod val="75000"/>
                  </a:schemeClr>
                </a:solidFill>
              </a:rPr>
            </a:br>
            <a:r>
              <a:rPr lang="en-US" sz="1500" b="1" dirty="0">
                <a:solidFill>
                  <a:schemeClr val="accent1">
                    <a:lumMod val="75000"/>
                  </a:schemeClr>
                </a:solidFill>
              </a:rPr>
              <a:t>engine </a:t>
            </a:r>
            <a:br>
              <a:rPr lang="en-US" sz="1500" b="1" dirty="0">
                <a:solidFill>
                  <a:schemeClr val="accent1">
                    <a:lumMod val="75000"/>
                  </a:schemeClr>
                </a:solidFill>
              </a:rPr>
            </a:br>
            <a:r>
              <a:rPr lang="en-US" sz="1500" b="1" dirty="0">
                <a:solidFill>
                  <a:schemeClr val="accent1">
                    <a:lumMod val="75000"/>
                  </a:schemeClr>
                </a:solidFill>
              </a:rPr>
              <a:t>(browser plugin)</a:t>
            </a:r>
          </a:p>
        </p:txBody>
      </p:sp>
      <p:sp>
        <p:nvSpPr>
          <p:cNvPr id="61" name="Rounded Rectangle 37">
            <a:extLst>
              <a:ext uri="{FF2B5EF4-FFF2-40B4-BE49-F238E27FC236}">
                <a16:creationId xmlns:a16="http://schemas.microsoft.com/office/drawing/2014/main" id="{33BD5C5A-3B40-46E3-87BD-81C36535525F}"/>
              </a:ext>
            </a:extLst>
          </p:cNvPr>
          <p:cNvSpPr/>
          <p:nvPr/>
        </p:nvSpPr>
        <p:spPr>
          <a:xfrm>
            <a:off x="7239432" y="3697086"/>
            <a:ext cx="1530152" cy="532422"/>
          </a:xfrm>
          <a:prstGeom prst="roundRect">
            <a:avLst/>
          </a:prstGeom>
          <a:ln w="25400">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500" b="1" dirty="0" err="1"/>
              <a:t>Personalization</a:t>
            </a:r>
            <a:r>
              <a:rPr lang="es-ES" sz="1500" b="1" dirty="0"/>
              <a:t> and </a:t>
            </a:r>
            <a:r>
              <a:rPr lang="es-ES" sz="1500" b="1" dirty="0" err="1"/>
              <a:t>adaptation</a:t>
            </a:r>
            <a:endParaRPr lang="en-US" sz="1500" b="1" dirty="0"/>
          </a:p>
        </p:txBody>
      </p:sp>
      <p:sp>
        <p:nvSpPr>
          <p:cNvPr id="62" name="TextBox 29">
            <a:extLst>
              <a:ext uri="{FF2B5EF4-FFF2-40B4-BE49-F238E27FC236}">
                <a16:creationId xmlns:a16="http://schemas.microsoft.com/office/drawing/2014/main" id="{2CC59017-6CB2-4A8D-A0C5-66B7590EBD69}"/>
              </a:ext>
            </a:extLst>
          </p:cNvPr>
          <p:cNvSpPr txBox="1"/>
          <p:nvPr/>
        </p:nvSpPr>
        <p:spPr>
          <a:xfrm>
            <a:off x="1400320" y="4709156"/>
            <a:ext cx="1161126" cy="276999"/>
          </a:xfrm>
          <a:prstGeom prst="rect">
            <a:avLst/>
          </a:prstGeom>
          <a:solidFill>
            <a:schemeClr val="accent6">
              <a:lumMod val="20000"/>
              <a:lumOff val="80000"/>
            </a:schemeClr>
          </a:solidFill>
        </p:spPr>
        <p:txBody>
          <a:bodyPr wrap="square" rtlCol="0">
            <a:spAutoFit/>
          </a:bodyPr>
          <a:lstStyle/>
          <a:p>
            <a:pPr algn="ctr"/>
            <a:r>
              <a:rPr lang="en-US" sz="1200" dirty="0">
                <a:solidFill>
                  <a:schemeClr val="accent1">
                    <a:lumMod val="50000"/>
                  </a:schemeClr>
                </a:solidFill>
              </a:rPr>
              <a:t>Virtual players</a:t>
            </a:r>
            <a:endParaRPr lang="en-US" dirty="0">
              <a:solidFill>
                <a:schemeClr val="accent1">
                  <a:lumMod val="50000"/>
                </a:schemeClr>
              </a:solidFill>
            </a:endParaRPr>
          </a:p>
        </p:txBody>
      </p:sp>
      <p:pic>
        <p:nvPicPr>
          <p:cNvPr id="63" name="Картина 67">
            <a:extLst>
              <a:ext uri="{FF2B5EF4-FFF2-40B4-BE49-F238E27FC236}">
                <a16:creationId xmlns:a16="http://schemas.microsoft.com/office/drawing/2014/main" id="{F22CAF33-7B03-4F67-8363-DC340352EA27}"/>
              </a:ext>
            </a:extLst>
          </p:cNvPr>
          <p:cNvPicPr>
            <a:picLocks noChangeAspect="1"/>
          </p:cNvPicPr>
          <p:nvPr/>
        </p:nvPicPr>
        <p:blipFill>
          <a:blip r:embed="rId2"/>
          <a:stretch>
            <a:fillRect/>
          </a:stretch>
        </p:blipFill>
        <p:spPr>
          <a:xfrm>
            <a:off x="7313309" y="2636142"/>
            <a:ext cx="1356358" cy="746412"/>
          </a:xfrm>
          <a:prstGeom prst="rect">
            <a:avLst/>
          </a:prstGeom>
        </p:spPr>
      </p:pic>
      <p:sp>
        <p:nvSpPr>
          <p:cNvPr id="64" name="Правоъгълник 68">
            <a:extLst>
              <a:ext uri="{FF2B5EF4-FFF2-40B4-BE49-F238E27FC236}">
                <a16:creationId xmlns:a16="http://schemas.microsoft.com/office/drawing/2014/main" id="{28F9139D-96C3-4B07-8FE5-DFEF334D5A9E}"/>
              </a:ext>
            </a:extLst>
          </p:cNvPr>
          <p:cNvSpPr/>
          <p:nvPr/>
        </p:nvSpPr>
        <p:spPr>
          <a:xfrm>
            <a:off x="7591900" y="2681559"/>
            <a:ext cx="803095" cy="300082"/>
          </a:xfrm>
          <a:prstGeom prst="rect">
            <a:avLst/>
          </a:prstGeom>
        </p:spPr>
        <p:txBody>
          <a:bodyPr wrap="square">
            <a:spAutoFit/>
          </a:bodyPr>
          <a:lstStyle/>
          <a:p>
            <a:pPr algn="ctr"/>
            <a:r>
              <a:rPr lang="en-US" sz="1350" b="1" dirty="0">
                <a:solidFill>
                  <a:schemeClr val="accent6">
                    <a:lumMod val="20000"/>
                    <a:lumOff val="80000"/>
                  </a:schemeClr>
                </a:solidFill>
              </a:rPr>
              <a:t>3D maze</a:t>
            </a:r>
          </a:p>
        </p:txBody>
      </p:sp>
      <p:sp>
        <p:nvSpPr>
          <p:cNvPr id="65" name="Правоъгълник 71">
            <a:extLst>
              <a:ext uri="{FF2B5EF4-FFF2-40B4-BE49-F238E27FC236}">
                <a16:creationId xmlns:a16="http://schemas.microsoft.com/office/drawing/2014/main" id="{D11803BF-28E5-45AF-AE72-55F80FA3C047}"/>
              </a:ext>
            </a:extLst>
          </p:cNvPr>
          <p:cNvSpPr/>
          <p:nvPr/>
        </p:nvSpPr>
        <p:spPr>
          <a:xfrm>
            <a:off x="3367936" y="1484855"/>
            <a:ext cx="1264913" cy="636841"/>
          </a:xfrm>
          <a:prstGeom prst="rect">
            <a:avLst/>
          </a:prstGeom>
        </p:spPr>
        <p:txBody>
          <a:bodyPr wrap="square">
            <a:spAutoFit/>
          </a:bodyPr>
          <a:lstStyle/>
          <a:p>
            <a:pPr algn="ctr">
              <a:lnSpc>
                <a:spcPts val="1350"/>
              </a:lnSpc>
            </a:pPr>
            <a:r>
              <a:rPr lang="en-US" sz="1500" b="1" dirty="0">
                <a:solidFill>
                  <a:schemeClr val="accent1">
                    <a:lumMod val="50000"/>
                  </a:schemeClr>
                </a:solidFill>
              </a:rPr>
              <a:t>Automatic</a:t>
            </a:r>
          </a:p>
          <a:p>
            <a:pPr algn="ctr">
              <a:lnSpc>
                <a:spcPts val="1350"/>
              </a:lnSpc>
            </a:pPr>
            <a:r>
              <a:rPr lang="en-US" sz="1500" b="1" dirty="0">
                <a:solidFill>
                  <a:schemeClr val="accent1">
                    <a:lumMod val="50000"/>
                  </a:schemeClr>
                </a:solidFill>
              </a:rPr>
              <a:t>game generation</a:t>
            </a:r>
          </a:p>
        </p:txBody>
      </p:sp>
      <p:pic>
        <p:nvPicPr>
          <p:cNvPr id="66" name="Картина 6" descr="UserInterface11">
            <a:extLst>
              <a:ext uri="{FF2B5EF4-FFF2-40B4-BE49-F238E27FC236}">
                <a16:creationId xmlns:a16="http://schemas.microsoft.com/office/drawing/2014/main" id="{D11E2E7D-0551-4F2E-B945-31F9D1FC311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7603" y="2650818"/>
            <a:ext cx="1330495" cy="768751"/>
          </a:xfrm>
          <a:prstGeom prst="rect">
            <a:avLst/>
          </a:prstGeom>
          <a:noFill/>
          <a:ln>
            <a:noFill/>
          </a:ln>
        </p:spPr>
      </p:pic>
    </p:spTree>
    <p:extLst>
      <p:ext uri="{BB962C8B-B14F-4D97-AF65-F5344CB8AC3E}">
        <p14:creationId xmlns:p14="http://schemas.microsoft.com/office/powerpoint/2010/main" val="8397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1000" fill="hold"/>
                                        <p:tgtEl>
                                          <p:spTgt spid="12"/>
                                        </p:tgtEl>
                                        <p:attrNameLst>
                                          <p:attrName>ppt_w</p:attrName>
                                        </p:attrNameLst>
                                      </p:cBhvr>
                                      <p:tavLst>
                                        <p:tav tm="0">
                                          <p:val>
                                            <p:fltVal val="0"/>
                                          </p:val>
                                        </p:tav>
                                        <p:tav tm="100000">
                                          <p:val>
                                            <p:strVal val="#ppt_w"/>
                                          </p:val>
                                        </p:tav>
                                      </p:tavLst>
                                    </p:anim>
                                    <p:anim calcmode="lin" valueType="num">
                                      <p:cBhvr>
                                        <p:cTn id="14" dur="1000" fill="hold"/>
                                        <p:tgtEl>
                                          <p:spTgt spid="12"/>
                                        </p:tgtEl>
                                        <p:attrNameLst>
                                          <p:attrName>ppt_h</p:attrName>
                                        </p:attrNameLst>
                                      </p:cBhvr>
                                      <p:tavLst>
                                        <p:tav tm="0">
                                          <p:val>
                                            <p:fltVal val="0"/>
                                          </p:val>
                                        </p:tav>
                                        <p:tav tm="100000">
                                          <p:val>
                                            <p:strVal val="#ppt_h"/>
                                          </p:val>
                                        </p:tav>
                                      </p:tavLst>
                                    </p:anim>
                                    <p:anim calcmode="lin" valueType="num">
                                      <p:cBhvr>
                                        <p:cTn id="15" dur="1000" fill="hold"/>
                                        <p:tgtEl>
                                          <p:spTgt spid="12"/>
                                        </p:tgtEl>
                                        <p:attrNameLst>
                                          <p:attrName>style.rotation</p:attrName>
                                        </p:attrNameLst>
                                      </p:cBhvr>
                                      <p:tavLst>
                                        <p:tav tm="0">
                                          <p:val>
                                            <p:fltVal val="90"/>
                                          </p:val>
                                        </p:tav>
                                        <p:tav tm="100000">
                                          <p:val>
                                            <p:fltVal val="0"/>
                                          </p:val>
                                        </p:tav>
                                      </p:tavLst>
                                    </p:anim>
                                    <p:animEffect transition="in" filter="fade">
                                      <p:cBhvr>
                                        <p:cTn id="16" dur="1000"/>
                                        <p:tgtEl>
                                          <p:spTgt spid="12"/>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1000" fill="hold"/>
                                        <p:tgtEl>
                                          <p:spTgt spid="13"/>
                                        </p:tgtEl>
                                        <p:attrNameLst>
                                          <p:attrName>ppt_w</p:attrName>
                                        </p:attrNameLst>
                                      </p:cBhvr>
                                      <p:tavLst>
                                        <p:tav tm="0">
                                          <p:val>
                                            <p:fltVal val="0"/>
                                          </p:val>
                                        </p:tav>
                                        <p:tav tm="100000">
                                          <p:val>
                                            <p:strVal val="#ppt_w"/>
                                          </p:val>
                                        </p:tav>
                                      </p:tavLst>
                                    </p:anim>
                                    <p:anim calcmode="lin" valueType="num">
                                      <p:cBhvr>
                                        <p:cTn id="20" dur="1000" fill="hold"/>
                                        <p:tgtEl>
                                          <p:spTgt spid="13"/>
                                        </p:tgtEl>
                                        <p:attrNameLst>
                                          <p:attrName>ppt_h</p:attrName>
                                        </p:attrNameLst>
                                      </p:cBhvr>
                                      <p:tavLst>
                                        <p:tav tm="0">
                                          <p:val>
                                            <p:fltVal val="0"/>
                                          </p:val>
                                        </p:tav>
                                        <p:tav tm="100000">
                                          <p:val>
                                            <p:strVal val="#ppt_h"/>
                                          </p:val>
                                        </p:tav>
                                      </p:tavLst>
                                    </p:anim>
                                    <p:anim calcmode="lin" valueType="num">
                                      <p:cBhvr>
                                        <p:cTn id="21" dur="1000" fill="hold"/>
                                        <p:tgtEl>
                                          <p:spTgt spid="13"/>
                                        </p:tgtEl>
                                        <p:attrNameLst>
                                          <p:attrName>style.rotation</p:attrName>
                                        </p:attrNameLst>
                                      </p:cBhvr>
                                      <p:tavLst>
                                        <p:tav tm="0">
                                          <p:val>
                                            <p:fltVal val="90"/>
                                          </p:val>
                                        </p:tav>
                                        <p:tav tm="100000">
                                          <p:val>
                                            <p:fltVal val="0"/>
                                          </p:val>
                                        </p:tav>
                                      </p:tavLst>
                                    </p:anim>
                                    <p:animEffect transition="in" filter="fade">
                                      <p:cBhvr>
                                        <p:cTn id="22" dur="1000"/>
                                        <p:tgtEl>
                                          <p:spTgt spid="13"/>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1000" fill="hold"/>
                                        <p:tgtEl>
                                          <p:spTgt spid="14"/>
                                        </p:tgtEl>
                                        <p:attrNameLst>
                                          <p:attrName>ppt_w</p:attrName>
                                        </p:attrNameLst>
                                      </p:cBhvr>
                                      <p:tavLst>
                                        <p:tav tm="0">
                                          <p:val>
                                            <p:fltVal val="0"/>
                                          </p:val>
                                        </p:tav>
                                        <p:tav tm="100000">
                                          <p:val>
                                            <p:strVal val="#ppt_w"/>
                                          </p:val>
                                        </p:tav>
                                      </p:tavLst>
                                    </p:anim>
                                    <p:anim calcmode="lin" valueType="num">
                                      <p:cBhvr>
                                        <p:cTn id="26" dur="1000" fill="hold"/>
                                        <p:tgtEl>
                                          <p:spTgt spid="14"/>
                                        </p:tgtEl>
                                        <p:attrNameLst>
                                          <p:attrName>ppt_h</p:attrName>
                                        </p:attrNameLst>
                                      </p:cBhvr>
                                      <p:tavLst>
                                        <p:tav tm="0">
                                          <p:val>
                                            <p:fltVal val="0"/>
                                          </p:val>
                                        </p:tav>
                                        <p:tav tm="100000">
                                          <p:val>
                                            <p:strVal val="#ppt_h"/>
                                          </p:val>
                                        </p:tav>
                                      </p:tavLst>
                                    </p:anim>
                                    <p:anim calcmode="lin" valueType="num">
                                      <p:cBhvr>
                                        <p:cTn id="27" dur="1000" fill="hold"/>
                                        <p:tgtEl>
                                          <p:spTgt spid="14"/>
                                        </p:tgtEl>
                                        <p:attrNameLst>
                                          <p:attrName>style.rotation</p:attrName>
                                        </p:attrNameLst>
                                      </p:cBhvr>
                                      <p:tavLst>
                                        <p:tav tm="0">
                                          <p:val>
                                            <p:fltVal val="90"/>
                                          </p:val>
                                        </p:tav>
                                        <p:tav tm="100000">
                                          <p:val>
                                            <p:fltVal val="0"/>
                                          </p:val>
                                        </p:tav>
                                      </p:tavLst>
                                    </p:anim>
                                    <p:animEffect transition="in" filter="fade">
                                      <p:cBhvr>
                                        <p:cTn id="28" dur="1000"/>
                                        <p:tgtEl>
                                          <p:spTgt spid="14"/>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p:cTn id="31" dur="1000" fill="hold"/>
                                        <p:tgtEl>
                                          <p:spTgt spid="15"/>
                                        </p:tgtEl>
                                        <p:attrNameLst>
                                          <p:attrName>ppt_w</p:attrName>
                                        </p:attrNameLst>
                                      </p:cBhvr>
                                      <p:tavLst>
                                        <p:tav tm="0">
                                          <p:val>
                                            <p:fltVal val="0"/>
                                          </p:val>
                                        </p:tav>
                                        <p:tav tm="100000">
                                          <p:val>
                                            <p:strVal val="#ppt_w"/>
                                          </p:val>
                                        </p:tav>
                                      </p:tavLst>
                                    </p:anim>
                                    <p:anim calcmode="lin" valueType="num">
                                      <p:cBhvr>
                                        <p:cTn id="32" dur="1000" fill="hold"/>
                                        <p:tgtEl>
                                          <p:spTgt spid="15"/>
                                        </p:tgtEl>
                                        <p:attrNameLst>
                                          <p:attrName>ppt_h</p:attrName>
                                        </p:attrNameLst>
                                      </p:cBhvr>
                                      <p:tavLst>
                                        <p:tav tm="0">
                                          <p:val>
                                            <p:fltVal val="0"/>
                                          </p:val>
                                        </p:tav>
                                        <p:tav tm="100000">
                                          <p:val>
                                            <p:strVal val="#ppt_h"/>
                                          </p:val>
                                        </p:tav>
                                      </p:tavLst>
                                    </p:anim>
                                    <p:anim calcmode="lin" valueType="num">
                                      <p:cBhvr>
                                        <p:cTn id="33" dur="1000" fill="hold"/>
                                        <p:tgtEl>
                                          <p:spTgt spid="15"/>
                                        </p:tgtEl>
                                        <p:attrNameLst>
                                          <p:attrName>style.rotation</p:attrName>
                                        </p:attrNameLst>
                                      </p:cBhvr>
                                      <p:tavLst>
                                        <p:tav tm="0">
                                          <p:val>
                                            <p:fltVal val="90"/>
                                          </p:val>
                                        </p:tav>
                                        <p:tav tm="100000">
                                          <p:val>
                                            <p:fltVal val="0"/>
                                          </p:val>
                                        </p:tav>
                                      </p:tavLst>
                                    </p:anim>
                                    <p:animEffect transition="in" filter="fade">
                                      <p:cBhvr>
                                        <p:cTn id="34" dur="1000"/>
                                        <p:tgtEl>
                                          <p:spTgt spid="15"/>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p:cTn id="37" dur="1000" fill="hold"/>
                                        <p:tgtEl>
                                          <p:spTgt spid="32"/>
                                        </p:tgtEl>
                                        <p:attrNameLst>
                                          <p:attrName>ppt_w</p:attrName>
                                        </p:attrNameLst>
                                      </p:cBhvr>
                                      <p:tavLst>
                                        <p:tav tm="0">
                                          <p:val>
                                            <p:fltVal val="0"/>
                                          </p:val>
                                        </p:tav>
                                        <p:tav tm="100000">
                                          <p:val>
                                            <p:strVal val="#ppt_w"/>
                                          </p:val>
                                        </p:tav>
                                      </p:tavLst>
                                    </p:anim>
                                    <p:anim calcmode="lin" valueType="num">
                                      <p:cBhvr>
                                        <p:cTn id="38" dur="1000" fill="hold"/>
                                        <p:tgtEl>
                                          <p:spTgt spid="32"/>
                                        </p:tgtEl>
                                        <p:attrNameLst>
                                          <p:attrName>ppt_h</p:attrName>
                                        </p:attrNameLst>
                                      </p:cBhvr>
                                      <p:tavLst>
                                        <p:tav tm="0">
                                          <p:val>
                                            <p:fltVal val="0"/>
                                          </p:val>
                                        </p:tav>
                                        <p:tav tm="100000">
                                          <p:val>
                                            <p:strVal val="#ppt_h"/>
                                          </p:val>
                                        </p:tav>
                                      </p:tavLst>
                                    </p:anim>
                                    <p:anim calcmode="lin" valueType="num">
                                      <p:cBhvr>
                                        <p:cTn id="39" dur="1000" fill="hold"/>
                                        <p:tgtEl>
                                          <p:spTgt spid="32"/>
                                        </p:tgtEl>
                                        <p:attrNameLst>
                                          <p:attrName>style.rotation</p:attrName>
                                        </p:attrNameLst>
                                      </p:cBhvr>
                                      <p:tavLst>
                                        <p:tav tm="0">
                                          <p:val>
                                            <p:fltVal val="90"/>
                                          </p:val>
                                        </p:tav>
                                        <p:tav tm="100000">
                                          <p:val>
                                            <p:fltVal val="0"/>
                                          </p:val>
                                        </p:tav>
                                      </p:tavLst>
                                    </p:anim>
                                    <p:animEffect transition="in" filter="fade">
                                      <p:cBhvr>
                                        <p:cTn id="40" dur="1000"/>
                                        <p:tgtEl>
                                          <p:spTgt spid="32"/>
                                        </p:tgtEl>
                                      </p:cBhvr>
                                    </p:animEffect>
                                  </p:childTnLst>
                                </p:cTn>
                              </p:par>
                              <p:par>
                                <p:cTn id="41" presetID="3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p:cTn id="43" dur="1000" fill="hold"/>
                                        <p:tgtEl>
                                          <p:spTgt spid="33"/>
                                        </p:tgtEl>
                                        <p:attrNameLst>
                                          <p:attrName>ppt_w</p:attrName>
                                        </p:attrNameLst>
                                      </p:cBhvr>
                                      <p:tavLst>
                                        <p:tav tm="0">
                                          <p:val>
                                            <p:fltVal val="0"/>
                                          </p:val>
                                        </p:tav>
                                        <p:tav tm="100000">
                                          <p:val>
                                            <p:strVal val="#ppt_w"/>
                                          </p:val>
                                        </p:tav>
                                      </p:tavLst>
                                    </p:anim>
                                    <p:anim calcmode="lin" valueType="num">
                                      <p:cBhvr>
                                        <p:cTn id="44" dur="1000" fill="hold"/>
                                        <p:tgtEl>
                                          <p:spTgt spid="33"/>
                                        </p:tgtEl>
                                        <p:attrNameLst>
                                          <p:attrName>ppt_h</p:attrName>
                                        </p:attrNameLst>
                                      </p:cBhvr>
                                      <p:tavLst>
                                        <p:tav tm="0">
                                          <p:val>
                                            <p:fltVal val="0"/>
                                          </p:val>
                                        </p:tav>
                                        <p:tav tm="100000">
                                          <p:val>
                                            <p:strVal val="#ppt_h"/>
                                          </p:val>
                                        </p:tav>
                                      </p:tavLst>
                                    </p:anim>
                                    <p:anim calcmode="lin" valueType="num">
                                      <p:cBhvr>
                                        <p:cTn id="45" dur="1000" fill="hold"/>
                                        <p:tgtEl>
                                          <p:spTgt spid="33"/>
                                        </p:tgtEl>
                                        <p:attrNameLst>
                                          <p:attrName>style.rotation</p:attrName>
                                        </p:attrNameLst>
                                      </p:cBhvr>
                                      <p:tavLst>
                                        <p:tav tm="0">
                                          <p:val>
                                            <p:fltVal val="90"/>
                                          </p:val>
                                        </p:tav>
                                        <p:tav tm="100000">
                                          <p:val>
                                            <p:fltVal val="0"/>
                                          </p:val>
                                        </p:tav>
                                      </p:tavLst>
                                    </p:anim>
                                    <p:animEffect transition="in" filter="fade">
                                      <p:cBhvr>
                                        <p:cTn id="46" dur="1000"/>
                                        <p:tgtEl>
                                          <p:spTgt spid="33"/>
                                        </p:tgtEl>
                                      </p:cBhvr>
                                    </p:animEffect>
                                  </p:childTnLst>
                                </p:cTn>
                              </p:par>
                              <p:par>
                                <p:cTn id="47" presetID="31" presetClass="entr" presetSubtype="0" fill="hold" nodeType="withEffect">
                                  <p:stCondLst>
                                    <p:cond delay="0"/>
                                  </p:stCondLst>
                                  <p:childTnLst>
                                    <p:set>
                                      <p:cBhvr>
                                        <p:cTn id="48" dur="1" fill="hold">
                                          <p:stCondLst>
                                            <p:cond delay="0"/>
                                          </p:stCondLst>
                                        </p:cTn>
                                        <p:tgtEl>
                                          <p:spTgt spid="49"/>
                                        </p:tgtEl>
                                        <p:attrNameLst>
                                          <p:attrName>style.visibility</p:attrName>
                                        </p:attrNameLst>
                                      </p:cBhvr>
                                      <p:to>
                                        <p:strVal val="visible"/>
                                      </p:to>
                                    </p:set>
                                    <p:anim calcmode="lin" valueType="num">
                                      <p:cBhvr>
                                        <p:cTn id="49" dur="1000" fill="hold"/>
                                        <p:tgtEl>
                                          <p:spTgt spid="49"/>
                                        </p:tgtEl>
                                        <p:attrNameLst>
                                          <p:attrName>ppt_w</p:attrName>
                                        </p:attrNameLst>
                                      </p:cBhvr>
                                      <p:tavLst>
                                        <p:tav tm="0">
                                          <p:val>
                                            <p:fltVal val="0"/>
                                          </p:val>
                                        </p:tav>
                                        <p:tav tm="100000">
                                          <p:val>
                                            <p:strVal val="#ppt_w"/>
                                          </p:val>
                                        </p:tav>
                                      </p:tavLst>
                                    </p:anim>
                                    <p:anim calcmode="lin" valueType="num">
                                      <p:cBhvr>
                                        <p:cTn id="50" dur="1000" fill="hold"/>
                                        <p:tgtEl>
                                          <p:spTgt spid="49"/>
                                        </p:tgtEl>
                                        <p:attrNameLst>
                                          <p:attrName>ppt_h</p:attrName>
                                        </p:attrNameLst>
                                      </p:cBhvr>
                                      <p:tavLst>
                                        <p:tav tm="0">
                                          <p:val>
                                            <p:fltVal val="0"/>
                                          </p:val>
                                        </p:tav>
                                        <p:tav tm="100000">
                                          <p:val>
                                            <p:strVal val="#ppt_h"/>
                                          </p:val>
                                        </p:tav>
                                      </p:tavLst>
                                    </p:anim>
                                    <p:anim calcmode="lin" valueType="num">
                                      <p:cBhvr>
                                        <p:cTn id="51" dur="1000" fill="hold"/>
                                        <p:tgtEl>
                                          <p:spTgt spid="49"/>
                                        </p:tgtEl>
                                        <p:attrNameLst>
                                          <p:attrName>style.rotation</p:attrName>
                                        </p:attrNameLst>
                                      </p:cBhvr>
                                      <p:tavLst>
                                        <p:tav tm="0">
                                          <p:val>
                                            <p:fltVal val="90"/>
                                          </p:val>
                                        </p:tav>
                                        <p:tav tm="100000">
                                          <p:val>
                                            <p:fltVal val="0"/>
                                          </p:val>
                                        </p:tav>
                                      </p:tavLst>
                                    </p:anim>
                                    <p:animEffect transition="in" filter="fade">
                                      <p:cBhvr>
                                        <p:cTn id="52" dur="1000"/>
                                        <p:tgtEl>
                                          <p:spTgt spid="49"/>
                                        </p:tgtEl>
                                      </p:cBhvr>
                                    </p:animEffect>
                                  </p:childTnLst>
                                </p:cTn>
                              </p:par>
                              <p:par>
                                <p:cTn id="53" presetID="31"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p:cTn id="55" dur="1000" fill="hold"/>
                                        <p:tgtEl>
                                          <p:spTgt spid="50"/>
                                        </p:tgtEl>
                                        <p:attrNameLst>
                                          <p:attrName>ppt_w</p:attrName>
                                        </p:attrNameLst>
                                      </p:cBhvr>
                                      <p:tavLst>
                                        <p:tav tm="0">
                                          <p:val>
                                            <p:fltVal val="0"/>
                                          </p:val>
                                        </p:tav>
                                        <p:tav tm="100000">
                                          <p:val>
                                            <p:strVal val="#ppt_w"/>
                                          </p:val>
                                        </p:tav>
                                      </p:tavLst>
                                    </p:anim>
                                    <p:anim calcmode="lin" valueType="num">
                                      <p:cBhvr>
                                        <p:cTn id="56" dur="1000" fill="hold"/>
                                        <p:tgtEl>
                                          <p:spTgt spid="50"/>
                                        </p:tgtEl>
                                        <p:attrNameLst>
                                          <p:attrName>ppt_h</p:attrName>
                                        </p:attrNameLst>
                                      </p:cBhvr>
                                      <p:tavLst>
                                        <p:tav tm="0">
                                          <p:val>
                                            <p:fltVal val="0"/>
                                          </p:val>
                                        </p:tav>
                                        <p:tav tm="100000">
                                          <p:val>
                                            <p:strVal val="#ppt_h"/>
                                          </p:val>
                                        </p:tav>
                                      </p:tavLst>
                                    </p:anim>
                                    <p:anim calcmode="lin" valueType="num">
                                      <p:cBhvr>
                                        <p:cTn id="57" dur="1000" fill="hold"/>
                                        <p:tgtEl>
                                          <p:spTgt spid="50"/>
                                        </p:tgtEl>
                                        <p:attrNameLst>
                                          <p:attrName>style.rotation</p:attrName>
                                        </p:attrNameLst>
                                      </p:cBhvr>
                                      <p:tavLst>
                                        <p:tav tm="0">
                                          <p:val>
                                            <p:fltVal val="90"/>
                                          </p:val>
                                        </p:tav>
                                        <p:tav tm="100000">
                                          <p:val>
                                            <p:fltVal val="0"/>
                                          </p:val>
                                        </p:tav>
                                      </p:tavLst>
                                    </p:anim>
                                    <p:animEffect transition="in" filter="fade">
                                      <p:cBhvr>
                                        <p:cTn id="58" dur="1000"/>
                                        <p:tgtEl>
                                          <p:spTgt spid="50"/>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51"/>
                                        </p:tgtEl>
                                        <p:attrNameLst>
                                          <p:attrName>style.visibility</p:attrName>
                                        </p:attrNameLst>
                                      </p:cBhvr>
                                      <p:to>
                                        <p:strVal val="visible"/>
                                      </p:to>
                                    </p:set>
                                    <p:anim calcmode="lin" valueType="num">
                                      <p:cBhvr>
                                        <p:cTn id="61" dur="1000" fill="hold"/>
                                        <p:tgtEl>
                                          <p:spTgt spid="51"/>
                                        </p:tgtEl>
                                        <p:attrNameLst>
                                          <p:attrName>ppt_w</p:attrName>
                                        </p:attrNameLst>
                                      </p:cBhvr>
                                      <p:tavLst>
                                        <p:tav tm="0">
                                          <p:val>
                                            <p:fltVal val="0"/>
                                          </p:val>
                                        </p:tav>
                                        <p:tav tm="100000">
                                          <p:val>
                                            <p:strVal val="#ppt_w"/>
                                          </p:val>
                                        </p:tav>
                                      </p:tavLst>
                                    </p:anim>
                                    <p:anim calcmode="lin" valueType="num">
                                      <p:cBhvr>
                                        <p:cTn id="62" dur="1000" fill="hold"/>
                                        <p:tgtEl>
                                          <p:spTgt spid="51"/>
                                        </p:tgtEl>
                                        <p:attrNameLst>
                                          <p:attrName>ppt_h</p:attrName>
                                        </p:attrNameLst>
                                      </p:cBhvr>
                                      <p:tavLst>
                                        <p:tav tm="0">
                                          <p:val>
                                            <p:fltVal val="0"/>
                                          </p:val>
                                        </p:tav>
                                        <p:tav tm="100000">
                                          <p:val>
                                            <p:strVal val="#ppt_h"/>
                                          </p:val>
                                        </p:tav>
                                      </p:tavLst>
                                    </p:anim>
                                    <p:anim calcmode="lin" valueType="num">
                                      <p:cBhvr>
                                        <p:cTn id="63" dur="1000" fill="hold"/>
                                        <p:tgtEl>
                                          <p:spTgt spid="51"/>
                                        </p:tgtEl>
                                        <p:attrNameLst>
                                          <p:attrName>style.rotation</p:attrName>
                                        </p:attrNameLst>
                                      </p:cBhvr>
                                      <p:tavLst>
                                        <p:tav tm="0">
                                          <p:val>
                                            <p:fltVal val="90"/>
                                          </p:val>
                                        </p:tav>
                                        <p:tav tm="100000">
                                          <p:val>
                                            <p:fltVal val="0"/>
                                          </p:val>
                                        </p:tav>
                                      </p:tavLst>
                                    </p:anim>
                                    <p:animEffect transition="in" filter="fade">
                                      <p:cBhvr>
                                        <p:cTn id="64" dur="1000"/>
                                        <p:tgtEl>
                                          <p:spTgt spid="51"/>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 calcmode="lin" valueType="num">
                                      <p:cBhvr>
                                        <p:cTn id="67" dur="1000" fill="hold"/>
                                        <p:tgtEl>
                                          <p:spTgt spid="52"/>
                                        </p:tgtEl>
                                        <p:attrNameLst>
                                          <p:attrName>ppt_w</p:attrName>
                                        </p:attrNameLst>
                                      </p:cBhvr>
                                      <p:tavLst>
                                        <p:tav tm="0">
                                          <p:val>
                                            <p:fltVal val="0"/>
                                          </p:val>
                                        </p:tav>
                                        <p:tav tm="100000">
                                          <p:val>
                                            <p:strVal val="#ppt_w"/>
                                          </p:val>
                                        </p:tav>
                                      </p:tavLst>
                                    </p:anim>
                                    <p:anim calcmode="lin" valueType="num">
                                      <p:cBhvr>
                                        <p:cTn id="68" dur="1000" fill="hold"/>
                                        <p:tgtEl>
                                          <p:spTgt spid="52"/>
                                        </p:tgtEl>
                                        <p:attrNameLst>
                                          <p:attrName>ppt_h</p:attrName>
                                        </p:attrNameLst>
                                      </p:cBhvr>
                                      <p:tavLst>
                                        <p:tav tm="0">
                                          <p:val>
                                            <p:fltVal val="0"/>
                                          </p:val>
                                        </p:tav>
                                        <p:tav tm="100000">
                                          <p:val>
                                            <p:strVal val="#ppt_h"/>
                                          </p:val>
                                        </p:tav>
                                      </p:tavLst>
                                    </p:anim>
                                    <p:anim calcmode="lin" valueType="num">
                                      <p:cBhvr>
                                        <p:cTn id="69" dur="1000" fill="hold"/>
                                        <p:tgtEl>
                                          <p:spTgt spid="52"/>
                                        </p:tgtEl>
                                        <p:attrNameLst>
                                          <p:attrName>style.rotation</p:attrName>
                                        </p:attrNameLst>
                                      </p:cBhvr>
                                      <p:tavLst>
                                        <p:tav tm="0">
                                          <p:val>
                                            <p:fltVal val="90"/>
                                          </p:val>
                                        </p:tav>
                                        <p:tav tm="100000">
                                          <p:val>
                                            <p:fltVal val="0"/>
                                          </p:val>
                                        </p:tav>
                                      </p:tavLst>
                                    </p:anim>
                                    <p:animEffect transition="in" filter="fade">
                                      <p:cBhvr>
                                        <p:cTn id="70" dur="1000"/>
                                        <p:tgtEl>
                                          <p:spTgt spid="52"/>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anim calcmode="lin" valueType="num">
                                      <p:cBhvr>
                                        <p:cTn id="73" dur="1000" fill="hold"/>
                                        <p:tgtEl>
                                          <p:spTgt spid="62"/>
                                        </p:tgtEl>
                                        <p:attrNameLst>
                                          <p:attrName>ppt_w</p:attrName>
                                        </p:attrNameLst>
                                      </p:cBhvr>
                                      <p:tavLst>
                                        <p:tav tm="0">
                                          <p:val>
                                            <p:fltVal val="0"/>
                                          </p:val>
                                        </p:tav>
                                        <p:tav tm="100000">
                                          <p:val>
                                            <p:strVal val="#ppt_w"/>
                                          </p:val>
                                        </p:tav>
                                      </p:tavLst>
                                    </p:anim>
                                    <p:anim calcmode="lin" valueType="num">
                                      <p:cBhvr>
                                        <p:cTn id="74" dur="1000" fill="hold"/>
                                        <p:tgtEl>
                                          <p:spTgt spid="62"/>
                                        </p:tgtEl>
                                        <p:attrNameLst>
                                          <p:attrName>ppt_h</p:attrName>
                                        </p:attrNameLst>
                                      </p:cBhvr>
                                      <p:tavLst>
                                        <p:tav tm="0">
                                          <p:val>
                                            <p:fltVal val="0"/>
                                          </p:val>
                                        </p:tav>
                                        <p:tav tm="100000">
                                          <p:val>
                                            <p:strVal val="#ppt_h"/>
                                          </p:val>
                                        </p:tav>
                                      </p:tavLst>
                                    </p:anim>
                                    <p:anim calcmode="lin" valueType="num">
                                      <p:cBhvr>
                                        <p:cTn id="75" dur="1000" fill="hold"/>
                                        <p:tgtEl>
                                          <p:spTgt spid="62"/>
                                        </p:tgtEl>
                                        <p:attrNameLst>
                                          <p:attrName>style.rotation</p:attrName>
                                        </p:attrNameLst>
                                      </p:cBhvr>
                                      <p:tavLst>
                                        <p:tav tm="0">
                                          <p:val>
                                            <p:fltVal val="90"/>
                                          </p:val>
                                        </p:tav>
                                        <p:tav tm="100000">
                                          <p:val>
                                            <p:fltVal val="0"/>
                                          </p:val>
                                        </p:tav>
                                      </p:tavLst>
                                    </p:anim>
                                    <p:animEffect transition="in" filter="fade">
                                      <p:cBhvr>
                                        <p:cTn id="76" dur="1000"/>
                                        <p:tgtEl>
                                          <p:spTgt spid="62"/>
                                        </p:tgtEl>
                                      </p:cBhvr>
                                    </p:animEffect>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28"/>
                                        </p:tgtEl>
                                        <p:attrNameLst>
                                          <p:attrName>style.visibility</p:attrName>
                                        </p:attrNameLst>
                                      </p:cBhvr>
                                      <p:to>
                                        <p:strVal val="visible"/>
                                      </p:to>
                                    </p:set>
                                    <p:anim calcmode="lin" valueType="num">
                                      <p:cBhvr additive="base">
                                        <p:cTn id="81" dur="500" fill="hold"/>
                                        <p:tgtEl>
                                          <p:spTgt spid="28"/>
                                        </p:tgtEl>
                                        <p:attrNameLst>
                                          <p:attrName>ppt_x</p:attrName>
                                        </p:attrNameLst>
                                      </p:cBhvr>
                                      <p:tavLst>
                                        <p:tav tm="0">
                                          <p:val>
                                            <p:strVal val="#ppt_x"/>
                                          </p:val>
                                        </p:tav>
                                        <p:tav tm="100000">
                                          <p:val>
                                            <p:strVal val="#ppt_x"/>
                                          </p:val>
                                        </p:tav>
                                      </p:tavLst>
                                    </p:anim>
                                    <p:anim calcmode="lin" valueType="num">
                                      <p:cBhvr additive="base">
                                        <p:cTn id="8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1000"/>
                                        <p:tgtEl>
                                          <p:spTgt spid="25"/>
                                        </p:tgtEl>
                                      </p:cBhvr>
                                    </p:animEffect>
                                    <p:anim calcmode="lin" valueType="num">
                                      <p:cBhvr>
                                        <p:cTn id="88" dur="1000" fill="hold"/>
                                        <p:tgtEl>
                                          <p:spTgt spid="25"/>
                                        </p:tgtEl>
                                        <p:attrNameLst>
                                          <p:attrName>ppt_x</p:attrName>
                                        </p:attrNameLst>
                                      </p:cBhvr>
                                      <p:tavLst>
                                        <p:tav tm="0">
                                          <p:val>
                                            <p:strVal val="#ppt_x"/>
                                          </p:val>
                                        </p:tav>
                                        <p:tav tm="100000">
                                          <p:val>
                                            <p:strVal val="#ppt_x"/>
                                          </p:val>
                                        </p:tav>
                                      </p:tavLst>
                                    </p:anim>
                                    <p:anim calcmode="lin" valueType="num">
                                      <p:cBhvr>
                                        <p:cTn id="89" dur="1000" fill="hold"/>
                                        <p:tgtEl>
                                          <p:spTgt spid="25"/>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8"/>
                                        </p:tgtEl>
                                        <p:attrNameLst>
                                          <p:attrName>style.visibility</p:attrName>
                                        </p:attrNameLst>
                                      </p:cBhvr>
                                      <p:to>
                                        <p:strVal val="visible"/>
                                      </p:to>
                                    </p:set>
                                    <p:animEffect transition="in" filter="fade">
                                      <p:cBhvr>
                                        <p:cTn id="92" dur="1000"/>
                                        <p:tgtEl>
                                          <p:spTgt spid="8"/>
                                        </p:tgtEl>
                                      </p:cBhvr>
                                    </p:animEffect>
                                    <p:anim calcmode="lin" valueType="num">
                                      <p:cBhvr>
                                        <p:cTn id="93" dur="1000" fill="hold"/>
                                        <p:tgtEl>
                                          <p:spTgt spid="8"/>
                                        </p:tgtEl>
                                        <p:attrNameLst>
                                          <p:attrName>ppt_x</p:attrName>
                                        </p:attrNameLst>
                                      </p:cBhvr>
                                      <p:tavLst>
                                        <p:tav tm="0">
                                          <p:val>
                                            <p:strVal val="#ppt_x"/>
                                          </p:val>
                                        </p:tav>
                                        <p:tav tm="100000">
                                          <p:val>
                                            <p:strVal val="#ppt_x"/>
                                          </p:val>
                                        </p:tav>
                                      </p:tavLst>
                                    </p:anim>
                                    <p:anim calcmode="lin" valueType="num">
                                      <p:cBhvr>
                                        <p:cTn id="9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31" presetClass="entr" presetSubtype="0" fill="hold" grpId="0" nodeType="clickEffect">
                                  <p:stCondLst>
                                    <p:cond delay="0"/>
                                  </p:stCondLst>
                                  <p:childTnLst>
                                    <p:set>
                                      <p:cBhvr>
                                        <p:cTn id="98" dur="1" fill="hold">
                                          <p:stCondLst>
                                            <p:cond delay="0"/>
                                          </p:stCondLst>
                                        </p:cTn>
                                        <p:tgtEl>
                                          <p:spTgt spid="65"/>
                                        </p:tgtEl>
                                        <p:attrNameLst>
                                          <p:attrName>style.visibility</p:attrName>
                                        </p:attrNameLst>
                                      </p:cBhvr>
                                      <p:to>
                                        <p:strVal val="visible"/>
                                      </p:to>
                                    </p:set>
                                    <p:anim calcmode="lin" valueType="num">
                                      <p:cBhvr>
                                        <p:cTn id="99" dur="1000" fill="hold"/>
                                        <p:tgtEl>
                                          <p:spTgt spid="65"/>
                                        </p:tgtEl>
                                        <p:attrNameLst>
                                          <p:attrName>ppt_w</p:attrName>
                                        </p:attrNameLst>
                                      </p:cBhvr>
                                      <p:tavLst>
                                        <p:tav tm="0">
                                          <p:val>
                                            <p:fltVal val="0"/>
                                          </p:val>
                                        </p:tav>
                                        <p:tav tm="100000">
                                          <p:val>
                                            <p:strVal val="#ppt_w"/>
                                          </p:val>
                                        </p:tav>
                                      </p:tavLst>
                                    </p:anim>
                                    <p:anim calcmode="lin" valueType="num">
                                      <p:cBhvr>
                                        <p:cTn id="100" dur="1000" fill="hold"/>
                                        <p:tgtEl>
                                          <p:spTgt spid="65"/>
                                        </p:tgtEl>
                                        <p:attrNameLst>
                                          <p:attrName>ppt_h</p:attrName>
                                        </p:attrNameLst>
                                      </p:cBhvr>
                                      <p:tavLst>
                                        <p:tav tm="0">
                                          <p:val>
                                            <p:fltVal val="0"/>
                                          </p:val>
                                        </p:tav>
                                        <p:tav tm="100000">
                                          <p:val>
                                            <p:strVal val="#ppt_h"/>
                                          </p:val>
                                        </p:tav>
                                      </p:tavLst>
                                    </p:anim>
                                    <p:anim calcmode="lin" valueType="num">
                                      <p:cBhvr>
                                        <p:cTn id="101" dur="1000" fill="hold"/>
                                        <p:tgtEl>
                                          <p:spTgt spid="65"/>
                                        </p:tgtEl>
                                        <p:attrNameLst>
                                          <p:attrName>style.rotation</p:attrName>
                                        </p:attrNameLst>
                                      </p:cBhvr>
                                      <p:tavLst>
                                        <p:tav tm="0">
                                          <p:val>
                                            <p:fltVal val="90"/>
                                          </p:val>
                                        </p:tav>
                                        <p:tav tm="100000">
                                          <p:val>
                                            <p:fltVal val="0"/>
                                          </p:val>
                                        </p:tav>
                                      </p:tavLst>
                                    </p:anim>
                                    <p:animEffect transition="in" filter="fade">
                                      <p:cBhvr>
                                        <p:cTn id="102" dur="1000"/>
                                        <p:tgtEl>
                                          <p:spTgt spid="65"/>
                                        </p:tgtEl>
                                      </p:cBhvr>
                                    </p:animEffect>
                                  </p:childTnLst>
                                </p:cTn>
                              </p:par>
                              <p:par>
                                <p:cTn id="103" presetID="31" presetClass="entr" presetSubtype="0" fill="hold" grpId="0" nodeType="withEffect">
                                  <p:stCondLst>
                                    <p:cond delay="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1000" fill="hold"/>
                                        <p:tgtEl>
                                          <p:spTgt spid="16"/>
                                        </p:tgtEl>
                                        <p:attrNameLst>
                                          <p:attrName>ppt_w</p:attrName>
                                        </p:attrNameLst>
                                      </p:cBhvr>
                                      <p:tavLst>
                                        <p:tav tm="0">
                                          <p:val>
                                            <p:fltVal val="0"/>
                                          </p:val>
                                        </p:tav>
                                        <p:tav tm="100000">
                                          <p:val>
                                            <p:strVal val="#ppt_w"/>
                                          </p:val>
                                        </p:tav>
                                      </p:tavLst>
                                    </p:anim>
                                    <p:anim calcmode="lin" valueType="num">
                                      <p:cBhvr>
                                        <p:cTn id="106" dur="1000" fill="hold"/>
                                        <p:tgtEl>
                                          <p:spTgt spid="16"/>
                                        </p:tgtEl>
                                        <p:attrNameLst>
                                          <p:attrName>ppt_h</p:attrName>
                                        </p:attrNameLst>
                                      </p:cBhvr>
                                      <p:tavLst>
                                        <p:tav tm="0">
                                          <p:val>
                                            <p:fltVal val="0"/>
                                          </p:val>
                                        </p:tav>
                                        <p:tav tm="100000">
                                          <p:val>
                                            <p:strVal val="#ppt_h"/>
                                          </p:val>
                                        </p:tav>
                                      </p:tavLst>
                                    </p:anim>
                                    <p:anim calcmode="lin" valueType="num">
                                      <p:cBhvr>
                                        <p:cTn id="107" dur="1000" fill="hold"/>
                                        <p:tgtEl>
                                          <p:spTgt spid="16"/>
                                        </p:tgtEl>
                                        <p:attrNameLst>
                                          <p:attrName>style.rotation</p:attrName>
                                        </p:attrNameLst>
                                      </p:cBhvr>
                                      <p:tavLst>
                                        <p:tav tm="0">
                                          <p:val>
                                            <p:fltVal val="90"/>
                                          </p:val>
                                        </p:tav>
                                        <p:tav tm="100000">
                                          <p:val>
                                            <p:fltVal val="0"/>
                                          </p:val>
                                        </p:tav>
                                      </p:tavLst>
                                    </p:anim>
                                    <p:animEffect transition="in" filter="fade">
                                      <p:cBhvr>
                                        <p:cTn id="108" dur="1000"/>
                                        <p:tgtEl>
                                          <p:spTgt spid="16"/>
                                        </p:tgtEl>
                                      </p:cBhvr>
                                    </p:animEffect>
                                  </p:childTnLst>
                                </p:cTn>
                              </p:par>
                              <p:par>
                                <p:cTn id="109" presetID="31" presetClass="entr" presetSubtype="0" fill="hold" grpId="0" nodeType="withEffect">
                                  <p:stCondLst>
                                    <p:cond delay="0"/>
                                  </p:stCondLst>
                                  <p:childTnLst>
                                    <p:set>
                                      <p:cBhvr>
                                        <p:cTn id="110" dur="1" fill="hold">
                                          <p:stCondLst>
                                            <p:cond delay="0"/>
                                          </p:stCondLst>
                                        </p:cTn>
                                        <p:tgtEl>
                                          <p:spTgt spid="17"/>
                                        </p:tgtEl>
                                        <p:attrNameLst>
                                          <p:attrName>style.visibility</p:attrName>
                                        </p:attrNameLst>
                                      </p:cBhvr>
                                      <p:to>
                                        <p:strVal val="visible"/>
                                      </p:to>
                                    </p:set>
                                    <p:anim calcmode="lin" valueType="num">
                                      <p:cBhvr>
                                        <p:cTn id="111" dur="1000" fill="hold"/>
                                        <p:tgtEl>
                                          <p:spTgt spid="17"/>
                                        </p:tgtEl>
                                        <p:attrNameLst>
                                          <p:attrName>ppt_w</p:attrName>
                                        </p:attrNameLst>
                                      </p:cBhvr>
                                      <p:tavLst>
                                        <p:tav tm="0">
                                          <p:val>
                                            <p:fltVal val="0"/>
                                          </p:val>
                                        </p:tav>
                                        <p:tav tm="100000">
                                          <p:val>
                                            <p:strVal val="#ppt_w"/>
                                          </p:val>
                                        </p:tav>
                                      </p:tavLst>
                                    </p:anim>
                                    <p:anim calcmode="lin" valueType="num">
                                      <p:cBhvr>
                                        <p:cTn id="112" dur="1000" fill="hold"/>
                                        <p:tgtEl>
                                          <p:spTgt spid="17"/>
                                        </p:tgtEl>
                                        <p:attrNameLst>
                                          <p:attrName>ppt_h</p:attrName>
                                        </p:attrNameLst>
                                      </p:cBhvr>
                                      <p:tavLst>
                                        <p:tav tm="0">
                                          <p:val>
                                            <p:fltVal val="0"/>
                                          </p:val>
                                        </p:tav>
                                        <p:tav tm="100000">
                                          <p:val>
                                            <p:strVal val="#ppt_h"/>
                                          </p:val>
                                        </p:tav>
                                      </p:tavLst>
                                    </p:anim>
                                    <p:anim calcmode="lin" valueType="num">
                                      <p:cBhvr>
                                        <p:cTn id="113" dur="1000" fill="hold"/>
                                        <p:tgtEl>
                                          <p:spTgt spid="17"/>
                                        </p:tgtEl>
                                        <p:attrNameLst>
                                          <p:attrName>style.rotation</p:attrName>
                                        </p:attrNameLst>
                                      </p:cBhvr>
                                      <p:tavLst>
                                        <p:tav tm="0">
                                          <p:val>
                                            <p:fltVal val="90"/>
                                          </p:val>
                                        </p:tav>
                                        <p:tav tm="100000">
                                          <p:val>
                                            <p:fltVal val="0"/>
                                          </p:val>
                                        </p:tav>
                                      </p:tavLst>
                                    </p:anim>
                                    <p:animEffect transition="in" filter="fade">
                                      <p:cBhvr>
                                        <p:cTn id="114" dur="1000"/>
                                        <p:tgtEl>
                                          <p:spTgt spid="17"/>
                                        </p:tgtEl>
                                      </p:cBhvr>
                                    </p:animEffect>
                                  </p:childTnLst>
                                </p:cTn>
                              </p:par>
                              <p:par>
                                <p:cTn id="115" presetID="31" presetClass="entr" presetSubtype="0" fill="hold" grpId="0" nodeType="withEffect">
                                  <p:stCondLst>
                                    <p:cond delay="0"/>
                                  </p:stCondLst>
                                  <p:childTnLst>
                                    <p:set>
                                      <p:cBhvr>
                                        <p:cTn id="116" dur="1" fill="hold">
                                          <p:stCondLst>
                                            <p:cond delay="0"/>
                                          </p:stCondLst>
                                        </p:cTn>
                                        <p:tgtEl>
                                          <p:spTgt spid="18"/>
                                        </p:tgtEl>
                                        <p:attrNameLst>
                                          <p:attrName>style.visibility</p:attrName>
                                        </p:attrNameLst>
                                      </p:cBhvr>
                                      <p:to>
                                        <p:strVal val="visible"/>
                                      </p:to>
                                    </p:set>
                                    <p:anim calcmode="lin" valueType="num">
                                      <p:cBhvr>
                                        <p:cTn id="117" dur="1000" fill="hold"/>
                                        <p:tgtEl>
                                          <p:spTgt spid="18"/>
                                        </p:tgtEl>
                                        <p:attrNameLst>
                                          <p:attrName>ppt_w</p:attrName>
                                        </p:attrNameLst>
                                      </p:cBhvr>
                                      <p:tavLst>
                                        <p:tav tm="0">
                                          <p:val>
                                            <p:fltVal val="0"/>
                                          </p:val>
                                        </p:tav>
                                        <p:tav tm="100000">
                                          <p:val>
                                            <p:strVal val="#ppt_w"/>
                                          </p:val>
                                        </p:tav>
                                      </p:tavLst>
                                    </p:anim>
                                    <p:anim calcmode="lin" valueType="num">
                                      <p:cBhvr>
                                        <p:cTn id="118" dur="1000" fill="hold"/>
                                        <p:tgtEl>
                                          <p:spTgt spid="18"/>
                                        </p:tgtEl>
                                        <p:attrNameLst>
                                          <p:attrName>ppt_h</p:attrName>
                                        </p:attrNameLst>
                                      </p:cBhvr>
                                      <p:tavLst>
                                        <p:tav tm="0">
                                          <p:val>
                                            <p:fltVal val="0"/>
                                          </p:val>
                                        </p:tav>
                                        <p:tav tm="100000">
                                          <p:val>
                                            <p:strVal val="#ppt_h"/>
                                          </p:val>
                                        </p:tav>
                                      </p:tavLst>
                                    </p:anim>
                                    <p:anim calcmode="lin" valueType="num">
                                      <p:cBhvr>
                                        <p:cTn id="119" dur="1000" fill="hold"/>
                                        <p:tgtEl>
                                          <p:spTgt spid="18"/>
                                        </p:tgtEl>
                                        <p:attrNameLst>
                                          <p:attrName>style.rotation</p:attrName>
                                        </p:attrNameLst>
                                      </p:cBhvr>
                                      <p:tavLst>
                                        <p:tav tm="0">
                                          <p:val>
                                            <p:fltVal val="90"/>
                                          </p:val>
                                        </p:tav>
                                        <p:tav tm="100000">
                                          <p:val>
                                            <p:fltVal val="0"/>
                                          </p:val>
                                        </p:tav>
                                      </p:tavLst>
                                    </p:anim>
                                    <p:animEffect transition="in" filter="fade">
                                      <p:cBhvr>
                                        <p:cTn id="120" dur="1000"/>
                                        <p:tgtEl>
                                          <p:spTgt spid="18"/>
                                        </p:tgtEl>
                                      </p:cBhvr>
                                    </p:animEffect>
                                  </p:childTnLst>
                                </p:cTn>
                              </p:par>
                              <p:par>
                                <p:cTn id="121" presetID="31" presetClass="entr" presetSubtype="0" fill="hold" grpId="0" nodeType="withEffect">
                                  <p:stCondLst>
                                    <p:cond delay="0"/>
                                  </p:stCondLst>
                                  <p:childTnLst>
                                    <p:set>
                                      <p:cBhvr>
                                        <p:cTn id="122" dur="1" fill="hold">
                                          <p:stCondLst>
                                            <p:cond delay="0"/>
                                          </p:stCondLst>
                                        </p:cTn>
                                        <p:tgtEl>
                                          <p:spTgt spid="19"/>
                                        </p:tgtEl>
                                        <p:attrNameLst>
                                          <p:attrName>style.visibility</p:attrName>
                                        </p:attrNameLst>
                                      </p:cBhvr>
                                      <p:to>
                                        <p:strVal val="visible"/>
                                      </p:to>
                                    </p:set>
                                    <p:anim calcmode="lin" valueType="num">
                                      <p:cBhvr>
                                        <p:cTn id="123" dur="1000" fill="hold"/>
                                        <p:tgtEl>
                                          <p:spTgt spid="19"/>
                                        </p:tgtEl>
                                        <p:attrNameLst>
                                          <p:attrName>ppt_w</p:attrName>
                                        </p:attrNameLst>
                                      </p:cBhvr>
                                      <p:tavLst>
                                        <p:tav tm="0">
                                          <p:val>
                                            <p:fltVal val="0"/>
                                          </p:val>
                                        </p:tav>
                                        <p:tav tm="100000">
                                          <p:val>
                                            <p:strVal val="#ppt_w"/>
                                          </p:val>
                                        </p:tav>
                                      </p:tavLst>
                                    </p:anim>
                                    <p:anim calcmode="lin" valueType="num">
                                      <p:cBhvr>
                                        <p:cTn id="124" dur="1000" fill="hold"/>
                                        <p:tgtEl>
                                          <p:spTgt spid="19"/>
                                        </p:tgtEl>
                                        <p:attrNameLst>
                                          <p:attrName>ppt_h</p:attrName>
                                        </p:attrNameLst>
                                      </p:cBhvr>
                                      <p:tavLst>
                                        <p:tav tm="0">
                                          <p:val>
                                            <p:fltVal val="0"/>
                                          </p:val>
                                        </p:tav>
                                        <p:tav tm="100000">
                                          <p:val>
                                            <p:strVal val="#ppt_h"/>
                                          </p:val>
                                        </p:tav>
                                      </p:tavLst>
                                    </p:anim>
                                    <p:anim calcmode="lin" valueType="num">
                                      <p:cBhvr>
                                        <p:cTn id="125" dur="1000" fill="hold"/>
                                        <p:tgtEl>
                                          <p:spTgt spid="19"/>
                                        </p:tgtEl>
                                        <p:attrNameLst>
                                          <p:attrName>style.rotation</p:attrName>
                                        </p:attrNameLst>
                                      </p:cBhvr>
                                      <p:tavLst>
                                        <p:tav tm="0">
                                          <p:val>
                                            <p:fltVal val="90"/>
                                          </p:val>
                                        </p:tav>
                                        <p:tav tm="100000">
                                          <p:val>
                                            <p:fltVal val="0"/>
                                          </p:val>
                                        </p:tav>
                                      </p:tavLst>
                                    </p:anim>
                                    <p:animEffect transition="in" filter="fade">
                                      <p:cBhvr>
                                        <p:cTn id="126" dur="1000"/>
                                        <p:tgtEl>
                                          <p:spTgt spid="19"/>
                                        </p:tgtEl>
                                      </p:cBhvr>
                                    </p:animEffect>
                                  </p:childTnLst>
                                </p:cTn>
                              </p:par>
                              <p:par>
                                <p:cTn id="127" presetID="31" presetClass="entr" presetSubtype="0" fill="hold" grpId="0" nodeType="withEffect">
                                  <p:stCondLst>
                                    <p:cond delay="0"/>
                                  </p:stCondLst>
                                  <p:childTnLst>
                                    <p:set>
                                      <p:cBhvr>
                                        <p:cTn id="128" dur="1" fill="hold">
                                          <p:stCondLst>
                                            <p:cond delay="0"/>
                                          </p:stCondLst>
                                        </p:cTn>
                                        <p:tgtEl>
                                          <p:spTgt spid="20"/>
                                        </p:tgtEl>
                                        <p:attrNameLst>
                                          <p:attrName>style.visibility</p:attrName>
                                        </p:attrNameLst>
                                      </p:cBhvr>
                                      <p:to>
                                        <p:strVal val="visible"/>
                                      </p:to>
                                    </p:set>
                                    <p:anim calcmode="lin" valueType="num">
                                      <p:cBhvr>
                                        <p:cTn id="129" dur="1000" fill="hold"/>
                                        <p:tgtEl>
                                          <p:spTgt spid="20"/>
                                        </p:tgtEl>
                                        <p:attrNameLst>
                                          <p:attrName>ppt_w</p:attrName>
                                        </p:attrNameLst>
                                      </p:cBhvr>
                                      <p:tavLst>
                                        <p:tav tm="0">
                                          <p:val>
                                            <p:fltVal val="0"/>
                                          </p:val>
                                        </p:tav>
                                        <p:tav tm="100000">
                                          <p:val>
                                            <p:strVal val="#ppt_w"/>
                                          </p:val>
                                        </p:tav>
                                      </p:tavLst>
                                    </p:anim>
                                    <p:anim calcmode="lin" valueType="num">
                                      <p:cBhvr>
                                        <p:cTn id="130" dur="1000" fill="hold"/>
                                        <p:tgtEl>
                                          <p:spTgt spid="20"/>
                                        </p:tgtEl>
                                        <p:attrNameLst>
                                          <p:attrName>ppt_h</p:attrName>
                                        </p:attrNameLst>
                                      </p:cBhvr>
                                      <p:tavLst>
                                        <p:tav tm="0">
                                          <p:val>
                                            <p:fltVal val="0"/>
                                          </p:val>
                                        </p:tav>
                                        <p:tav tm="100000">
                                          <p:val>
                                            <p:strVal val="#ppt_h"/>
                                          </p:val>
                                        </p:tav>
                                      </p:tavLst>
                                    </p:anim>
                                    <p:anim calcmode="lin" valueType="num">
                                      <p:cBhvr>
                                        <p:cTn id="131" dur="1000" fill="hold"/>
                                        <p:tgtEl>
                                          <p:spTgt spid="20"/>
                                        </p:tgtEl>
                                        <p:attrNameLst>
                                          <p:attrName>style.rotation</p:attrName>
                                        </p:attrNameLst>
                                      </p:cBhvr>
                                      <p:tavLst>
                                        <p:tav tm="0">
                                          <p:val>
                                            <p:fltVal val="90"/>
                                          </p:val>
                                        </p:tav>
                                        <p:tav tm="100000">
                                          <p:val>
                                            <p:fltVal val="0"/>
                                          </p:val>
                                        </p:tav>
                                      </p:tavLst>
                                    </p:anim>
                                    <p:animEffect transition="in" filter="fade">
                                      <p:cBhvr>
                                        <p:cTn id="132" dur="1000"/>
                                        <p:tgtEl>
                                          <p:spTgt spid="20"/>
                                        </p:tgtEl>
                                      </p:cBhvr>
                                    </p:animEffect>
                                  </p:childTnLst>
                                </p:cTn>
                              </p:par>
                              <p:par>
                                <p:cTn id="133" presetID="31" presetClass="entr" presetSubtype="0" fill="hold" nodeType="withEffect">
                                  <p:stCondLst>
                                    <p:cond delay="0"/>
                                  </p:stCondLst>
                                  <p:childTnLst>
                                    <p:set>
                                      <p:cBhvr>
                                        <p:cTn id="134" dur="1" fill="hold">
                                          <p:stCondLst>
                                            <p:cond delay="0"/>
                                          </p:stCondLst>
                                        </p:cTn>
                                        <p:tgtEl>
                                          <p:spTgt spid="21"/>
                                        </p:tgtEl>
                                        <p:attrNameLst>
                                          <p:attrName>style.visibility</p:attrName>
                                        </p:attrNameLst>
                                      </p:cBhvr>
                                      <p:to>
                                        <p:strVal val="visible"/>
                                      </p:to>
                                    </p:set>
                                    <p:anim calcmode="lin" valueType="num">
                                      <p:cBhvr>
                                        <p:cTn id="135" dur="1000" fill="hold"/>
                                        <p:tgtEl>
                                          <p:spTgt spid="21"/>
                                        </p:tgtEl>
                                        <p:attrNameLst>
                                          <p:attrName>ppt_w</p:attrName>
                                        </p:attrNameLst>
                                      </p:cBhvr>
                                      <p:tavLst>
                                        <p:tav tm="0">
                                          <p:val>
                                            <p:fltVal val="0"/>
                                          </p:val>
                                        </p:tav>
                                        <p:tav tm="100000">
                                          <p:val>
                                            <p:strVal val="#ppt_w"/>
                                          </p:val>
                                        </p:tav>
                                      </p:tavLst>
                                    </p:anim>
                                    <p:anim calcmode="lin" valueType="num">
                                      <p:cBhvr>
                                        <p:cTn id="136" dur="1000" fill="hold"/>
                                        <p:tgtEl>
                                          <p:spTgt spid="21"/>
                                        </p:tgtEl>
                                        <p:attrNameLst>
                                          <p:attrName>ppt_h</p:attrName>
                                        </p:attrNameLst>
                                      </p:cBhvr>
                                      <p:tavLst>
                                        <p:tav tm="0">
                                          <p:val>
                                            <p:fltVal val="0"/>
                                          </p:val>
                                        </p:tav>
                                        <p:tav tm="100000">
                                          <p:val>
                                            <p:strVal val="#ppt_h"/>
                                          </p:val>
                                        </p:tav>
                                      </p:tavLst>
                                    </p:anim>
                                    <p:anim calcmode="lin" valueType="num">
                                      <p:cBhvr>
                                        <p:cTn id="137" dur="1000" fill="hold"/>
                                        <p:tgtEl>
                                          <p:spTgt spid="21"/>
                                        </p:tgtEl>
                                        <p:attrNameLst>
                                          <p:attrName>style.rotation</p:attrName>
                                        </p:attrNameLst>
                                      </p:cBhvr>
                                      <p:tavLst>
                                        <p:tav tm="0">
                                          <p:val>
                                            <p:fltVal val="90"/>
                                          </p:val>
                                        </p:tav>
                                        <p:tav tm="100000">
                                          <p:val>
                                            <p:fltVal val="0"/>
                                          </p:val>
                                        </p:tav>
                                      </p:tavLst>
                                    </p:anim>
                                    <p:animEffect transition="in" filter="fade">
                                      <p:cBhvr>
                                        <p:cTn id="138" dur="1000"/>
                                        <p:tgtEl>
                                          <p:spTgt spid="21"/>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26"/>
                                        </p:tgtEl>
                                        <p:attrNameLst>
                                          <p:attrName>style.visibility</p:attrName>
                                        </p:attrNameLst>
                                      </p:cBhvr>
                                      <p:to>
                                        <p:strVal val="visible"/>
                                      </p:to>
                                    </p:set>
                                    <p:anim calcmode="lin" valueType="num">
                                      <p:cBhvr>
                                        <p:cTn id="141" dur="1000" fill="hold"/>
                                        <p:tgtEl>
                                          <p:spTgt spid="26"/>
                                        </p:tgtEl>
                                        <p:attrNameLst>
                                          <p:attrName>ppt_w</p:attrName>
                                        </p:attrNameLst>
                                      </p:cBhvr>
                                      <p:tavLst>
                                        <p:tav tm="0">
                                          <p:val>
                                            <p:fltVal val="0"/>
                                          </p:val>
                                        </p:tav>
                                        <p:tav tm="100000">
                                          <p:val>
                                            <p:strVal val="#ppt_w"/>
                                          </p:val>
                                        </p:tav>
                                      </p:tavLst>
                                    </p:anim>
                                    <p:anim calcmode="lin" valueType="num">
                                      <p:cBhvr>
                                        <p:cTn id="142" dur="1000" fill="hold"/>
                                        <p:tgtEl>
                                          <p:spTgt spid="26"/>
                                        </p:tgtEl>
                                        <p:attrNameLst>
                                          <p:attrName>ppt_h</p:attrName>
                                        </p:attrNameLst>
                                      </p:cBhvr>
                                      <p:tavLst>
                                        <p:tav tm="0">
                                          <p:val>
                                            <p:fltVal val="0"/>
                                          </p:val>
                                        </p:tav>
                                        <p:tav tm="100000">
                                          <p:val>
                                            <p:strVal val="#ppt_h"/>
                                          </p:val>
                                        </p:tav>
                                      </p:tavLst>
                                    </p:anim>
                                    <p:anim calcmode="lin" valueType="num">
                                      <p:cBhvr>
                                        <p:cTn id="143" dur="1000" fill="hold"/>
                                        <p:tgtEl>
                                          <p:spTgt spid="26"/>
                                        </p:tgtEl>
                                        <p:attrNameLst>
                                          <p:attrName>style.rotation</p:attrName>
                                        </p:attrNameLst>
                                      </p:cBhvr>
                                      <p:tavLst>
                                        <p:tav tm="0">
                                          <p:val>
                                            <p:fltVal val="90"/>
                                          </p:val>
                                        </p:tav>
                                        <p:tav tm="100000">
                                          <p:val>
                                            <p:fltVal val="0"/>
                                          </p:val>
                                        </p:tav>
                                      </p:tavLst>
                                    </p:anim>
                                    <p:animEffect transition="in" filter="fade">
                                      <p:cBhvr>
                                        <p:cTn id="144" dur="1000"/>
                                        <p:tgtEl>
                                          <p:spTgt spid="26"/>
                                        </p:tgtEl>
                                      </p:cBhvr>
                                    </p:animEffect>
                                  </p:childTnLst>
                                </p:cTn>
                              </p:par>
                              <p:par>
                                <p:cTn id="145" presetID="31" presetClass="entr" presetSubtype="0" fill="hold" grpId="0" nodeType="withEffect">
                                  <p:stCondLst>
                                    <p:cond delay="0"/>
                                  </p:stCondLst>
                                  <p:childTnLst>
                                    <p:set>
                                      <p:cBhvr>
                                        <p:cTn id="146" dur="1" fill="hold">
                                          <p:stCondLst>
                                            <p:cond delay="0"/>
                                          </p:stCondLst>
                                        </p:cTn>
                                        <p:tgtEl>
                                          <p:spTgt spid="53"/>
                                        </p:tgtEl>
                                        <p:attrNameLst>
                                          <p:attrName>style.visibility</p:attrName>
                                        </p:attrNameLst>
                                      </p:cBhvr>
                                      <p:to>
                                        <p:strVal val="visible"/>
                                      </p:to>
                                    </p:set>
                                    <p:anim calcmode="lin" valueType="num">
                                      <p:cBhvr>
                                        <p:cTn id="147" dur="1000" fill="hold"/>
                                        <p:tgtEl>
                                          <p:spTgt spid="53"/>
                                        </p:tgtEl>
                                        <p:attrNameLst>
                                          <p:attrName>ppt_w</p:attrName>
                                        </p:attrNameLst>
                                      </p:cBhvr>
                                      <p:tavLst>
                                        <p:tav tm="0">
                                          <p:val>
                                            <p:fltVal val="0"/>
                                          </p:val>
                                        </p:tav>
                                        <p:tav tm="100000">
                                          <p:val>
                                            <p:strVal val="#ppt_w"/>
                                          </p:val>
                                        </p:tav>
                                      </p:tavLst>
                                    </p:anim>
                                    <p:anim calcmode="lin" valueType="num">
                                      <p:cBhvr>
                                        <p:cTn id="148" dur="1000" fill="hold"/>
                                        <p:tgtEl>
                                          <p:spTgt spid="53"/>
                                        </p:tgtEl>
                                        <p:attrNameLst>
                                          <p:attrName>ppt_h</p:attrName>
                                        </p:attrNameLst>
                                      </p:cBhvr>
                                      <p:tavLst>
                                        <p:tav tm="0">
                                          <p:val>
                                            <p:fltVal val="0"/>
                                          </p:val>
                                        </p:tav>
                                        <p:tav tm="100000">
                                          <p:val>
                                            <p:strVal val="#ppt_h"/>
                                          </p:val>
                                        </p:tav>
                                      </p:tavLst>
                                    </p:anim>
                                    <p:anim calcmode="lin" valueType="num">
                                      <p:cBhvr>
                                        <p:cTn id="149" dur="1000" fill="hold"/>
                                        <p:tgtEl>
                                          <p:spTgt spid="53"/>
                                        </p:tgtEl>
                                        <p:attrNameLst>
                                          <p:attrName>style.rotation</p:attrName>
                                        </p:attrNameLst>
                                      </p:cBhvr>
                                      <p:tavLst>
                                        <p:tav tm="0">
                                          <p:val>
                                            <p:fltVal val="90"/>
                                          </p:val>
                                        </p:tav>
                                        <p:tav tm="100000">
                                          <p:val>
                                            <p:fltVal val="0"/>
                                          </p:val>
                                        </p:tav>
                                      </p:tavLst>
                                    </p:anim>
                                    <p:animEffect transition="in" filter="fade">
                                      <p:cBhvr>
                                        <p:cTn id="150" dur="1000"/>
                                        <p:tgtEl>
                                          <p:spTgt spid="53"/>
                                        </p:tgtEl>
                                      </p:cBhvr>
                                    </p:animEffect>
                                  </p:childTnLst>
                                </p:cTn>
                              </p:par>
                              <p:par>
                                <p:cTn id="151" presetID="31" presetClass="entr" presetSubtype="0" fill="hold" nodeType="withEffect">
                                  <p:stCondLst>
                                    <p:cond delay="0"/>
                                  </p:stCondLst>
                                  <p:childTnLst>
                                    <p:set>
                                      <p:cBhvr>
                                        <p:cTn id="152" dur="1" fill="hold">
                                          <p:stCondLst>
                                            <p:cond delay="0"/>
                                          </p:stCondLst>
                                        </p:cTn>
                                        <p:tgtEl>
                                          <p:spTgt spid="54"/>
                                        </p:tgtEl>
                                        <p:attrNameLst>
                                          <p:attrName>style.visibility</p:attrName>
                                        </p:attrNameLst>
                                      </p:cBhvr>
                                      <p:to>
                                        <p:strVal val="visible"/>
                                      </p:to>
                                    </p:set>
                                    <p:anim calcmode="lin" valueType="num">
                                      <p:cBhvr>
                                        <p:cTn id="153" dur="1000" fill="hold"/>
                                        <p:tgtEl>
                                          <p:spTgt spid="54"/>
                                        </p:tgtEl>
                                        <p:attrNameLst>
                                          <p:attrName>ppt_w</p:attrName>
                                        </p:attrNameLst>
                                      </p:cBhvr>
                                      <p:tavLst>
                                        <p:tav tm="0">
                                          <p:val>
                                            <p:fltVal val="0"/>
                                          </p:val>
                                        </p:tav>
                                        <p:tav tm="100000">
                                          <p:val>
                                            <p:strVal val="#ppt_w"/>
                                          </p:val>
                                        </p:tav>
                                      </p:tavLst>
                                    </p:anim>
                                    <p:anim calcmode="lin" valueType="num">
                                      <p:cBhvr>
                                        <p:cTn id="154" dur="1000" fill="hold"/>
                                        <p:tgtEl>
                                          <p:spTgt spid="54"/>
                                        </p:tgtEl>
                                        <p:attrNameLst>
                                          <p:attrName>ppt_h</p:attrName>
                                        </p:attrNameLst>
                                      </p:cBhvr>
                                      <p:tavLst>
                                        <p:tav tm="0">
                                          <p:val>
                                            <p:fltVal val="0"/>
                                          </p:val>
                                        </p:tav>
                                        <p:tav tm="100000">
                                          <p:val>
                                            <p:strVal val="#ppt_h"/>
                                          </p:val>
                                        </p:tav>
                                      </p:tavLst>
                                    </p:anim>
                                    <p:anim calcmode="lin" valueType="num">
                                      <p:cBhvr>
                                        <p:cTn id="155" dur="1000" fill="hold"/>
                                        <p:tgtEl>
                                          <p:spTgt spid="54"/>
                                        </p:tgtEl>
                                        <p:attrNameLst>
                                          <p:attrName>style.rotation</p:attrName>
                                        </p:attrNameLst>
                                      </p:cBhvr>
                                      <p:tavLst>
                                        <p:tav tm="0">
                                          <p:val>
                                            <p:fltVal val="90"/>
                                          </p:val>
                                        </p:tav>
                                        <p:tav tm="100000">
                                          <p:val>
                                            <p:fltVal val="0"/>
                                          </p:val>
                                        </p:tav>
                                      </p:tavLst>
                                    </p:anim>
                                    <p:animEffect transition="in" filter="fade">
                                      <p:cBhvr>
                                        <p:cTn id="156" dur="1000"/>
                                        <p:tgtEl>
                                          <p:spTgt spid="54"/>
                                        </p:tgtEl>
                                      </p:cBhvr>
                                    </p:animEffect>
                                  </p:childTnLst>
                                </p:cTn>
                              </p:par>
                              <p:par>
                                <p:cTn id="157" presetID="31" presetClass="entr" presetSubtype="0" fill="hold" nodeType="withEffect">
                                  <p:stCondLst>
                                    <p:cond delay="0"/>
                                  </p:stCondLst>
                                  <p:childTnLst>
                                    <p:set>
                                      <p:cBhvr>
                                        <p:cTn id="158" dur="1" fill="hold">
                                          <p:stCondLst>
                                            <p:cond delay="0"/>
                                          </p:stCondLst>
                                        </p:cTn>
                                        <p:tgtEl>
                                          <p:spTgt spid="66"/>
                                        </p:tgtEl>
                                        <p:attrNameLst>
                                          <p:attrName>style.visibility</p:attrName>
                                        </p:attrNameLst>
                                      </p:cBhvr>
                                      <p:to>
                                        <p:strVal val="visible"/>
                                      </p:to>
                                    </p:set>
                                    <p:anim calcmode="lin" valueType="num">
                                      <p:cBhvr>
                                        <p:cTn id="159" dur="1000" fill="hold"/>
                                        <p:tgtEl>
                                          <p:spTgt spid="66"/>
                                        </p:tgtEl>
                                        <p:attrNameLst>
                                          <p:attrName>ppt_w</p:attrName>
                                        </p:attrNameLst>
                                      </p:cBhvr>
                                      <p:tavLst>
                                        <p:tav tm="0">
                                          <p:val>
                                            <p:fltVal val="0"/>
                                          </p:val>
                                        </p:tav>
                                        <p:tav tm="100000">
                                          <p:val>
                                            <p:strVal val="#ppt_w"/>
                                          </p:val>
                                        </p:tav>
                                      </p:tavLst>
                                    </p:anim>
                                    <p:anim calcmode="lin" valueType="num">
                                      <p:cBhvr>
                                        <p:cTn id="160" dur="1000" fill="hold"/>
                                        <p:tgtEl>
                                          <p:spTgt spid="66"/>
                                        </p:tgtEl>
                                        <p:attrNameLst>
                                          <p:attrName>ppt_h</p:attrName>
                                        </p:attrNameLst>
                                      </p:cBhvr>
                                      <p:tavLst>
                                        <p:tav tm="0">
                                          <p:val>
                                            <p:fltVal val="0"/>
                                          </p:val>
                                        </p:tav>
                                        <p:tav tm="100000">
                                          <p:val>
                                            <p:strVal val="#ppt_h"/>
                                          </p:val>
                                        </p:tav>
                                      </p:tavLst>
                                    </p:anim>
                                    <p:anim calcmode="lin" valueType="num">
                                      <p:cBhvr>
                                        <p:cTn id="161" dur="1000" fill="hold"/>
                                        <p:tgtEl>
                                          <p:spTgt spid="66"/>
                                        </p:tgtEl>
                                        <p:attrNameLst>
                                          <p:attrName>style.rotation</p:attrName>
                                        </p:attrNameLst>
                                      </p:cBhvr>
                                      <p:tavLst>
                                        <p:tav tm="0">
                                          <p:val>
                                            <p:fltVal val="90"/>
                                          </p:val>
                                        </p:tav>
                                        <p:tav tm="100000">
                                          <p:val>
                                            <p:fltVal val="0"/>
                                          </p:val>
                                        </p:tav>
                                      </p:tavLst>
                                    </p:anim>
                                    <p:animEffect transition="in" filter="fade">
                                      <p:cBhvr>
                                        <p:cTn id="162" dur="1000"/>
                                        <p:tgtEl>
                                          <p:spTgt spid="66"/>
                                        </p:tgtEl>
                                      </p:cBhvr>
                                    </p:animEffect>
                                  </p:childTnLst>
                                </p:cTn>
                              </p:par>
                            </p:childTnLst>
                          </p:cTn>
                        </p:par>
                      </p:childTnLst>
                    </p:cTn>
                  </p:par>
                  <p:par>
                    <p:cTn id="163" fill="hold">
                      <p:stCondLst>
                        <p:cond delay="indefinite"/>
                      </p:stCondLst>
                      <p:childTnLst>
                        <p:par>
                          <p:cTn id="164" fill="hold">
                            <p:stCondLst>
                              <p:cond delay="0"/>
                            </p:stCondLst>
                            <p:childTnLst>
                              <p:par>
                                <p:cTn id="165" presetID="42" presetClass="entr" presetSubtype="0" fill="hold" grpId="0" nodeType="clickEffect">
                                  <p:stCondLst>
                                    <p:cond delay="0"/>
                                  </p:stCondLst>
                                  <p:childTnLst>
                                    <p:set>
                                      <p:cBhvr>
                                        <p:cTn id="166" dur="1" fill="hold">
                                          <p:stCondLst>
                                            <p:cond delay="0"/>
                                          </p:stCondLst>
                                        </p:cTn>
                                        <p:tgtEl>
                                          <p:spTgt spid="27"/>
                                        </p:tgtEl>
                                        <p:attrNameLst>
                                          <p:attrName>style.visibility</p:attrName>
                                        </p:attrNameLst>
                                      </p:cBhvr>
                                      <p:to>
                                        <p:strVal val="visible"/>
                                      </p:to>
                                    </p:set>
                                    <p:animEffect transition="in" filter="fade">
                                      <p:cBhvr>
                                        <p:cTn id="167" dur="1000"/>
                                        <p:tgtEl>
                                          <p:spTgt spid="27"/>
                                        </p:tgtEl>
                                      </p:cBhvr>
                                    </p:animEffect>
                                    <p:anim calcmode="lin" valueType="num">
                                      <p:cBhvr>
                                        <p:cTn id="168" dur="1000" fill="hold"/>
                                        <p:tgtEl>
                                          <p:spTgt spid="27"/>
                                        </p:tgtEl>
                                        <p:attrNameLst>
                                          <p:attrName>ppt_x</p:attrName>
                                        </p:attrNameLst>
                                      </p:cBhvr>
                                      <p:tavLst>
                                        <p:tav tm="0">
                                          <p:val>
                                            <p:strVal val="#ppt_x"/>
                                          </p:val>
                                        </p:tav>
                                        <p:tav tm="100000">
                                          <p:val>
                                            <p:strVal val="#ppt_x"/>
                                          </p:val>
                                        </p:tav>
                                      </p:tavLst>
                                    </p:anim>
                                    <p:anim calcmode="lin" valueType="num">
                                      <p:cBhvr>
                                        <p:cTn id="16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31" presetClass="entr" presetSubtype="0" fill="hold" grpId="0" nodeType="clickEffect">
                                  <p:stCondLst>
                                    <p:cond delay="0"/>
                                  </p:stCondLst>
                                  <p:childTnLst>
                                    <p:set>
                                      <p:cBhvr>
                                        <p:cTn id="173" dur="1" fill="hold">
                                          <p:stCondLst>
                                            <p:cond delay="0"/>
                                          </p:stCondLst>
                                        </p:cTn>
                                        <p:tgtEl>
                                          <p:spTgt spid="9"/>
                                        </p:tgtEl>
                                        <p:attrNameLst>
                                          <p:attrName>style.visibility</p:attrName>
                                        </p:attrNameLst>
                                      </p:cBhvr>
                                      <p:to>
                                        <p:strVal val="visible"/>
                                      </p:to>
                                    </p:set>
                                    <p:anim calcmode="lin" valueType="num">
                                      <p:cBhvr>
                                        <p:cTn id="174" dur="1000" fill="hold"/>
                                        <p:tgtEl>
                                          <p:spTgt spid="9"/>
                                        </p:tgtEl>
                                        <p:attrNameLst>
                                          <p:attrName>ppt_w</p:attrName>
                                        </p:attrNameLst>
                                      </p:cBhvr>
                                      <p:tavLst>
                                        <p:tav tm="0">
                                          <p:val>
                                            <p:fltVal val="0"/>
                                          </p:val>
                                        </p:tav>
                                        <p:tav tm="100000">
                                          <p:val>
                                            <p:strVal val="#ppt_w"/>
                                          </p:val>
                                        </p:tav>
                                      </p:tavLst>
                                    </p:anim>
                                    <p:anim calcmode="lin" valueType="num">
                                      <p:cBhvr>
                                        <p:cTn id="175" dur="1000" fill="hold"/>
                                        <p:tgtEl>
                                          <p:spTgt spid="9"/>
                                        </p:tgtEl>
                                        <p:attrNameLst>
                                          <p:attrName>ppt_h</p:attrName>
                                        </p:attrNameLst>
                                      </p:cBhvr>
                                      <p:tavLst>
                                        <p:tav tm="0">
                                          <p:val>
                                            <p:fltVal val="0"/>
                                          </p:val>
                                        </p:tav>
                                        <p:tav tm="100000">
                                          <p:val>
                                            <p:strVal val="#ppt_h"/>
                                          </p:val>
                                        </p:tav>
                                      </p:tavLst>
                                    </p:anim>
                                    <p:anim calcmode="lin" valueType="num">
                                      <p:cBhvr>
                                        <p:cTn id="176" dur="1000" fill="hold"/>
                                        <p:tgtEl>
                                          <p:spTgt spid="9"/>
                                        </p:tgtEl>
                                        <p:attrNameLst>
                                          <p:attrName>style.rotation</p:attrName>
                                        </p:attrNameLst>
                                      </p:cBhvr>
                                      <p:tavLst>
                                        <p:tav tm="0">
                                          <p:val>
                                            <p:fltVal val="90"/>
                                          </p:val>
                                        </p:tav>
                                        <p:tav tm="100000">
                                          <p:val>
                                            <p:fltVal val="0"/>
                                          </p:val>
                                        </p:tav>
                                      </p:tavLst>
                                    </p:anim>
                                    <p:animEffect transition="in" filter="fade">
                                      <p:cBhvr>
                                        <p:cTn id="177" dur="1000"/>
                                        <p:tgtEl>
                                          <p:spTgt spid="9"/>
                                        </p:tgtEl>
                                      </p:cBhvr>
                                    </p:animEffect>
                                  </p:childTnLst>
                                </p:cTn>
                              </p:par>
                              <p:par>
                                <p:cTn id="178" presetID="31" presetClass="entr" presetSubtype="0" fill="hold" grpId="0" nodeType="withEffect">
                                  <p:stCondLst>
                                    <p:cond delay="0"/>
                                  </p:stCondLst>
                                  <p:childTnLst>
                                    <p:set>
                                      <p:cBhvr>
                                        <p:cTn id="179" dur="1" fill="hold">
                                          <p:stCondLst>
                                            <p:cond delay="0"/>
                                          </p:stCondLst>
                                        </p:cTn>
                                        <p:tgtEl>
                                          <p:spTgt spid="10"/>
                                        </p:tgtEl>
                                        <p:attrNameLst>
                                          <p:attrName>style.visibility</p:attrName>
                                        </p:attrNameLst>
                                      </p:cBhvr>
                                      <p:to>
                                        <p:strVal val="visible"/>
                                      </p:to>
                                    </p:set>
                                    <p:anim calcmode="lin" valueType="num">
                                      <p:cBhvr>
                                        <p:cTn id="180" dur="1000" fill="hold"/>
                                        <p:tgtEl>
                                          <p:spTgt spid="10"/>
                                        </p:tgtEl>
                                        <p:attrNameLst>
                                          <p:attrName>ppt_w</p:attrName>
                                        </p:attrNameLst>
                                      </p:cBhvr>
                                      <p:tavLst>
                                        <p:tav tm="0">
                                          <p:val>
                                            <p:fltVal val="0"/>
                                          </p:val>
                                        </p:tav>
                                        <p:tav tm="100000">
                                          <p:val>
                                            <p:strVal val="#ppt_w"/>
                                          </p:val>
                                        </p:tav>
                                      </p:tavLst>
                                    </p:anim>
                                    <p:anim calcmode="lin" valueType="num">
                                      <p:cBhvr>
                                        <p:cTn id="181" dur="1000" fill="hold"/>
                                        <p:tgtEl>
                                          <p:spTgt spid="10"/>
                                        </p:tgtEl>
                                        <p:attrNameLst>
                                          <p:attrName>ppt_h</p:attrName>
                                        </p:attrNameLst>
                                      </p:cBhvr>
                                      <p:tavLst>
                                        <p:tav tm="0">
                                          <p:val>
                                            <p:fltVal val="0"/>
                                          </p:val>
                                        </p:tav>
                                        <p:tav tm="100000">
                                          <p:val>
                                            <p:strVal val="#ppt_h"/>
                                          </p:val>
                                        </p:tav>
                                      </p:tavLst>
                                    </p:anim>
                                    <p:anim calcmode="lin" valueType="num">
                                      <p:cBhvr>
                                        <p:cTn id="182" dur="1000" fill="hold"/>
                                        <p:tgtEl>
                                          <p:spTgt spid="10"/>
                                        </p:tgtEl>
                                        <p:attrNameLst>
                                          <p:attrName>style.rotation</p:attrName>
                                        </p:attrNameLst>
                                      </p:cBhvr>
                                      <p:tavLst>
                                        <p:tav tm="0">
                                          <p:val>
                                            <p:fltVal val="90"/>
                                          </p:val>
                                        </p:tav>
                                        <p:tav tm="100000">
                                          <p:val>
                                            <p:fltVal val="0"/>
                                          </p:val>
                                        </p:tav>
                                      </p:tavLst>
                                    </p:anim>
                                    <p:animEffect transition="in" filter="fade">
                                      <p:cBhvr>
                                        <p:cTn id="183" dur="1000"/>
                                        <p:tgtEl>
                                          <p:spTgt spid="10"/>
                                        </p:tgtEl>
                                      </p:cBhvr>
                                    </p:animEffect>
                                  </p:childTnLst>
                                </p:cTn>
                              </p:par>
                              <p:par>
                                <p:cTn id="184" presetID="31" presetClass="entr" presetSubtype="0" fill="hold" grpId="0" nodeType="withEffect">
                                  <p:stCondLst>
                                    <p:cond delay="0"/>
                                  </p:stCondLst>
                                  <p:childTnLst>
                                    <p:set>
                                      <p:cBhvr>
                                        <p:cTn id="185" dur="1" fill="hold">
                                          <p:stCondLst>
                                            <p:cond delay="0"/>
                                          </p:stCondLst>
                                        </p:cTn>
                                        <p:tgtEl>
                                          <p:spTgt spid="58"/>
                                        </p:tgtEl>
                                        <p:attrNameLst>
                                          <p:attrName>style.visibility</p:attrName>
                                        </p:attrNameLst>
                                      </p:cBhvr>
                                      <p:to>
                                        <p:strVal val="visible"/>
                                      </p:to>
                                    </p:set>
                                    <p:anim calcmode="lin" valueType="num">
                                      <p:cBhvr>
                                        <p:cTn id="186" dur="1000" fill="hold"/>
                                        <p:tgtEl>
                                          <p:spTgt spid="58"/>
                                        </p:tgtEl>
                                        <p:attrNameLst>
                                          <p:attrName>ppt_w</p:attrName>
                                        </p:attrNameLst>
                                      </p:cBhvr>
                                      <p:tavLst>
                                        <p:tav tm="0">
                                          <p:val>
                                            <p:fltVal val="0"/>
                                          </p:val>
                                        </p:tav>
                                        <p:tav tm="100000">
                                          <p:val>
                                            <p:strVal val="#ppt_w"/>
                                          </p:val>
                                        </p:tav>
                                      </p:tavLst>
                                    </p:anim>
                                    <p:anim calcmode="lin" valueType="num">
                                      <p:cBhvr>
                                        <p:cTn id="187" dur="1000" fill="hold"/>
                                        <p:tgtEl>
                                          <p:spTgt spid="58"/>
                                        </p:tgtEl>
                                        <p:attrNameLst>
                                          <p:attrName>ppt_h</p:attrName>
                                        </p:attrNameLst>
                                      </p:cBhvr>
                                      <p:tavLst>
                                        <p:tav tm="0">
                                          <p:val>
                                            <p:fltVal val="0"/>
                                          </p:val>
                                        </p:tav>
                                        <p:tav tm="100000">
                                          <p:val>
                                            <p:strVal val="#ppt_h"/>
                                          </p:val>
                                        </p:tav>
                                      </p:tavLst>
                                    </p:anim>
                                    <p:anim calcmode="lin" valueType="num">
                                      <p:cBhvr>
                                        <p:cTn id="188" dur="1000" fill="hold"/>
                                        <p:tgtEl>
                                          <p:spTgt spid="58"/>
                                        </p:tgtEl>
                                        <p:attrNameLst>
                                          <p:attrName>style.rotation</p:attrName>
                                        </p:attrNameLst>
                                      </p:cBhvr>
                                      <p:tavLst>
                                        <p:tav tm="0">
                                          <p:val>
                                            <p:fltVal val="90"/>
                                          </p:val>
                                        </p:tav>
                                        <p:tav tm="100000">
                                          <p:val>
                                            <p:fltVal val="0"/>
                                          </p:val>
                                        </p:tav>
                                      </p:tavLst>
                                    </p:anim>
                                    <p:animEffect transition="in" filter="fade">
                                      <p:cBhvr>
                                        <p:cTn id="189" dur="1000"/>
                                        <p:tgtEl>
                                          <p:spTgt spid="58"/>
                                        </p:tgtEl>
                                      </p:cBhvr>
                                    </p:animEffect>
                                  </p:childTnLst>
                                </p:cTn>
                              </p:par>
                              <p:par>
                                <p:cTn id="190" presetID="31" presetClass="entr" presetSubtype="0" fill="hold" grpId="0" nodeType="withEffect">
                                  <p:stCondLst>
                                    <p:cond delay="0"/>
                                  </p:stCondLst>
                                  <p:childTnLst>
                                    <p:set>
                                      <p:cBhvr>
                                        <p:cTn id="191" dur="1" fill="hold">
                                          <p:stCondLst>
                                            <p:cond delay="0"/>
                                          </p:stCondLst>
                                        </p:cTn>
                                        <p:tgtEl>
                                          <p:spTgt spid="59"/>
                                        </p:tgtEl>
                                        <p:attrNameLst>
                                          <p:attrName>style.visibility</p:attrName>
                                        </p:attrNameLst>
                                      </p:cBhvr>
                                      <p:to>
                                        <p:strVal val="visible"/>
                                      </p:to>
                                    </p:set>
                                    <p:anim calcmode="lin" valueType="num">
                                      <p:cBhvr>
                                        <p:cTn id="192" dur="1000" fill="hold"/>
                                        <p:tgtEl>
                                          <p:spTgt spid="59"/>
                                        </p:tgtEl>
                                        <p:attrNameLst>
                                          <p:attrName>ppt_w</p:attrName>
                                        </p:attrNameLst>
                                      </p:cBhvr>
                                      <p:tavLst>
                                        <p:tav tm="0">
                                          <p:val>
                                            <p:fltVal val="0"/>
                                          </p:val>
                                        </p:tav>
                                        <p:tav tm="100000">
                                          <p:val>
                                            <p:strVal val="#ppt_w"/>
                                          </p:val>
                                        </p:tav>
                                      </p:tavLst>
                                    </p:anim>
                                    <p:anim calcmode="lin" valueType="num">
                                      <p:cBhvr>
                                        <p:cTn id="193" dur="1000" fill="hold"/>
                                        <p:tgtEl>
                                          <p:spTgt spid="59"/>
                                        </p:tgtEl>
                                        <p:attrNameLst>
                                          <p:attrName>ppt_h</p:attrName>
                                        </p:attrNameLst>
                                      </p:cBhvr>
                                      <p:tavLst>
                                        <p:tav tm="0">
                                          <p:val>
                                            <p:fltVal val="0"/>
                                          </p:val>
                                        </p:tav>
                                        <p:tav tm="100000">
                                          <p:val>
                                            <p:strVal val="#ppt_h"/>
                                          </p:val>
                                        </p:tav>
                                      </p:tavLst>
                                    </p:anim>
                                    <p:anim calcmode="lin" valueType="num">
                                      <p:cBhvr>
                                        <p:cTn id="194" dur="1000" fill="hold"/>
                                        <p:tgtEl>
                                          <p:spTgt spid="59"/>
                                        </p:tgtEl>
                                        <p:attrNameLst>
                                          <p:attrName>style.rotation</p:attrName>
                                        </p:attrNameLst>
                                      </p:cBhvr>
                                      <p:tavLst>
                                        <p:tav tm="0">
                                          <p:val>
                                            <p:fltVal val="90"/>
                                          </p:val>
                                        </p:tav>
                                        <p:tav tm="100000">
                                          <p:val>
                                            <p:fltVal val="0"/>
                                          </p:val>
                                        </p:tav>
                                      </p:tavLst>
                                    </p:anim>
                                    <p:animEffect transition="in" filter="fade">
                                      <p:cBhvr>
                                        <p:cTn id="195" dur="1000"/>
                                        <p:tgtEl>
                                          <p:spTgt spid="59"/>
                                        </p:tgtEl>
                                      </p:cBhvr>
                                    </p:animEffect>
                                  </p:childTnLst>
                                </p:cTn>
                              </p:par>
                              <p:par>
                                <p:cTn id="196" presetID="31" presetClass="entr" presetSubtype="0" fill="hold" grpId="0" nodeType="withEffect">
                                  <p:stCondLst>
                                    <p:cond delay="0"/>
                                  </p:stCondLst>
                                  <p:childTnLst>
                                    <p:set>
                                      <p:cBhvr>
                                        <p:cTn id="197" dur="1" fill="hold">
                                          <p:stCondLst>
                                            <p:cond delay="0"/>
                                          </p:stCondLst>
                                        </p:cTn>
                                        <p:tgtEl>
                                          <p:spTgt spid="60"/>
                                        </p:tgtEl>
                                        <p:attrNameLst>
                                          <p:attrName>style.visibility</p:attrName>
                                        </p:attrNameLst>
                                      </p:cBhvr>
                                      <p:to>
                                        <p:strVal val="visible"/>
                                      </p:to>
                                    </p:set>
                                    <p:anim calcmode="lin" valueType="num">
                                      <p:cBhvr>
                                        <p:cTn id="198" dur="1000" fill="hold"/>
                                        <p:tgtEl>
                                          <p:spTgt spid="60"/>
                                        </p:tgtEl>
                                        <p:attrNameLst>
                                          <p:attrName>ppt_w</p:attrName>
                                        </p:attrNameLst>
                                      </p:cBhvr>
                                      <p:tavLst>
                                        <p:tav tm="0">
                                          <p:val>
                                            <p:fltVal val="0"/>
                                          </p:val>
                                        </p:tav>
                                        <p:tav tm="100000">
                                          <p:val>
                                            <p:strVal val="#ppt_w"/>
                                          </p:val>
                                        </p:tav>
                                      </p:tavLst>
                                    </p:anim>
                                    <p:anim calcmode="lin" valueType="num">
                                      <p:cBhvr>
                                        <p:cTn id="199" dur="1000" fill="hold"/>
                                        <p:tgtEl>
                                          <p:spTgt spid="60"/>
                                        </p:tgtEl>
                                        <p:attrNameLst>
                                          <p:attrName>ppt_h</p:attrName>
                                        </p:attrNameLst>
                                      </p:cBhvr>
                                      <p:tavLst>
                                        <p:tav tm="0">
                                          <p:val>
                                            <p:fltVal val="0"/>
                                          </p:val>
                                        </p:tav>
                                        <p:tav tm="100000">
                                          <p:val>
                                            <p:strVal val="#ppt_h"/>
                                          </p:val>
                                        </p:tav>
                                      </p:tavLst>
                                    </p:anim>
                                    <p:anim calcmode="lin" valueType="num">
                                      <p:cBhvr>
                                        <p:cTn id="200" dur="1000" fill="hold"/>
                                        <p:tgtEl>
                                          <p:spTgt spid="60"/>
                                        </p:tgtEl>
                                        <p:attrNameLst>
                                          <p:attrName>style.rotation</p:attrName>
                                        </p:attrNameLst>
                                      </p:cBhvr>
                                      <p:tavLst>
                                        <p:tav tm="0">
                                          <p:val>
                                            <p:fltVal val="90"/>
                                          </p:val>
                                        </p:tav>
                                        <p:tav tm="100000">
                                          <p:val>
                                            <p:fltVal val="0"/>
                                          </p:val>
                                        </p:tav>
                                      </p:tavLst>
                                    </p:anim>
                                    <p:animEffect transition="in" filter="fade">
                                      <p:cBhvr>
                                        <p:cTn id="201" dur="1000"/>
                                        <p:tgtEl>
                                          <p:spTgt spid="60"/>
                                        </p:tgtEl>
                                      </p:cBhvr>
                                    </p:animEffect>
                                  </p:childTnLst>
                                </p:cTn>
                              </p:par>
                              <p:par>
                                <p:cTn id="202" presetID="31" presetClass="entr" presetSubtype="0" fill="hold" grpId="0" nodeType="withEffect">
                                  <p:stCondLst>
                                    <p:cond delay="0"/>
                                  </p:stCondLst>
                                  <p:childTnLst>
                                    <p:set>
                                      <p:cBhvr>
                                        <p:cTn id="203" dur="1" fill="hold">
                                          <p:stCondLst>
                                            <p:cond delay="0"/>
                                          </p:stCondLst>
                                        </p:cTn>
                                        <p:tgtEl>
                                          <p:spTgt spid="61"/>
                                        </p:tgtEl>
                                        <p:attrNameLst>
                                          <p:attrName>style.visibility</p:attrName>
                                        </p:attrNameLst>
                                      </p:cBhvr>
                                      <p:to>
                                        <p:strVal val="visible"/>
                                      </p:to>
                                    </p:set>
                                    <p:anim calcmode="lin" valueType="num">
                                      <p:cBhvr>
                                        <p:cTn id="204" dur="1000" fill="hold"/>
                                        <p:tgtEl>
                                          <p:spTgt spid="61"/>
                                        </p:tgtEl>
                                        <p:attrNameLst>
                                          <p:attrName>ppt_w</p:attrName>
                                        </p:attrNameLst>
                                      </p:cBhvr>
                                      <p:tavLst>
                                        <p:tav tm="0">
                                          <p:val>
                                            <p:fltVal val="0"/>
                                          </p:val>
                                        </p:tav>
                                        <p:tav tm="100000">
                                          <p:val>
                                            <p:strVal val="#ppt_w"/>
                                          </p:val>
                                        </p:tav>
                                      </p:tavLst>
                                    </p:anim>
                                    <p:anim calcmode="lin" valueType="num">
                                      <p:cBhvr>
                                        <p:cTn id="205" dur="1000" fill="hold"/>
                                        <p:tgtEl>
                                          <p:spTgt spid="61"/>
                                        </p:tgtEl>
                                        <p:attrNameLst>
                                          <p:attrName>ppt_h</p:attrName>
                                        </p:attrNameLst>
                                      </p:cBhvr>
                                      <p:tavLst>
                                        <p:tav tm="0">
                                          <p:val>
                                            <p:fltVal val="0"/>
                                          </p:val>
                                        </p:tav>
                                        <p:tav tm="100000">
                                          <p:val>
                                            <p:strVal val="#ppt_h"/>
                                          </p:val>
                                        </p:tav>
                                      </p:tavLst>
                                    </p:anim>
                                    <p:anim calcmode="lin" valueType="num">
                                      <p:cBhvr>
                                        <p:cTn id="206" dur="1000" fill="hold"/>
                                        <p:tgtEl>
                                          <p:spTgt spid="61"/>
                                        </p:tgtEl>
                                        <p:attrNameLst>
                                          <p:attrName>style.rotation</p:attrName>
                                        </p:attrNameLst>
                                      </p:cBhvr>
                                      <p:tavLst>
                                        <p:tav tm="0">
                                          <p:val>
                                            <p:fltVal val="90"/>
                                          </p:val>
                                        </p:tav>
                                        <p:tav tm="100000">
                                          <p:val>
                                            <p:fltVal val="0"/>
                                          </p:val>
                                        </p:tav>
                                      </p:tavLst>
                                    </p:anim>
                                    <p:animEffect transition="in" filter="fade">
                                      <p:cBhvr>
                                        <p:cTn id="207" dur="1000"/>
                                        <p:tgtEl>
                                          <p:spTgt spid="61"/>
                                        </p:tgtEl>
                                      </p:cBhvr>
                                    </p:animEffect>
                                  </p:childTnLst>
                                </p:cTn>
                              </p:par>
                              <p:par>
                                <p:cTn id="208" presetID="31" presetClass="entr" presetSubtype="0" fill="hold" nodeType="withEffect">
                                  <p:stCondLst>
                                    <p:cond delay="0"/>
                                  </p:stCondLst>
                                  <p:childTnLst>
                                    <p:set>
                                      <p:cBhvr>
                                        <p:cTn id="209" dur="1" fill="hold">
                                          <p:stCondLst>
                                            <p:cond delay="0"/>
                                          </p:stCondLst>
                                        </p:cTn>
                                        <p:tgtEl>
                                          <p:spTgt spid="63"/>
                                        </p:tgtEl>
                                        <p:attrNameLst>
                                          <p:attrName>style.visibility</p:attrName>
                                        </p:attrNameLst>
                                      </p:cBhvr>
                                      <p:to>
                                        <p:strVal val="visible"/>
                                      </p:to>
                                    </p:set>
                                    <p:anim calcmode="lin" valueType="num">
                                      <p:cBhvr>
                                        <p:cTn id="210" dur="1000" fill="hold"/>
                                        <p:tgtEl>
                                          <p:spTgt spid="63"/>
                                        </p:tgtEl>
                                        <p:attrNameLst>
                                          <p:attrName>ppt_w</p:attrName>
                                        </p:attrNameLst>
                                      </p:cBhvr>
                                      <p:tavLst>
                                        <p:tav tm="0">
                                          <p:val>
                                            <p:fltVal val="0"/>
                                          </p:val>
                                        </p:tav>
                                        <p:tav tm="100000">
                                          <p:val>
                                            <p:strVal val="#ppt_w"/>
                                          </p:val>
                                        </p:tav>
                                      </p:tavLst>
                                    </p:anim>
                                    <p:anim calcmode="lin" valueType="num">
                                      <p:cBhvr>
                                        <p:cTn id="211" dur="1000" fill="hold"/>
                                        <p:tgtEl>
                                          <p:spTgt spid="63"/>
                                        </p:tgtEl>
                                        <p:attrNameLst>
                                          <p:attrName>ppt_h</p:attrName>
                                        </p:attrNameLst>
                                      </p:cBhvr>
                                      <p:tavLst>
                                        <p:tav tm="0">
                                          <p:val>
                                            <p:fltVal val="0"/>
                                          </p:val>
                                        </p:tav>
                                        <p:tav tm="100000">
                                          <p:val>
                                            <p:strVal val="#ppt_h"/>
                                          </p:val>
                                        </p:tav>
                                      </p:tavLst>
                                    </p:anim>
                                    <p:anim calcmode="lin" valueType="num">
                                      <p:cBhvr>
                                        <p:cTn id="212" dur="1000" fill="hold"/>
                                        <p:tgtEl>
                                          <p:spTgt spid="63"/>
                                        </p:tgtEl>
                                        <p:attrNameLst>
                                          <p:attrName>style.rotation</p:attrName>
                                        </p:attrNameLst>
                                      </p:cBhvr>
                                      <p:tavLst>
                                        <p:tav tm="0">
                                          <p:val>
                                            <p:fltVal val="90"/>
                                          </p:val>
                                        </p:tav>
                                        <p:tav tm="100000">
                                          <p:val>
                                            <p:fltVal val="0"/>
                                          </p:val>
                                        </p:tav>
                                      </p:tavLst>
                                    </p:anim>
                                    <p:animEffect transition="in" filter="fade">
                                      <p:cBhvr>
                                        <p:cTn id="213" dur="1000"/>
                                        <p:tgtEl>
                                          <p:spTgt spid="63"/>
                                        </p:tgtEl>
                                      </p:cBhvr>
                                    </p:animEffect>
                                  </p:childTnLst>
                                </p:cTn>
                              </p:par>
                              <p:par>
                                <p:cTn id="214" presetID="31" presetClass="entr" presetSubtype="0" fill="hold" grpId="0" nodeType="withEffect">
                                  <p:stCondLst>
                                    <p:cond delay="0"/>
                                  </p:stCondLst>
                                  <p:childTnLst>
                                    <p:set>
                                      <p:cBhvr>
                                        <p:cTn id="215" dur="1" fill="hold">
                                          <p:stCondLst>
                                            <p:cond delay="0"/>
                                          </p:stCondLst>
                                        </p:cTn>
                                        <p:tgtEl>
                                          <p:spTgt spid="64"/>
                                        </p:tgtEl>
                                        <p:attrNameLst>
                                          <p:attrName>style.visibility</p:attrName>
                                        </p:attrNameLst>
                                      </p:cBhvr>
                                      <p:to>
                                        <p:strVal val="visible"/>
                                      </p:to>
                                    </p:set>
                                    <p:anim calcmode="lin" valueType="num">
                                      <p:cBhvr>
                                        <p:cTn id="216" dur="1000" fill="hold"/>
                                        <p:tgtEl>
                                          <p:spTgt spid="64"/>
                                        </p:tgtEl>
                                        <p:attrNameLst>
                                          <p:attrName>ppt_w</p:attrName>
                                        </p:attrNameLst>
                                      </p:cBhvr>
                                      <p:tavLst>
                                        <p:tav tm="0">
                                          <p:val>
                                            <p:fltVal val="0"/>
                                          </p:val>
                                        </p:tav>
                                        <p:tav tm="100000">
                                          <p:val>
                                            <p:strVal val="#ppt_w"/>
                                          </p:val>
                                        </p:tav>
                                      </p:tavLst>
                                    </p:anim>
                                    <p:anim calcmode="lin" valueType="num">
                                      <p:cBhvr>
                                        <p:cTn id="217" dur="1000" fill="hold"/>
                                        <p:tgtEl>
                                          <p:spTgt spid="64"/>
                                        </p:tgtEl>
                                        <p:attrNameLst>
                                          <p:attrName>ppt_h</p:attrName>
                                        </p:attrNameLst>
                                      </p:cBhvr>
                                      <p:tavLst>
                                        <p:tav tm="0">
                                          <p:val>
                                            <p:fltVal val="0"/>
                                          </p:val>
                                        </p:tav>
                                        <p:tav tm="100000">
                                          <p:val>
                                            <p:strVal val="#ppt_h"/>
                                          </p:val>
                                        </p:tav>
                                      </p:tavLst>
                                    </p:anim>
                                    <p:anim calcmode="lin" valueType="num">
                                      <p:cBhvr>
                                        <p:cTn id="218" dur="1000" fill="hold"/>
                                        <p:tgtEl>
                                          <p:spTgt spid="64"/>
                                        </p:tgtEl>
                                        <p:attrNameLst>
                                          <p:attrName>style.rotation</p:attrName>
                                        </p:attrNameLst>
                                      </p:cBhvr>
                                      <p:tavLst>
                                        <p:tav tm="0">
                                          <p:val>
                                            <p:fltVal val="90"/>
                                          </p:val>
                                        </p:tav>
                                        <p:tav tm="100000">
                                          <p:val>
                                            <p:fltVal val="0"/>
                                          </p:val>
                                        </p:tav>
                                      </p:tavLst>
                                    </p:anim>
                                    <p:animEffect transition="in" filter="fade">
                                      <p:cBhvr>
                                        <p:cTn id="219" dur="1000"/>
                                        <p:tgtEl>
                                          <p:spTgt spid="64"/>
                                        </p:tgtEl>
                                      </p:cBhvr>
                                    </p:animEffect>
                                  </p:childTnLst>
                                </p:cTn>
                              </p:par>
                            </p:childTnLst>
                          </p:cTn>
                        </p:par>
                      </p:childTnLst>
                    </p:cTn>
                  </p:par>
                  <p:par>
                    <p:cTn id="220" fill="hold">
                      <p:stCondLst>
                        <p:cond delay="indefinite"/>
                      </p:stCondLst>
                      <p:childTnLst>
                        <p:par>
                          <p:cTn id="221" fill="hold">
                            <p:stCondLst>
                              <p:cond delay="0"/>
                            </p:stCondLst>
                            <p:childTnLst>
                              <p:par>
                                <p:cTn id="222" presetID="14" presetClass="entr" presetSubtype="10" fill="hold" grpId="0" nodeType="clickEffect">
                                  <p:stCondLst>
                                    <p:cond delay="0"/>
                                  </p:stCondLst>
                                  <p:childTnLst>
                                    <p:set>
                                      <p:cBhvr>
                                        <p:cTn id="223" dur="1" fill="hold">
                                          <p:stCondLst>
                                            <p:cond delay="0"/>
                                          </p:stCondLst>
                                        </p:cTn>
                                        <p:tgtEl>
                                          <p:spTgt spid="7"/>
                                        </p:tgtEl>
                                        <p:attrNameLst>
                                          <p:attrName>style.visibility</p:attrName>
                                        </p:attrNameLst>
                                      </p:cBhvr>
                                      <p:to>
                                        <p:strVal val="visible"/>
                                      </p:to>
                                    </p:set>
                                    <p:animEffect transition="in" filter="randombar(horizontal)">
                                      <p:cBhvr>
                                        <p:cTn id="2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5" grpId="0" animBg="1"/>
      <p:bldP spid="26" grpId="0" animBg="1"/>
      <p:bldP spid="27" grpId="0" animBg="1"/>
      <p:bldP spid="32" grpId="0" animBg="1"/>
      <p:bldP spid="50" grpId="0" animBg="1"/>
      <p:bldP spid="51" grpId="0"/>
      <p:bldP spid="52" grpId="0"/>
      <p:bldP spid="53" grpId="0"/>
      <p:bldP spid="58" grpId="0" animBg="1"/>
      <p:bldP spid="59" grpId="0"/>
      <p:bldP spid="60" grpId="0"/>
      <p:bldP spid="61" grpId="0" animBg="1"/>
      <p:bldP spid="62" grpId="0" animBg="1"/>
      <p:bldP spid="64" grpId="0"/>
      <p:bldP spid="6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758C-0803-46D7-9968-34754750993F}"/>
              </a:ext>
            </a:extLst>
          </p:cNvPr>
          <p:cNvSpPr>
            <a:spLocks noGrp="1"/>
          </p:cNvSpPr>
          <p:nvPr>
            <p:ph type="title"/>
          </p:nvPr>
        </p:nvSpPr>
        <p:spPr/>
        <p:txBody>
          <a:bodyPr>
            <a:normAutofit/>
          </a:bodyPr>
          <a:lstStyle/>
          <a:p>
            <a:r>
              <a:rPr lang="en-US" dirty="0">
                <a:solidFill>
                  <a:schemeClr val="accent1">
                    <a:lumMod val="75000"/>
                  </a:schemeClr>
                </a:solidFill>
              </a:rPr>
              <a:t>Screenshots of some generated video games</a:t>
            </a:r>
            <a:endParaRPr lang="bg-BG" dirty="0"/>
          </a:p>
        </p:txBody>
      </p:sp>
      <p:sp>
        <p:nvSpPr>
          <p:cNvPr id="3" name="Content Placeholder 2">
            <a:extLst>
              <a:ext uri="{FF2B5EF4-FFF2-40B4-BE49-F238E27FC236}">
                <a16:creationId xmlns:a16="http://schemas.microsoft.com/office/drawing/2014/main" id="{412A7036-0162-4849-92E5-C5F6C1E527C8}"/>
              </a:ext>
            </a:extLst>
          </p:cNvPr>
          <p:cNvSpPr>
            <a:spLocks noGrp="1"/>
          </p:cNvSpPr>
          <p:nvPr>
            <p:ph idx="1"/>
          </p:nvPr>
        </p:nvSpPr>
        <p:spPr>
          <a:xfrm>
            <a:off x="712718" y="1708721"/>
            <a:ext cx="4112277" cy="4346516"/>
          </a:xfrm>
        </p:spPr>
        <p:txBody>
          <a:bodyPr>
            <a:normAutofit/>
          </a:bodyPr>
          <a:lstStyle/>
          <a:p>
            <a:r>
              <a:rPr lang="en-US" sz="2400" dirty="0"/>
              <a:t>The Dynasty of </a:t>
            </a:r>
            <a:r>
              <a:rPr lang="en-US" sz="2400" dirty="0" err="1"/>
              <a:t>Asenevtsi</a:t>
            </a:r>
            <a:endParaRPr lang="en-US" sz="2400" dirty="0"/>
          </a:p>
          <a:p>
            <a:r>
              <a:rPr lang="en-US" sz="2400" dirty="0"/>
              <a:t>The Heritage of </a:t>
            </a:r>
            <a:r>
              <a:rPr lang="en-US" sz="2400" dirty="0" err="1"/>
              <a:t>Valchan</a:t>
            </a:r>
            <a:r>
              <a:rPr lang="en-US" sz="2400" dirty="0"/>
              <a:t> Voivode</a:t>
            </a:r>
          </a:p>
          <a:p>
            <a:r>
              <a:rPr lang="en-US" sz="2400" dirty="0"/>
              <a:t>Let Us Save Venice</a:t>
            </a:r>
          </a:p>
          <a:p>
            <a:r>
              <a:rPr lang="en-US" sz="2400" dirty="0"/>
              <a:t>Climate Heritage Vulnerability Game</a:t>
            </a:r>
          </a:p>
          <a:p>
            <a:r>
              <a:rPr lang="en-US" sz="2400" dirty="0"/>
              <a:t>Climate Heritage Impact Game</a:t>
            </a:r>
          </a:p>
          <a:p>
            <a:r>
              <a:rPr lang="en-US" sz="2400" dirty="0"/>
              <a:t>Climate Heritage Adaptation Game</a:t>
            </a:r>
          </a:p>
          <a:p>
            <a:pPr marL="0" indent="0">
              <a:buNone/>
            </a:pPr>
            <a:endParaRPr lang="en-US" sz="2400" dirty="0"/>
          </a:p>
          <a:p>
            <a:endParaRPr lang="bg-BG" sz="2400" dirty="0"/>
          </a:p>
        </p:txBody>
      </p:sp>
      <p:sp>
        <p:nvSpPr>
          <p:cNvPr id="4" name="Date Placeholder 3">
            <a:extLst>
              <a:ext uri="{FF2B5EF4-FFF2-40B4-BE49-F238E27FC236}">
                <a16:creationId xmlns:a16="http://schemas.microsoft.com/office/drawing/2014/main" id="{9359AF00-CA78-4239-A09F-AC37A3BFF3A1}"/>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83177BE7-BE9D-4709-A374-B6B46CF47397}"/>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A83A3EC1-CBCE-4CDE-971E-4654E7B92629}"/>
              </a:ext>
            </a:extLst>
          </p:cNvPr>
          <p:cNvSpPr>
            <a:spLocks noGrp="1"/>
          </p:cNvSpPr>
          <p:nvPr>
            <p:ph type="sldNum" sz="quarter" idx="12"/>
          </p:nvPr>
        </p:nvSpPr>
        <p:spPr/>
        <p:txBody>
          <a:bodyPr/>
          <a:lstStyle/>
          <a:p>
            <a:fld id="{75BBA16B-9D76-409E-A4DB-EDE76CDC68EC}" type="slidenum">
              <a:rPr lang="en-US" smtClean="0"/>
              <a:pPr/>
              <a:t>9</a:t>
            </a:fld>
            <a:endParaRPr lang="en-US"/>
          </a:p>
        </p:txBody>
      </p:sp>
      <p:pic>
        <p:nvPicPr>
          <p:cNvPr id="7" name="Picture 6">
            <a:extLst>
              <a:ext uri="{FF2B5EF4-FFF2-40B4-BE49-F238E27FC236}">
                <a16:creationId xmlns:a16="http://schemas.microsoft.com/office/drawing/2014/main" id="{5A5B5C0D-15F9-4FF1-A865-E45F899A486A}"/>
              </a:ext>
            </a:extLst>
          </p:cNvPr>
          <p:cNvPicPr>
            <a:picLocks noChangeAspect="1"/>
          </p:cNvPicPr>
          <p:nvPr/>
        </p:nvPicPr>
        <p:blipFill>
          <a:blip r:embed="rId2"/>
          <a:stretch>
            <a:fillRect/>
          </a:stretch>
        </p:blipFill>
        <p:spPr>
          <a:xfrm>
            <a:off x="5025236" y="1865050"/>
            <a:ext cx="7007927" cy="4033858"/>
          </a:xfrm>
          <a:prstGeom prst="rect">
            <a:avLst/>
          </a:prstGeom>
        </p:spPr>
      </p:pic>
    </p:spTree>
    <p:extLst>
      <p:ext uri="{BB962C8B-B14F-4D97-AF65-F5344CB8AC3E}">
        <p14:creationId xmlns:p14="http://schemas.microsoft.com/office/powerpoint/2010/main" val="2860382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091F6-9F88-4DBA-9159-D22958AF4BBA}"/>
              </a:ext>
            </a:extLst>
          </p:cNvPr>
          <p:cNvSpPr>
            <a:spLocks noGrp="1"/>
          </p:cNvSpPr>
          <p:nvPr>
            <p:ph type="title"/>
          </p:nvPr>
        </p:nvSpPr>
        <p:spPr/>
        <p:txBody>
          <a:bodyPr/>
          <a:lstStyle/>
          <a:p>
            <a:r>
              <a:rPr lang="en-US" dirty="0"/>
              <a:t>Fixed tree-based dialog with a simple NPC</a:t>
            </a:r>
            <a:endParaRPr lang="bg-BG" dirty="0"/>
          </a:p>
        </p:txBody>
      </p:sp>
      <p:sp>
        <p:nvSpPr>
          <p:cNvPr id="4" name="Date Placeholder 3">
            <a:extLst>
              <a:ext uri="{FF2B5EF4-FFF2-40B4-BE49-F238E27FC236}">
                <a16:creationId xmlns:a16="http://schemas.microsoft.com/office/drawing/2014/main" id="{D314B093-C603-43A3-B3F8-1A839FCA7614}"/>
              </a:ext>
            </a:extLst>
          </p:cNvPr>
          <p:cNvSpPr>
            <a:spLocks noGrp="1"/>
          </p:cNvSpPr>
          <p:nvPr>
            <p:ph type="dt" sz="half" idx="10"/>
          </p:nvPr>
        </p:nvSpPr>
        <p:spPr/>
        <p:txBody>
          <a:bodyPr/>
          <a:lstStyle/>
          <a:p>
            <a:r>
              <a:rPr lang="en-US"/>
              <a:t>18/06/2025</a:t>
            </a:r>
            <a:endParaRPr lang="en-US" dirty="0"/>
          </a:p>
        </p:txBody>
      </p:sp>
      <p:sp>
        <p:nvSpPr>
          <p:cNvPr id="5" name="Footer Placeholder 4">
            <a:extLst>
              <a:ext uri="{FF2B5EF4-FFF2-40B4-BE49-F238E27FC236}">
                <a16:creationId xmlns:a16="http://schemas.microsoft.com/office/drawing/2014/main" id="{658BFCD6-BCC5-419E-A3B5-D47D4AF79620}"/>
              </a:ext>
            </a:extLst>
          </p:cNvPr>
          <p:cNvSpPr>
            <a:spLocks noGrp="1"/>
          </p:cNvSpPr>
          <p:nvPr>
            <p:ph type="ftr" sz="quarter" idx="11"/>
          </p:nvPr>
        </p:nvSpPr>
        <p:spPr/>
        <p:txBody>
          <a:bodyPr/>
          <a:lstStyle/>
          <a:p>
            <a:r>
              <a:rPr lang="en-US"/>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8C8B9BC1-EF1A-4445-9DE1-CEE061EFC4D4}"/>
              </a:ext>
            </a:extLst>
          </p:cNvPr>
          <p:cNvSpPr>
            <a:spLocks noGrp="1"/>
          </p:cNvSpPr>
          <p:nvPr>
            <p:ph type="sldNum" sz="quarter" idx="12"/>
          </p:nvPr>
        </p:nvSpPr>
        <p:spPr/>
        <p:txBody>
          <a:bodyPr/>
          <a:lstStyle/>
          <a:p>
            <a:fld id="{75BBA16B-9D76-409E-A4DB-EDE76CDC68EC}" type="slidenum">
              <a:rPr lang="en-US" smtClean="0"/>
              <a:pPr/>
              <a:t>10</a:t>
            </a:fld>
            <a:endParaRPr lang="en-US"/>
          </a:p>
        </p:txBody>
      </p:sp>
      <p:pic>
        <p:nvPicPr>
          <p:cNvPr id="7" name="image8.png">
            <a:extLst>
              <a:ext uri="{FF2B5EF4-FFF2-40B4-BE49-F238E27FC236}">
                <a16:creationId xmlns:a16="http://schemas.microsoft.com/office/drawing/2014/main" id="{E89D828C-996D-430B-A490-BC25791DA9C8}"/>
              </a:ext>
            </a:extLst>
          </p:cNvPr>
          <p:cNvPicPr/>
          <p:nvPr/>
        </p:nvPicPr>
        <p:blipFill>
          <a:blip r:embed="rId2">
            <a:extLst>
              <a:ext uri="{BEBA8EAE-BF5A-486C-A8C5-ECC9F3942E4B}">
                <a14:imgProps xmlns:a14="http://schemas.microsoft.com/office/drawing/2010/main">
                  <a14:imgLayer r:embed="rId3">
                    <a14:imgEffect>
                      <a14:brightnessContrast bright="19000"/>
                    </a14:imgEffect>
                  </a14:imgLayer>
                </a14:imgProps>
              </a:ext>
            </a:extLst>
          </a:blip>
          <a:srcRect/>
          <a:stretch>
            <a:fillRect/>
          </a:stretch>
        </p:blipFill>
        <p:spPr>
          <a:xfrm>
            <a:off x="4870194" y="992474"/>
            <a:ext cx="6427817" cy="5503970"/>
          </a:xfrm>
          <a:prstGeom prst="rect">
            <a:avLst/>
          </a:prstGeom>
          <a:ln/>
        </p:spPr>
      </p:pic>
      <p:sp>
        <p:nvSpPr>
          <p:cNvPr id="8" name="Rectangle 7">
            <a:extLst>
              <a:ext uri="{FF2B5EF4-FFF2-40B4-BE49-F238E27FC236}">
                <a16:creationId xmlns:a16="http://schemas.microsoft.com/office/drawing/2014/main" id="{76D7D395-AEF8-4223-B9D4-87019B073C9F}"/>
              </a:ext>
            </a:extLst>
          </p:cNvPr>
          <p:cNvSpPr/>
          <p:nvPr/>
        </p:nvSpPr>
        <p:spPr>
          <a:xfrm>
            <a:off x="415139" y="2094499"/>
            <a:ext cx="3808715" cy="2985433"/>
          </a:xfrm>
          <a:prstGeom prst="rect">
            <a:avLst/>
          </a:prstGeom>
        </p:spPr>
        <p:txBody>
          <a:bodyPr wrap="square">
            <a:spAutoFit/>
          </a:bodyPr>
          <a:lstStyle/>
          <a:p>
            <a:pPr>
              <a:spcAft>
                <a:spcPts val="1200"/>
              </a:spcAft>
            </a:pPr>
            <a:r>
              <a:rPr lang="en-US" sz="2400" dirty="0">
                <a:ea typeface="Times New Roman" panose="02020603050405020304" pitchFamily="18" charset="0"/>
              </a:rPr>
              <a:t>For intelligent, complex virtual players (i.e., NPCs): </a:t>
            </a:r>
          </a:p>
          <a:p>
            <a:pPr marL="342900" indent="-342900">
              <a:spcAft>
                <a:spcPts val="1200"/>
              </a:spcAft>
              <a:buFont typeface="Arial" panose="020B0604020202020204" pitchFamily="34" charset="0"/>
              <a:buChar char="•"/>
            </a:pPr>
            <a:r>
              <a:rPr lang="en-US" sz="2400" dirty="0">
                <a:ea typeface="Times New Roman" panose="02020603050405020304" pitchFamily="18" charset="0"/>
              </a:rPr>
              <a:t>the player can ask free-form questions, </a:t>
            </a:r>
          </a:p>
          <a:p>
            <a:pPr marL="342900" indent="-342900">
              <a:spcAft>
                <a:spcPts val="1200"/>
              </a:spcAft>
              <a:buFont typeface="Arial" panose="020B0604020202020204" pitchFamily="34" charset="0"/>
              <a:buChar char="•"/>
            </a:pPr>
            <a:r>
              <a:rPr lang="en-US" sz="2400" dirty="0">
                <a:ea typeface="Times New Roman" panose="02020603050405020304" pitchFamily="18" charset="0"/>
              </a:rPr>
              <a:t>which are sent over the Internet to an intelligent conversational agent.</a:t>
            </a:r>
            <a:endParaRPr lang="bg-BG" sz="2400" dirty="0"/>
          </a:p>
        </p:txBody>
      </p:sp>
    </p:spTree>
    <p:extLst>
      <p:ext uri="{BB962C8B-B14F-4D97-AF65-F5344CB8AC3E}">
        <p14:creationId xmlns:p14="http://schemas.microsoft.com/office/powerpoint/2010/main" val="534747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D3E6E-A3B8-48E8-9F48-24C3164AD25B}"/>
              </a:ext>
            </a:extLst>
          </p:cNvPr>
          <p:cNvSpPr>
            <a:spLocks noGrp="1"/>
          </p:cNvSpPr>
          <p:nvPr>
            <p:ph type="title"/>
          </p:nvPr>
        </p:nvSpPr>
        <p:spPr/>
        <p:txBody>
          <a:bodyPr>
            <a:normAutofit fontScale="90000"/>
          </a:bodyPr>
          <a:lstStyle/>
          <a:p>
            <a:r>
              <a:rPr lang="en-US" dirty="0">
                <a:solidFill>
                  <a:schemeClr val="accent1">
                    <a:lumMod val="75000"/>
                  </a:schemeClr>
                </a:solidFill>
              </a:rPr>
              <a:t>Maze games with complex NPC with adaptive behavior</a:t>
            </a:r>
            <a:endParaRPr lang="bg-BG" dirty="0"/>
          </a:p>
        </p:txBody>
      </p:sp>
      <p:sp>
        <p:nvSpPr>
          <p:cNvPr id="4" name="Date Placeholder 3">
            <a:extLst>
              <a:ext uri="{FF2B5EF4-FFF2-40B4-BE49-F238E27FC236}">
                <a16:creationId xmlns:a16="http://schemas.microsoft.com/office/drawing/2014/main" id="{3A5A9380-F007-4249-B9C3-CEB06F2C28D6}"/>
              </a:ext>
            </a:extLst>
          </p:cNvPr>
          <p:cNvSpPr>
            <a:spLocks noGrp="1"/>
          </p:cNvSpPr>
          <p:nvPr>
            <p:ph type="dt" sz="half" idx="10"/>
          </p:nvPr>
        </p:nvSpPr>
        <p:spPr/>
        <p:txBody>
          <a:bodyPr/>
          <a:lstStyle/>
          <a:p>
            <a:r>
              <a:rPr lang="en-US" dirty="0"/>
              <a:t>18/06/2025</a:t>
            </a:r>
          </a:p>
        </p:txBody>
      </p:sp>
      <p:sp>
        <p:nvSpPr>
          <p:cNvPr id="5" name="Footer Placeholder 4">
            <a:extLst>
              <a:ext uri="{FF2B5EF4-FFF2-40B4-BE49-F238E27FC236}">
                <a16:creationId xmlns:a16="http://schemas.microsoft.com/office/drawing/2014/main" id="{F764C0CF-8E48-475B-8726-03A8B958A5BE}"/>
              </a:ext>
            </a:extLst>
          </p:cNvPr>
          <p:cNvSpPr>
            <a:spLocks noGrp="1"/>
          </p:cNvSpPr>
          <p:nvPr>
            <p:ph type="ftr" sz="quarter" idx="11"/>
          </p:nvPr>
        </p:nvSpPr>
        <p:spPr/>
        <p:txBody>
          <a:bodyPr/>
          <a:lstStyle/>
          <a:p>
            <a:r>
              <a:rPr lang="en-US" sz="1400" dirty="0">
                <a:latin typeface="+mn-lt"/>
                <a:ea typeface="+mn-ea"/>
                <a:cs typeface="+mn-cs"/>
              </a:rPr>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CAE6D0ED-07A1-4BF1-8DEB-60EC9F231A3E}"/>
              </a:ext>
            </a:extLst>
          </p:cNvPr>
          <p:cNvSpPr>
            <a:spLocks noGrp="1"/>
          </p:cNvSpPr>
          <p:nvPr>
            <p:ph type="sldNum" sz="quarter" idx="12"/>
          </p:nvPr>
        </p:nvSpPr>
        <p:spPr/>
        <p:txBody>
          <a:bodyPr/>
          <a:lstStyle/>
          <a:p>
            <a:fld id="{75BBA16B-9D76-409E-A4DB-EDE76CDC68EC}" type="slidenum">
              <a:rPr lang="en-US" smtClean="0"/>
              <a:pPr/>
              <a:t>11</a:t>
            </a:fld>
            <a:endParaRPr lang="en-US"/>
          </a:p>
        </p:txBody>
      </p:sp>
      <p:pic>
        <p:nvPicPr>
          <p:cNvPr id="7" name="Picture 6">
            <a:extLst>
              <a:ext uri="{FF2B5EF4-FFF2-40B4-BE49-F238E27FC236}">
                <a16:creationId xmlns:a16="http://schemas.microsoft.com/office/drawing/2014/main" id="{891DD7C4-3A8C-48E5-9237-FAB51FA64722}"/>
              </a:ext>
            </a:extLst>
          </p:cNvPr>
          <p:cNvPicPr>
            <a:picLocks noChangeAspect="1"/>
          </p:cNvPicPr>
          <p:nvPr/>
        </p:nvPicPr>
        <p:blipFill>
          <a:blip r:embed="rId2"/>
          <a:stretch>
            <a:fillRect/>
          </a:stretch>
        </p:blipFill>
        <p:spPr>
          <a:xfrm>
            <a:off x="734786" y="1096682"/>
            <a:ext cx="4319352" cy="5295553"/>
          </a:xfrm>
          <a:prstGeom prst="rect">
            <a:avLst/>
          </a:prstGeom>
        </p:spPr>
      </p:pic>
      <p:sp>
        <p:nvSpPr>
          <p:cNvPr id="8" name="Rectangle 7">
            <a:extLst>
              <a:ext uri="{FF2B5EF4-FFF2-40B4-BE49-F238E27FC236}">
                <a16:creationId xmlns:a16="http://schemas.microsoft.com/office/drawing/2014/main" id="{20151062-A71E-43E0-BD19-C23E3F8F6AF3}"/>
              </a:ext>
            </a:extLst>
          </p:cNvPr>
          <p:cNvSpPr/>
          <p:nvPr/>
        </p:nvSpPr>
        <p:spPr>
          <a:xfrm>
            <a:off x="5153891" y="1230284"/>
            <a:ext cx="6303323" cy="4016484"/>
          </a:xfrm>
          <a:prstGeom prst="rect">
            <a:avLst/>
          </a:prstGeom>
        </p:spPr>
        <p:txBody>
          <a:bodyPr wrap="square">
            <a:spAutoFit/>
          </a:bodyPr>
          <a:lstStyle/>
          <a:p>
            <a:pPr marL="342900" indent="-342900">
              <a:spcAft>
                <a:spcPts val="600"/>
              </a:spcAft>
              <a:buFont typeface="Arial" panose="020B0604020202020204" pitchFamily="34" charset="0"/>
              <a:buChar char="•"/>
            </a:pPr>
            <a:r>
              <a:rPr lang="en-US" sz="2400" dirty="0">
                <a:ea typeface="Times New Roman" panose="02020603050405020304" pitchFamily="18" charset="0"/>
              </a:rPr>
              <a:t>The </a:t>
            </a:r>
            <a:r>
              <a:rPr lang="en-US" sz="2400" dirty="0"/>
              <a:t>NPCs emotional state constantly changes based on the actions of the real player.</a:t>
            </a:r>
          </a:p>
          <a:p>
            <a:pPr marL="342900" indent="-342900">
              <a:spcAft>
                <a:spcPts val="600"/>
              </a:spcAft>
              <a:buFont typeface="Arial" panose="020B0604020202020204" pitchFamily="34" charset="0"/>
              <a:buChar char="•"/>
            </a:pPr>
            <a:r>
              <a:rPr lang="en-US" sz="2400" dirty="0"/>
              <a:t>The avatars (a) and (b) illustrate the emotional state of the virtual player. </a:t>
            </a:r>
          </a:p>
          <a:p>
            <a:pPr marL="342900" indent="-342900">
              <a:spcAft>
                <a:spcPts val="600"/>
              </a:spcAft>
              <a:buFont typeface="Arial" panose="020B0604020202020204" pitchFamily="34" charset="0"/>
              <a:buChar char="•"/>
            </a:pPr>
            <a:r>
              <a:rPr lang="en-US" sz="2400" dirty="0"/>
              <a:t>A progress bar, colored green and red, indicates the transition toward a new emotional state. </a:t>
            </a:r>
          </a:p>
          <a:p>
            <a:pPr marL="342900" indent="-342900">
              <a:spcAft>
                <a:spcPts val="600"/>
              </a:spcAft>
              <a:buFont typeface="Arial" panose="020B0604020202020204" pitchFamily="34" charset="0"/>
              <a:buChar char="•"/>
            </a:pPr>
            <a:r>
              <a:rPr lang="en-US" sz="2400" dirty="0"/>
              <a:t>The red color represents a shift toward a worse emotional state, while green indicates an improvement.</a:t>
            </a:r>
            <a:endParaRPr lang="bg-BG" sz="2400" dirty="0"/>
          </a:p>
        </p:txBody>
      </p:sp>
      <p:pic>
        <p:nvPicPr>
          <p:cNvPr id="9" name="Picture 8" descr="A white background with black and white clouds&#10;&#10;AI-generated content may be incorrect.">
            <a:extLst>
              <a:ext uri="{FF2B5EF4-FFF2-40B4-BE49-F238E27FC236}">
                <a16:creationId xmlns:a16="http://schemas.microsoft.com/office/drawing/2014/main" id="{6858A124-8803-4489-B42E-65FF85A69505}"/>
              </a:ext>
            </a:extLst>
          </p:cNvPr>
          <p:cNvPicPr/>
          <p:nvPr/>
        </p:nvPicPr>
        <p:blipFill>
          <a:blip r:embed="rId3"/>
          <a:stretch>
            <a:fillRect/>
          </a:stretch>
        </p:blipFill>
        <p:spPr>
          <a:xfrm>
            <a:off x="5529165" y="5296646"/>
            <a:ext cx="5928049" cy="971939"/>
          </a:xfrm>
          <a:prstGeom prst="rect">
            <a:avLst/>
          </a:prstGeom>
        </p:spPr>
      </p:pic>
    </p:spTree>
    <p:extLst>
      <p:ext uri="{BB962C8B-B14F-4D97-AF65-F5344CB8AC3E}">
        <p14:creationId xmlns:p14="http://schemas.microsoft.com/office/powerpoint/2010/main" val="1107634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24493-3114-4A92-9A09-33259118F9CA}"/>
              </a:ext>
            </a:extLst>
          </p:cNvPr>
          <p:cNvSpPr>
            <a:spLocks noGrp="1"/>
          </p:cNvSpPr>
          <p:nvPr>
            <p:ph type="title"/>
          </p:nvPr>
        </p:nvSpPr>
        <p:spPr>
          <a:xfrm>
            <a:off x="734786" y="185511"/>
            <a:ext cx="6846421" cy="1497920"/>
          </a:xfrm>
        </p:spPr>
        <p:txBody>
          <a:bodyPr>
            <a:normAutofit/>
          </a:bodyPr>
          <a:lstStyle/>
          <a:p>
            <a:r>
              <a:rPr lang="en-US" dirty="0">
                <a:solidFill>
                  <a:schemeClr val="accent1">
                    <a:lumMod val="75000"/>
                  </a:schemeClr>
                </a:solidFill>
              </a:rPr>
              <a:t>Workflow of dynamic game adaptation control</a:t>
            </a:r>
            <a:endParaRPr lang="bg-BG" dirty="0"/>
          </a:p>
        </p:txBody>
      </p:sp>
      <p:sp>
        <p:nvSpPr>
          <p:cNvPr id="4" name="Date Placeholder 3">
            <a:extLst>
              <a:ext uri="{FF2B5EF4-FFF2-40B4-BE49-F238E27FC236}">
                <a16:creationId xmlns:a16="http://schemas.microsoft.com/office/drawing/2014/main" id="{DE5C13DE-93CE-4381-A759-04E118BF613A}"/>
              </a:ext>
            </a:extLst>
          </p:cNvPr>
          <p:cNvSpPr>
            <a:spLocks noGrp="1"/>
          </p:cNvSpPr>
          <p:nvPr>
            <p:ph type="dt" sz="half" idx="10"/>
          </p:nvPr>
        </p:nvSpPr>
        <p:spPr/>
        <p:txBody>
          <a:bodyPr/>
          <a:lstStyle/>
          <a:p>
            <a:r>
              <a:rPr lang="en-US"/>
              <a:t>18/06/2025</a:t>
            </a:r>
            <a:endParaRPr lang="en-US" dirty="0"/>
          </a:p>
        </p:txBody>
      </p:sp>
      <p:sp>
        <p:nvSpPr>
          <p:cNvPr id="5" name="Footer Placeholder 4">
            <a:extLst>
              <a:ext uri="{FF2B5EF4-FFF2-40B4-BE49-F238E27FC236}">
                <a16:creationId xmlns:a16="http://schemas.microsoft.com/office/drawing/2014/main" id="{BF174AA4-F402-4167-999C-DB7408C32C86}"/>
              </a:ext>
            </a:extLst>
          </p:cNvPr>
          <p:cNvSpPr>
            <a:spLocks noGrp="1"/>
          </p:cNvSpPr>
          <p:nvPr>
            <p:ph type="ftr" sz="quarter" idx="11"/>
          </p:nvPr>
        </p:nvSpPr>
        <p:spPr/>
        <p:txBody>
          <a:bodyPr/>
          <a:lstStyle/>
          <a:p>
            <a:r>
              <a:rPr lang="en-US"/>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2B29F40B-E5D2-4834-830E-8681E97FAA56}"/>
              </a:ext>
            </a:extLst>
          </p:cNvPr>
          <p:cNvSpPr>
            <a:spLocks noGrp="1"/>
          </p:cNvSpPr>
          <p:nvPr>
            <p:ph type="sldNum" sz="quarter" idx="12"/>
          </p:nvPr>
        </p:nvSpPr>
        <p:spPr/>
        <p:txBody>
          <a:bodyPr/>
          <a:lstStyle/>
          <a:p>
            <a:fld id="{75BBA16B-9D76-409E-A4DB-EDE76CDC68EC}" type="slidenum">
              <a:rPr lang="en-US" smtClean="0"/>
              <a:pPr/>
              <a:t>12</a:t>
            </a:fld>
            <a:endParaRPr lang="en-US"/>
          </a:p>
        </p:txBody>
      </p:sp>
      <p:sp>
        <p:nvSpPr>
          <p:cNvPr id="8" name="Rounded Rectangle 3">
            <a:extLst>
              <a:ext uri="{FF2B5EF4-FFF2-40B4-BE49-F238E27FC236}">
                <a16:creationId xmlns:a16="http://schemas.microsoft.com/office/drawing/2014/main" id="{95DC152E-FFC8-4463-9230-26594FA21FEA}"/>
              </a:ext>
            </a:extLst>
          </p:cNvPr>
          <p:cNvSpPr/>
          <p:nvPr/>
        </p:nvSpPr>
        <p:spPr>
          <a:xfrm>
            <a:off x="7461732" y="573314"/>
            <a:ext cx="3709851" cy="1773645"/>
          </a:xfrm>
          <a:prstGeom prst="roundRect">
            <a:avLst/>
          </a:prstGeom>
          <a:solidFill>
            <a:schemeClr val="accent5">
              <a:lumMod val="5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endParaRPr lang="en-US" b="1" dirty="0">
              <a:solidFill>
                <a:schemeClr val="bg1"/>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r>
              <a:rPr lang="en-US" b="1" dirty="0">
                <a:solidFill>
                  <a:srgbClr val="FFFFFF"/>
                </a:solidFill>
                <a:ea typeface="Times New Roman" panose="02020603050405020304" pitchFamily="18" charset="0"/>
                <a:cs typeface="Times New Roman" panose="02020603050405020304" pitchFamily="18" charset="0"/>
              </a:rPr>
              <a:t>Gameplay Registration</a:t>
            </a: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p:txBody>
      </p:sp>
      <p:sp>
        <p:nvSpPr>
          <p:cNvPr id="9" name="Rounded Rectangle 4">
            <a:extLst>
              <a:ext uri="{FF2B5EF4-FFF2-40B4-BE49-F238E27FC236}">
                <a16:creationId xmlns:a16="http://schemas.microsoft.com/office/drawing/2014/main" id="{B2393E69-F050-47B5-812B-4AB812C134D6}"/>
              </a:ext>
            </a:extLst>
          </p:cNvPr>
          <p:cNvSpPr/>
          <p:nvPr/>
        </p:nvSpPr>
        <p:spPr>
          <a:xfrm>
            <a:off x="10561983" y="2721428"/>
            <a:ext cx="1776270" cy="2865305"/>
          </a:xfrm>
          <a:prstGeom prst="roundRect">
            <a:avLst/>
          </a:prstGeom>
          <a:solidFill>
            <a:schemeClr val="accent5">
              <a:lumMod val="5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Visualization</a:t>
            </a: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p:txBody>
      </p:sp>
      <p:sp>
        <p:nvSpPr>
          <p:cNvPr id="10" name="Rounded Rectangle 5">
            <a:extLst>
              <a:ext uri="{FF2B5EF4-FFF2-40B4-BE49-F238E27FC236}">
                <a16:creationId xmlns:a16="http://schemas.microsoft.com/office/drawing/2014/main" id="{8BEAD4D6-FDB9-4801-8E06-166F55B673BB}"/>
              </a:ext>
            </a:extLst>
          </p:cNvPr>
          <p:cNvSpPr/>
          <p:nvPr/>
        </p:nvSpPr>
        <p:spPr>
          <a:xfrm>
            <a:off x="8314244" y="2756263"/>
            <a:ext cx="1887166" cy="2843441"/>
          </a:xfrm>
          <a:prstGeom prst="roundRect">
            <a:avLst/>
          </a:prstGeom>
          <a:solidFill>
            <a:schemeClr val="accent5">
              <a:lumMod val="5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ea typeface="Times New Roman" panose="02020603050405020304" pitchFamily="18" charset="0"/>
                <a:cs typeface="Times New Roman" panose="02020603050405020304" pitchFamily="18" charset="0"/>
              </a:rPr>
              <a:t>Control</a:t>
            </a: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p:txBody>
      </p:sp>
      <p:sp>
        <p:nvSpPr>
          <p:cNvPr id="11" name="Rounded Rectangle 6">
            <a:extLst>
              <a:ext uri="{FF2B5EF4-FFF2-40B4-BE49-F238E27FC236}">
                <a16:creationId xmlns:a16="http://schemas.microsoft.com/office/drawing/2014/main" id="{9725D526-4E49-40AE-B568-F6265147CB96}"/>
              </a:ext>
            </a:extLst>
          </p:cNvPr>
          <p:cNvSpPr/>
          <p:nvPr/>
        </p:nvSpPr>
        <p:spPr>
          <a:xfrm>
            <a:off x="5545104" y="2551703"/>
            <a:ext cx="1887166" cy="2989851"/>
          </a:xfrm>
          <a:prstGeom prst="roundRect">
            <a:avLst/>
          </a:prstGeom>
          <a:solidFill>
            <a:schemeClr val="accent5">
              <a:lumMod val="5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ea typeface="Times New Roman" panose="02020603050405020304" pitchFamily="18" charset="0"/>
                <a:cs typeface="Times New Roman" panose="02020603050405020304" pitchFamily="18" charset="0"/>
              </a:rPr>
              <a:t>Analysis</a:t>
            </a: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p:txBody>
      </p:sp>
      <p:sp>
        <p:nvSpPr>
          <p:cNvPr id="12" name="Rounded Rectangle 7">
            <a:extLst>
              <a:ext uri="{FF2B5EF4-FFF2-40B4-BE49-F238E27FC236}">
                <a16:creationId xmlns:a16="http://schemas.microsoft.com/office/drawing/2014/main" id="{5BE9169B-76B9-4D08-B9FB-9E666E294240}"/>
              </a:ext>
            </a:extLst>
          </p:cNvPr>
          <p:cNvSpPr/>
          <p:nvPr/>
        </p:nvSpPr>
        <p:spPr>
          <a:xfrm>
            <a:off x="2746781" y="2798354"/>
            <a:ext cx="1832413" cy="3406503"/>
          </a:xfrm>
          <a:prstGeom prst="roundRect">
            <a:avLst/>
          </a:prstGeom>
          <a:solidFill>
            <a:schemeClr val="accent5">
              <a:lumMod val="5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1200"/>
              </a:spcAft>
            </a:pPr>
            <a:endParaRPr lang="en-US" b="1" dirty="0">
              <a:solidFill>
                <a:schemeClr val="bg1"/>
              </a:solidFill>
              <a:ea typeface="Times New Roman" panose="02020603050405020304" pitchFamily="18" charset="0"/>
              <a:cs typeface="Times New Roman" panose="02020603050405020304" pitchFamily="18" charset="0"/>
            </a:endParaRPr>
          </a:p>
          <a:p>
            <a:pPr algn="ctr">
              <a:spcAft>
                <a:spcPts val="1200"/>
              </a:spcAft>
            </a:pPr>
            <a:endParaRPr lang="en-US" b="1" dirty="0">
              <a:solidFill>
                <a:schemeClr val="bg1"/>
              </a:solidFill>
              <a:ea typeface="Times New Roman" panose="02020603050405020304" pitchFamily="18" charset="0"/>
              <a:cs typeface="Times New Roman" panose="02020603050405020304" pitchFamily="18" charset="0"/>
            </a:endParaRPr>
          </a:p>
          <a:p>
            <a:pPr algn="ctr">
              <a:spcAft>
                <a:spcPts val="1200"/>
              </a:spcAft>
            </a:pPr>
            <a:endParaRPr lang="en-US" b="1" dirty="0">
              <a:solidFill>
                <a:schemeClr val="bg1"/>
              </a:solidFill>
              <a:ea typeface="Times New Roman" panose="02020603050405020304" pitchFamily="18" charset="0"/>
              <a:cs typeface="Times New Roman" panose="02020603050405020304" pitchFamily="18" charset="0"/>
            </a:endParaRPr>
          </a:p>
          <a:p>
            <a:pPr algn="ctr">
              <a:spcAft>
                <a:spcPts val="1200"/>
              </a:spcAft>
            </a:pPr>
            <a:r>
              <a:rPr lang="en-US" b="1" dirty="0">
                <a:solidFill>
                  <a:schemeClr val="bg1"/>
                </a:solidFill>
                <a:ea typeface="Times New Roman" panose="02020603050405020304" pitchFamily="18" charset="0"/>
                <a:cs typeface="Times New Roman" panose="02020603050405020304" pitchFamily="18" charset="0"/>
              </a:rPr>
              <a:t>Emotion State Registration</a:t>
            </a: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a:p>
            <a:pPr algn="ctr"/>
            <a:endParaRPr lang="en-US" b="1" dirty="0">
              <a:solidFill>
                <a:srgbClr val="FFFFFF"/>
              </a:solidFill>
              <a:ea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64D64FF-488F-4C5A-B15C-FC422A0176EE}"/>
              </a:ext>
            </a:extLst>
          </p:cNvPr>
          <p:cNvSpPr txBox="1"/>
          <p:nvPr/>
        </p:nvSpPr>
        <p:spPr>
          <a:xfrm>
            <a:off x="3029068" y="3828439"/>
            <a:ext cx="1395400" cy="862149"/>
          </a:xfrm>
          <a:prstGeom prst="rect">
            <a:avLst/>
          </a:prstGeom>
          <a:solidFill>
            <a:schemeClr val="tx2">
              <a:lumMod val="75000"/>
            </a:schemeClr>
          </a:solidFill>
        </p:spPr>
        <p:txBody>
          <a:bodyPr wrap="square" rtlCol="0">
            <a:noAutofit/>
          </a:bodyPr>
          <a:lstStyle/>
          <a:p>
            <a:pPr algn="ctr"/>
            <a:endParaRPr lang="en-US" sz="7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EDA/BVP Measurement</a:t>
            </a:r>
            <a:endParaRPr lang="es-ES" sz="1400" dirty="0">
              <a:latin typeface="Times New Roman" panose="02020603050405020304" pitchFamily="18" charset="0"/>
              <a:ea typeface="Times New Roman" panose="02020603050405020304" pitchFamily="18" charset="0"/>
            </a:endParaRPr>
          </a:p>
        </p:txBody>
      </p:sp>
      <p:sp>
        <p:nvSpPr>
          <p:cNvPr id="14" name="TextBox 10">
            <a:extLst>
              <a:ext uri="{FF2B5EF4-FFF2-40B4-BE49-F238E27FC236}">
                <a16:creationId xmlns:a16="http://schemas.microsoft.com/office/drawing/2014/main" id="{4406BD6F-779D-4353-9652-8E7731B8FBD9}"/>
              </a:ext>
            </a:extLst>
          </p:cNvPr>
          <p:cNvSpPr txBox="1"/>
          <p:nvPr/>
        </p:nvSpPr>
        <p:spPr>
          <a:xfrm>
            <a:off x="8689356" y="3203044"/>
            <a:ext cx="1246266" cy="1962899"/>
          </a:xfrm>
          <a:prstGeom prst="rect">
            <a:avLst/>
          </a:prstGeom>
          <a:solidFill>
            <a:schemeClr val="tx2">
              <a:lumMod val="75000"/>
            </a:schemeClr>
          </a:solidFill>
        </p:spPr>
        <p:txBody>
          <a:bodyPr wrap="square" rtlCol="0">
            <a:noAutofit/>
          </a:bodyPr>
          <a:lstStyle/>
          <a:p>
            <a:pPr algn="ctr"/>
            <a:endPar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Game Adaptation</a:t>
            </a:r>
            <a:endParaRPr lang="es-ES" sz="1400" dirty="0">
              <a:latin typeface="Times New Roman" panose="02020603050405020304" pitchFamily="18" charset="0"/>
              <a:ea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Procedures</a:t>
            </a:r>
            <a:endParaRPr lang="es-ES" sz="1400" dirty="0">
              <a:latin typeface="Times New Roman" panose="02020603050405020304" pitchFamily="18" charset="0"/>
              <a:ea typeface="Times New Roman" panose="02020603050405020304" pitchFamily="18" charset="0"/>
            </a:endParaRPr>
          </a:p>
          <a:p>
            <a:pPr algn="ctr"/>
            <a:endPar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DDA and </a:t>
            </a:r>
          </a:p>
          <a:p>
            <a:pPr algn="ct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NPC Behavior</a:t>
            </a:r>
            <a:endParaRPr lang="es-ES" sz="1400" dirty="0">
              <a:latin typeface="Times New Roman" panose="02020603050405020304" pitchFamily="18" charset="0"/>
              <a:ea typeface="Times New Roman" panose="02020603050405020304" pitchFamily="18" charset="0"/>
            </a:endParaRPr>
          </a:p>
        </p:txBody>
      </p:sp>
      <p:sp>
        <p:nvSpPr>
          <p:cNvPr id="15" name="TextBox 11">
            <a:extLst>
              <a:ext uri="{FF2B5EF4-FFF2-40B4-BE49-F238E27FC236}">
                <a16:creationId xmlns:a16="http://schemas.microsoft.com/office/drawing/2014/main" id="{EBB150D9-5CB5-49AE-8595-FF2C04EB77A8}"/>
              </a:ext>
            </a:extLst>
          </p:cNvPr>
          <p:cNvSpPr txBox="1"/>
          <p:nvPr/>
        </p:nvSpPr>
        <p:spPr>
          <a:xfrm>
            <a:off x="10833193" y="3147218"/>
            <a:ext cx="1246266" cy="1951204"/>
          </a:xfrm>
          <a:prstGeom prst="rect">
            <a:avLst/>
          </a:prstGeom>
          <a:solidFill>
            <a:schemeClr val="tx2">
              <a:lumMod val="75000"/>
            </a:schemeClr>
          </a:solidFill>
        </p:spPr>
        <p:txBody>
          <a:bodyPr wrap="square" rtlCol="0">
            <a:noAutofit/>
          </a:bodyPr>
          <a:lstStyle/>
          <a:p>
            <a:pPr algn="ctr"/>
            <a:endParaRPr lang="en-US" sz="14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Real-Time</a:t>
            </a:r>
            <a:endParaRPr lang="es-ES" sz="1400" dirty="0">
              <a:latin typeface="Times New Roman" panose="02020603050405020304" pitchFamily="18" charset="0"/>
              <a:ea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Player</a:t>
            </a:r>
            <a:endParaRPr lang="es-ES" sz="1400" dirty="0">
              <a:latin typeface="Times New Roman" panose="02020603050405020304" pitchFamily="18" charset="0"/>
              <a:ea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Feedback</a:t>
            </a:r>
            <a:endParaRPr lang="es-ES" sz="1400" dirty="0">
              <a:latin typeface="Times New Roman" panose="02020603050405020304" pitchFamily="18" charset="0"/>
              <a:ea typeface="Times New Roman" panose="02020603050405020304" pitchFamily="18" charset="0"/>
            </a:endParaRPr>
          </a:p>
          <a:p>
            <a:pPr algn="ct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through an</a:t>
            </a:r>
            <a:endParaRPr lang="es-ES" sz="1400" dirty="0">
              <a:latin typeface="Times New Roman" panose="02020603050405020304" pitchFamily="18" charset="0"/>
              <a:ea typeface="Times New Roman" panose="02020603050405020304" pitchFamily="18" charset="0"/>
            </a:endParaRPr>
          </a:p>
          <a:p>
            <a:pPr algn="ct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Adaptation</a:t>
            </a:r>
            <a:endParaRPr lang="es-ES" sz="1400" dirty="0">
              <a:latin typeface="Times New Roman" panose="02020603050405020304" pitchFamily="18" charset="0"/>
              <a:ea typeface="Times New Roman" panose="02020603050405020304" pitchFamily="18" charset="0"/>
            </a:endParaRPr>
          </a:p>
          <a:p>
            <a:pPr algn="ctr"/>
            <a:r>
              <a:rPr lang="en-US" sz="1400" b="1" dirty="0">
                <a:solidFill>
                  <a:srgbClr val="FFFFFF"/>
                </a:solidFill>
                <a:latin typeface="Calibri" panose="020F0502020204030204" pitchFamily="34" charset="0"/>
                <a:ea typeface="Times New Roman" panose="02020603050405020304" pitchFamily="18" charset="0"/>
                <a:cs typeface="Times New Roman" panose="02020603050405020304" pitchFamily="18" charset="0"/>
              </a:rPr>
              <a:t>Control Panel</a:t>
            </a:r>
            <a:endParaRPr lang="es-ES" sz="1400" dirty="0">
              <a:latin typeface="Times New Roman" panose="02020603050405020304" pitchFamily="18" charset="0"/>
              <a:ea typeface="Times New Roman" panose="02020603050405020304" pitchFamily="18" charset="0"/>
            </a:endParaRPr>
          </a:p>
        </p:txBody>
      </p:sp>
      <p:sp>
        <p:nvSpPr>
          <p:cNvPr id="16" name="Right Arrow 8">
            <a:extLst>
              <a:ext uri="{FF2B5EF4-FFF2-40B4-BE49-F238E27FC236}">
                <a16:creationId xmlns:a16="http://schemas.microsoft.com/office/drawing/2014/main" id="{7270205B-3277-4C14-A87C-B27EF220660F}"/>
              </a:ext>
            </a:extLst>
          </p:cNvPr>
          <p:cNvSpPr/>
          <p:nvPr/>
        </p:nvSpPr>
        <p:spPr>
          <a:xfrm>
            <a:off x="4474873" y="4033825"/>
            <a:ext cx="548458"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17" name="Right Arrow 9">
            <a:extLst>
              <a:ext uri="{FF2B5EF4-FFF2-40B4-BE49-F238E27FC236}">
                <a16:creationId xmlns:a16="http://schemas.microsoft.com/office/drawing/2014/main" id="{DE861E26-F0F8-4304-B833-789C6086AB3F}"/>
              </a:ext>
            </a:extLst>
          </p:cNvPr>
          <p:cNvSpPr/>
          <p:nvPr/>
        </p:nvSpPr>
        <p:spPr>
          <a:xfrm>
            <a:off x="7195102" y="3305109"/>
            <a:ext cx="623133"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18" name="Right Arrow 10">
            <a:extLst>
              <a:ext uri="{FF2B5EF4-FFF2-40B4-BE49-F238E27FC236}">
                <a16:creationId xmlns:a16="http://schemas.microsoft.com/office/drawing/2014/main" id="{630BBF27-4396-4546-BD52-8D3D87D6E3D2}"/>
              </a:ext>
            </a:extLst>
          </p:cNvPr>
          <p:cNvSpPr/>
          <p:nvPr/>
        </p:nvSpPr>
        <p:spPr>
          <a:xfrm>
            <a:off x="9999694" y="3984530"/>
            <a:ext cx="797420"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b="1" dirty="0"/>
          </a:p>
        </p:txBody>
      </p:sp>
      <p:sp>
        <p:nvSpPr>
          <p:cNvPr id="19" name="U-Turn Arrow 16">
            <a:extLst>
              <a:ext uri="{FF2B5EF4-FFF2-40B4-BE49-F238E27FC236}">
                <a16:creationId xmlns:a16="http://schemas.microsoft.com/office/drawing/2014/main" id="{CAB5A5A5-2845-4932-8290-CB81AB2D4F84}"/>
              </a:ext>
            </a:extLst>
          </p:cNvPr>
          <p:cNvSpPr/>
          <p:nvPr/>
        </p:nvSpPr>
        <p:spPr>
          <a:xfrm rot="10800000">
            <a:off x="9449874" y="5220788"/>
            <a:ext cx="2226805" cy="1637212"/>
          </a:xfrm>
          <a:prstGeom prst="uturnArrow">
            <a:avLst>
              <a:gd name="adj1" fmla="val 9228"/>
              <a:gd name="adj2" fmla="val 9707"/>
              <a:gd name="adj3" fmla="val 10941"/>
              <a:gd name="adj4" fmla="val 38613"/>
              <a:gd name="adj5" fmla="val 9966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s-ES" sz="2000"/>
          </a:p>
        </p:txBody>
      </p:sp>
      <p:sp>
        <p:nvSpPr>
          <p:cNvPr id="20" name="TextBox 19">
            <a:extLst>
              <a:ext uri="{FF2B5EF4-FFF2-40B4-BE49-F238E27FC236}">
                <a16:creationId xmlns:a16="http://schemas.microsoft.com/office/drawing/2014/main" id="{9C87912A-BA7B-4479-9852-7D72EBEF769C}"/>
              </a:ext>
            </a:extLst>
          </p:cNvPr>
          <p:cNvSpPr txBox="1"/>
          <p:nvPr/>
        </p:nvSpPr>
        <p:spPr>
          <a:xfrm>
            <a:off x="5813266" y="3064892"/>
            <a:ext cx="1326247" cy="631898"/>
          </a:xfrm>
          <a:prstGeom prst="rect">
            <a:avLst/>
          </a:prstGeom>
          <a:solidFill>
            <a:schemeClr val="tx2">
              <a:lumMod val="75000"/>
            </a:schemeClr>
          </a:solidFill>
        </p:spPr>
        <p:txBody>
          <a:bodyPr wrap="square" rtlCol="0">
            <a:noAutofit/>
          </a:bodyPr>
          <a:lstStyle/>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Data Clustering</a:t>
            </a:r>
            <a:endParaRPr lang="es-ES" sz="1400" dirty="0">
              <a:latin typeface="Times New Roman" panose="02020603050405020304" pitchFamily="18" charset="0"/>
              <a:ea typeface="Times New Roman" panose="02020603050405020304" pitchFamily="18" charset="0"/>
            </a:endParaRPr>
          </a:p>
        </p:txBody>
      </p:sp>
      <p:sp>
        <p:nvSpPr>
          <p:cNvPr id="21" name="Rectangle 15">
            <a:extLst>
              <a:ext uri="{FF2B5EF4-FFF2-40B4-BE49-F238E27FC236}">
                <a16:creationId xmlns:a16="http://schemas.microsoft.com/office/drawing/2014/main" id="{FCB93753-0845-4B00-8C3B-C43BF9AE04FD}"/>
              </a:ext>
            </a:extLst>
          </p:cNvPr>
          <p:cNvSpPr>
            <a:spLocks noChangeArrowheads="1"/>
          </p:cNvSpPr>
          <p:nvPr/>
        </p:nvSpPr>
        <p:spPr bwMode="auto">
          <a:xfrm>
            <a:off x="2393344" y="77980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22" name="Rectangle 23">
            <a:extLst>
              <a:ext uri="{FF2B5EF4-FFF2-40B4-BE49-F238E27FC236}">
                <a16:creationId xmlns:a16="http://schemas.microsoft.com/office/drawing/2014/main" id="{70B2A2ED-5C08-482A-9C91-D74B91018DF3}"/>
              </a:ext>
            </a:extLst>
          </p:cNvPr>
          <p:cNvSpPr>
            <a:spLocks noChangeArrowheads="1"/>
          </p:cNvSpPr>
          <p:nvPr/>
        </p:nvSpPr>
        <p:spPr bwMode="auto">
          <a:xfrm>
            <a:off x="3072612" y="555500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23" name="U-Turn Arrow 16">
            <a:extLst>
              <a:ext uri="{FF2B5EF4-FFF2-40B4-BE49-F238E27FC236}">
                <a16:creationId xmlns:a16="http://schemas.microsoft.com/office/drawing/2014/main" id="{3E07F666-4E09-4557-A4F6-CD407CA2F841}"/>
              </a:ext>
            </a:extLst>
          </p:cNvPr>
          <p:cNvSpPr/>
          <p:nvPr/>
        </p:nvSpPr>
        <p:spPr>
          <a:xfrm rot="10800000">
            <a:off x="3420952" y="5273040"/>
            <a:ext cx="5643155" cy="1558834"/>
          </a:xfrm>
          <a:prstGeom prst="uturnArrow">
            <a:avLst>
              <a:gd name="adj1" fmla="val 10762"/>
              <a:gd name="adj2" fmla="val 12181"/>
              <a:gd name="adj3" fmla="val 13515"/>
              <a:gd name="adj4" fmla="val 38253"/>
              <a:gd name="adj5" fmla="val 6289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s-ES"/>
          </a:p>
        </p:txBody>
      </p:sp>
      <p:sp>
        <p:nvSpPr>
          <p:cNvPr id="24" name="TextBox 23">
            <a:extLst>
              <a:ext uri="{FF2B5EF4-FFF2-40B4-BE49-F238E27FC236}">
                <a16:creationId xmlns:a16="http://schemas.microsoft.com/office/drawing/2014/main" id="{04BA840B-DA35-458B-B049-05E2C00AC2CB}"/>
              </a:ext>
            </a:extLst>
          </p:cNvPr>
          <p:cNvSpPr txBox="1"/>
          <p:nvPr/>
        </p:nvSpPr>
        <p:spPr>
          <a:xfrm>
            <a:off x="5826328" y="3818183"/>
            <a:ext cx="1313185" cy="631898"/>
          </a:xfrm>
          <a:prstGeom prst="rect">
            <a:avLst/>
          </a:prstGeom>
          <a:solidFill>
            <a:schemeClr val="tx2">
              <a:lumMod val="75000"/>
            </a:schemeClr>
          </a:solidFill>
        </p:spPr>
        <p:txBody>
          <a:bodyPr wrap="square" rtlCol="0">
            <a:noAutofit/>
          </a:bodyPr>
          <a:lstStyle/>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Data Classification</a:t>
            </a:r>
            <a:endParaRPr lang="es-ES" sz="1400" dirty="0">
              <a:latin typeface="Times New Roman" panose="02020603050405020304" pitchFamily="18" charset="0"/>
              <a:ea typeface="Times New Roman" panose="02020603050405020304" pitchFamily="18" charset="0"/>
            </a:endParaRPr>
          </a:p>
        </p:txBody>
      </p:sp>
      <p:sp>
        <p:nvSpPr>
          <p:cNvPr id="25" name="TextBox 24">
            <a:extLst>
              <a:ext uri="{FF2B5EF4-FFF2-40B4-BE49-F238E27FC236}">
                <a16:creationId xmlns:a16="http://schemas.microsoft.com/office/drawing/2014/main" id="{3AA7A45F-127C-48EB-96C0-87BACC865027}"/>
              </a:ext>
            </a:extLst>
          </p:cNvPr>
          <p:cNvSpPr txBox="1"/>
          <p:nvPr/>
        </p:nvSpPr>
        <p:spPr>
          <a:xfrm>
            <a:off x="5839391" y="4606309"/>
            <a:ext cx="1313185" cy="631898"/>
          </a:xfrm>
          <a:prstGeom prst="rect">
            <a:avLst/>
          </a:prstGeom>
          <a:solidFill>
            <a:schemeClr val="tx2">
              <a:lumMod val="75000"/>
            </a:schemeClr>
          </a:solidFill>
        </p:spPr>
        <p:txBody>
          <a:bodyPr wrap="square" rtlCol="0">
            <a:noAutofit/>
          </a:bodyPr>
          <a:lstStyle/>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Neural Network</a:t>
            </a:r>
            <a:endParaRPr lang="es-ES" sz="1400" dirty="0">
              <a:latin typeface="Times New Roman" panose="02020603050405020304" pitchFamily="18" charset="0"/>
              <a:ea typeface="Times New Roman" panose="02020603050405020304" pitchFamily="18" charset="0"/>
            </a:endParaRPr>
          </a:p>
        </p:txBody>
      </p:sp>
      <p:sp>
        <p:nvSpPr>
          <p:cNvPr id="26" name="TextBox 25">
            <a:extLst>
              <a:ext uri="{FF2B5EF4-FFF2-40B4-BE49-F238E27FC236}">
                <a16:creationId xmlns:a16="http://schemas.microsoft.com/office/drawing/2014/main" id="{15F8D4C0-6643-42B5-966F-C18CBEB8C234}"/>
              </a:ext>
            </a:extLst>
          </p:cNvPr>
          <p:cNvSpPr txBox="1"/>
          <p:nvPr/>
        </p:nvSpPr>
        <p:spPr>
          <a:xfrm>
            <a:off x="3024714" y="4807134"/>
            <a:ext cx="1395400" cy="1023258"/>
          </a:xfrm>
          <a:prstGeom prst="rect">
            <a:avLst/>
          </a:prstGeom>
          <a:solidFill>
            <a:schemeClr val="tx2">
              <a:lumMod val="75000"/>
            </a:schemeClr>
          </a:solidFill>
        </p:spPr>
        <p:txBody>
          <a:bodyPr wrap="square" rtlCol="0">
            <a:noAutofit/>
          </a:bodyPr>
          <a:lstStyle/>
          <a:p>
            <a:pPr algn="ctr"/>
            <a:endParaRPr lang="en-US" sz="4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Facial Expressions </a:t>
            </a:r>
            <a:r>
              <a:rPr lang="en-US" sz="1600" b="1" spc="-40"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(Video Stream) </a:t>
            </a:r>
            <a:endParaRPr lang="es-ES" sz="1400" spc="-40" dirty="0">
              <a:latin typeface="Times New Roman" panose="02020603050405020304" pitchFamily="18" charset="0"/>
              <a:ea typeface="Times New Roman" panose="02020603050405020304" pitchFamily="18" charset="0"/>
            </a:endParaRPr>
          </a:p>
        </p:txBody>
      </p:sp>
      <p:sp>
        <p:nvSpPr>
          <p:cNvPr id="27" name="TextBox 26">
            <a:extLst>
              <a:ext uri="{FF2B5EF4-FFF2-40B4-BE49-F238E27FC236}">
                <a16:creationId xmlns:a16="http://schemas.microsoft.com/office/drawing/2014/main" id="{FA90786E-6B8E-4AE2-87A3-53CA451264D9}"/>
              </a:ext>
            </a:extLst>
          </p:cNvPr>
          <p:cNvSpPr txBox="1"/>
          <p:nvPr/>
        </p:nvSpPr>
        <p:spPr>
          <a:xfrm>
            <a:off x="7729381" y="1056332"/>
            <a:ext cx="1264595" cy="1023258"/>
          </a:xfrm>
          <a:prstGeom prst="rect">
            <a:avLst/>
          </a:prstGeom>
          <a:solidFill>
            <a:schemeClr val="tx2">
              <a:lumMod val="75000"/>
            </a:schemeClr>
          </a:solidFill>
        </p:spPr>
        <p:txBody>
          <a:bodyPr wrap="square" rtlCol="0">
            <a:noAutofit/>
          </a:bodyPr>
          <a:lstStyle/>
          <a:p>
            <a:pPr algn="ctr"/>
            <a:endParaRPr lang="en-US" sz="4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Playing </a:t>
            </a: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Style Self-Report</a:t>
            </a:r>
            <a:endParaRPr lang="es-ES" sz="1400" dirty="0">
              <a:latin typeface="Times New Roman" panose="02020603050405020304" pitchFamily="18" charset="0"/>
              <a:ea typeface="Times New Roman" panose="02020603050405020304" pitchFamily="18" charset="0"/>
            </a:endParaRPr>
          </a:p>
        </p:txBody>
      </p:sp>
      <p:sp>
        <p:nvSpPr>
          <p:cNvPr id="28" name="Right Arrow 8">
            <a:extLst>
              <a:ext uri="{FF2B5EF4-FFF2-40B4-BE49-F238E27FC236}">
                <a16:creationId xmlns:a16="http://schemas.microsoft.com/office/drawing/2014/main" id="{71F4C16A-52FB-4593-B870-B6EC2063CF6A}"/>
              </a:ext>
            </a:extLst>
          </p:cNvPr>
          <p:cNvSpPr/>
          <p:nvPr/>
        </p:nvSpPr>
        <p:spPr>
          <a:xfrm>
            <a:off x="4479227" y="5135462"/>
            <a:ext cx="548458"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29" name="Right Arrow 8">
            <a:extLst>
              <a:ext uri="{FF2B5EF4-FFF2-40B4-BE49-F238E27FC236}">
                <a16:creationId xmlns:a16="http://schemas.microsoft.com/office/drawing/2014/main" id="{F6154C83-C95B-446D-9242-56F803764AF2}"/>
              </a:ext>
            </a:extLst>
          </p:cNvPr>
          <p:cNvSpPr/>
          <p:nvPr/>
        </p:nvSpPr>
        <p:spPr>
          <a:xfrm>
            <a:off x="5229617" y="3306663"/>
            <a:ext cx="548458"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30" name="Right Arrow 8">
            <a:extLst>
              <a:ext uri="{FF2B5EF4-FFF2-40B4-BE49-F238E27FC236}">
                <a16:creationId xmlns:a16="http://schemas.microsoft.com/office/drawing/2014/main" id="{E2C60079-189B-4667-9619-37801AF59CAD}"/>
              </a:ext>
            </a:extLst>
          </p:cNvPr>
          <p:cNvSpPr/>
          <p:nvPr/>
        </p:nvSpPr>
        <p:spPr>
          <a:xfrm>
            <a:off x="5229618" y="4020761"/>
            <a:ext cx="548458"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31" name="Right Arrow 8">
            <a:extLst>
              <a:ext uri="{FF2B5EF4-FFF2-40B4-BE49-F238E27FC236}">
                <a16:creationId xmlns:a16="http://schemas.microsoft.com/office/drawing/2014/main" id="{56E5E32F-3C41-459E-9E81-38F09B702EDD}"/>
              </a:ext>
            </a:extLst>
          </p:cNvPr>
          <p:cNvSpPr/>
          <p:nvPr/>
        </p:nvSpPr>
        <p:spPr>
          <a:xfrm>
            <a:off x="5232770" y="4795825"/>
            <a:ext cx="561703"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32" name="Rectangle 31">
            <a:extLst>
              <a:ext uri="{FF2B5EF4-FFF2-40B4-BE49-F238E27FC236}">
                <a16:creationId xmlns:a16="http://schemas.microsoft.com/office/drawing/2014/main" id="{02A8A484-F180-44D6-94C6-E00AFD5F0607}"/>
              </a:ext>
            </a:extLst>
          </p:cNvPr>
          <p:cNvSpPr/>
          <p:nvPr/>
        </p:nvSpPr>
        <p:spPr>
          <a:xfrm>
            <a:off x="5032040" y="2756263"/>
            <a:ext cx="174172" cy="283028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a:p>
        </p:txBody>
      </p:sp>
      <p:sp>
        <p:nvSpPr>
          <p:cNvPr id="33" name="Right Arrow 9">
            <a:extLst>
              <a:ext uri="{FF2B5EF4-FFF2-40B4-BE49-F238E27FC236}">
                <a16:creationId xmlns:a16="http://schemas.microsoft.com/office/drawing/2014/main" id="{B6212C3A-DF04-4E1F-A4ED-EA27A6D503F4}"/>
              </a:ext>
            </a:extLst>
          </p:cNvPr>
          <p:cNvSpPr/>
          <p:nvPr/>
        </p:nvSpPr>
        <p:spPr>
          <a:xfrm>
            <a:off x="7190748" y="4014858"/>
            <a:ext cx="623133"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34" name="Right Arrow 9">
            <a:extLst>
              <a:ext uri="{FF2B5EF4-FFF2-40B4-BE49-F238E27FC236}">
                <a16:creationId xmlns:a16="http://schemas.microsoft.com/office/drawing/2014/main" id="{05BCAD91-E1F1-422B-9CDF-BDA2C464D3BD}"/>
              </a:ext>
            </a:extLst>
          </p:cNvPr>
          <p:cNvSpPr/>
          <p:nvPr/>
        </p:nvSpPr>
        <p:spPr>
          <a:xfrm>
            <a:off x="7190747" y="4789921"/>
            <a:ext cx="623133"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35" name="Rectangle 34">
            <a:extLst>
              <a:ext uri="{FF2B5EF4-FFF2-40B4-BE49-F238E27FC236}">
                <a16:creationId xmlns:a16="http://schemas.microsoft.com/office/drawing/2014/main" id="{35DB31BB-E01C-4433-A457-75586156A6BD}"/>
              </a:ext>
            </a:extLst>
          </p:cNvPr>
          <p:cNvSpPr/>
          <p:nvPr/>
        </p:nvSpPr>
        <p:spPr>
          <a:xfrm>
            <a:off x="7831846" y="2769327"/>
            <a:ext cx="169817" cy="275626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a:p>
        </p:txBody>
      </p:sp>
      <p:sp>
        <p:nvSpPr>
          <p:cNvPr id="36" name="Right Arrow 10">
            <a:extLst>
              <a:ext uri="{FF2B5EF4-FFF2-40B4-BE49-F238E27FC236}">
                <a16:creationId xmlns:a16="http://schemas.microsoft.com/office/drawing/2014/main" id="{4C6AC731-3212-411B-BE25-A155698E374D}"/>
              </a:ext>
            </a:extLst>
          </p:cNvPr>
          <p:cNvSpPr/>
          <p:nvPr/>
        </p:nvSpPr>
        <p:spPr>
          <a:xfrm>
            <a:off x="8020810" y="4019363"/>
            <a:ext cx="623133" cy="2845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a:p>
        </p:txBody>
      </p:sp>
      <p:sp>
        <p:nvSpPr>
          <p:cNvPr id="37" name="Down Arrow 32">
            <a:extLst>
              <a:ext uri="{FF2B5EF4-FFF2-40B4-BE49-F238E27FC236}">
                <a16:creationId xmlns:a16="http://schemas.microsoft.com/office/drawing/2014/main" id="{2BCEDCD9-7D6A-4679-BFD0-75A399BC419C}"/>
              </a:ext>
            </a:extLst>
          </p:cNvPr>
          <p:cNvSpPr/>
          <p:nvPr/>
        </p:nvSpPr>
        <p:spPr>
          <a:xfrm>
            <a:off x="9128125" y="2148114"/>
            <a:ext cx="316257" cy="57683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a:p>
        </p:txBody>
      </p:sp>
      <p:sp>
        <p:nvSpPr>
          <p:cNvPr id="38" name="TextBox 37">
            <a:extLst>
              <a:ext uri="{FF2B5EF4-FFF2-40B4-BE49-F238E27FC236}">
                <a16:creationId xmlns:a16="http://schemas.microsoft.com/office/drawing/2014/main" id="{BDB852E7-F0DB-4BFD-91D0-7C3C8BEA95BD}"/>
              </a:ext>
            </a:extLst>
          </p:cNvPr>
          <p:cNvSpPr txBox="1"/>
          <p:nvPr/>
        </p:nvSpPr>
        <p:spPr>
          <a:xfrm>
            <a:off x="9532146" y="1074397"/>
            <a:ext cx="1395400" cy="1023445"/>
          </a:xfrm>
          <a:prstGeom prst="rect">
            <a:avLst/>
          </a:prstGeom>
          <a:solidFill>
            <a:schemeClr val="tx2">
              <a:lumMod val="75000"/>
            </a:schemeClr>
          </a:solidFill>
        </p:spPr>
        <p:txBody>
          <a:bodyPr wrap="square" rtlCol="0">
            <a:noAutofit/>
          </a:bodyPr>
          <a:lstStyle/>
          <a:p>
            <a:pPr algn="ctr"/>
            <a:endParaRPr lang="en-US" sz="4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endParaRPr>
          </a:p>
          <a:p>
            <a:pPr algn="ctr"/>
            <a:r>
              <a:rPr lang="en-US" sz="1600" b="1" dirty="0">
                <a:solidFill>
                  <a:srgbClr val="FFFF00"/>
                </a:solidFill>
                <a:latin typeface="Calibri" panose="020F0502020204030204" pitchFamily="34" charset="0"/>
                <a:ea typeface="Times New Roman" panose="02020603050405020304" pitchFamily="18" charset="0"/>
                <a:cs typeface="Times New Roman" panose="02020603050405020304" pitchFamily="18" charset="0"/>
              </a:rPr>
              <a:t>Game Outcomes and Efficiency</a:t>
            </a:r>
            <a:endParaRPr lang="es-ES" sz="1400" dirty="0">
              <a:latin typeface="Times New Roman" panose="02020603050405020304" pitchFamily="18" charset="0"/>
              <a:ea typeface="Times New Roman" panose="02020603050405020304" pitchFamily="18" charset="0"/>
            </a:endParaRPr>
          </a:p>
        </p:txBody>
      </p:sp>
      <p:sp>
        <p:nvSpPr>
          <p:cNvPr id="39" name="Контейнер за долния колонтитул 4">
            <a:extLst>
              <a:ext uri="{FF2B5EF4-FFF2-40B4-BE49-F238E27FC236}">
                <a16:creationId xmlns:a16="http://schemas.microsoft.com/office/drawing/2014/main" id="{D539C87B-9E4B-4910-954A-06C55566EB81}"/>
              </a:ext>
            </a:extLst>
          </p:cNvPr>
          <p:cNvSpPr txBox="1">
            <a:spLocks/>
          </p:cNvSpPr>
          <p:nvPr/>
        </p:nvSpPr>
        <p:spPr>
          <a:xfrm>
            <a:off x="838200" y="6052457"/>
            <a:ext cx="182677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i="1" dirty="0"/>
              <a:t>(</a:t>
            </a:r>
            <a:r>
              <a:rPr lang="en-US" sz="1400" i="1" dirty="0" err="1"/>
              <a:t>Bontchev</a:t>
            </a:r>
            <a:r>
              <a:rPr lang="en-US" sz="1400" i="1" dirty="0"/>
              <a:t> et al., 2021)</a:t>
            </a:r>
          </a:p>
        </p:txBody>
      </p:sp>
    </p:spTree>
    <p:extLst>
      <p:ext uri="{BB962C8B-B14F-4D97-AF65-F5344CB8AC3E}">
        <p14:creationId xmlns:p14="http://schemas.microsoft.com/office/powerpoint/2010/main" val="395723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ircle(in)">
                                      <p:cBhvr>
                                        <p:cTn id="10" dur="2000"/>
                                        <p:tgtEl>
                                          <p:spTgt spid="13"/>
                                        </p:tgtEl>
                                      </p:cBhvr>
                                    </p:animEffect>
                                  </p:childTnLst>
                                </p:cTn>
                              </p:par>
                              <p:par>
                                <p:cTn id="11" presetID="6" presetClass="entr" presetSubtype="16" fill="hold" grpId="0" nodeType="withEffect" nodePh="1">
                                  <p:stCondLst>
                                    <p:cond delay="0"/>
                                  </p:stCondLst>
                                  <p:endCondLst>
                                    <p:cond evt="begin" delay="0">
                                      <p:tn val="11"/>
                                    </p:cond>
                                  </p:endCondLst>
                                  <p:childTnLst>
                                    <p:set>
                                      <p:cBhvr>
                                        <p:cTn id="12" dur="1" fill="hold">
                                          <p:stCondLst>
                                            <p:cond delay="0"/>
                                          </p:stCondLst>
                                        </p:cTn>
                                        <p:tgtEl>
                                          <p:spTgt spid="22"/>
                                        </p:tgtEl>
                                        <p:attrNameLst>
                                          <p:attrName>style.visibility</p:attrName>
                                        </p:attrNameLst>
                                      </p:cBhvr>
                                      <p:to>
                                        <p:strVal val="visible"/>
                                      </p:to>
                                    </p:set>
                                    <p:animEffect transition="in" filter="circle(in)">
                                      <p:cBhvr>
                                        <p:cTn id="13" dur="2000"/>
                                        <p:tgtEl>
                                          <p:spTgt spid="22"/>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circle(in)">
                                      <p:cBhvr>
                                        <p:cTn id="16" dur="20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1000"/>
                                        <p:tgtEl>
                                          <p:spTgt spid="28"/>
                                        </p:tgtEl>
                                      </p:cBhvr>
                                    </p:animEffect>
                                    <p:anim calcmode="lin" valueType="num">
                                      <p:cBhvr>
                                        <p:cTn id="27" dur="1000" fill="hold"/>
                                        <p:tgtEl>
                                          <p:spTgt spid="28"/>
                                        </p:tgtEl>
                                        <p:attrNameLst>
                                          <p:attrName>ppt_x</p:attrName>
                                        </p:attrNameLst>
                                      </p:cBhvr>
                                      <p:tavLst>
                                        <p:tav tm="0">
                                          <p:val>
                                            <p:strVal val="#ppt_x"/>
                                          </p:val>
                                        </p:tav>
                                        <p:tav tm="100000">
                                          <p:val>
                                            <p:strVal val="#ppt_x"/>
                                          </p:val>
                                        </p:tav>
                                      </p:tavLst>
                                    </p:anim>
                                    <p:anim calcmode="lin" valueType="num">
                                      <p:cBhvr>
                                        <p:cTn id="28" dur="1000" fill="hold"/>
                                        <p:tgtEl>
                                          <p:spTgt spid="2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1000"/>
                                        <p:tgtEl>
                                          <p:spTgt spid="32"/>
                                        </p:tgtEl>
                                      </p:cBhvr>
                                    </p:animEffect>
                                    <p:anim calcmode="lin" valueType="num">
                                      <p:cBhvr>
                                        <p:cTn id="32" dur="1000" fill="hold"/>
                                        <p:tgtEl>
                                          <p:spTgt spid="32"/>
                                        </p:tgtEl>
                                        <p:attrNameLst>
                                          <p:attrName>ppt_x</p:attrName>
                                        </p:attrNameLst>
                                      </p:cBhvr>
                                      <p:tavLst>
                                        <p:tav tm="0">
                                          <p:val>
                                            <p:strVal val="#ppt_x"/>
                                          </p:val>
                                        </p:tav>
                                        <p:tav tm="100000">
                                          <p:val>
                                            <p:strVal val="#ppt_x"/>
                                          </p:val>
                                        </p:tav>
                                      </p:tavLst>
                                    </p:anim>
                                    <p:anim calcmode="lin" valueType="num">
                                      <p:cBhvr>
                                        <p:cTn id="33" dur="1000" fill="hold"/>
                                        <p:tgtEl>
                                          <p:spTgt spid="3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1000"/>
                                        <p:tgtEl>
                                          <p:spTgt spid="29"/>
                                        </p:tgtEl>
                                      </p:cBhvr>
                                    </p:animEffect>
                                    <p:anim calcmode="lin" valueType="num">
                                      <p:cBhvr>
                                        <p:cTn id="37" dur="1000" fill="hold"/>
                                        <p:tgtEl>
                                          <p:spTgt spid="29"/>
                                        </p:tgtEl>
                                        <p:attrNameLst>
                                          <p:attrName>ppt_x</p:attrName>
                                        </p:attrNameLst>
                                      </p:cBhvr>
                                      <p:tavLst>
                                        <p:tav tm="0">
                                          <p:val>
                                            <p:strVal val="#ppt_x"/>
                                          </p:val>
                                        </p:tav>
                                        <p:tav tm="100000">
                                          <p:val>
                                            <p:strVal val="#ppt_x"/>
                                          </p:val>
                                        </p:tav>
                                      </p:tavLst>
                                    </p:anim>
                                    <p:anim calcmode="lin" valueType="num">
                                      <p:cBhvr>
                                        <p:cTn id="38" dur="1000" fill="hold"/>
                                        <p:tgtEl>
                                          <p:spTgt spid="2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1000"/>
                                        <p:tgtEl>
                                          <p:spTgt spid="30"/>
                                        </p:tgtEl>
                                      </p:cBhvr>
                                    </p:animEffect>
                                    <p:anim calcmode="lin" valueType="num">
                                      <p:cBhvr>
                                        <p:cTn id="42" dur="1000" fill="hold"/>
                                        <p:tgtEl>
                                          <p:spTgt spid="30"/>
                                        </p:tgtEl>
                                        <p:attrNameLst>
                                          <p:attrName>ppt_x</p:attrName>
                                        </p:attrNameLst>
                                      </p:cBhvr>
                                      <p:tavLst>
                                        <p:tav tm="0">
                                          <p:val>
                                            <p:strVal val="#ppt_x"/>
                                          </p:val>
                                        </p:tav>
                                        <p:tav tm="100000">
                                          <p:val>
                                            <p:strVal val="#ppt_x"/>
                                          </p:val>
                                        </p:tav>
                                      </p:tavLst>
                                    </p:anim>
                                    <p:anim calcmode="lin" valueType="num">
                                      <p:cBhvr>
                                        <p:cTn id="43" dur="1000" fill="hold"/>
                                        <p:tgtEl>
                                          <p:spTgt spid="3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1000"/>
                                        <p:tgtEl>
                                          <p:spTgt spid="31"/>
                                        </p:tgtEl>
                                      </p:cBhvr>
                                    </p:animEffect>
                                    <p:anim calcmode="lin" valueType="num">
                                      <p:cBhvr>
                                        <p:cTn id="47" dur="1000" fill="hold"/>
                                        <p:tgtEl>
                                          <p:spTgt spid="31"/>
                                        </p:tgtEl>
                                        <p:attrNameLst>
                                          <p:attrName>ppt_x</p:attrName>
                                        </p:attrNameLst>
                                      </p:cBhvr>
                                      <p:tavLst>
                                        <p:tav tm="0">
                                          <p:val>
                                            <p:strVal val="#ppt_x"/>
                                          </p:val>
                                        </p:tav>
                                        <p:tav tm="100000">
                                          <p:val>
                                            <p:strVal val="#ppt_x"/>
                                          </p:val>
                                        </p:tav>
                                      </p:tavLst>
                                    </p:anim>
                                    <p:anim calcmode="lin" valueType="num">
                                      <p:cBhvr>
                                        <p:cTn id="4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circle(in)">
                                      <p:cBhvr>
                                        <p:cTn id="53" dur="2000"/>
                                        <p:tgtEl>
                                          <p:spTgt spid="11"/>
                                        </p:tgtEl>
                                      </p:cBhvr>
                                    </p:animEffect>
                                  </p:childTnLst>
                                </p:cTn>
                              </p:par>
                              <p:par>
                                <p:cTn id="54" presetID="6" presetClass="entr" presetSubtype="16"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circle(in)">
                                      <p:cBhvr>
                                        <p:cTn id="56" dur="2000"/>
                                        <p:tgtEl>
                                          <p:spTgt spid="20"/>
                                        </p:tgtEl>
                                      </p:cBhvr>
                                    </p:animEffect>
                                  </p:childTnLst>
                                </p:cTn>
                              </p:par>
                              <p:par>
                                <p:cTn id="57" presetID="6" presetClass="entr" presetSubtype="16"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circle(in)">
                                      <p:cBhvr>
                                        <p:cTn id="59" dur="2000"/>
                                        <p:tgtEl>
                                          <p:spTgt spid="24"/>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circle(in)">
                                      <p:cBhvr>
                                        <p:cTn id="62" dur="20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1000"/>
                                        <p:tgtEl>
                                          <p:spTgt spid="17"/>
                                        </p:tgtEl>
                                      </p:cBhvr>
                                    </p:animEffect>
                                    <p:anim calcmode="lin" valueType="num">
                                      <p:cBhvr>
                                        <p:cTn id="68" dur="1000" fill="hold"/>
                                        <p:tgtEl>
                                          <p:spTgt spid="17"/>
                                        </p:tgtEl>
                                        <p:attrNameLst>
                                          <p:attrName>ppt_x</p:attrName>
                                        </p:attrNameLst>
                                      </p:cBhvr>
                                      <p:tavLst>
                                        <p:tav tm="0">
                                          <p:val>
                                            <p:strVal val="#ppt_x"/>
                                          </p:val>
                                        </p:tav>
                                        <p:tav tm="100000">
                                          <p:val>
                                            <p:strVal val="#ppt_x"/>
                                          </p:val>
                                        </p:tav>
                                      </p:tavLst>
                                    </p:anim>
                                    <p:anim calcmode="lin" valueType="num">
                                      <p:cBhvr>
                                        <p:cTn id="69" dur="1000" fill="hold"/>
                                        <p:tgtEl>
                                          <p:spTgt spid="17"/>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1000"/>
                                        <p:tgtEl>
                                          <p:spTgt spid="33"/>
                                        </p:tgtEl>
                                      </p:cBhvr>
                                    </p:animEffect>
                                    <p:anim calcmode="lin" valueType="num">
                                      <p:cBhvr>
                                        <p:cTn id="73" dur="1000" fill="hold"/>
                                        <p:tgtEl>
                                          <p:spTgt spid="33"/>
                                        </p:tgtEl>
                                        <p:attrNameLst>
                                          <p:attrName>ppt_x</p:attrName>
                                        </p:attrNameLst>
                                      </p:cBhvr>
                                      <p:tavLst>
                                        <p:tav tm="0">
                                          <p:val>
                                            <p:strVal val="#ppt_x"/>
                                          </p:val>
                                        </p:tav>
                                        <p:tav tm="100000">
                                          <p:val>
                                            <p:strVal val="#ppt_x"/>
                                          </p:val>
                                        </p:tav>
                                      </p:tavLst>
                                    </p:anim>
                                    <p:anim calcmode="lin" valueType="num">
                                      <p:cBhvr>
                                        <p:cTn id="74" dur="1000" fill="hold"/>
                                        <p:tgtEl>
                                          <p:spTgt spid="3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1000"/>
                                        <p:tgtEl>
                                          <p:spTgt spid="34"/>
                                        </p:tgtEl>
                                      </p:cBhvr>
                                    </p:animEffect>
                                    <p:anim calcmode="lin" valueType="num">
                                      <p:cBhvr>
                                        <p:cTn id="78" dur="1000" fill="hold"/>
                                        <p:tgtEl>
                                          <p:spTgt spid="34"/>
                                        </p:tgtEl>
                                        <p:attrNameLst>
                                          <p:attrName>ppt_x</p:attrName>
                                        </p:attrNameLst>
                                      </p:cBhvr>
                                      <p:tavLst>
                                        <p:tav tm="0">
                                          <p:val>
                                            <p:strVal val="#ppt_x"/>
                                          </p:val>
                                        </p:tav>
                                        <p:tav tm="100000">
                                          <p:val>
                                            <p:strVal val="#ppt_x"/>
                                          </p:val>
                                        </p:tav>
                                      </p:tavLst>
                                    </p:anim>
                                    <p:anim calcmode="lin" valueType="num">
                                      <p:cBhvr>
                                        <p:cTn id="79" dur="1000" fill="hold"/>
                                        <p:tgtEl>
                                          <p:spTgt spid="34"/>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5"/>
                                        </p:tgtEl>
                                        <p:attrNameLst>
                                          <p:attrName>style.visibility</p:attrName>
                                        </p:attrNameLst>
                                      </p:cBhvr>
                                      <p:to>
                                        <p:strVal val="visible"/>
                                      </p:to>
                                    </p:set>
                                    <p:animEffect transition="in" filter="fade">
                                      <p:cBhvr>
                                        <p:cTn id="82" dur="1000"/>
                                        <p:tgtEl>
                                          <p:spTgt spid="35"/>
                                        </p:tgtEl>
                                      </p:cBhvr>
                                    </p:animEffect>
                                    <p:anim calcmode="lin" valueType="num">
                                      <p:cBhvr>
                                        <p:cTn id="83" dur="1000" fill="hold"/>
                                        <p:tgtEl>
                                          <p:spTgt spid="35"/>
                                        </p:tgtEl>
                                        <p:attrNameLst>
                                          <p:attrName>ppt_x</p:attrName>
                                        </p:attrNameLst>
                                      </p:cBhvr>
                                      <p:tavLst>
                                        <p:tav tm="0">
                                          <p:val>
                                            <p:strVal val="#ppt_x"/>
                                          </p:val>
                                        </p:tav>
                                        <p:tav tm="100000">
                                          <p:val>
                                            <p:strVal val="#ppt_x"/>
                                          </p:val>
                                        </p:tav>
                                      </p:tavLst>
                                    </p:anim>
                                    <p:anim calcmode="lin" valueType="num">
                                      <p:cBhvr>
                                        <p:cTn id="84" dur="1000" fill="hold"/>
                                        <p:tgtEl>
                                          <p:spTgt spid="35"/>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1000"/>
                                        <p:tgtEl>
                                          <p:spTgt spid="36"/>
                                        </p:tgtEl>
                                      </p:cBhvr>
                                    </p:animEffect>
                                    <p:anim calcmode="lin" valueType="num">
                                      <p:cBhvr>
                                        <p:cTn id="88" dur="1000" fill="hold"/>
                                        <p:tgtEl>
                                          <p:spTgt spid="36"/>
                                        </p:tgtEl>
                                        <p:attrNameLst>
                                          <p:attrName>ppt_x</p:attrName>
                                        </p:attrNameLst>
                                      </p:cBhvr>
                                      <p:tavLst>
                                        <p:tav tm="0">
                                          <p:val>
                                            <p:strVal val="#ppt_x"/>
                                          </p:val>
                                        </p:tav>
                                        <p:tav tm="100000">
                                          <p:val>
                                            <p:strVal val="#ppt_x"/>
                                          </p:val>
                                        </p:tav>
                                      </p:tavLst>
                                    </p:anim>
                                    <p:anim calcmode="lin" valueType="num">
                                      <p:cBhvr>
                                        <p:cTn id="8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6" presetClass="entr" presetSubtype="16" fill="hold" grpId="0" nodeType="clickEffect">
                                  <p:stCondLst>
                                    <p:cond delay="0"/>
                                  </p:stCondLst>
                                  <p:childTnLst>
                                    <p:set>
                                      <p:cBhvr>
                                        <p:cTn id="93" dur="1" fill="hold">
                                          <p:stCondLst>
                                            <p:cond delay="0"/>
                                          </p:stCondLst>
                                        </p:cTn>
                                        <p:tgtEl>
                                          <p:spTgt spid="10"/>
                                        </p:tgtEl>
                                        <p:attrNameLst>
                                          <p:attrName>style.visibility</p:attrName>
                                        </p:attrNameLst>
                                      </p:cBhvr>
                                      <p:to>
                                        <p:strVal val="visible"/>
                                      </p:to>
                                    </p:set>
                                    <p:animEffect transition="in" filter="circle(in)">
                                      <p:cBhvr>
                                        <p:cTn id="94" dur="2000"/>
                                        <p:tgtEl>
                                          <p:spTgt spid="10"/>
                                        </p:tgtEl>
                                      </p:cBhvr>
                                    </p:animEffect>
                                  </p:childTnLst>
                                </p:cTn>
                              </p:par>
                              <p:par>
                                <p:cTn id="95" presetID="6" presetClass="entr" presetSubtype="16" fill="hold" grpId="0" nodeType="withEffect">
                                  <p:stCondLst>
                                    <p:cond delay="0"/>
                                  </p:stCondLst>
                                  <p:childTnLst>
                                    <p:set>
                                      <p:cBhvr>
                                        <p:cTn id="96" dur="1" fill="hold">
                                          <p:stCondLst>
                                            <p:cond delay="0"/>
                                          </p:stCondLst>
                                        </p:cTn>
                                        <p:tgtEl>
                                          <p:spTgt spid="14"/>
                                        </p:tgtEl>
                                        <p:attrNameLst>
                                          <p:attrName>style.visibility</p:attrName>
                                        </p:attrNameLst>
                                      </p:cBhvr>
                                      <p:to>
                                        <p:strVal val="visible"/>
                                      </p:to>
                                    </p:set>
                                    <p:animEffect transition="in" filter="circle(in)">
                                      <p:cBhvr>
                                        <p:cTn id="97" dur="2000"/>
                                        <p:tgtEl>
                                          <p:spTgt spid="14"/>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8"/>
                                        </p:tgtEl>
                                        <p:attrNameLst>
                                          <p:attrName>style.visibility</p:attrName>
                                        </p:attrNameLst>
                                      </p:cBhvr>
                                      <p:to>
                                        <p:strVal val="visible"/>
                                      </p:to>
                                    </p:set>
                                    <p:animEffect transition="in" filter="wheel(1)">
                                      <p:cBhvr>
                                        <p:cTn id="102" dur="2000"/>
                                        <p:tgtEl>
                                          <p:spTgt spid="8"/>
                                        </p:tgtEl>
                                      </p:cBhvr>
                                    </p:animEffect>
                                  </p:childTnLst>
                                </p:cTn>
                              </p:par>
                              <p:par>
                                <p:cTn id="103" presetID="21" presetClass="entr" presetSubtype="1"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wheel(1)">
                                      <p:cBhvr>
                                        <p:cTn id="105" dur="2000"/>
                                        <p:tgtEl>
                                          <p:spTgt spid="27"/>
                                        </p:tgtEl>
                                      </p:cBhvr>
                                    </p:animEffect>
                                  </p:childTnLst>
                                </p:cTn>
                              </p:par>
                              <p:par>
                                <p:cTn id="106" presetID="21" presetClass="entr" presetSubtype="1"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wheel(1)">
                                      <p:cBhvr>
                                        <p:cTn id="108" dur="2000"/>
                                        <p:tgtEl>
                                          <p:spTgt spid="37"/>
                                        </p:tgtEl>
                                      </p:cBhvr>
                                    </p:animEffect>
                                  </p:childTnLst>
                                </p:cTn>
                              </p:par>
                              <p:par>
                                <p:cTn id="109" presetID="21" presetClass="entr" presetSubtype="1"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wheel(1)">
                                      <p:cBhvr>
                                        <p:cTn id="111" dur="20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23"/>
                                        </p:tgtEl>
                                        <p:attrNameLst>
                                          <p:attrName>style.visibility</p:attrName>
                                        </p:attrNameLst>
                                      </p:cBhvr>
                                      <p:to>
                                        <p:strVal val="visible"/>
                                      </p:to>
                                    </p:set>
                                    <p:animEffect transition="in" filter="fade">
                                      <p:cBhvr>
                                        <p:cTn id="116" dur="1000"/>
                                        <p:tgtEl>
                                          <p:spTgt spid="23"/>
                                        </p:tgtEl>
                                      </p:cBhvr>
                                    </p:animEffect>
                                    <p:anim calcmode="lin" valueType="num">
                                      <p:cBhvr>
                                        <p:cTn id="117" dur="1000" fill="hold"/>
                                        <p:tgtEl>
                                          <p:spTgt spid="23"/>
                                        </p:tgtEl>
                                        <p:attrNameLst>
                                          <p:attrName>ppt_x</p:attrName>
                                        </p:attrNameLst>
                                      </p:cBhvr>
                                      <p:tavLst>
                                        <p:tav tm="0">
                                          <p:val>
                                            <p:strVal val="#ppt_x"/>
                                          </p:val>
                                        </p:tav>
                                        <p:tav tm="100000">
                                          <p:val>
                                            <p:strVal val="#ppt_x"/>
                                          </p:val>
                                        </p:tav>
                                      </p:tavLst>
                                    </p:anim>
                                    <p:anim calcmode="lin" valueType="num">
                                      <p:cBhvr>
                                        <p:cTn id="11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18"/>
                                        </p:tgtEl>
                                        <p:attrNameLst>
                                          <p:attrName>style.visibility</p:attrName>
                                        </p:attrNameLst>
                                      </p:cBhvr>
                                      <p:to>
                                        <p:strVal val="visible"/>
                                      </p:to>
                                    </p:set>
                                    <p:animEffect transition="in" filter="fade">
                                      <p:cBhvr>
                                        <p:cTn id="123" dur="1000"/>
                                        <p:tgtEl>
                                          <p:spTgt spid="18"/>
                                        </p:tgtEl>
                                      </p:cBhvr>
                                    </p:animEffect>
                                    <p:anim calcmode="lin" valueType="num">
                                      <p:cBhvr>
                                        <p:cTn id="124" dur="1000" fill="hold"/>
                                        <p:tgtEl>
                                          <p:spTgt spid="18"/>
                                        </p:tgtEl>
                                        <p:attrNameLst>
                                          <p:attrName>ppt_x</p:attrName>
                                        </p:attrNameLst>
                                      </p:cBhvr>
                                      <p:tavLst>
                                        <p:tav tm="0">
                                          <p:val>
                                            <p:strVal val="#ppt_x"/>
                                          </p:val>
                                        </p:tav>
                                        <p:tav tm="100000">
                                          <p:val>
                                            <p:strVal val="#ppt_x"/>
                                          </p:val>
                                        </p:tav>
                                      </p:tavLst>
                                    </p:anim>
                                    <p:anim calcmode="lin" valueType="num">
                                      <p:cBhvr>
                                        <p:cTn id="12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1" presetClass="entr" presetSubtype="1" fill="hold" grpId="0" nodeType="clickEffect">
                                  <p:stCondLst>
                                    <p:cond delay="0"/>
                                  </p:stCondLst>
                                  <p:childTnLst>
                                    <p:set>
                                      <p:cBhvr>
                                        <p:cTn id="129" dur="1" fill="hold">
                                          <p:stCondLst>
                                            <p:cond delay="0"/>
                                          </p:stCondLst>
                                        </p:cTn>
                                        <p:tgtEl>
                                          <p:spTgt spid="9"/>
                                        </p:tgtEl>
                                        <p:attrNameLst>
                                          <p:attrName>style.visibility</p:attrName>
                                        </p:attrNameLst>
                                      </p:cBhvr>
                                      <p:to>
                                        <p:strVal val="visible"/>
                                      </p:to>
                                    </p:set>
                                    <p:animEffect transition="in" filter="wheel(1)">
                                      <p:cBhvr>
                                        <p:cTn id="130" dur="2000"/>
                                        <p:tgtEl>
                                          <p:spTgt spid="9"/>
                                        </p:tgtEl>
                                      </p:cBhvr>
                                    </p:animEffect>
                                  </p:childTnLst>
                                </p:cTn>
                              </p:par>
                              <p:par>
                                <p:cTn id="131" presetID="21" presetClass="entr" presetSubtype="1" fill="hold" grpId="0" nodeType="withEffect">
                                  <p:stCondLst>
                                    <p:cond delay="0"/>
                                  </p:stCondLst>
                                  <p:childTnLst>
                                    <p:set>
                                      <p:cBhvr>
                                        <p:cTn id="132" dur="1" fill="hold">
                                          <p:stCondLst>
                                            <p:cond delay="0"/>
                                          </p:stCondLst>
                                        </p:cTn>
                                        <p:tgtEl>
                                          <p:spTgt spid="15"/>
                                        </p:tgtEl>
                                        <p:attrNameLst>
                                          <p:attrName>style.visibility</p:attrName>
                                        </p:attrNameLst>
                                      </p:cBhvr>
                                      <p:to>
                                        <p:strVal val="visible"/>
                                      </p:to>
                                    </p:set>
                                    <p:animEffect transition="in" filter="wheel(1)">
                                      <p:cBhvr>
                                        <p:cTn id="133" dur="2000"/>
                                        <p:tgtEl>
                                          <p:spTgt spid="15"/>
                                        </p:tgtEl>
                                      </p:cBhvr>
                                    </p:animEffect>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grpId="0" nodeType="clickEffect">
                                  <p:stCondLst>
                                    <p:cond delay="0"/>
                                  </p:stCondLst>
                                  <p:childTnLst>
                                    <p:set>
                                      <p:cBhvr>
                                        <p:cTn id="137" dur="1" fill="hold">
                                          <p:stCondLst>
                                            <p:cond delay="0"/>
                                          </p:stCondLst>
                                        </p:cTn>
                                        <p:tgtEl>
                                          <p:spTgt spid="19"/>
                                        </p:tgtEl>
                                        <p:attrNameLst>
                                          <p:attrName>style.visibility</p:attrName>
                                        </p:attrNameLst>
                                      </p:cBhvr>
                                      <p:to>
                                        <p:strVal val="visible"/>
                                      </p:to>
                                    </p:set>
                                    <p:animEffect transition="in" filter="fade">
                                      <p:cBhvr>
                                        <p:cTn id="138" dur="1000"/>
                                        <p:tgtEl>
                                          <p:spTgt spid="19"/>
                                        </p:tgtEl>
                                      </p:cBhvr>
                                    </p:animEffect>
                                    <p:anim calcmode="lin" valueType="num">
                                      <p:cBhvr>
                                        <p:cTn id="139" dur="1000" fill="hold"/>
                                        <p:tgtEl>
                                          <p:spTgt spid="19"/>
                                        </p:tgtEl>
                                        <p:attrNameLst>
                                          <p:attrName>ppt_x</p:attrName>
                                        </p:attrNameLst>
                                      </p:cBhvr>
                                      <p:tavLst>
                                        <p:tav tm="0">
                                          <p:val>
                                            <p:strVal val="#ppt_x"/>
                                          </p:val>
                                        </p:tav>
                                        <p:tav tm="100000">
                                          <p:val>
                                            <p:strVal val="#ppt_x"/>
                                          </p:val>
                                        </p:tav>
                                      </p:tavLst>
                                    </p:anim>
                                    <p:anim calcmode="lin" valueType="num">
                                      <p:cBhvr>
                                        <p:cTn id="14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960E41-CA2A-49AD-84CE-E2EC605F228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492240" y="1748018"/>
            <a:ext cx="5785657" cy="4187269"/>
          </a:xfrm>
          <a:prstGeom prst="rect">
            <a:avLst/>
          </a:prstGeom>
          <a:noFill/>
          <a:ln>
            <a:noFill/>
          </a:ln>
        </p:spPr>
      </p:pic>
      <p:sp>
        <p:nvSpPr>
          <p:cNvPr id="2" name="Title 1">
            <a:extLst>
              <a:ext uri="{FF2B5EF4-FFF2-40B4-BE49-F238E27FC236}">
                <a16:creationId xmlns:a16="http://schemas.microsoft.com/office/drawing/2014/main" id="{17968B64-5622-4BCF-A413-CA20AE0989BA}"/>
              </a:ext>
            </a:extLst>
          </p:cNvPr>
          <p:cNvSpPr>
            <a:spLocks noGrp="1"/>
          </p:cNvSpPr>
          <p:nvPr>
            <p:ph type="title"/>
          </p:nvPr>
        </p:nvSpPr>
        <p:spPr/>
        <p:txBody>
          <a:bodyPr/>
          <a:lstStyle/>
          <a:p>
            <a:r>
              <a:rPr lang="en-US" dirty="0"/>
              <a:t>Results</a:t>
            </a:r>
            <a:endParaRPr lang="bg-BG" dirty="0"/>
          </a:p>
        </p:txBody>
      </p:sp>
      <p:sp>
        <p:nvSpPr>
          <p:cNvPr id="3" name="Content Placeholder 2">
            <a:extLst>
              <a:ext uri="{FF2B5EF4-FFF2-40B4-BE49-F238E27FC236}">
                <a16:creationId xmlns:a16="http://schemas.microsoft.com/office/drawing/2014/main" id="{9420673A-507F-48BC-98D5-044B251B8DAD}"/>
              </a:ext>
            </a:extLst>
          </p:cNvPr>
          <p:cNvSpPr>
            <a:spLocks noGrp="1"/>
          </p:cNvSpPr>
          <p:nvPr>
            <p:ph idx="1"/>
          </p:nvPr>
        </p:nvSpPr>
        <p:spPr>
          <a:xfrm>
            <a:off x="390699" y="1118506"/>
            <a:ext cx="6400800" cy="5553983"/>
          </a:xfrm>
        </p:spPr>
        <p:txBody>
          <a:bodyPr>
            <a:normAutofit/>
          </a:bodyPr>
          <a:lstStyle/>
          <a:p>
            <a:pPr>
              <a:spcAft>
                <a:spcPts val="600"/>
              </a:spcAft>
            </a:pPr>
            <a:r>
              <a:rPr lang="en-US" sz="2400" dirty="0"/>
              <a:t>Simple and enhanced NPCs were evaluated by practical gaming sessions with the online game. </a:t>
            </a:r>
          </a:p>
          <a:p>
            <a:pPr>
              <a:spcAft>
                <a:spcPts val="600"/>
              </a:spcAft>
            </a:pPr>
            <a:r>
              <a:rPr lang="en-US" sz="2400" dirty="0"/>
              <a:t>After the game session, players filled an online version of GEQ for evaluating each component of game experience, namely </a:t>
            </a:r>
            <a:r>
              <a:rPr lang="en-US" sz="2400" b="1" dirty="0"/>
              <a:t>flow, challenge, competence, positive and negative affect, immersion, and tension</a:t>
            </a:r>
            <a:r>
              <a:rPr lang="en-US" sz="2400" dirty="0"/>
              <a:t>. </a:t>
            </a:r>
          </a:p>
          <a:p>
            <a:pPr>
              <a:spcAft>
                <a:spcPts val="600"/>
              </a:spcAft>
            </a:pPr>
            <a:r>
              <a:rPr lang="en-US" sz="2400" b="1" dirty="0"/>
              <a:t>T-tests </a:t>
            </a:r>
            <a:r>
              <a:rPr lang="en-US" sz="2400" dirty="0"/>
              <a:t>proved statistically significant differences in mean values between simple and enhanced NPCs for </a:t>
            </a:r>
            <a:r>
              <a:rPr lang="en-US" sz="2400" b="1" dirty="0"/>
              <a:t>immersion</a:t>
            </a:r>
            <a:r>
              <a:rPr lang="en-US" sz="2400" dirty="0"/>
              <a:t> (p&lt;0.0001), </a:t>
            </a:r>
            <a:r>
              <a:rPr lang="en-US" sz="2400" b="1" dirty="0"/>
              <a:t>flow and negative affect</a:t>
            </a:r>
            <a:r>
              <a:rPr lang="en-US" sz="2400" dirty="0"/>
              <a:t> (p&lt;0.01), and for </a:t>
            </a:r>
            <a:r>
              <a:rPr lang="en-US" sz="2400" b="1" dirty="0"/>
              <a:t>challenge and tension</a:t>
            </a:r>
            <a:r>
              <a:rPr lang="en-US" sz="2400" dirty="0"/>
              <a:t> (p&lt;0.05)</a:t>
            </a:r>
          </a:p>
          <a:p>
            <a:pPr>
              <a:spcAft>
                <a:spcPts val="600"/>
              </a:spcAft>
            </a:pPr>
            <a:r>
              <a:rPr lang="en-US" sz="2400" dirty="0"/>
              <a:t>Cohen’s </a:t>
            </a:r>
            <a:r>
              <a:rPr lang="en-US" sz="2400" i="1" dirty="0"/>
              <a:t>d</a:t>
            </a:r>
            <a:r>
              <a:rPr lang="en-US" sz="2400" dirty="0"/>
              <a:t> (</a:t>
            </a:r>
            <a:r>
              <a:rPr lang="en-US" sz="2400" b="1" dirty="0"/>
              <a:t>effect size</a:t>
            </a:r>
            <a:r>
              <a:rPr lang="en-US" sz="2400" dirty="0"/>
              <a:t>) is between 0.48 and 0.15 (from intermediate up to small)</a:t>
            </a:r>
            <a:endParaRPr lang="bg-BG" sz="2400" dirty="0"/>
          </a:p>
          <a:p>
            <a:pPr>
              <a:spcAft>
                <a:spcPts val="600"/>
              </a:spcAft>
            </a:pPr>
            <a:endParaRPr lang="bg-BG" sz="2400" dirty="0"/>
          </a:p>
        </p:txBody>
      </p:sp>
      <p:sp>
        <p:nvSpPr>
          <p:cNvPr id="4" name="Date Placeholder 3">
            <a:extLst>
              <a:ext uri="{FF2B5EF4-FFF2-40B4-BE49-F238E27FC236}">
                <a16:creationId xmlns:a16="http://schemas.microsoft.com/office/drawing/2014/main" id="{C58718F9-ED00-47D4-9984-BD1AED950660}"/>
              </a:ext>
            </a:extLst>
          </p:cNvPr>
          <p:cNvSpPr>
            <a:spLocks noGrp="1"/>
          </p:cNvSpPr>
          <p:nvPr>
            <p:ph type="dt" sz="half" idx="10"/>
          </p:nvPr>
        </p:nvSpPr>
        <p:spPr/>
        <p:txBody>
          <a:bodyPr/>
          <a:lstStyle/>
          <a:p>
            <a:r>
              <a:rPr lang="en-US"/>
              <a:t>18/06/2025</a:t>
            </a:r>
            <a:endParaRPr lang="en-US" dirty="0"/>
          </a:p>
        </p:txBody>
      </p:sp>
      <p:sp>
        <p:nvSpPr>
          <p:cNvPr id="5" name="Footer Placeholder 4">
            <a:extLst>
              <a:ext uri="{FF2B5EF4-FFF2-40B4-BE49-F238E27FC236}">
                <a16:creationId xmlns:a16="http://schemas.microsoft.com/office/drawing/2014/main" id="{9CC7175C-9DDE-43AA-84F3-DB75C911BCA5}"/>
              </a:ext>
            </a:extLst>
          </p:cNvPr>
          <p:cNvSpPr>
            <a:spLocks noGrp="1"/>
          </p:cNvSpPr>
          <p:nvPr>
            <p:ph type="ftr" sz="quarter" idx="11"/>
          </p:nvPr>
        </p:nvSpPr>
        <p:spPr/>
        <p:txBody>
          <a:bodyPr/>
          <a:lstStyle/>
          <a:p>
            <a:r>
              <a:rPr lang="en-US"/>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CF2C8310-EA0D-4569-BDB0-33FE11E72166}"/>
              </a:ext>
            </a:extLst>
          </p:cNvPr>
          <p:cNvSpPr>
            <a:spLocks noGrp="1"/>
          </p:cNvSpPr>
          <p:nvPr>
            <p:ph type="sldNum" sz="quarter" idx="12"/>
          </p:nvPr>
        </p:nvSpPr>
        <p:spPr/>
        <p:txBody>
          <a:bodyPr/>
          <a:lstStyle/>
          <a:p>
            <a:fld id="{75BBA16B-9D76-409E-A4DB-EDE76CDC68EC}" type="slidenum">
              <a:rPr lang="en-US" smtClean="0"/>
              <a:pPr/>
              <a:t>13</a:t>
            </a:fld>
            <a:endParaRPr lang="en-US"/>
          </a:p>
        </p:txBody>
      </p:sp>
    </p:spTree>
    <p:extLst>
      <p:ext uri="{BB962C8B-B14F-4D97-AF65-F5344CB8AC3E}">
        <p14:creationId xmlns:p14="http://schemas.microsoft.com/office/powerpoint/2010/main" val="161630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D6B2-1D15-46BD-9CD3-01E6F7B339C1}"/>
              </a:ext>
            </a:extLst>
          </p:cNvPr>
          <p:cNvSpPr>
            <a:spLocks noGrp="1"/>
          </p:cNvSpPr>
          <p:nvPr>
            <p:ph type="title"/>
          </p:nvPr>
        </p:nvSpPr>
        <p:spPr/>
        <p:txBody>
          <a:bodyPr/>
          <a:lstStyle/>
          <a:p>
            <a:r>
              <a:rPr lang="en-US" dirty="0"/>
              <a:t>Challenges</a:t>
            </a:r>
            <a:endParaRPr lang="bg-BG" dirty="0"/>
          </a:p>
        </p:txBody>
      </p:sp>
      <p:sp>
        <p:nvSpPr>
          <p:cNvPr id="3" name="Content Placeholder 2">
            <a:extLst>
              <a:ext uri="{FF2B5EF4-FFF2-40B4-BE49-F238E27FC236}">
                <a16:creationId xmlns:a16="http://schemas.microsoft.com/office/drawing/2014/main" id="{AB8DC7FE-6C5F-47E4-9155-EE95C77FEFAB}"/>
              </a:ext>
            </a:extLst>
          </p:cNvPr>
          <p:cNvSpPr>
            <a:spLocks noGrp="1"/>
          </p:cNvSpPr>
          <p:nvPr>
            <p:ph idx="1"/>
          </p:nvPr>
        </p:nvSpPr>
        <p:spPr/>
        <p:txBody>
          <a:bodyPr>
            <a:normAutofit fontScale="92500" lnSpcReduction="10000"/>
          </a:bodyPr>
          <a:lstStyle/>
          <a:p>
            <a:pPr lvl="0"/>
            <a:r>
              <a:rPr lang="en-US" b="1" dirty="0"/>
              <a:t>Limited intelligence and realism of NPCs </a:t>
            </a:r>
            <a:r>
              <a:rPr lang="en-US" dirty="0"/>
              <a:t>– in some cases NPCs demonstrate limited communication skills, decision-making, and realistic behavior. NPCs approach but don't quite achieve human-like behavior. One solution for this is to incorporate in the educational games advanced machine learning and natural language processing techniques to improve NPC intelligence and natural human behaviors</a:t>
            </a:r>
            <a:endParaRPr lang="bg-BG" dirty="0"/>
          </a:p>
          <a:p>
            <a:pPr lvl="0"/>
            <a:r>
              <a:rPr lang="en-US" b="1" dirty="0"/>
              <a:t>Limited personalized experience for players</a:t>
            </a:r>
            <a:r>
              <a:rPr lang="en-US" dirty="0"/>
              <a:t> – the reason for it is that NPCs often remain static and do not individually respond to the player’s actions. This can be resolved by implementing adaptive systems that adjust NPC behavior based on the player’s profile and actions</a:t>
            </a:r>
          </a:p>
          <a:p>
            <a:pPr lvl="0"/>
            <a:r>
              <a:rPr lang="en-US" b="1" dirty="0"/>
              <a:t>Lack of integration of NPCs with educational content</a:t>
            </a:r>
            <a:r>
              <a:rPr lang="en-US" dirty="0"/>
              <a:t> – often NPCs are not effectively tied to the learning objectives of the game. One solution can be to keep close collaboration between game developers and educational content experts to ensure the correct alignment between game mechanics and educational objectives</a:t>
            </a:r>
            <a:endParaRPr lang="bg-BG" dirty="0"/>
          </a:p>
        </p:txBody>
      </p:sp>
      <p:sp>
        <p:nvSpPr>
          <p:cNvPr id="4" name="Date Placeholder 3">
            <a:extLst>
              <a:ext uri="{FF2B5EF4-FFF2-40B4-BE49-F238E27FC236}">
                <a16:creationId xmlns:a16="http://schemas.microsoft.com/office/drawing/2014/main" id="{CF4D2802-13F3-47EA-8C1B-19185D86B075}"/>
              </a:ext>
            </a:extLst>
          </p:cNvPr>
          <p:cNvSpPr>
            <a:spLocks noGrp="1"/>
          </p:cNvSpPr>
          <p:nvPr>
            <p:ph type="dt" sz="half" idx="10"/>
          </p:nvPr>
        </p:nvSpPr>
        <p:spPr/>
        <p:txBody>
          <a:bodyPr/>
          <a:lstStyle/>
          <a:p>
            <a:r>
              <a:rPr lang="en-US"/>
              <a:t>18/06/2025</a:t>
            </a:r>
            <a:endParaRPr lang="en-US" dirty="0"/>
          </a:p>
        </p:txBody>
      </p:sp>
      <p:sp>
        <p:nvSpPr>
          <p:cNvPr id="5" name="Footer Placeholder 4">
            <a:extLst>
              <a:ext uri="{FF2B5EF4-FFF2-40B4-BE49-F238E27FC236}">
                <a16:creationId xmlns:a16="http://schemas.microsoft.com/office/drawing/2014/main" id="{392FF9C6-E45C-496B-B3C9-65B046247AA5}"/>
              </a:ext>
            </a:extLst>
          </p:cNvPr>
          <p:cNvSpPr>
            <a:spLocks noGrp="1"/>
          </p:cNvSpPr>
          <p:nvPr>
            <p:ph type="ftr" sz="quarter" idx="11"/>
          </p:nvPr>
        </p:nvSpPr>
        <p:spPr/>
        <p:txBody>
          <a:bodyPr/>
          <a:lstStyle/>
          <a:p>
            <a:r>
              <a:rPr lang="en-US"/>
              <a:t>Towards Educational Video Games with Enhanced Virtual Players</a:t>
            </a:r>
            <a:endParaRPr lang="en-US" dirty="0"/>
          </a:p>
        </p:txBody>
      </p:sp>
      <p:sp>
        <p:nvSpPr>
          <p:cNvPr id="6" name="Slide Number Placeholder 5">
            <a:extLst>
              <a:ext uri="{FF2B5EF4-FFF2-40B4-BE49-F238E27FC236}">
                <a16:creationId xmlns:a16="http://schemas.microsoft.com/office/drawing/2014/main" id="{3F804444-62D9-48BF-8126-3331F23191D6}"/>
              </a:ext>
            </a:extLst>
          </p:cNvPr>
          <p:cNvSpPr>
            <a:spLocks noGrp="1"/>
          </p:cNvSpPr>
          <p:nvPr>
            <p:ph type="sldNum" sz="quarter" idx="12"/>
          </p:nvPr>
        </p:nvSpPr>
        <p:spPr/>
        <p:txBody>
          <a:bodyPr/>
          <a:lstStyle/>
          <a:p>
            <a:fld id="{75BBA16B-9D76-409E-A4DB-EDE76CDC68EC}" type="slidenum">
              <a:rPr lang="en-US" smtClean="0"/>
              <a:pPr/>
              <a:t>14</a:t>
            </a:fld>
            <a:endParaRPr lang="en-US"/>
          </a:p>
        </p:txBody>
      </p:sp>
    </p:spTree>
    <p:extLst>
      <p:ext uri="{BB962C8B-B14F-4D97-AF65-F5344CB8AC3E}">
        <p14:creationId xmlns:p14="http://schemas.microsoft.com/office/powerpoint/2010/main" val="2005402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 – future works</a:t>
            </a:r>
          </a:p>
        </p:txBody>
      </p:sp>
      <p:sp>
        <p:nvSpPr>
          <p:cNvPr id="3" name="Content Placeholder 2"/>
          <p:cNvSpPr>
            <a:spLocks noGrp="1"/>
          </p:cNvSpPr>
          <p:nvPr>
            <p:ph idx="1"/>
          </p:nvPr>
        </p:nvSpPr>
        <p:spPr>
          <a:xfrm>
            <a:off x="775607" y="1210962"/>
            <a:ext cx="11152414" cy="5246987"/>
          </a:xfrm>
        </p:spPr>
        <p:txBody>
          <a:bodyPr>
            <a:normAutofit fontScale="92500"/>
          </a:bodyPr>
          <a:lstStyle/>
          <a:p>
            <a:pPr lvl="0"/>
            <a:r>
              <a:rPr lang="en-US" b="1" dirty="0"/>
              <a:t>Enhancing NPC intelligence </a:t>
            </a:r>
            <a:r>
              <a:rPr lang="en-US" dirty="0"/>
              <a:t>– implementing more advanced machine learning models and natural language processing to allow NPCs to conduct realistic dialogue and decision-making;</a:t>
            </a:r>
            <a:endParaRPr lang="bg-BG" dirty="0"/>
          </a:p>
          <a:p>
            <a:pPr lvl="0"/>
            <a:r>
              <a:rPr lang="en-US" b="1" dirty="0"/>
              <a:t>Expanding emotional adaptation</a:t>
            </a:r>
            <a:r>
              <a:rPr lang="en-US" dirty="0"/>
              <a:t> – improving the emotion recognition models to allow NPC reactions based on player behavior or physiological parameters;</a:t>
            </a:r>
            <a:endParaRPr lang="bg-BG" dirty="0"/>
          </a:p>
          <a:p>
            <a:pPr lvl="0"/>
            <a:r>
              <a:rPr lang="en-US" b="1" dirty="0"/>
              <a:t>Developing more dynamic narratives </a:t>
            </a:r>
            <a:r>
              <a:rPr lang="en-US" dirty="0"/>
              <a:t>– incorporating procedurally generated storylines that adapt to player choices, increasing engagement;</a:t>
            </a:r>
            <a:endParaRPr lang="bg-BG" dirty="0"/>
          </a:p>
          <a:p>
            <a:pPr lvl="0"/>
            <a:r>
              <a:rPr lang="en-US" b="1" dirty="0"/>
              <a:t>Optimizing game accessibility </a:t>
            </a:r>
            <a:r>
              <a:rPr lang="en-US" dirty="0"/>
              <a:t>– by incorporating support for different learning styles, disabilities, and multilingual features;</a:t>
            </a:r>
            <a:endParaRPr lang="bg-BG" dirty="0"/>
          </a:p>
          <a:p>
            <a:pPr lvl="0"/>
            <a:r>
              <a:rPr lang="en-US" b="1" dirty="0"/>
              <a:t>Conducting large-scale user studies </a:t>
            </a:r>
            <a:r>
              <a:rPr lang="en-US" dirty="0"/>
              <a:t>- evaluating the effectiveness of adaptive educational maze games through empirical research involving diverse student populations and measuring their long-term impact on learning outcomes.</a:t>
            </a:r>
            <a:endParaRPr lang="bg-BG" dirty="0"/>
          </a:p>
          <a:p>
            <a:endParaRPr lang="en-US" dirty="0"/>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dirty="0"/>
              <a:t>Towards Educational Video Games with Enhanced Virtual Players</a:t>
            </a:r>
          </a:p>
        </p:txBody>
      </p:sp>
      <p:sp>
        <p:nvSpPr>
          <p:cNvPr id="6" name="Slide Number Placeholder 5"/>
          <p:cNvSpPr>
            <a:spLocks noGrp="1"/>
          </p:cNvSpPr>
          <p:nvPr>
            <p:ph type="sldNum" sz="quarter" idx="12"/>
          </p:nvPr>
        </p:nvSpPr>
        <p:spPr/>
        <p:txBody>
          <a:bodyPr/>
          <a:lstStyle/>
          <a:p>
            <a:fld id="{75BBA16B-9D76-409E-A4DB-EDE76CDC68EC}" type="slidenum">
              <a:rPr lang="en-US" smtClean="0"/>
              <a:pPr/>
              <a:t>15</a:t>
            </a:fld>
            <a:endParaRPr lang="en-US"/>
          </a:p>
        </p:txBody>
      </p:sp>
    </p:spTree>
    <p:extLst>
      <p:ext uri="{BB962C8B-B14F-4D97-AF65-F5344CB8AC3E}">
        <p14:creationId xmlns:p14="http://schemas.microsoft.com/office/powerpoint/2010/main" val="3970493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659027" y="1903615"/>
            <a:ext cx="11318421" cy="4381339"/>
          </a:xfrm>
        </p:spPr>
        <p:txBody>
          <a:bodyPr>
            <a:normAutofit fontScale="70000" lnSpcReduction="20000"/>
          </a:bodyPr>
          <a:lstStyle/>
          <a:p>
            <a:pPr marL="0" indent="0">
              <a:buNone/>
            </a:pPr>
            <a:r>
              <a:rPr lang="en-US" sz="4000" dirty="0">
                <a:solidFill>
                  <a:schemeClr val="accent5">
                    <a:lumMod val="75000"/>
                  </a:schemeClr>
                </a:solidFill>
              </a:rPr>
              <a:t>Thank you for your attention!</a:t>
            </a:r>
          </a:p>
          <a:p>
            <a:pPr marL="0" indent="0">
              <a:buNone/>
            </a:pPr>
            <a:endParaRPr lang="en-US" sz="3600" dirty="0">
              <a:solidFill>
                <a:schemeClr val="accent5">
                  <a:lumMod val="75000"/>
                </a:schemeClr>
              </a:solidFill>
            </a:endParaRPr>
          </a:p>
          <a:p>
            <a:pPr marL="0" indent="0">
              <a:buNone/>
            </a:pPr>
            <a:r>
              <a:rPr lang="en-US" sz="3600" b="1" dirty="0"/>
              <a:t>Contacts</a:t>
            </a:r>
            <a:r>
              <a:rPr lang="bg-BG" sz="3600" b="1" dirty="0"/>
              <a:t>:</a:t>
            </a:r>
          </a:p>
          <a:p>
            <a:pPr marL="0" indent="0">
              <a:buNone/>
            </a:pPr>
            <a:r>
              <a:rPr lang="en-US" sz="3600" dirty="0">
                <a:solidFill>
                  <a:schemeClr val="accent5">
                    <a:lumMod val="75000"/>
                  </a:schemeClr>
                </a:solidFill>
                <a:hlinkClick r:id="rId2"/>
              </a:rPr>
              <a:t>bbontchev@fmi.uni-sofia.bg</a:t>
            </a:r>
            <a:endParaRPr lang="bg-BG" sz="3600" dirty="0">
              <a:solidFill>
                <a:schemeClr val="accent5">
                  <a:lumMod val="75000"/>
                </a:schemeClr>
              </a:solidFill>
            </a:endParaRPr>
          </a:p>
          <a:p>
            <a:pPr marL="0" indent="0">
              <a:buNone/>
            </a:pPr>
            <a:r>
              <a:rPr lang="en-US" sz="3600" dirty="0">
                <a:solidFill>
                  <a:schemeClr val="accent5">
                    <a:lumMod val="75000"/>
                  </a:schemeClr>
                </a:solidFill>
                <a:hlinkClick r:id="rId3"/>
              </a:rPr>
              <a:t>ddessy@gmai.com</a:t>
            </a:r>
            <a:endParaRPr lang="en-US" sz="3600" dirty="0">
              <a:solidFill>
                <a:schemeClr val="accent5">
                  <a:lumMod val="75000"/>
                </a:schemeClr>
              </a:solidFill>
            </a:endParaRPr>
          </a:p>
          <a:p>
            <a:pPr marL="0" indent="0">
              <a:buNone/>
            </a:pPr>
            <a:r>
              <a:rPr lang="en-US" sz="3600" dirty="0">
                <a:solidFill>
                  <a:schemeClr val="accent5">
                    <a:lumMod val="75000"/>
                  </a:schemeClr>
                </a:solidFill>
                <a:hlinkClick r:id="rId4"/>
              </a:rPr>
              <a:t>valentina.terzieva@iict.bas.bg</a:t>
            </a:r>
            <a:r>
              <a:rPr lang="en-US" sz="3600" dirty="0">
                <a:solidFill>
                  <a:schemeClr val="accent5">
                    <a:lumMod val="75000"/>
                  </a:schemeClr>
                </a:solidFill>
              </a:rPr>
              <a:t> </a:t>
            </a:r>
          </a:p>
          <a:p>
            <a:pPr marL="0" indent="0">
              <a:buNone/>
            </a:pPr>
            <a:endParaRPr lang="en-US" sz="4600" b="1" dirty="0">
              <a:latin typeface="+mn-lt"/>
            </a:endParaRPr>
          </a:p>
          <a:p>
            <a:pPr marL="0" indent="0">
              <a:buNone/>
            </a:pPr>
            <a:r>
              <a:rPr lang="en-US" sz="3600" b="1" dirty="0"/>
              <a:t>Acknowledgement:</a:t>
            </a:r>
            <a:endParaRPr lang="bg-BG" sz="3600" b="1" dirty="0"/>
          </a:p>
          <a:p>
            <a:pPr marL="0" indent="0">
              <a:buNone/>
            </a:pPr>
            <a:r>
              <a:rPr lang="en-US" sz="3600" dirty="0">
                <a:solidFill>
                  <a:schemeClr val="accent5">
                    <a:lumMod val="75000"/>
                  </a:schemeClr>
                </a:solidFill>
              </a:rPr>
              <a:t>The research that led to these results was funded under the MOTIVATE project, funded by the Scientific Research Fund, Grant Agreement No. KP-06-N85/2 of 12.05.2024.</a:t>
            </a:r>
            <a:endParaRPr lang="bg-BG" sz="3600" dirty="0">
              <a:solidFill>
                <a:schemeClr val="accent5">
                  <a:lumMod val="75000"/>
                </a:schemeClr>
              </a:solidFill>
            </a:endParaRPr>
          </a:p>
        </p:txBody>
      </p:sp>
      <p:sp>
        <p:nvSpPr>
          <p:cNvPr id="4" name="Date Placeholder 3"/>
          <p:cNvSpPr>
            <a:spLocks noGrp="1"/>
          </p:cNvSpPr>
          <p:nvPr>
            <p:ph type="dt" sz="half" idx="10"/>
          </p:nvPr>
        </p:nvSpPr>
        <p:spPr/>
        <p:txBody>
          <a:bodyPr/>
          <a:lstStyle/>
          <a:p>
            <a:r>
              <a:rPr lang="en-US" dirty="0"/>
              <a:t>18/06/2025</a:t>
            </a:r>
          </a:p>
        </p:txBody>
      </p:sp>
      <p:sp>
        <p:nvSpPr>
          <p:cNvPr id="5" name="Footer Placeholder 4"/>
          <p:cNvSpPr>
            <a:spLocks noGrp="1"/>
          </p:cNvSpPr>
          <p:nvPr>
            <p:ph type="ftr" sz="quarter" idx="11"/>
          </p:nvPr>
        </p:nvSpPr>
        <p:spPr/>
        <p:txBody>
          <a:bodyPr/>
          <a:lstStyle/>
          <a:p>
            <a:r>
              <a:rPr lang="en-US" dirty="0"/>
              <a:t>Towards Educational Video Games with Enhanced Virtual Players</a:t>
            </a:r>
          </a:p>
        </p:txBody>
      </p:sp>
      <p:sp>
        <p:nvSpPr>
          <p:cNvPr id="6" name="Slide Number Placeholder 5"/>
          <p:cNvSpPr>
            <a:spLocks noGrp="1"/>
          </p:cNvSpPr>
          <p:nvPr>
            <p:ph type="sldNum" sz="quarter" idx="12"/>
          </p:nvPr>
        </p:nvSpPr>
        <p:spPr/>
        <p:txBody>
          <a:bodyPr/>
          <a:lstStyle/>
          <a:p>
            <a:fld id="{75BBA16B-9D76-409E-A4DB-EDE76CDC68EC}" type="slidenum">
              <a:rPr lang="en-US" smtClean="0"/>
              <a:pPr/>
              <a:t>16</a:t>
            </a:fld>
            <a:endParaRPr lang="en-US"/>
          </a:p>
        </p:txBody>
      </p:sp>
      <p:sp>
        <p:nvSpPr>
          <p:cNvPr id="9" name="Rounded Rectangle 8"/>
          <p:cNvSpPr/>
          <p:nvPr/>
        </p:nvSpPr>
        <p:spPr>
          <a:xfrm>
            <a:off x="659027" y="0"/>
            <a:ext cx="11532973" cy="1219200"/>
          </a:xfrm>
          <a:prstGeom prst="roundRect">
            <a:avLst>
              <a:gd name="adj" fmla="val 5181"/>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05631" y="0"/>
            <a:ext cx="2647098" cy="1210962"/>
          </a:xfrm>
          <a:prstGeom prst="rect">
            <a:avLst/>
          </a:prstGeom>
        </p:spPr>
      </p:pic>
      <p:sp>
        <p:nvSpPr>
          <p:cNvPr id="10" name="Rectangle 9"/>
          <p:cNvSpPr/>
          <p:nvPr/>
        </p:nvSpPr>
        <p:spPr>
          <a:xfrm>
            <a:off x="6532606" y="2460391"/>
            <a:ext cx="4670853" cy="2215991"/>
          </a:xfrm>
          <a:prstGeom prst="rect">
            <a:avLst/>
          </a:prstGeom>
          <a:noFill/>
        </p:spPr>
        <p:txBody>
          <a:bodyPr wrap="square" lIns="91440" tIns="45720" rIns="91440" bIns="45720">
            <a:spAutoFit/>
          </a:bodyPr>
          <a:lstStyle/>
          <a:p>
            <a:pPr algn="ctr"/>
            <a:r>
              <a:rPr lang="en-US" sz="13800" b="1" dirty="0">
                <a:ln w="22225">
                  <a:solidFill>
                    <a:schemeClr val="accent2"/>
                  </a:solidFill>
                  <a:prstDash val="solid"/>
                </a:ln>
                <a:solidFill>
                  <a:schemeClr val="accent2">
                    <a:lumMod val="40000"/>
                    <a:lumOff val="60000"/>
                  </a:schemeClr>
                </a:solidFill>
              </a:rPr>
              <a:t>Q</a:t>
            </a:r>
            <a:r>
              <a:rPr lang="en-US" sz="13800" b="1" cap="none" spc="0" dirty="0">
                <a:ln w="22225">
                  <a:solidFill>
                    <a:schemeClr val="accent2"/>
                  </a:solidFill>
                  <a:prstDash val="solid"/>
                </a:ln>
                <a:solidFill>
                  <a:schemeClr val="accent2">
                    <a:lumMod val="40000"/>
                    <a:lumOff val="60000"/>
                  </a:schemeClr>
                </a:solidFill>
                <a:effectLst/>
              </a:rPr>
              <a:t> </a:t>
            </a:r>
            <a:r>
              <a:rPr lang="en-US" sz="7200" b="1" cap="none" spc="0" dirty="0">
                <a:ln w="22225">
                  <a:solidFill>
                    <a:schemeClr val="accent2"/>
                  </a:solidFill>
                  <a:prstDash val="solid"/>
                </a:ln>
                <a:solidFill>
                  <a:srgbClr val="C00000"/>
                </a:solidFill>
                <a:effectLst/>
              </a:rPr>
              <a:t>&amp;</a:t>
            </a:r>
            <a:r>
              <a:rPr lang="en-US" sz="13800" b="1" cap="none" spc="0" dirty="0">
                <a:ln w="22225">
                  <a:solidFill>
                    <a:schemeClr val="accent2"/>
                  </a:solidFill>
                  <a:prstDash val="solid"/>
                </a:ln>
                <a:solidFill>
                  <a:schemeClr val="accent2">
                    <a:lumMod val="40000"/>
                    <a:lumOff val="60000"/>
                  </a:schemeClr>
                </a:solidFill>
                <a:effectLst/>
              </a:rPr>
              <a:t> A</a:t>
            </a:r>
          </a:p>
        </p:txBody>
      </p:sp>
    </p:spTree>
    <p:extLst>
      <p:ext uri="{BB962C8B-B14F-4D97-AF65-F5344CB8AC3E}">
        <p14:creationId xmlns:p14="http://schemas.microsoft.com/office/powerpoint/2010/main" val="1047272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2711</TotalTime>
  <Words>1425</Words>
  <Application>Microsoft Office PowerPoint</Application>
  <PresentationFormat>Widescreen</PresentationFormat>
  <Paragraphs>259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Towards Educational Video Games with Enhanced Virtual Players</vt:lpstr>
      <vt:lpstr>Agenda</vt:lpstr>
      <vt:lpstr>Educational video games</vt:lpstr>
      <vt:lpstr>Intelligent Player-Centric Tailoring of Digital Games for Education</vt:lpstr>
      <vt:lpstr>Virtual players or non-playable characters (NPCs)</vt:lpstr>
      <vt:lpstr>Roles of NPCs in educational video games</vt:lpstr>
      <vt:lpstr>NPCs in educational video mazes</vt:lpstr>
      <vt:lpstr>Automatic generation of personalized &amp; adapted games </vt:lpstr>
      <vt:lpstr>Screenshots of some generated video games</vt:lpstr>
      <vt:lpstr>Fixed tree-based dialog with a simple NPC</vt:lpstr>
      <vt:lpstr>Maze games with complex NPC with adaptive behavior</vt:lpstr>
      <vt:lpstr>Workflow of dynamic game adaptation control</vt:lpstr>
      <vt:lpstr>Results</vt:lpstr>
      <vt:lpstr>Challenges</vt:lpstr>
      <vt:lpstr>Conclusions – future works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Presentation</dc:title>
  <dc:creator>Dessislava Vassileva</dc:creator>
  <cp:lastModifiedBy>user</cp:lastModifiedBy>
  <cp:revision>54</cp:revision>
  <dcterms:created xsi:type="dcterms:W3CDTF">2025-04-22T07:20:44Z</dcterms:created>
  <dcterms:modified xsi:type="dcterms:W3CDTF">2025-06-18T14:14:42Z</dcterms:modified>
</cp:coreProperties>
</file>