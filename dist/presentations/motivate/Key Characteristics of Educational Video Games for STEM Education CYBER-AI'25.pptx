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  <p:sldMasterId id="2147483684" r:id="rId2"/>
  </p:sldMasterIdLst>
  <p:notesMasterIdLst>
    <p:notesMasterId r:id="rId16"/>
  </p:notesMasterIdLst>
  <p:sldIdLst>
    <p:sldId id="256" r:id="rId3"/>
    <p:sldId id="257" r:id="rId4"/>
    <p:sldId id="258" r:id="rId5"/>
    <p:sldId id="271" r:id="rId6"/>
    <p:sldId id="272" r:id="rId7"/>
    <p:sldId id="273" r:id="rId8"/>
    <p:sldId id="274" r:id="rId9"/>
    <p:sldId id="276" r:id="rId10"/>
    <p:sldId id="277" r:id="rId11"/>
    <p:sldId id="267" r:id="rId12"/>
    <p:sldId id="268" r:id="rId13"/>
    <p:sldId id="269" r:id="rId14"/>
    <p:sldId id="27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21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81CC97-9FE8-4AAB-9298-7CBA48D266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FB344FF-2F51-4409-9946-5ECC12CDACB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Moderators: learner level, concept complexity, prior gaming experience, and intervention length.</a:t>
          </a:r>
        </a:p>
      </dgm:t>
    </dgm:pt>
    <dgm:pt modelId="{3F27444A-81CA-4465-8ABA-15FEBC441220}" type="parTrans" cxnId="{FD2A40BC-9615-44FF-8A54-58CF5F2687B3}">
      <dgm:prSet/>
      <dgm:spPr/>
      <dgm:t>
        <a:bodyPr/>
        <a:lstStyle/>
        <a:p>
          <a:endParaRPr lang="en-US"/>
        </a:p>
      </dgm:t>
    </dgm:pt>
    <dgm:pt modelId="{5713C74E-60D6-4965-AA63-DD67CA04BB46}" type="sibTrans" cxnId="{FD2A40BC-9615-44FF-8A54-58CF5F2687B3}">
      <dgm:prSet/>
      <dgm:spPr/>
      <dgm:t>
        <a:bodyPr/>
        <a:lstStyle/>
        <a:p>
          <a:endParaRPr lang="en-US"/>
        </a:p>
      </dgm:t>
    </dgm:pt>
    <dgm:pt modelId="{3838D038-D1E9-42E8-AF82-FFCF5692B6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Design levers: adaptivity of difficulty and hints, immediate feedback with clear guidance, progressive levels, and light gamification.</a:t>
          </a:r>
        </a:p>
      </dgm:t>
    </dgm:pt>
    <dgm:pt modelId="{6A84E41E-0173-48D7-9E18-82DCE51D7B2F}" type="parTrans" cxnId="{F742EBAB-B2C2-4354-A684-1D51AC68908F}">
      <dgm:prSet/>
      <dgm:spPr/>
      <dgm:t>
        <a:bodyPr/>
        <a:lstStyle/>
        <a:p>
          <a:endParaRPr lang="en-US"/>
        </a:p>
      </dgm:t>
    </dgm:pt>
    <dgm:pt modelId="{52CD3578-032B-4393-80B1-A47EA48BE3DB}" type="sibTrans" cxnId="{F742EBAB-B2C2-4354-A684-1D51AC68908F}">
      <dgm:prSet/>
      <dgm:spPr/>
      <dgm:t>
        <a:bodyPr/>
        <a:lstStyle/>
        <a:p>
          <a:endParaRPr lang="en-US"/>
        </a:p>
      </dgm:t>
    </dgm:pt>
    <dgm:pt modelId="{327FC615-9A22-4BE0-B2F9-32E3A91BCD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Platform fit: desktop or online for complex simulations; mobile or touch for rapid feedback and fieldwork; AR or VR for immersive tasks.</a:t>
          </a:r>
        </a:p>
      </dgm:t>
    </dgm:pt>
    <dgm:pt modelId="{14824C5E-9375-4CDC-A11B-E0FFDDDDD2AE}" type="parTrans" cxnId="{57E903CC-38A1-4D98-9F4A-8B4B8118898F}">
      <dgm:prSet/>
      <dgm:spPr/>
      <dgm:t>
        <a:bodyPr/>
        <a:lstStyle/>
        <a:p>
          <a:endParaRPr lang="en-US"/>
        </a:p>
      </dgm:t>
    </dgm:pt>
    <dgm:pt modelId="{D1B3C48F-DE43-449F-A0E3-3C97318C3163}" type="sibTrans" cxnId="{57E903CC-38A1-4D98-9F4A-8B4B8118898F}">
      <dgm:prSet/>
      <dgm:spPr/>
      <dgm:t>
        <a:bodyPr/>
        <a:lstStyle/>
        <a:p>
          <a:endParaRPr lang="en-US"/>
        </a:p>
      </dgm:t>
    </dgm:pt>
    <dgm:pt modelId="{EF81D41F-E03F-4BAB-85D4-C52CD94B08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Teacher factor: attitudes and training; co-design with teachers, short professional development, curriculum alignment, and pilot then iterate in real courses.</a:t>
          </a:r>
        </a:p>
      </dgm:t>
    </dgm:pt>
    <dgm:pt modelId="{7CA73AD7-DCAD-4FEB-9F01-E8BE8C40A56E}" type="parTrans" cxnId="{D1D0F5C0-93BF-4850-BFF5-B3F284E63326}">
      <dgm:prSet/>
      <dgm:spPr/>
      <dgm:t>
        <a:bodyPr/>
        <a:lstStyle/>
        <a:p>
          <a:endParaRPr lang="en-US"/>
        </a:p>
      </dgm:t>
    </dgm:pt>
    <dgm:pt modelId="{2BB5C168-8CB8-43FF-ACF3-DCC1E4206F64}" type="sibTrans" cxnId="{D1D0F5C0-93BF-4850-BFF5-B3F284E63326}">
      <dgm:prSet/>
      <dgm:spPr/>
      <dgm:t>
        <a:bodyPr/>
        <a:lstStyle/>
        <a:p>
          <a:endParaRPr lang="en-US"/>
        </a:p>
      </dgm:t>
    </dgm:pt>
    <dgm:pt modelId="{FF26CE67-0BB5-44B2-9ABA-3CA9844FC1A1}" type="pres">
      <dgm:prSet presAssocID="{6481CC97-9FE8-4AAB-9298-7CBA48D2661D}" presName="root" presStyleCnt="0">
        <dgm:presLayoutVars>
          <dgm:dir/>
          <dgm:resizeHandles val="exact"/>
        </dgm:presLayoutVars>
      </dgm:prSet>
      <dgm:spPr/>
    </dgm:pt>
    <dgm:pt modelId="{E1E87BA0-3845-4174-9C3C-2D3578EF57E2}" type="pres">
      <dgm:prSet presAssocID="{4FB344FF-2F51-4409-9946-5ECC12CDACBA}" presName="compNode" presStyleCnt="0"/>
      <dgm:spPr/>
    </dgm:pt>
    <dgm:pt modelId="{1C6C8ACC-04CF-42E3-BBA8-53BB9C781848}" type="pres">
      <dgm:prSet presAssocID="{4FB344FF-2F51-4409-9946-5ECC12CDACBA}" presName="bgRect" presStyleLbl="bgShp" presStyleIdx="0" presStyleCnt="4"/>
      <dgm:spPr/>
    </dgm:pt>
    <dgm:pt modelId="{4B501031-59A3-4BDA-968A-BD941F685B7D}" type="pres">
      <dgm:prSet presAssocID="{4FB344FF-2F51-4409-9946-5ECC12CDACB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EE936B3D-BBD8-4B3B-B91E-779166AB6F84}" type="pres">
      <dgm:prSet presAssocID="{4FB344FF-2F51-4409-9946-5ECC12CDACBA}" presName="spaceRect" presStyleCnt="0"/>
      <dgm:spPr/>
    </dgm:pt>
    <dgm:pt modelId="{A3BFFB00-318C-45BD-A579-C6E3D3EB10CC}" type="pres">
      <dgm:prSet presAssocID="{4FB344FF-2F51-4409-9946-5ECC12CDACBA}" presName="parTx" presStyleLbl="revTx" presStyleIdx="0" presStyleCnt="4">
        <dgm:presLayoutVars>
          <dgm:chMax val="0"/>
          <dgm:chPref val="0"/>
        </dgm:presLayoutVars>
      </dgm:prSet>
      <dgm:spPr/>
    </dgm:pt>
    <dgm:pt modelId="{EA953A19-099A-4BD1-813F-500E715C93AE}" type="pres">
      <dgm:prSet presAssocID="{5713C74E-60D6-4965-AA63-DD67CA04BB46}" presName="sibTrans" presStyleCnt="0"/>
      <dgm:spPr/>
    </dgm:pt>
    <dgm:pt modelId="{CFBAABC5-5FA8-4BA8-B0FB-6D5EABB937DE}" type="pres">
      <dgm:prSet presAssocID="{3838D038-D1E9-42E8-AF82-FFCF5692B6CB}" presName="compNode" presStyleCnt="0"/>
      <dgm:spPr/>
    </dgm:pt>
    <dgm:pt modelId="{4D61BC10-8FFD-4006-B707-169C5E8B9774}" type="pres">
      <dgm:prSet presAssocID="{3838D038-D1E9-42E8-AF82-FFCF5692B6CB}" presName="bgRect" presStyleLbl="bgShp" presStyleIdx="1" presStyleCnt="4"/>
      <dgm:spPr/>
    </dgm:pt>
    <dgm:pt modelId="{7C8A9C23-A8B6-48ED-BF4D-749D8878E398}" type="pres">
      <dgm:prSet presAssocID="{3838D038-D1E9-42E8-AF82-FFCF5692B6C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4B7D17E8-21F6-4F57-B4C9-485B982B8229}" type="pres">
      <dgm:prSet presAssocID="{3838D038-D1E9-42E8-AF82-FFCF5692B6CB}" presName="spaceRect" presStyleCnt="0"/>
      <dgm:spPr/>
    </dgm:pt>
    <dgm:pt modelId="{12D4DC5B-41C8-4B3E-9551-0B4A0381AB8C}" type="pres">
      <dgm:prSet presAssocID="{3838D038-D1E9-42E8-AF82-FFCF5692B6CB}" presName="parTx" presStyleLbl="revTx" presStyleIdx="1" presStyleCnt="4">
        <dgm:presLayoutVars>
          <dgm:chMax val="0"/>
          <dgm:chPref val="0"/>
        </dgm:presLayoutVars>
      </dgm:prSet>
      <dgm:spPr/>
    </dgm:pt>
    <dgm:pt modelId="{ECDDADC3-F3FC-4C8F-B2B8-6BB7C4869EDE}" type="pres">
      <dgm:prSet presAssocID="{52CD3578-032B-4393-80B1-A47EA48BE3DB}" presName="sibTrans" presStyleCnt="0"/>
      <dgm:spPr/>
    </dgm:pt>
    <dgm:pt modelId="{887A6707-13A4-4963-9C56-A05D638EFB73}" type="pres">
      <dgm:prSet presAssocID="{327FC615-9A22-4BE0-B2F9-32E3A91BCDF7}" presName="compNode" presStyleCnt="0"/>
      <dgm:spPr/>
    </dgm:pt>
    <dgm:pt modelId="{48288201-2F39-4B84-B9DC-10D5C3B08A84}" type="pres">
      <dgm:prSet presAssocID="{327FC615-9A22-4BE0-B2F9-32E3A91BCDF7}" presName="bgRect" presStyleLbl="bgShp" presStyleIdx="2" presStyleCnt="4"/>
      <dgm:spPr/>
    </dgm:pt>
    <dgm:pt modelId="{3777656A-D684-41FE-BAEC-5808549B4436}" type="pres">
      <dgm:prSet presAssocID="{327FC615-9A22-4BE0-B2F9-32E3A91BCDF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9F6B8698-18E9-4CD3-B4C7-5D26ACB4CC3E}" type="pres">
      <dgm:prSet presAssocID="{327FC615-9A22-4BE0-B2F9-32E3A91BCDF7}" presName="spaceRect" presStyleCnt="0"/>
      <dgm:spPr/>
    </dgm:pt>
    <dgm:pt modelId="{826605DD-8ADF-4C53-A58B-0A5F07887982}" type="pres">
      <dgm:prSet presAssocID="{327FC615-9A22-4BE0-B2F9-32E3A91BCDF7}" presName="parTx" presStyleLbl="revTx" presStyleIdx="2" presStyleCnt="4">
        <dgm:presLayoutVars>
          <dgm:chMax val="0"/>
          <dgm:chPref val="0"/>
        </dgm:presLayoutVars>
      </dgm:prSet>
      <dgm:spPr/>
    </dgm:pt>
    <dgm:pt modelId="{D806F4C1-2355-44CF-A53F-90F69AAC79FF}" type="pres">
      <dgm:prSet presAssocID="{D1B3C48F-DE43-449F-A0E3-3C97318C3163}" presName="sibTrans" presStyleCnt="0"/>
      <dgm:spPr/>
    </dgm:pt>
    <dgm:pt modelId="{CAA4F34E-3B4A-46E4-AA66-0342825DB661}" type="pres">
      <dgm:prSet presAssocID="{EF81D41F-E03F-4BAB-85D4-C52CD94B084C}" presName="compNode" presStyleCnt="0"/>
      <dgm:spPr/>
    </dgm:pt>
    <dgm:pt modelId="{39CBB658-31AB-48C6-8BEF-150C963CBE60}" type="pres">
      <dgm:prSet presAssocID="{EF81D41F-E03F-4BAB-85D4-C52CD94B084C}" presName="bgRect" presStyleLbl="bgShp" presStyleIdx="3" presStyleCnt="4"/>
      <dgm:spPr>
        <a:solidFill>
          <a:srgbClr val="0070C0"/>
        </a:solidFill>
      </dgm:spPr>
    </dgm:pt>
    <dgm:pt modelId="{9F665FA8-D142-4D25-A98A-4673FC83E666}" type="pres">
      <dgm:prSet presAssocID="{EF81D41F-E03F-4BAB-85D4-C52CD94B084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6CF6AFC2-2D67-4B15-9186-392382DBA723}" type="pres">
      <dgm:prSet presAssocID="{EF81D41F-E03F-4BAB-85D4-C52CD94B084C}" presName="spaceRect" presStyleCnt="0"/>
      <dgm:spPr/>
    </dgm:pt>
    <dgm:pt modelId="{2893BF5B-EA52-490B-A4C7-DBD1E39CE056}" type="pres">
      <dgm:prSet presAssocID="{EF81D41F-E03F-4BAB-85D4-C52CD94B084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E0F9E3A-F8B2-4C7A-974C-2E7D56D83153}" type="presOf" srcId="{4FB344FF-2F51-4409-9946-5ECC12CDACBA}" destId="{A3BFFB00-318C-45BD-A579-C6E3D3EB10CC}" srcOrd="0" destOrd="0" presId="urn:microsoft.com/office/officeart/2018/2/layout/IconVerticalSolidList"/>
    <dgm:cxn modelId="{1729DB72-636D-4BAC-9CB7-3B825C4F02E3}" type="presOf" srcId="{327FC615-9A22-4BE0-B2F9-32E3A91BCDF7}" destId="{826605DD-8ADF-4C53-A58B-0A5F07887982}" srcOrd="0" destOrd="0" presId="urn:microsoft.com/office/officeart/2018/2/layout/IconVerticalSolidList"/>
    <dgm:cxn modelId="{F742EBAB-B2C2-4354-A684-1D51AC68908F}" srcId="{6481CC97-9FE8-4AAB-9298-7CBA48D2661D}" destId="{3838D038-D1E9-42E8-AF82-FFCF5692B6CB}" srcOrd="1" destOrd="0" parTransId="{6A84E41E-0173-48D7-9E18-82DCE51D7B2F}" sibTransId="{52CD3578-032B-4393-80B1-A47EA48BE3DB}"/>
    <dgm:cxn modelId="{FD2A40BC-9615-44FF-8A54-58CF5F2687B3}" srcId="{6481CC97-9FE8-4AAB-9298-7CBA48D2661D}" destId="{4FB344FF-2F51-4409-9946-5ECC12CDACBA}" srcOrd="0" destOrd="0" parTransId="{3F27444A-81CA-4465-8ABA-15FEBC441220}" sibTransId="{5713C74E-60D6-4965-AA63-DD67CA04BB46}"/>
    <dgm:cxn modelId="{D1D0F5C0-93BF-4850-BFF5-B3F284E63326}" srcId="{6481CC97-9FE8-4AAB-9298-7CBA48D2661D}" destId="{EF81D41F-E03F-4BAB-85D4-C52CD94B084C}" srcOrd="3" destOrd="0" parTransId="{7CA73AD7-DCAD-4FEB-9F01-E8BE8C40A56E}" sibTransId="{2BB5C168-8CB8-43FF-ACF3-DCC1E4206F64}"/>
    <dgm:cxn modelId="{41E3AFCB-9B5F-4BB3-B51C-3C713BF65107}" type="presOf" srcId="{6481CC97-9FE8-4AAB-9298-7CBA48D2661D}" destId="{FF26CE67-0BB5-44B2-9ABA-3CA9844FC1A1}" srcOrd="0" destOrd="0" presId="urn:microsoft.com/office/officeart/2018/2/layout/IconVerticalSolidList"/>
    <dgm:cxn modelId="{57E903CC-38A1-4D98-9F4A-8B4B8118898F}" srcId="{6481CC97-9FE8-4AAB-9298-7CBA48D2661D}" destId="{327FC615-9A22-4BE0-B2F9-32E3A91BCDF7}" srcOrd="2" destOrd="0" parTransId="{14824C5E-9375-4CDC-A11B-E0FFDDDDD2AE}" sibTransId="{D1B3C48F-DE43-449F-A0E3-3C97318C3163}"/>
    <dgm:cxn modelId="{0FD108CD-DF5C-419C-98DB-98459840E976}" type="presOf" srcId="{3838D038-D1E9-42E8-AF82-FFCF5692B6CB}" destId="{12D4DC5B-41C8-4B3E-9551-0B4A0381AB8C}" srcOrd="0" destOrd="0" presId="urn:microsoft.com/office/officeart/2018/2/layout/IconVerticalSolidList"/>
    <dgm:cxn modelId="{9D59B1F7-CCAA-4239-8DA1-C5AFFA0DAC6E}" type="presOf" srcId="{EF81D41F-E03F-4BAB-85D4-C52CD94B084C}" destId="{2893BF5B-EA52-490B-A4C7-DBD1E39CE056}" srcOrd="0" destOrd="0" presId="urn:microsoft.com/office/officeart/2018/2/layout/IconVerticalSolidList"/>
    <dgm:cxn modelId="{506AEDF7-760A-412C-B3E2-B9028524F6C2}" type="presParOf" srcId="{FF26CE67-0BB5-44B2-9ABA-3CA9844FC1A1}" destId="{E1E87BA0-3845-4174-9C3C-2D3578EF57E2}" srcOrd="0" destOrd="0" presId="urn:microsoft.com/office/officeart/2018/2/layout/IconVerticalSolidList"/>
    <dgm:cxn modelId="{B8684750-6BE0-4983-B956-59E938D20541}" type="presParOf" srcId="{E1E87BA0-3845-4174-9C3C-2D3578EF57E2}" destId="{1C6C8ACC-04CF-42E3-BBA8-53BB9C781848}" srcOrd="0" destOrd="0" presId="urn:microsoft.com/office/officeart/2018/2/layout/IconVerticalSolidList"/>
    <dgm:cxn modelId="{EF32A7F2-CB94-4E3A-8B72-61894B60A1FF}" type="presParOf" srcId="{E1E87BA0-3845-4174-9C3C-2D3578EF57E2}" destId="{4B501031-59A3-4BDA-968A-BD941F685B7D}" srcOrd="1" destOrd="0" presId="urn:microsoft.com/office/officeart/2018/2/layout/IconVerticalSolidList"/>
    <dgm:cxn modelId="{0ED69651-CB2C-4FB1-9DAD-CF59B6037EE2}" type="presParOf" srcId="{E1E87BA0-3845-4174-9C3C-2D3578EF57E2}" destId="{EE936B3D-BBD8-4B3B-B91E-779166AB6F84}" srcOrd="2" destOrd="0" presId="urn:microsoft.com/office/officeart/2018/2/layout/IconVerticalSolidList"/>
    <dgm:cxn modelId="{3A70457B-2F58-48FA-A56F-7228093EBC5B}" type="presParOf" srcId="{E1E87BA0-3845-4174-9C3C-2D3578EF57E2}" destId="{A3BFFB00-318C-45BD-A579-C6E3D3EB10CC}" srcOrd="3" destOrd="0" presId="urn:microsoft.com/office/officeart/2018/2/layout/IconVerticalSolidList"/>
    <dgm:cxn modelId="{DFF7CFA1-18DC-4056-967C-84902AF14442}" type="presParOf" srcId="{FF26CE67-0BB5-44B2-9ABA-3CA9844FC1A1}" destId="{EA953A19-099A-4BD1-813F-500E715C93AE}" srcOrd="1" destOrd="0" presId="urn:microsoft.com/office/officeart/2018/2/layout/IconVerticalSolidList"/>
    <dgm:cxn modelId="{873EDB4C-C542-499D-AD5A-316B1C322655}" type="presParOf" srcId="{FF26CE67-0BB5-44B2-9ABA-3CA9844FC1A1}" destId="{CFBAABC5-5FA8-4BA8-B0FB-6D5EABB937DE}" srcOrd="2" destOrd="0" presId="urn:microsoft.com/office/officeart/2018/2/layout/IconVerticalSolidList"/>
    <dgm:cxn modelId="{01516C66-BE24-4005-A6D5-A6652776CB70}" type="presParOf" srcId="{CFBAABC5-5FA8-4BA8-B0FB-6D5EABB937DE}" destId="{4D61BC10-8FFD-4006-B707-169C5E8B9774}" srcOrd="0" destOrd="0" presId="urn:microsoft.com/office/officeart/2018/2/layout/IconVerticalSolidList"/>
    <dgm:cxn modelId="{32B03377-ECA9-4351-9D6E-D664C37534AD}" type="presParOf" srcId="{CFBAABC5-5FA8-4BA8-B0FB-6D5EABB937DE}" destId="{7C8A9C23-A8B6-48ED-BF4D-749D8878E398}" srcOrd="1" destOrd="0" presId="urn:microsoft.com/office/officeart/2018/2/layout/IconVerticalSolidList"/>
    <dgm:cxn modelId="{7E3E9E87-7B29-43AD-ACC4-B4CB6D2C1DB9}" type="presParOf" srcId="{CFBAABC5-5FA8-4BA8-B0FB-6D5EABB937DE}" destId="{4B7D17E8-21F6-4F57-B4C9-485B982B8229}" srcOrd="2" destOrd="0" presId="urn:microsoft.com/office/officeart/2018/2/layout/IconVerticalSolidList"/>
    <dgm:cxn modelId="{A7DCEB18-799E-42C0-82D1-E3C02380040D}" type="presParOf" srcId="{CFBAABC5-5FA8-4BA8-B0FB-6D5EABB937DE}" destId="{12D4DC5B-41C8-4B3E-9551-0B4A0381AB8C}" srcOrd="3" destOrd="0" presId="urn:microsoft.com/office/officeart/2018/2/layout/IconVerticalSolidList"/>
    <dgm:cxn modelId="{324FC3D1-1A65-475E-8065-567FA2E4B806}" type="presParOf" srcId="{FF26CE67-0BB5-44B2-9ABA-3CA9844FC1A1}" destId="{ECDDADC3-F3FC-4C8F-B2B8-6BB7C4869EDE}" srcOrd="3" destOrd="0" presId="urn:microsoft.com/office/officeart/2018/2/layout/IconVerticalSolidList"/>
    <dgm:cxn modelId="{E99D03BE-51E4-42E2-9DB6-B45812F1CC82}" type="presParOf" srcId="{FF26CE67-0BB5-44B2-9ABA-3CA9844FC1A1}" destId="{887A6707-13A4-4963-9C56-A05D638EFB73}" srcOrd="4" destOrd="0" presId="urn:microsoft.com/office/officeart/2018/2/layout/IconVerticalSolidList"/>
    <dgm:cxn modelId="{137D850F-B122-4488-88FF-B2F16DA2F425}" type="presParOf" srcId="{887A6707-13A4-4963-9C56-A05D638EFB73}" destId="{48288201-2F39-4B84-B9DC-10D5C3B08A84}" srcOrd="0" destOrd="0" presId="urn:microsoft.com/office/officeart/2018/2/layout/IconVerticalSolidList"/>
    <dgm:cxn modelId="{BD06E657-70D9-413A-B111-2B31734ED466}" type="presParOf" srcId="{887A6707-13A4-4963-9C56-A05D638EFB73}" destId="{3777656A-D684-41FE-BAEC-5808549B4436}" srcOrd="1" destOrd="0" presId="urn:microsoft.com/office/officeart/2018/2/layout/IconVerticalSolidList"/>
    <dgm:cxn modelId="{76E53A20-9259-476A-A077-5799F9EDB377}" type="presParOf" srcId="{887A6707-13A4-4963-9C56-A05D638EFB73}" destId="{9F6B8698-18E9-4CD3-B4C7-5D26ACB4CC3E}" srcOrd="2" destOrd="0" presId="urn:microsoft.com/office/officeart/2018/2/layout/IconVerticalSolidList"/>
    <dgm:cxn modelId="{BB9B087E-4F50-4269-AB4A-DA0FD9E95180}" type="presParOf" srcId="{887A6707-13A4-4963-9C56-A05D638EFB73}" destId="{826605DD-8ADF-4C53-A58B-0A5F07887982}" srcOrd="3" destOrd="0" presId="urn:microsoft.com/office/officeart/2018/2/layout/IconVerticalSolidList"/>
    <dgm:cxn modelId="{7F746F8F-95C5-4867-A018-8242CB3C0251}" type="presParOf" srcId="{FF26CE67-0BB5-44B2-9ABA-3CA9844FC1A1}" destId="{D806F4C1-2355-44CF-A53F-90F69AAC79FF}" srcOrd="5" destOrd="0" presId="urn:microsoft.com/office/officeart/2018/2/layout/IconVerticalSolidList"/>
    <dgm:cxn modelId="{681B93E6-B55D-4797-AE57-839CCA8EACBA}" type="presParOf" srcId="{FF26CE67-0BB5-44B2-9ABA-3CA9844FC1A1}" destId="{CAA4F34E-3B4A-46E4-AA66-0342825DB661}" srcOrd="6" destOrd="0" presId="urn:microsoft.com/office/officeart/2018/2/layout/IconVerticalSolidList"/>
    <dgm:cxn modelId="{6828F8D7-6628-4473-A671-BC4D22757E5A}" type="presParOf" srcId="{CAA4F34E-3B4A-46E4-AA66-0342825DB661}" destId="{39CBB658-31AB-48C6-8BEF-150C963CBE60}" srcOrd="0" destOrd="0" presId="urn:microsoft.com/office/officeart/2018/2/layout/IconVerticalSolidList"/>
    <dgm:cxn modelId="{10FBFBD9-9403-488A-A4B5-4673C514BEDC}" type="presParOf" srcId="{CAA4F34E-3B4A-46E4-AA66-0342825DB661}" destId="{9F665FA8-D142-4D25-A98A-4673FC83E666}" srcOrd="1" destOrd="0" presId="urn:microsoft.com/office/officeart/2018/2/layout/IconVerticalSolidList"/>
    <dgm:cxn modelId="{F6AD0F74-D6B6-40D7-9553-C17E0FBD01CE}" type="presParOf" srcId="{CAA4F34E-3B4A-46E4-AA66-0342825DB661}" destId="{6CF6AFC2-2D67-4B15-9186-392382DBA723}" srcOrd="2" destOrd="0" presId="urn:microsoft.com/office/officeart/2018/2/layout/IconVerticalSolidList"/>
    <dgm:cxn modelId="{5C1B16F4-73C3-4FD3-9E0A-F04EAAD3B5B1}" type="presParOf" srcId="{CAA4F34E-3B4A-46E4-AA66-0342825DB661}" destId="{2893BF5B-EA52-490B-A4C7-DBD1E39CE0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C8ACC-04CF-42E3-BBA8-53BB9C781848}">
      <dsp:nvSpPr>
        <dsp:cNvPr id="0" name=""/>
        <dsp:cNvSpPr/>
      </dsp:nvSpPr>
      <dsp:spPr>
        <a:xfrm>
          <a:off x="0" y="2825"/>
          <a:ext cx="8266828" cy="97748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01031-59A3-4BDA-968A-BD941F685B7D}">
      <dsp:nvSpPr>
        <dsp:cNvPr id="0" name=""/>
        <dsp:cNvSpPr/>
      </dsp:nvSpPr>
      <dsp:spPr>
        <a:xfrm>
          <a:off x="295688" y="222759"/>
          <a:ext cx="538141" cy="5376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FFB00-318C-45BD-A579-C6E3D3EB10CC}">
      <dsp:nvSpPr>
        <dsp:cNvPr id="0" name=""/>
        <dsp:cNvSpPr/>
      </dsp:nvSpPr>
      <dsp:spPr>
        <a:xfrm>
          <a:off x="1129518" y="2825"/>
          <a:ext cx="6886300" cy="978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51" tIns="103551" rIns="103551" bIns="10355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Moderators: learner level, concept complexity, prior gaming experience, and intervention length.</a:t>
          </a:r>
        </a:p>
      </dsp:txBody>
      <dsp:txXfrm>
        <a:off x="1129518" y="2825"/>
        <a:ext cx="6886300" cy="978439"/>
      </dsp:txXfrm>
    </dsp:sp>
    <dsp:sp modelId="{4D61BC10-8FFD-4006-B707-169C5E8B9774}">
      <dsp:nvSpPr>
        <dsp:cNvPr id="0" name=""/>
        <dsp:cNvSpPr/>
      </dsp:nvSpPr>
      <dsp:spPr>
        <a:xfrm>
          <a:off x="0" y="1218462"/>
          <a:ext cx="8266828" cy="9774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8A9C23-A8B6-48ED-BF4D-749D8878E398}">
      <dsp:nvSpPr>
        <dsp:cNvPr id="0" name=""/>
        <dsp:cNvSpPr/>
      </dsp:nvSpPr>
      <dsp:spPr>
        <a:xfrm>
          <a:off x="295688" y="1438396"/>
          <a:ext cx="538141" cy="5376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4DC5B-41C8-4B3E-9551-0B4A0381AB8C}">
      <dsp:nvSpPr>
        <dsp:cNvPr id="0" name=""/>
        <dsp:cNvSpPr/>
      </dsp:nvSpPr>
      <dsp:spPr>
        <a:xfrm>
          <a:off x="1129518" y="1218462"/>
          <a:ext cx="6886300" cy="978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51" tIns="103551" rIns="103551" bIns="10355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Design levers: adaptivity of difficulty and hints, immediate feedback with clear guidance, progressive levels, and light gamification.</a:t>
          </a:r>
        </a:p>
      </dsp:txBody>
      <dsp:txXfrm>
        <a:off x="1129518" y="1218462"/>
        <a:ext cx="6886300" cy="978439"/>
      </dsp:txXfrm>
    </dsp:sp>
    <dsp:sp modelId="{48288201-2F39-4B84-B9DC-10D5C3B08A84}">
      <dsp:nvSpPr>
        <dsp:cNvPr id="0" name=""/>
        <dsp:cNvSpPr/>
      </dsp:nvSpPr>
      <dsp:spPr>
        <a:xfrm>
          <a:off x="0" y="2434098"/>
          <a:ext cx="8266828" cy="97748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7656A-D684-41FE-BAEC-5808549B4436}">
      <dsp:nvSpPr>
        <dsp:cNvPr id="0" name=""/>
        <dsp:cNvSpPr/>
      </dsp:nvSpPr>
      <dsp:spPr>
        <a:xfrm>
          <a:off x="295688" y="2654032"/>
          <a:ext cx="538141" cy="5376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605DD-8ADF-4C53-A58B-0A5F07887982}">
      <dsp:nvSpPr>
        <dsp:cNvPr id="0" name=""/>
        <dsp:cNvSpPr/>
      </dsp:nvSpPr>
      <dsp:spPr>
        <a:xfrm>
          <a:off x="1129518" y="2434098"/>
          <a:ext cx="6886300" cy="978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51" tIns="103551" rIns="103551" bIns="10355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Platform fit: desktop or online for complex simulations; mobile or touch for rapid feedback and fieldwork; AR or VR for immersive tasks.</a:t>
          </a:r>
        </a:p>
      </dsp:txBody>
      <dsp:txXfrm>
        <a:off x="1129518" y="2434098"/>
        <a:ext cx="6886300" cy="978439"/>
      </dsp:txXfrm>
    </dsp:sp>
    <dsp:sp modelId="{39CBB658-31AB-48C6-8BEF-150C963CBE60}">
      <dsp:nvSpPr>
        <dsp:cNvPr id="0" name=""/>
        <dsp:cNvSpPr/>
      </dsp:nvSpPr>
      <dsp:spPr>
        <a:xfrm>
          <a:off x="0" y="3649735"/>
          <a:ext cx="8266828" cy="97748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665FA8-D142-4D25-A98A-4673FC83E666}">
      <dsp:nvSpPr>
        <dsp:cNvPr id="0" name=""/>
        <dsp:cNvSpPr/>
      </dsp:nvSpPr>
      <dsp:spPr>
        <a:xfrm>
          <a:off x="295688" y="3869668"/>
          <a:ext cx="538141" cy="5376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93BF5B-EA52-490B-A4C7-DBD1E39CE056}">
      <dsp:nvSpPr>
        <dsp:cNvPr id="0" name=""/>
        <dsp:cNvSpPr/>
      </dsp:nvSpPr>
      <dsp:spPr>
        <a:xfrm>
          <a:off x="1129518" y="3649735"/>
          <a:ext cx="6886300" cy="978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51" tIns="103551" rIns="103551" bIns="10355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Teacher factor: attitudes and training; co-design with teachers, short professional development, curriculum alignment, and pilot then iterate in real courses.</a:t>
          </a:r>
        </a:p>
      </dsp:txBody>
      <dsp:txXfrm>
        <a:off x="1129518" y="3649735"/>
        <a:ext cx="6886300" cy="978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65546-1E8A-4DA5-B658-F4168A00219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25E3A-F460-4449-A5A6-F9A14535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4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002E9-B56D-34C4-BB2F-BD48571A9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13DB6-D8A9-3061-4C9C-5EF6A0B5D0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485CF-7348-896F-3B96-CB619AD484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AF1B5-5D46-9D0B-1B08-F12037D01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84780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2D1D-8229-7BFC-316B-52A7C5FCC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7790A-22B5-F386-25E6-B0CCD0D7A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5D82F-A698-674C-2D2C-06396D7E19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72020-E23B-FD6B-EB2D-6280DAA74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03051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7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1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3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8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8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3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2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83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67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23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83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47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49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60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20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90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974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007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052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877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7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1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4742" y="1008994"/>
            <a:ext cx="5419101" cy="2326874"/>
          </a:xfrm>
        </p:spPr>
        <p:txBody>
          <a:bodyPr anchor="b">
            <a:normAutofit fontScale="90000"/>
          </a:bodyPr>
          <a:lstStyle/>
          <a:p>
            <a:r>
              <a:rPr lang="en-US" sz="4400" b="1" dirty="0"/>
              <a:t>Key Characteristics of Educational Video Games for STEM Education </a:t>
            </a:r>
            <a:br>
              <a:rPr lang="en-US" sz="4400" b="1" dirty="0"/>
            </a:br>
            <a:r>
              <a:rPr lang="en-US" sz="4400" b="1" dirty="0"/>
              <a:t>— A Literature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7702" y="3607668"/>
            <a:ext cx="5727497" cy="2623490"/>
          </a:xfrm>
        </p:spPr>
        <p:txBody>
          <a:bodyPr anchor="t">
            <a:normAutofit fontScale="92500" lnSpcReduction="10000"/>
          </a:bodyPr>
          <a:lstStyle/>
          <a:p>
            <a:r>
              <a:rPr lang="bg-BG" b="1" dirty="0"/>
              <a:t>• </a:t>
            </a:r>
            <a:r>
              <a:rPr lang="en-US" b="1" dirty="0"/>
              <a:t>Stanislav </a:t>
            </a:r>
            <a:r>
              <a:rPr b="1" dirty="0"/>
              <a:t>Ivanov • </a:t>
            </a:r>
            <a:r>
              <a:rPr lang="en-US" b="1" dirty="0" err="1"/>
              <a:t>Nikolina</a:t>
            </a:r>
            <a:r>
              <a:rPr lang="en-US" b="1" dirty="0"/>
              <a:t> </a:t>
            </a:r>
            <a:r>
              <a:rPr b="1" dirty="0" err="1"/>
              <a:t>Nikolova</a:t>
            </a:r>
            <a:r>
              <a:rPr b="1" dirty="0"/>
              <a:t> </a:t>
            </a:r>
            <a:br>
              <a:rPr lang="en-US" b="1" dirty="0"/>
            </a:br>
            <a:r>
              <a:rPr b="1" dirty="0"/>
              <a:t>• </a:t>
            </a:r>
            <a:r>
              <a:rPr lang="en-US" b="1" dirty="0" err="1"/>
              <a:t>Borislav</a:t>
            </a:r>
            <a:r>
              <a:rPr lang="en-US" b="1" dirty="0"/>
              <a:t> </a:t>
            </a:r>
            <a:r>
              <a:rPr b="1" dirty="0"/>
              <a:t>Yordanov • </a:t>
            </a:r>
            <a:r>
              <a:rPr lang="en-US" b="1" dirty="0"/>
              <a:t>Boyan </a:t>
            </a:r>
            <a:r>
              <a:rPr b="1" dirty="0"/>
              <a:t>Bontchev</a:t>
            </a:r>
            <a:endParaRPr lang="en-US" b="1" dirty="0"/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Faculty of Mathematics and Informatics, 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Sofia University “St.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Kliment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Ohridski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”, Bulgaria</a:t>
            </a:r>
          </a:p>
          <a:p>
            <a:endParaRPr lang="en-US" dirty="0"/>
          </a:p>
          <a:p>
            <a:r>
              <a:rPr lang="en-US" i="1" dirty="0"/>
              <a:t>Cyber-AI’2025</a:t>
            </a:r>
          </a:p>
          <a:p>
            <a:r>
              <a:rPr lang="en-US" i="1" dirty="0"/>
              <a:t>Varna, Bulgaria</a:t>
            </a:r>
          </a:p>
        </p:txBody>
      </p:sp>
      <p:graphicFrame>
        <p:nvGraphicFramePr>
          <p:cNvPr id="7" name="Обект 11">
            <a:extLst>
              <a:ext uri="{FF2B5EF4-FFF2-40B4-BE49-F238E27FC236}">
                <a16:creationId xmlns:a16="http://schemas.microsoft.com/office/drawing/2014/main" id="{BBA67734-F66C-43A7-A610-E8068D0FB8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923776"/>
              </p:ext>
            </p:extLst>
          </p:nvPr>
        </p:nvGraphicFramePr>
        <p:xfrm>
          <a:off x="659191" y="4896857"/>
          <a:ext cx="928511" cy="1139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Picture" r:id="rId3" imgW="1991868" imgH="2458212" progId="Word.Picture.8">
                  <p:embed/>
                </p:oleObj>
              </mc:Choice>
              <mc:Fallback>
                <p:oleObj name="Picture" r:id="rId3" imgW="1991868" imgH="2458212" progId="Word.Picture.8">
                  <p:embed/>
                  <p:pic>
                    <p:nvPicPr>
                      <p:cNvPr id="12" name="Обект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191" y="4896857"/>
                        <a:ext cx="928511" cy="11395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72" descr="Начало">
            <a:extLst>
              <a:ext uri="{FF2B5EF4-FFF2-40B4-BE49-F238E27FC236}">
                <a16:creationId xmlns:a16="http://schemas.microsoft.com/office/drawing/2014/main" id="{896DAD97-9266-494F-8F9E-2F7A7667A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157" y="4999516"/>
            <a:ext cx="1511185" cy="96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22EFC6-DA40-4BB5-BB1B-B295E0F43FF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13" y="821607"/>
            <a:ext cx="1266847" cy="12097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B4094C-77A1-4D84-8FB7-D38E597B03D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3"/>
          <a:stretch>
            <a:fillRect/>
          </a:stretch>
        </p:blipFill>
        <p:spPr>
          <a:xfrm>
            <a:off x="7303409" y="737194"/>
            <a:ext cx="1266847" cy="1198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157" y="702129"/>
            <a:ext cx="7878535" cy="718457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Introduction &amp;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99440"/>
            <a:ext cx="7715250" cy="4419667"/>
          </a:xfrm>
        </p:spPr>
        <p:txBody>
          <a:bodyPr anchor="t">
            <a:normAutofit lnSpcReduction="10000"/>
          </a:bodyPr>
          <a:lstStyle/>
          <a:p>
            <a:r>
              <a:rPr lang="en-US" sz="2400" dirty="0"/>
              <a:t>STEM pain points: low motivation, few practical examples, limited interactivity.</a:t>
            </a:r>
          </a:p>
          <a:p>
            <a:r>
              <a:rPr lang="en-US" sz="2400" dirty="0"/>
              <a:t>Games add interactivity, immediate feedback, safe failure, and personalization; Gen Z/Alpha expect experiential learning.</a:t>
            </a:r>
          </a:p>
          <a:p>
            <a:r>
              <a:rPr lang="en-US" sz="2400" b="1" dirty="0"/>
              <a:t>RQ1</a:t>
            </a:r>
            <a:r>
              <a:rPr lang="en-US" sz="2400" dirty="0"/>
              <a:t>: What are the sustainable characteristics of educational video games for effective STEM learning? </a:t>
            </a:r>
          </a:p>
          <a:p>
            <a:r>
              <a:rPr lang="en-US" sz="2400" b="1" dirty="0"/>
              <a:t>RQ2</a:t>
            </a:r>
            <a:r>
              <a:rPr lang="en-US" sz="2400" dirty="0"/>
              <a:t>: In what ways does the use of educational STEM video games impact STEM learning, from a learning perspective (learning achievements, motivation, engagement) and, as well, a teaching perspective (pedagogical principles and practices, teachers' attitudes towards the use of video games in teaching)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E9357-4D5D-44F2-AFA8-A1221357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54B7C-F41E-47CB-9FA8-4CD1C3AA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45DB1-E218-4F80-8999-C46DE222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30" y="784758"/>
            <a:ext cx="7696190" cy="606755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/>
              <a:t>Methods — Snowballing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1552997"/>
            <a:ext cx="7241177" cy="4216868"/>
          </a:xfrm>
        </p:spPr>
        <p:txBody>
          <a:bodyPr anchor="t">
            <a:normAutofit/>
          </a:bodyPr>
          <a:lstStyle/>
          <a:p>
            <a:r>
              <a:rPr lang="en-US" sz="2400" dirty="0"/>
              <a:t>Citation chasing (backward + forward) with </a:t>
            </a:r>
            <a:r>
              <a:rPr lang="en-US" sz="2400" dirty="0" err="1"/>
              <a:t>LitMaps</a:t>
            </a:r>
            <a:r>
              <a:rPr lang="en-US" sz="2400" dirty="0"/>
              <a:t> + Web of Science.</a:t>
            </a:r>
          </a:p>
          <a:p>
            <a:r>
              <a:rPr lang="en-US" sz="2400" dirty="0"/>
              <a:t>Seed set: 10 papers (top 8 </a:t>
            </a:r>
            <a:r>
              <a:rPr lang="en-US" sz="2400" dirty="0" err="1"/>
              <a:t>WoS</a:t>
            </a:r>
            <a:r>
              <a:rPr lang="en-US" sz="2400" dirty="0"/>
              <a:t> by citations + 2 APOGEE).</a:t>
            </a:r>
          </a:p>
          <a:p>
            <a:r>
              <a:rPr lang="en-US" sz="2400" dirty="0"/>
              <a:t>Eligibility: STEM video games; reviews/meta/teacher-attitude/theory; English.</a:t>
            </a:r>
          </a:p>
          <a:p>
            <a:r>
              <a:rPr lang="en-US" sz="2400" dirty="0"/>
              <a:t>Result (Mar 2025): 28 identified → 4 no full text; 2 full-text excluded → 22 included.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F980D-1789-4B19-9A23-19349BB7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27CFC-2016-458C-9235-3EA99BE35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311F8-7261-40A3-8840-A0489089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Steps of the Snowballing Method</a:t>
            </a:r>
            <a:endParaRPr sz="4000" b="1" dirty="0"/>
          </a:p>
        </p:txBody>
      </p:sp>
      <p:sp>
        <p:nvSpPr>
          <p:cNvPr id="3" name="Rounded Rectangle 2"/>
          <p:cNvSpPr/>
          <p:nvPr/>
        </p:nvSpPr>
        <p:spPr>
          <a:xfrm>
            <a:off x="137160" y="1943100"/>
            <a:ext cx="2514600" cy="9829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/>
              <a:t>Identification of highly cited papers (</a:t>
            </a:r>
            <a:r>
              <a:rPr sz="2000" b="1" dirty="0" err="1"/>
              <a:t>WoS</a:t>
            </a:r>
            <a:r>
              <a:rPr sz="2000" b="1" dirty="0"/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3732653"/>
            <a:ext cx="2715768" cy="1717171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/>
              <a:t>Identifying the initial set</a:t>
            </a:r>
            <a:r>
              <a:rPr lang="en-US" sz="2000" b="1" dirty="0"/>
              <a:t> </a:t>
            </a:r>
            <a:r>
              <a:rPr sz="2000" b="1" dirty="0"/>
              <a:t>for snowballing</a:t>
            </a:r>
            <a:r>
              <a:rPr lang="en-US" sz="2000" b="1" dirty="0"/>
              <a:t> </a:t>
            </a:r>
          </a:p>
          <a:p>
            <a:pPr algn="ctr"/>
            <a:r>
              <a:rPr lang="en-US" dirty="0"/>
              <a:t>Use preparation-phase papers to select the seed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1860" y="2112264"/>
            <a:ext cx="2066544" cy="3099816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/>
              <a:t>Snowballing (forward &amp; backward)</a:t>
            </a:r>
            <a:endParaRPr lang="en-US" sz="2000" b="1" dirty="0"/>
          </a:p>
          <a:p>
            <a:pPr algn="ctr"/>
            <a:r>
              <a:rPr dirty="0"/>
              <a:t>Identify new candidates via </a:t>
            </a:r>
            <a:r>
              <a:rPr dirty="0" err="1"/>
              <a:t>LitMaps</a:t>
            </a:r>
            <a:r>
              <a:rPr dirty="0"/>
              <a:t> suggestions</a:t>
            </a:r>
            <a:br>
              <a:rPr dirty="0"/>
            </a:br>
            <a:r>
              <a:rPr dirty="0"/>
              <a:t>using citation connections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45936" y="1943100"/>
            <a:ext cx="2624328" cy="900687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/>
              <a:t>Inclusion of papers</a:t>
            </a:r>
            <a:endParaRPr lang="en-US" sz="2000" b="1" dirty="0"/>
          </a:p>
          <a:p>
            <a:pPr algn="ctr"/>
            <a:r>
              <a:rPr dirty="0"/>
              <a:t>Apply predefined criteria for inclusion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3529584"/>
            <a:ext cx="2715768" cy="9144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/>
              <a:t>Iteration</a:t>
            </a:r>
            <a:endParaRPr lang="en-US" sz="2000" b="1" dirty="0"/>
          </a:p>
          <a:p>
            <a:pPr algn="ctr"/>
            <a:r>
              <a:rPr dirty="0"/>
              <a:t>Repeat until no new papers are suggested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5936" y="5212080"/>
            <a:ext cx="2715768" cy="9144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Analysis of the papers</a:t>
            </a:r>
          </a:p>
        </p:txBody>
      </p:sp>
      <p:sp>
        <p:nvSpPr>
          <p:cNvPr id="9" name="Right Arrow 8"/>
          <p:cNvSpPr/>
          <p:nvPr/>
        </p:nvSpPr>
        <p:spPr>
          <a:xfrm rot="5400000">
            <a:off x="786384" y="3169347"/>
            <a:ext cx="64008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ight Arrow 9"/>
          <p:cNvSpPr/>
          <p:nvPr/>
        </p:nvSpPr>
        <p:spPr>
          <a:xfrm>
            <a:off x="2743200" y="4123944"/>
            <a:ext cx="64008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ight Arrow 10"/>
          <p:cNvSpPr/>
          <p:nvPr/>
        </p:nvSpPr>
        <p:spPr>
          <a:xfrm>
            <a:off x="5678424" y="2359152"/>
            <a:ext cx="64008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Down Arrow 11"/>
          <p:cNvSpPr/>
          <p:nvPr/>
        </p:nvSpPr>
        <p:spPr>
          <a:xfrm>
            <a:off x="7374636" y="2926080"/>
            <a:ext cx="365760" cy="5486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Down Arrow 12"/>
          <p:cNvSpPr/>
          <p:nvPr/>
        </p:nvSpPr>
        <p:spPr>
          <a:xfrm>
            <a:off x="7379208" y="4553712"/>
            <a:ext cx="365760" cy="5486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ight Arrow 10">
            <a:extLst>
              <a:ext uri="{FF2B5EF4-FFF2-40B4-BE49-F238E27FC236}">
                <a16:creationId xmlns:a16="http://schemas.microsoft.com/office/drawing/2014/main" id="{C95B0834-738E-71BB-2A3B-0F42F697C4AA}"/>
              </a:ext>
            </a:extLst>
          </p:cNvPr>
          <p:cNvSpPr/>
          <p:nvPr/>
        </p:nvSpPr>
        <p:spPr>
          <a:xfrm rot="10800000">
            <a:off x="5678424" y="3826764"/>
            <a:ext cx="64008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E878723-2778-4F47-B9A4-FD092D3C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F208CB0-FABE-400E-86B2-874DC41F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A016340-3F77-4567-B6E0-22966860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E43D6C-5367-2F22-7772-A211FE3B7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BEAA4D-B76C-956D-699A-C05571380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05A9676-A5A8-452A-6170-CB4E5A879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65E3CA-C253-6D8B-F60A-C71CF059F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16538-3F66-E095-A9F2-8AF18F269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6"/>
            <a:ext cx="6056111" cy="590426"/>
          </a:xfrm>
        </p:spPr>
        <p:txBody>
          <a:bodyPr anchor="ctr">
            <a:noAutofit/>
          </a:bodyPr>
          <a:lstStyle/>
          <a:p>
            <a:r>
              <a:rPr lang="en-US" sz="4000" b="1" dirty="0"/>
              <a:t>Analysis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78248-3678-FC98-A624-54CFFA665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29" y="2000250"/>
            <a:ext cx="7077892" cy="3397383"/>
          </a:xfrm>
        </p:spPr>
        <p:txBody>
          <a:bodyPr anchor="t">
            <a:normAutofit/>
          </a:bodyPr>
          <a:lstStyle/>
          <a:p>
            <a:r>
              <a:rPr lang="en-US" sz="2400" dirty="0"/>
              <a:t>A) Sustainable game characteristics for effective STEM learning</a:t>
            </a:r>
          </a:p>
          <a:p>
            <a:r>
              <a:rPr lang="en-US" sz="2400" dirty="0"/>
              <a:t>B) Impact of educational video games on STEM Learning</a:t>
            </a:r>
          </a:p>
          <a:p>
            <a:pPr marL="457200" lvl="1" indent="0">
              <a:buNone/>
            </a:pPr>
            <a:r>
              <a:rPr lang="en-US" dirty="0"/>
              <a:t>1) How does it affect the students' learning and outcomes? </a:t>
            </a:r>
          </a:p>
          <a:p>
            <a:pPr marL="457200" lvl="1" indent="0">
              <a:buNone/>
            </a:pPr>
            <a:r>
              <a:rPr lang="en-US" dirty="0"/>
              <a:t>2) What is the teachers’ attitude to game-based learning in and out of the classroom?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8D253-7DB5-41C5-BB47-B430CFAE3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129D6-DA31-4113-A8B3-470C6562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F9189-35D2-4054-96EF-35F386DDF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28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7" y="122087"/>
            <a:ext cx="7886700" cy="1040467"/>
          </a:xfrm>
        </p:spPr>
        <p:txBody>
          <a:bodyPr anchor="ctr">
            <a:noAutofit/>
          </a:bodyPr>
          <a:lstStyle/>
          <a:p>
            <a:r>
              <a:rPr lang="en-US" sz="4000" b="1" dirty="0"/>
              <a:t>Sustainable Game Characteristics —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799671"/>
              </p:ext>
            </p:extLst>
          </p:nvPr>
        </p:nvGraphicFramePr>
        <p:xfrm>
          <a:off x="261257" y="1225272"/>
          <a:ext cx="8776607" cy="5327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118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FFFFFF"/>
                          </a:solidFill>
                        </a:rPr>
                        <a:t>Genre</a:t>
                      </a:r>
                    </a:p>
                  </a:txBody>
                  <a:tcPr marL="115828" marR="115828" marT="57914" marB="57914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</a:rPr>
                        <a:t>Player Interaction</a:t>
                      </a:r>
                    </a:p>
                  </a:txBody>
                  <a:tcPr marL="115828" marR="115828" marT="57914" marB="57914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 marL="115828" marR="115828" marT="57914" marB="57914"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732">
                <a:tc>
                  <a:txBody>
                    <a:bodyPr/>
                    <a:lstStyle/>
                    <a:p>
                      <a:r>
                        <a:rPr lang="en-US" sz="2000" dirty="0"/>
                        <a:t>• RPG: avatars/story, engagement (higher dev effort)</a:t>
                      </a:r>
                    </a:p>
                  </a:txBody>
                  <a:tcPr marL="115828" marR="115828" marT="57914" marB="5791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• Single‑player: self‑paced + immediate feedback</a:t>
                      </a:r>
                    </a:p>
                  </a:txBody>
                  <a:tcPr marL="115828" marR="115828" marT="57914" marB="5791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• Computers common in labs; controlled simulations</a:t>
                      </a:r>
                    </a:p>
                  </a:txBody>
                  <a:tcPr marL="115828" marR="115828" marT="57914" marB="579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732">
                <a:tc>
                  <a:txBody>
                    <a:bodyPr/>
                    <a:lstStyle/>
                    <a:p>
                      <a:r>
                        <a:rPr lang="en-US" sz="2000"/>
                        <a:t>• Puzzles: short practice; critical/algorithmic thinking</a:t>
                      </a:r>
                    </a:p>
                  </a:txBody>
                  <a:tcPr marL="115828" marR="115828" marT="57914" marB="5791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• Multiplayer/collab:  understanding &amp; motivation</a:t>
                      </a:r>
                    </a:p>
                  </a:txBody>
                  <a:tcPr marL="115828" marR="115828" marT="57914" marB="5791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• Shift to mobile: quick feedback; social interaction</a:t>
                      </a:r>
                    </a:p>
                  </a:txBody>
                  <a:tcPr marL="115828" marR="115828" marT="57914" marB="579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732">
                <a:tc>
                  <a:txBody>
                    <a:bodyPr/>
                    <a:lstStyle/>
                    <a:p>
                      <a:r>
                        <a:rPr lang="en-US" sz="2000"/>
                        <a:t>• Simulations: realistic experiments; deeper concepts</a:t>
                      </a:r>
                    </a:p>
                  </a:txBody>
                  <a:tcPr marL="115828" marR="115828" marT="57914" marB="5791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• Discussion outside the game helps</a:t>
                      </a:r>
                    </a:p>
                  </a:txBody>
                  <a:tcPr marL="115828" marR="115828" marT="57914" marB="5791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• Mobile/touch can improve outcomes (some mixed results)</a:t>
                      </a:r>
                    </a:p>
                  </a:txBody>
                  <a:tcPr marL="115828" marR="115828" marT="57914" marB="579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50">
                <a:tc>
                  <a:txBody>
                    <a:bodyPr/>
                    <a:lstStyle/>
                    <a:p>
                      <a:r>
                        <a:rPr lang="en-US" sz="2000"/>
                        <a:t>• Strategy: multi‑step tasks; planning &amp; analysis</a:t>
                      </a:r>
                    </a:p>
                  </a:txBody>
                  <a:tcPr marL="115828" marR="115828" marT="57914" marB="5791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• Competition often positive (math/science)</a:t>
                      </a:r>
                    </a:p>
                  </a:txBody>
                  <a:tcPr marL="115828" marR="115828" marT="57914" marB="5791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• Benefits: portability, flexibility, accessibility</a:t>
                      </a:r>
                    </a:p>
                  </a:txBody>
                  <a:tcPr marL="115828" marR="115828" marT="57914" marB="579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9732">
                <a:tc>
                  <a:txBody>
                    <a:bodyPr/>
                    <a:lstStyle/>
                    <a:p>
                      <a:r>
                        <a:rPr lang="en-US" sz="2000"/>
                        <a:t>• Use mechanics that serve objectives; competition can aid</a:t>
                      </a:r>
                    </a:p>
                  </a:txBody>
                  <a:tcPr marL="115828" marR="115828" marT="57914" marB="5791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• Mixed evidence on multiplayer advantage</a:t>
                      </a:r>
                    </a:p>
                  </a:txBody>
                  <a:tcPr marL="115828" marR="115828" marT="57914" marB="579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• Mobile enables AR/VR; visualizes abstract concepts</a:t>
                      </a:r>
                    </a:p>
                  </a:txBody>
                  <a:tcPr marL="115828" marR="115828" marT="57914" marB="579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531AA-FFE2-44A9-AD11-B80FAF8C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6ECA6-B2B2-4A26-A1D7-D65062AA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56FCC-850E-404F-9393-0AD3031C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-7481"/>
            <a:ext cx="8229600" cy="913718"/>
          </a:xfrm>
        </p:spPr>
        <p:txBody>
          <a:bodyPr>
            <a:normAutofit/>
          </a:bodyPr>
          <a:lstStyle/>
          <a:p>
            <a:r>
              <a:rPr lang="en-US" sz="4000" b="1" dirty="0"/>
              <a:t>Impact of Educational Video Games</a:t>
            </a:r>
            <a:endParaRPr sz="40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112826"/>
              </p:ext>
            </p:extLst>
          </p:nvPr>
        </p:nvGraphicFramePr>
        <p:xfrm>
          <a:off x="400049" y="906237"/>
          <a:ext cx="8548007" cy="5742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677"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dirty="0">
                          <a:solidFill>
                            <a:srgbClr val="FFFFFF"/>
                          </a:solidFill>
                        </a:rPr>
                        <a:t>Effect — </a:t>
                      </a: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C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</a:rPr>
                        <a:t>oncise </a:t>
                      </a:r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</a:rPr>
                        <a:t>indings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Motivation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dirty="0"/>
                        <a:t>Increases both intrinsic and extrinsic motivation; stronger for straightforward and non-abstract concepts.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STEM learning outcomes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dirty="0"/>
                        <a:t>Improves academic achievement and cognitive and social skills; effects depend on motivation and on alignment with validated learning theories.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DGBL in STEM education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dirty="0"/>
                        <a:t>More effective when grounded in pedagogical theory and sound instructional design.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rgbClr val="FFFFFF"/>
                          </a:solidFill>
                        </a:rPr>
                        <a:t>Teachers' role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dirty="0"/>
                        <a:t>Teacher attitudes are crucial for adoption and for positive learning impact.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Teachers' perspective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dirty="0"/>
                        <a:t>Prefer games that build analytical and research skills and fit constructivist approaches; barriers include curriculum fit, time, resources, training, language, technophobia, parental skepticism, and 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8EC92-E718-4A49-B63B-77E5F449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3DFA1-70B3-4AD3-AC6E-B2DE135D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11255-67D1-46C5-98BD-120E5D04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9E0C51-9A76-DA2D-EC6A-679D9F605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6FBF16-8590-7F6C-AA0D-4CE296C9F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46C4686F-A4EF-C964-D874-5BDCB5F05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926E7E-BCF1-6069-6971-7F142AA92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55155-8218-2D2E-A27C-27BB28B8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6"/>
            <a:ext cx="7696190" cy="639412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/>
              <a:t>Discussion —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E7362-4CDB-25E9-03E1-0D81AAE13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29" y="2117330"/>
            <a:ext cx="7502435" cy="3280304"/>
          </a:xfrm>
        </p:spPr>
        <p:txBody>
          <a:bodyPr anchor="t">
            <a:normAutofit lnSpcReduction="10000"/>
          </a:bodyPr>
          <a:lstStyle/>
          <a:p>
            <a:r>
              <a:rPr lang="en-US" sz="2400" dirty="0"/>
              <a:t>Outcomes are grouped into academic, cognitive, and social categories.</a:t>
            </a:r>
          </a:p>
          <a:p>
            <a:r>
              <a:rPr lang="en-US" sz="2400" dirty="0"/>
              <a:t>Engagement links pedagogy, design, and teacher context to those outcomes.</a:t>
            </a:r>
          </a:p>
          <a:p>
            <a:r>
              <a:rPr lang="en-US" sz="2400" dirty="0"/>
              <a:t>Grounding in learning theory (constructivism, inquiry, problem-based learning, scaffolding) is needed to convert engagement into achievement.</a:t>
            </a:r>
          </a:p>
          <a:p>
            <a:r>
              <a:rPr lang="en-US" sz="2400" dirty="0"/>
              <a:t>Choose mechanics that serve learning objectives and align with curriculum and assessment.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D80D4-2651-48F7-BA4C-01A305BF3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EF1B6-7B89-425A-B874-6571BA26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0051-E927-47E1-8FE7-98A65050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72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941" y="256032"/>
            <a:ext cx="8266829" cy="128214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 b="1" dirty="0"/>
              <a:t>Discussion — Where it Works Best and How to Implement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362965-CD1B-53A8-DA3F-8A32E5D2DA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294664"/>
              </p:ext>
            </p:extLst>
          </p:nvPr>
        </p:nvGraphicFramePr>
        <p:xfrm>
          <a:off x="628650" y="1652790"/>
          <a:ext cx="8266828" cy="463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4294C9E-1730-3E13-FEFF-474867366D52}"/>
              </a:ext>
            </a:extLst>
          </p:cNvPr>
          <p:cNvSpPr/>
          <p:nvPr/>
        </p:nvSpPr>
        <p:spPr>
          <a:xfrm>
            <a:off x="628650" y="1483869"/>
            <a:ext cx="8266828" cy="109813"/>
          </a:xfrm>
          <a:prstGeom prst="rect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170A0-C146-4CCE-9C2E-1A78F0B9C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3E0E3-4FDB-4766-AD82-3472D25F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4B4BF-7163-4419-81FC-DC17EC09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6"/>
            <a:ext cx="6056111" cy="745548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223465"/>
            <a:ext cx="7012577" cy="3546399"/>
          </a:xfrm>
        </p:spPr>
        <p:txBody>
          <a:bodyPr anchor="t">
            <a:normAutofit/>
          </a:bodyPr>
          <a:lstStyle/>
          <a:p>
            <a:r>
              <a:rPr lang="en-US" sz="2400" dirty="0"/>
              <a:t>Snowballing bias toward well-cited networks; may miss some work.</a:t>
            </a:r>
          </a:p>
          <a:p>
            <a:r>
              <a:rPr lang="en-US" sz="2400" dirty="0"/>
              <a:t>Heterogeneous perspectives; findings complement or sometimes conflict—look for stable patterns.</a:t>
            </a:r>
          </a:p>
          <a:p>
            <a:r>
              <a:rPr lang="en-US" sz="2400" dirty="0"/>
              <a:t>English-language publications are only useful for tracking enduring characteristics across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20E18-32AD-44E7-9924-B965140B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E1CCA-6952-4314-8980-EC3CA795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9310-B0D8-409D-8D35-AE803AFC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227241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Conclusions — RQ1 (Sustainable Characteristics)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705157"/>
            <a:ext cx="7477941" cy="3064708"/>
          </a:xfrm>
        </p:spPr>
        <p:txBody>
          <a:bodyPr anchor="t">
            <a:normAutofit lnSpcReduction="10000"/>
          </a:bodyPr>
          <a:lstStyle/>
          <a:p>
            <a:r>
              <a:rPr lang="en-US" sz="2400" dirty="0"/>
              <a:t>Alignment with objectives/standards and teaching scenarios.</a:t>
            </a:r>
          </a:p>
          <a:p>
            <a:r>
              <a:rPr lang="en-US" sz="2400" dirty="0"/>
              <a:t>Engaging challenge + storytelling (use VR/AR where it adds value).</a:t>
            </a:r>
          </a:p>
          <a:p>
            <a:r>
              <a:rPr lang="en-US" sz="2400" dirty="0"/>
              <a:t>Adaptivity/personalization; immediate, constructive feedback &amp; guidance.</a:t>
            </a:r>
          </a:p>
          <a:p>
            <a:r>
              <a:rPr lang="en-US" sz="2400" dirty="0"/>
              <a:t>Collaboration/social features; progressive levels; self-assessment/analytics; inclusivity/accessibility.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601F9-FA65-4C7A-B159-0935ECEC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4A5DB-1E40-4F8F-AACD-DE6605640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2C8A6-33C4-40A8-8546-8A14F8F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690842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Conclusions — RQ2 (Impact)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309331"/>
            <a:ext cx="7135041" cy="3460533"/>
          </a:xfrm>
        </p:spPr>
        <p:txBody>
          <a:bodyPr anchor="t">
            <a:normAutofit/>
          </a:bodyPr>
          <a:lstStyle/>
          <a:p>
            <a:r>
              <a:rPr lang="en-US" sz="2400" dirty="0"/>
              <a:t>Learning: improved achievement, motivation, engagement.</a:t>
            </a:r>
          </a:p>
          <a:p>
            <a:r>
              <a:rPr lang="en-US" sz="2400" dirty="0"/>
              <a:t>Teaching: pedagogy and scenarios matter; teacher attitudes are pivotal.</a:t>
            </a:r>
          </a:p>
          <a:p>
            <a:r>
              <a:rPr lang="en-US" sz="2400" dirty="0"/>
              <a:t>Development: integrate modern tech + analytics; iterate with student/teacher feedback.</a:t>
            </a:r>
          </a:p>
          <a:p>
            <a:r>
              <a:rPr lang="en-US" sz="2400" dirty="0"/>
              <a:t>Validation: controlled sessions and long-term, in-course evaluations.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0B1B6-19E6-403A-A9F2-538E4E0C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CA00-F0CE-4A4C-BB5B-8443F3F7F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E1D83-B1DD-4B8A-9528-1BCCA074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0990-A67C-48E9-81D9-27C1B03D6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Thank You for Your Attention!</a:t>
            </a:r>
            <a:endParaRPr lang="bg-BG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1B3B8-4634-4C67-BE4E-4DB41BCD1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49235"/>
            <a:ext cx="3641271" cy="41277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you have any questions, write to us: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stanislav.ivanov@fmi.uni-sofia.bg, 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nnikolova@fmi.uni-sofia.bg, 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borislavj@uni-sofia.bg, 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bbontchev@fmi.uni-sofia.bg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question mark">
            <a:extLst>
              <a:ext uri="{FF2B5EF4-FFF2-40B4-BE49-F238E27FC236}">
                <a16:creationId xmlns:a16="http://schemas.microsoft.com/office/drawing/2014/main" id="{61087E74-DD1F-46E0-BB30-415CEBF4B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6963" y="1825625"/>
            <a:ext cx="5107037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B21D67-AC74-41D4-9E3C-D5341CC999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5190843"/>
            <a:ext cx="1266847" cy="1209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1A8904-ABB3-4064-A770-82F24BDD78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3"/>
          <a:stretch>
            <a:fillRect/>
          </a:stretch>
        </p:blipFill>
        <p:spPr>
          <a:xfrm>
            <a:off x="7451239" y="5294729"/>
            <a:ext cx="1266847" cy="119814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7EDB1-8FD7-4C7A-A772-439100F9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Cyber-AI'25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A57B9-E646-46CA-9E86-A0C98751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Characteristics of Educational Video Games for STEM Education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F64BA-BA7A-4F0B-9434-EBE3E4C2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1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112</TotalTime>
  <Words>1099</Words>
  <Application>Microsoft Office PowerPoint</Application>
  <PresentationFormat>On-screen Show (4:3)</PresentationFormat>
  <Paragraphs>131</Paragraphs>
  <Slides>13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Office 2013 - 2022 Theme</vt:lpstr>
      <vt:lpstr>Office Theme</vt:lpstr>
      <vt:lpstr>Picture</vt:lpstr>
      <vt:lpstr>Key Characteristics of Educational Video Games for STEM Education  — A Literature Review</vt:lpstr>
      <vt:lpstr>Introduction &amp; Research Questions</vt:lpstr>
      <vt:lpstr>Methods — Snowballing Review</vt:lpstr>
      <vt:lpstr>Steps of the Snowballing Method</vt:lpstr>
      <vt:lpstr>Analysis &amp; Results</vt:lpstr>
      <vt:lpstr>Sustainable Game Characteristics — Summary</vt:lpstr>
      <vt:lpstr>Impact of Educational Video Games</vt:lpstr>
      <vt:lpstr>Discussion — Key Takeaways</vt:lpstr>
      <vt:lpstr>Discussion — Where it Works Best and How to Implement</vt:lpstr>
      <vt:lpstr>Limitations</vt:lpstr>
      <vt:lpstr>Conclusions — RQ1 (Sustainable Characteristics)</vt:lpstr>
      <vt:lpstr>Conclusions — RQ2 (Impact)</vt:lpstr>
      <vt:lpstr>Thank You for Your Attention!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Characteristics of Educational Video Games for STEM Education  — A Literature Review</dc:title>
  <dc:subject/>
  <dc:creator>Borislav</dc:creator>
  <cp:keywords/>
  <dc:description>generated using python-pptx</dc:description>
  <cp:lastModifiedBy>Boyan</cp:lastModifiedBy>
  <cp:revision>9</cp:revision>
  <dcterms:created xsi:type="dcterms:W3CDTF">2013-01-27T09:14:16Z</dcterms:created>
  <dcterms:modified xsi:type="dcterms:W3CDTF">2025-08-31T21:53:37Z</dcterms:modified>
  <cp:category/>
</cp:coreProperties>
</file>