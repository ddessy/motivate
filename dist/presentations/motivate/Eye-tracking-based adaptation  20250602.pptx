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58" r:id="rId5"/>
    <p:sldId id="274" r:id="rId6"/>
    <p:sldId id="260" r:id="rId7"/>
    <p:sldId id="263" r:id="rId8"/>
    <p:sldId id="262" r:id="rId9"/>
    <p:sldId id="264" r:id="rId10"/>
    <p:sldId id="265" r:id="rId11"/>
    <p:sldId id="275" r:id="rId12"/>
    <p:sldId id="276" r:id="rId13"/>
    <p:sldId id="267" r:id="rId14"/>
    <p:sldId id="268" r:id="rId15"/>
    <p:sldId id="269" r:id="rId16"/>
    <p:sldId id="270" r:id="rId17"/>
    <p:sldId id="272" r:id="rId18"/>
    <p:sldId id="273" r:id="rId19"/>
    <p:sldId id="271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B3DE2-F3D1-409F-83E0-29479852194F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BE4CD-AE67-467E-ACCD-8F95697FF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3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28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6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786" y="185511"/>
            <a:ext cx="11209564" cy="810532"/>
          </a:xfrm>
        </p:spPr>
        <p:txBody>
          <a:bodyPr/>
          <a:lstStyle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607" y="1118506"/>
            <a:ext cx="11152414" cy="53394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104775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47207" y="6492875"/>
            <a:ext cx="8278586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z="1400" dirty="0">
                <a:latin typeface="+mn-lt"/>
                <a:ea typeface="+mn-ea"/>
                <a:cs typeface="+mn-cs"/>
              </a:rPr>
              <a:t>Eye-tracking-based adaptation for personalized game-based learning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78886" y="6492875"/>
            <a:ext cx="123825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75BBA16B-9D76-409E-A4DB-EDE76CDC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/>
          <p:cNvSpPr/>
          <p:nvPr userDrawn="1"/>
        </p:nvSpPr>
        <p:spPr>
          <a:xfrm>
            <a:off x="767443" y="922565"/>
            <a:ext cx="11340192" cy="571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7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6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6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6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8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7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9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Event name, year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4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Event name, year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BA16B-9D76-409E-A4DB-EDE76CDC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1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motivate-bg.online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ddessy@gmai.com" TargetMode="External"/><Relationship Id="rId2" Type="http://schemas.openxmlformats.org/officeDocument/2006/relationships/hyperlink" Target="mailto:bbontchev@fmi.uni-sofia.b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mailto:valentina.terzieva@iict.bas.b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22199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ea typeface="+mn-ea"/>
                <a:cs typeface="+mn-cs"/>
              </a:rPr>
              <a:t>Eye-tracking-based adaptation </a:t>
            </a:r>
            <a:br>
              <a:rPr lang="en-US" sz="3600" dirty="0">
                <a:latin typeface="+mn-lt"/>
                <a:ea typeface="+mn-ea"/>
                <a:cs typeface="+mn-cs"/>
              </a:rPr>
            </a:br>
            <a:r>
              <a:rPr lang="en-US" sz="3600" dirty="0">
                <a:latin typeface="+mn-lt"/>
                <a:ea typeface="+mn-ea"/>
                <a:cs typeface="+mn-cs"/>
              </a:rPr>
              <a:t>for personalized game-based learning </a:t>
            </a:r>
            <a:br>
              <a:rPr lang="en-US" sz="3600" dirty="0">
                <a:latin typeface="+mn-lt"/>
                <a:ea typeface="+mn-ea"/>
                <a:cs typeface="+mn-cs"/>
              </a:rPr>
            </a:br>
            <a:r>
              <a:rPr lang="en-US" sz="3600" dirty="0">
                <a:latin typeface="+mn-lt"/>
                <a:ea typeface="+mn-ea"/>
                <a:cs typeface="+mn-cs"/>
              </a:rPr>
              <a:t>within intelligent educational environments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58746"/>
            <a:ext cx="9144000" cy="3171568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en-US" sz="3600" dirty="0" err="1"/>
              <a:t>Boyan</a:t>
            </a:r>
            <a:r>
              <a:rPr lang="en-US" sz="3600" dirty="0"/>
              <a:t> </a:t>
            </a:r>
            <a:r>
              <a:rPr lang="en-US" sz="3600" dirty="0" err="1"/>
              <a:t>Bontchev</a:t>
            </a:r>
            <a:r>
              <a:rPr lang="en-US" sz="3600" dirty="0"/>
              <a:t>, Dessislava Vassileva, and </a:t>
            </a:r>
            <a:br>
              <a:rPr lang="en-US" sz="3600" dirty="0"/>
            </a:br>
            <a:r>
              <a:rPr lang="en-US" sz="3600" dirty="0"/>
              <a:t>Valentina </a:t>
            </a:r>
            <a:r>
              <a:rPr lang="en-US" sz="3600" dirty="0" err="1"/>
              <a:t>Terzieva-Bogoycheva</a:t>
            </a:r>
            <a:endParaRPr lang="en-US" sz="3600" dirty="0"/>
          </a:p>
          <a:p>
            <a:r>
              <a:rPr lang="en-US" sz="3200" i="1" dirty="0">
                <a:solidFill>
                  <a:schemeClr val="tx1"/>
                </a:solidFill>
              </a:rPr>
              <a:t>FMI – Sofia University “St Kl. </a:t>
            </a:r>
            <a:r>
              <a:rPr lang="en-US" sz="3200" i="1" dirty="0" err="1">
                <a:solidFill>
                  <a:schemeClr val="tx1"/>
                </a:solidFill>
              </a:rPr>
              <a:t>Ohridski</a:t>
            </a:r>
            <a:r>
              <a:rPr lang="en-US" sz="3200" i="1" dirty="0">
                <a:solidFill>
                  <a:schemeClr val="tx1"/>
                </a:solidFill>
              </a:rPr>
              <a:t>”</a:t>
            </a:r>
            <a:endParaRPr lang="en-US" sz="3600" i="1" dirty="0">
              <a:solidFill>
                <a:schemeClr val="tx1"/>
              </a:solidFill>
            </a:endParaRPr>
          </a:p>
          <a:p>
            <a:r>
              <a:rPr lang="en-US" sz="3200" i="1" dirty="0">
                <a:solidFill>
                  <a:schemeClr val="tx1"/>
                </a:solidFill>
              </a:rPr>
              <a:t>IICT – Bulgarian Academy of Sciences</a:t>
            </a:r>
          </a:p>
          <a:p>
            <a:endParaRPr lang="en-US" dirty="0"/>
          </a:p>
          <a:p>
            <a:r>
              <a:rPr lang="en-US" sz="2800" i="1" dirty="0">
                <a:solidFill>
                  <a:schemeClr val="tx1"/>
                </a:solidFill>
              </a:rPr>
              <a:t>AMEE’2025</a:t>
            </a:r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 err="1">
                <a:solidFill>
                  <a:schemeClr val="tx1"/>
                </a:solidFill>
              </a:rPr>
              <a:t>Sozopol</a:t>
            </a:r>
            <a:r>
              <a:rPr lang="en-US" i="1" dirty="0">
                <a:solidFill>
                  <a:schemeClr val="tx1"/>
                </a:solidFill>
              </a:rPr>
              <a:t>, Bulgaria</a:t>
            </a:r>
          </a:p>
          <a:p>
            <a:r>
              <a:rPr lang="en-US" i="1" dirty="0">
                <a:solidFill>
                  <a:schemeClr val="tx1"/>
                </a:solidFill>
              </a:rPr>
              <a:t>June 7-13, 2025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227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06" y="4329835"/>
            <a:ext cx="2502981" cy="239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1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Educational video games</a:t>
            </a:r>
          </a:p>
          <a:p>
            <a:r>
              <a:rPr lang="en-US" dirty="0"/>
              <a:t>Player-centric adaptation of educational video games</a:t>
            </a:r>
          </a:p>
          <a:p>
            <a:r>
              <a:rPr lang="en-US" dirty="0"/>
              <a:t>Previous research of the team</a:t>
            </a:r>
          </a:p>
          <a:p>
            <a:pPr lvl="1"/>
            <a:r>
              <a:rPr lang="en-US" dirty="0"/>
              <a:t>Emotion-based </a:t>
            </a:r>
            <a:r>
              <a:rPr lang="en-US" i="1" dirty="0"/>
              <a:t>dynamic</a:t>
            </a:r>
            <a:r>
              <a:rPr lang="en-US" dirty="0"/>
              <a:t> adaptation control</a:t>
            </a:r>
            <a:endParaRPr lang="es-ES" dirty="0"/>
          </a:p>
          <a:p>
            <a:pPr lvl="1"/>
            <a:r>
              <a:rPr lang="en-US" dirty="0"/>
              <a:t>Affect inferred by psychophysiological signals</a:t>
            </a:r>
          </a:p>
          <a:p>
            <a:pPr lvl="1"/>
            <a:r>
              <a:rPr lang="en-US" dirty="0"/>
              <a:t>Emotions inferred by visual expressions analysis</a:t>
            </a:r>
          </a:p>
          <a:p>
            <a:pPr lvl="1"/>
            <a:r>
              <a:rPr lang="en-GB" dirty="0"/>
              <a:t>Emotion-based game adaptation</a:t>
            </a:r>
            <a:r>
              <a:rPr lang="bg-BG" dirty="0"/>
              <a:t> </a:t>
            </a:r>
            <a:endParaRPr lang="en-US" dirty="0"/>
          </a:p>
          <a:p>
            <a:r>
              <a:rPr lang="en-US" dirty="0"/>
              <a:t>Current research in the scope of the MOTIVATE project</a:t>
            </a:r>
          </a:p>
          <a:p>
            <a:r>
              <a:rPr lang="en-US" dirty="0"/>
              <a:t>Eye-tracking-based game adaptation</a:t>
            </a:r>
          </a:p>
          <a:p>
            <a:r>
              <a:rPr lang="en-US" dirty="0"/>
              <a:t>Important issues</a:t>
            </a:r>
          </a:p>
          <a:p>
            <a:r>
              <a:rPr lang="en-US" dirty="0"/>
              <a:t>Conclusion</a:t>
            </a:r>
          </a:p>
          <a:p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</a:rPr>
              <a:t>Eye-tracking-based adaptation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75BBA16B-9D76-409E-A4DB-EDE76CDC68EC}" type="slidenum">
              <a:rPr lang="en-US" sz="1400" smtClean="0">
                <a:solidFill>
                  <a:schemeClr val="tx1"/>
                </a:solidFill>
              </a:rPr>
              <a:t>2</a:t>
            </a:fld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67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video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Serious/applied video games for education purposes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Engagement &amp; Motivation – interactive gameplay increases student interest and participation. </a:t>
            </a:r>
          </a:p>
          <a:p>
            <a:pPr lvl="1"/>
            <a:r>
              <a:rPr lang="en-US" dirty="0"/>
              <a:t>Personalized Learning – AI-driven adaptations cater to individual learning styles.</a:t>
            </a:r>
          </a:p>
          <a:p>
            <a:pPr lvl="1"/>
            <a:r>
              <a:rPr lang="en-US" dirty="0"/>
              <a:t>Critical Thinking &amp; Problem-Solving – Games foster decision-making skills and strategic thinking. </a:t>
            </a:r>
          </a:p>
          <a:p>
            <a:pPr lvl="1"/>
            <a:r>
              <a:rPr lang="en-US" dirty="0"/>
              <a:t>Language &amp; STEM &amp; Arts &amp; Soft Skills Development – integrates science, technology, engineering, and mathematics with creativity and collaboration. </a:t>
            </a:r>
          </a:p>
          <a:p>
            <a:pPr lvl="1"/>
            <a:r>
              <a:rPr lang="en-US" dirty="0"/>
              <a:t>Immersive Learning Experiences – virtual environments enhance concept retention and application.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600" dirty="0">
                <a:solidFill>
                  <a:srgbClr val="7030A0"/>
                </a:solidFill>
              </a:rPr>
              <a:t>💡 “</a:t>
            </a:r>
            <a:r>
              <a:rPr lang="en-US" sz="2600" i="1" dirty="0">
                <a:solidFill>
                  <a:srgbClr val="7030A0"/>
                </a:solidFill>
              </a:rPr>
              <a:t>Learning is most effective when it’s fun and interactive!” – Dr. Susan Curtiss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5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Player-centric adaptation of educational video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931" y="1293341"/>
            <a:ext cx="6705600" cy="51646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Player-centric adaptation in video games needs to answer some questions:</a:t>
            </a:r>
          </a:p>
          <a:p>
            <a:r>
              <a:rPr lang="en-US" b="1" dirty="0">
                <a:solidFill>
                  <a:srgbClr val="C00000"/>
                </a:solidFill>
              </a:rPr>
              <a:t>Who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– player character structural and behavioral changes =&gt; requires </a:t>
            </a:r>
            <a:r>
              <a:rPr lang="en-US" i="1" dirty="0"/>
              <a:t>player modelling</a:t>
            </a:r>
          </a:p>
          <a:p>
            <a:r>
              <a:rPr lang="en-US" b="1" dirty="0">
                <a:solidFill>
                  <a:srgbClr val="C00000"/>
                </a:solidFill>
              </a:rPr>
              <a:t>How</a:t>
            </a:r>
            <a:r>
              <a:rPr lang="en-US" dirty="0"/>
              <a:t> – how adaptation will be realized =&gt; requires design of </a:t>
            </a:r>
            <a:r>
              <a:rPr lang="en-US" i="1" dirty="0"/>
              <a:t>dynamic adaptive loop</a:t>
            </a:r>
          </a:p>
          <a:p>
            <a:r>
              <a:rPr lang="en-US" b="1" dirty="0">
                <a:solidFill>
                  <a:srgbClr val="C00000"/>
                </a:solidFill>
              </a:rPr>
              <a:t>What</a:t>
            </a:r>
            <a:r>
              <a:rPr lang="en-US" dirty="0"/>
              <a:t> – which game features can be adapted =&gt; requires </a:t>
            </a:r>
            <a:r>
              <a:rPr lang="en-US" i="1" dirty="0"/>
              <a:t>adaptive gameplay design</a:t>
            </a:r>
          </a:p>
          <a:p>
            <a:r>
              <a:rPr lang="en-US" b="1" dirty="0">
                <a:solidFill>
                  <a:srgbClr val="C00000"/>
                </a:solidFill>
              </a:rPr>
              <a:t>Why</a:t>
            </a:r>
            <a:r>
              <a:rPr lang="en-US" dirty="0"/>
              <a:t> – advantages of game adaptation =&gt; requires </a:t>
            </a:r>
            <a:r>
              <a:rPr lang="en-US" i="1" dirty="0"/>
              <a:t>analysis of outcomes in playability and learning results </a:t>
            </a:r>
            <a:endParaRPr lang="es-ES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648" y="1268626"/>
            <a:ext cx="4783352" cy="478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2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research of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authors applied player´s emotional state for the realization of affect-based adaptation of gameplay, namely for an adjustment of game mechanics, dynamics, and aesthetics, dynamically and implicitly. </a:t>
            </a:r>
          </a:p>
          <a:p>
            <a:r>
              <a:rPr lang="en-US" dirty="0"/>
              <a:t>The emotional state included: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individual player´s emotions (such as sadness, disgust, anger, surprise, fear, joy),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engagement,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attention, and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arousal</a:t>
            </a:r>
            <a:r>
              <a:rPr lang="bg-BG" dirty="0"/>
              <a:t>.</a:t>
            </a:r>
            <a:r>
              <a:rPr lang="en-US" dirty="0"/>
              <a:t>  </a:t>
            </a:r>
          </a:p>
          <a:p>
            <a:r>
              <a:rPr lang="en-US" dirty="0"/>
              <a:t>All</a:t>
            </a:r>
            <a:r>
              <a:rPr lang="bg-BG" dirty="0"/>
              <a:t> </a:t>
            </a:r>
            <a:r>
              <a:rPr lang="es-ES" dirty="0" err="1"/>
              <a:t>they</a:t>
            </a:r>
            <a:r>
              <a:rPr lang="es-ES" dirty="0"/>
              <a:t> are</a:t>
            </a:r>
            <a:r>
              <a:rPr lang="en-US" dirty="0"/>
              <a:t> recognized using: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facial expressions (including gazing/fixation and eye closures/saccades) and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physiological signals such as electro-dermal activity and blood volume pulse measured by a custom device. </a:t>
            </a:r>
          </a:p>
          <a:p>
            <a:r>
              <a:rPr lang="en-US" dirty="0"/>
              <a:t>Practical experiments with emotionally adaptive video games have proven that affective adaptation leads to greater immersion, higher presence, and increased engagement in players.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9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иране 17"/>
          <p:cNvGrpSpPr/>
          <p:nvPr/>
        </p:nvGrpSpPr>
        <p:grpSpPr>
          <a:xfrm>
            <a:off x="2701362" y="1013378"/>
            <a:ext cx="6485890" cy="5702405"/>
            <a:chOff x="0" y="0"/>
            <a:chExt cx="6884670" cy="6644640"/>
          </a:xfrm>
        </p:grpSpPr>
        <p:grpSp>
          <p:nvGrpSpPr>
            <p:cNvPr id="34" name="Групиране 24"/>
            <p:cNvGrpSpPr/>
            <p:nvPr/>
          </p:nvGrpSpPr>
          <p:grpSpPr>
            <a:xfrm>
              <a:off x="0" y="0"/>
              <a:ext cx="6884670" cy="6644640"/>
              <a:chOff x="0" y="0"/>
              <a:chExt cx="6884670" cy="6644640"/>
            </a:xfrm>
          </p:grpSpPr>
          <p:grpSp>
            <p:nvGrpSpPr>
              <p:cNvPr id="36" name="Групиране 26"/>
              <p:cNvGrpSpPr/>
              <p:nvPr/>
            </p:nvGrpSpPr>
            <p:grpSpPr>
              <a:xfrm>
                <a:off x="0" y="0"/>
                <a:ext cx="6884670" cy="6644640"/>
                <a:chOff x="0" y="0"/>
                <a:chExt cx="6884670" cy="6644640"/>
              </a:xfrm>
            </p:grpSpPr>
            <p:sp>
              <p:nvSpPr>
                <p:cNvPr id="38" name="Блоксхема: съединение 28"/>
                <p:cNvSpPr/>
                <p:nvPr/>
              </p:nvSpPr>
              <p:spPr>
                <a:xfrm>
                  <a:off x="0" y="0"/>
                  <a:ext cx="6884670" cy="6644640"/>
                </a:xfrm>
                <a:prstGeom prst="flowChartConnector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bg-BG"/>
                </a:p>
              </p:txBody>
            </p:sp>
            <p:sp>
              <p:nvSpPr>
                <p:cNvPr id="39" name="Текстово поле 83"/>
                <p:cNvSpPr txBox="1"/>
                <p:nvPr/>
              </p:nvSpPr>
              <p:spPr>
                <a:xfrm>
                  <a:off x="2346821" y="208963"/>
                  <a:ext cx="2220116" cy="2914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s-ES" sz="2000" b="1" dirty="0">
                      <a:ln>
                        <a:noFill/>
                      </a:ln>
                      <a:solidFill>
                        <a:srgbClr val="365F91"/>
                      </a:solidFill>
                      <a:effectLst>
                        <a:outerShdw blurRad="38100" dist="25400" dir="5400000" algn="ctr">
                          <a:srgbClr val="6E747A">
                            <a:alpha val="43000"/>
                          </a:srgbClr>
                        </a:outerShdw>
                      </a:effectLst>
                      <a:latin typeface="Arial" panose="020B060402020202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Game dynamics</a:t>
                  </a:r>
                  <a:endParaRPr lang="bg-BG" sz="12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" name="Текстово поле 84"/>
              <p:cNvSpPr txBox="1"/>
              <p:nvPr/>
            </p:nvSpPr>
            <p:spPr>
              <a:xfrm rot="14613936">
                <a:off x="-1126149" y="4448475"/>
                <a:ext cx="3691890" cy="291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s-ES" sz="2000" b="1" dirty="0">
                    <a:ln>
                      <a:noFill/>
                    </a:ln>
                    <a:solidFill>
                      <a:srgbClr val="365F91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Game mechanics</a:t>
                </a:r>
                <a:endParaRPr lang="bg-BG" sz="12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" name="Текстово поле 85"/>
            <p:cNvSpPr txBox="1"/>
            <p:nvPr/>
          </p:nvSpPr>
          <p:spPr>
            <a:xfrm rot="6579056">
              <a:off x="5017520" y="3951212"/>
              <a:ext cx="2716946" cy="2914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000" b="1" dirty="0">
                  <a:ln>
                    <a:noFill/>
                  </a:ln>
                  <a:solidFill>
                    <a:srgbClr val="365F9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Game aesthetics</a:t>
              </a:r>
              <a:endParaRPr lang="bg-BG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adaptation model of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40" name="Групиране 18"/>
          <p:cNvGrpSpPr/>
          <p:nvPr/>
        </p:nvGrpSpPr>
        <p:grpSpPr>
          <a:xfrm>
            <a:off x="3329491" y="1526725"/>
            <a:ext cx="5226041" cy="4678980"/>
            <a:chOff x="-1" y="0"/>
            <a:chExt cx="5547360" cy="5452110"/>
          </a:xfrm>
        </p:grpSpPr>
        <p:grpSp>
          <p:nvGrpSpPr>
            <p:cNvPr id="41" name="Групиране 19"/>
            <p:cNvGrpSpPr/>
            <p:nvPr/>
          </p:nvGrpSpPr>
          <p:grpSpPr>
            <a:xfrm>
              <a:off x="-1" y="0"/>
              <a:ext cx="5547360" cy="5452110"/>
              <a:chOff x="-1" y="0"/>
              <a:chExt cx="5406390" cy="5334000"/>
            </a:xfrm>
          </p:grpSpPr>
          <p:sp>
            <p:nvSpPr>
              <p:cNvPr id="43" name="Блоксхема: съединение 21"/>
              <p:cNvSpPr/>
              <p:nvPr/>
            </p:nvSpPr>
            <p:spPr>
              <a:xfrm>
                <a:off x="-1" y="0"/>
                <a:ext cx="5406390" cy="533400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44" name="Блоксхема: съединение 22"/>
              <p:cNvSpPr/>
              <p:nvPr/>
            </p:nvSpPr>
            <p:spPr>
              <a:xfrm>
                <a:off x="769620" y="678428"/>
                <a:ext cx="3695479" cy="3861623"/>
              </a:xfrm>
              <a:prstGeom prst="flowChartConnector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45" name="Блоксхема: съединение 23"/>
              <p:cNvSpPr/>
              <p:nvPr/>
            </p:nvSpPr>
            <p:spPr>
              <a:xfrm>
                <a:off x="2122370" y="1970045"/>
                <a:ext cx="1044974" cy="1060383"/>
              </a:xfrm>
              <a:prstGeom prst="flowChartConnector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lt1">
                    <a:hueOff val="0"/>
                    <a:satOff val="0"/>
                    <a:lumOff val="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</p:grpSp>
        <p:sp>
          <p:nvSpPr>
            <p:cNvPr id="42" name="Текстово поле 91"/>
            <p:cNvSpPr txBox="1"/>
            <p:nvPr/>
          </p:nvSpPr>
          <p:spPr>
            <a:xfrm>
              <a:off x="2164080" y="2072640"/>
              <a:ext cx="1070610" cy="10858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s-ES" sz="2000" b="1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Player</a:t>
              </a:r>
              <a:endParaRPr lang="bg-BG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Текстово поле 92"/>
          <p:cNvSpPr txBox="1"/>
          <p:nvPr/>
        </p:nvSpPr>
        <p:spPr>
          <a:xfrm>
            <a:off x="4767652" y="1766628"/>
            <a:ext cx="2236116" cy="29868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ES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Player style metrics</a:t>
            </a:r>
            <a:endParaRPr lang="bg-BG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Текстово поле 93"/>
          <p:cNvSpPr txBox="1"/>
          <p:nvPr/>
        </p:nvSpPr>
        <p:spPr>
          <a:xfrm rot="14647152">
            <a:off x="2732248" y="4317825"/>
            <a:ext cx="2393816" cy="55052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ES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indicators</a:t>
            </a:r>
            <a:endParaRPr lang="bg-BG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Текстово поле 94"/>
          <p:cNvSpPr txBox="1"/>
          <p:nvPr/>
        </p:nvSpPr>
        <p:spPr>
          <a:xfrm rot="5964665">
            <a:off x="6647734" y="3745612"/>
            <a:ext cx="2597122" cy="696925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ES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Emotional </a:t>
            </a:r>
            <a:endParaRPr lang="bg-BG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s-ES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bg-BG" sz="1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Текстово поле 95"/>
          <p:cNvSpPr txBox="1"/>
          <p:nvPr/>
        </p:nvSpPr>
        <p:spPr>
          <a:xfrm>
            <a:off x="5030795" y="2630923"/>
            <a:ext cx="1592908" cy="32277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ES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Playing styles</a:t>
            </a:r>
            <a:endParaRPr lang="bg-BG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Текстово поле 96"/>
          <p:cNvSpPr txBox="1"/>
          <p:nvPr/>
        </p:nvSpPr>
        <p:spPr>
          <a:xfrm>
            <a:off x="4226699" y="4066146"/>
            <a:ext cx="1471632" cy="896449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and efficiency</a:t>
            </a:r>
            <a:br>
              <a:rPr lang="en-US" sz="16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(abilities, skills </a:t>
            </a:r>
            <a:br>
              <a:rPr lang="en-US" sz="105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and knowledge)</a:t>
            </a:r>
            <a:endParaRPr lang="bg-BG" sz="105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Текстово поле 97"/>
          <p:cNvSpPr txBox="1"/>
          <p:nvPr/>
        </p:nvSpPr>
        <p:spPr>
          <a:xfrm>
            <a:off x="5659803" y="4085601"/>
            <a:ext cx="2143098" cy="1154214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Emotions</a:t>
            </a:r>
            <a:endParaRPr lang="bg-BG" sz="105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2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(flow, immersion &amp;</a:t>
            </a:r>
            <a:endParaRPr lang="bg-BG" sz="105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2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intrinsic </a:t>
            </a:r>
            <a:endParaRPr lang="bg-BG" sz="105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200" b="1" dirty="0">
                <a:ln>
                  <a:noFill/>
                </a:ln>
                <a:solidFill>
                  <a:srgbClr val="FFFFFF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motivation)</a:t>
            </a:r>
            <a:endParaRPr lang="bg-BG" sz="105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Право съединение 14"/>
          <p:cNvCxnSpPr/>
          <p:nvPr/>
        </p:nvCxnSpPr>
        <p:spPr>
          <a:xfrm>
            <a:off x="3695462" y="2680632"/>
            <a:ext cx="1730219" cy="85847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аво съединение 15"/>
          <p:cNvCxnSpPr/>
          <p:nvPr/>
        </p:nvCxnSpPr>
        <p:spPr>
          <a:xfrm flipV="1">
            <a:off x="6391008" y="2579483"/>
            <a:ext cx="1740733" cy="10068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аво съединение 16"/>
          <p:cNvCxnSpPr/>
          <p:nvPr/>
        </p:nvCxnSpPr>
        <p:spPr>
          <a:xfrm>
            <a:off x="5910209" y="4185014"/>
            <a:ext cx="7179" cy="20113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7" descr="D:\Dropbox\Projects\ADAPTIMES\Dissemination\Web-site\images\adaptimes-logo.1.pn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011" y="154320"/>
            <a:ext cx="3276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/>
          <p:cNvSpPr txBox="1"/>
          <p:nvPr/>
        </p:nvSpPr>
        <p:spPr>
          <a:xfrm>
            <a:off x="9704173" y="5766485"/>
            <a:ext cx="205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Bontchev</a:t>
            </a:r>
            <a:r>
              <a:rPr lang="en-US" dirty="0"/>
              <a:t>, 2016)</a:t>
            </a:r>
          </a:p>
        </p:txBody>
      </p:sp>
    </p:spTree>
    <p:extLst>
      <p:ext uri="{BB962C8B-B14F-4D97-AF65-F5344CB8AC3E}">
        <p14:creationId xmlns:p14="http://schemas.microsoft.com/office/powerpoint/2010/main" val="78770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U-Turn Arrow 16"/>
          <p:cNvSpPr/>
          <p:nvPr/>
        </p:nvSpPr>
        <p:spPr>
          <a:xfrm rot="10800000">
            <a:off x="7118138" y="4506097"/>
            <a:ext cx="2066878" cy="1896761"/>
          </a:xfrm>
          <a:prstGeom prst="uturnArrow">
            <a:avLst>
              <a:gd name="adj1" fmla="val 7632"/>
              <a:gd name="adj2" fmla="val 9707"/>
              <a:gd name="adj3" fmla="val 10941"/>
              <a:gd name="adj4" fmla="val 38613"/>
              <a:gd name="adj5" fmla="val 7698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s-E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786" y="584885"/>
            <a:ext cx="11209564" cy="411157"/>
          </a:xfrm>
        </p:spPr>
        <p:txBody>
          <a:bodyPr>
            <a:normAutofit fontScale="90000"/>
          </a:bodyPr>
          <a:lstStyle/>
          <a:p>
            <a:r>
              <a:rPr lang="en-US" dirty="0"/>
              <a:t>Emotion-based </a:t>
            </a:r>
            <a:r>
              <a:rPr lang="en-US" i="1" dirty="0"/>
              <a:t>dynamic</a:t>
            </a:r>
            <a:r>
              <a:rPr lang="en-US" dirty="0"/>
              <a:t> adaptation control</a:t>
            </a:r>
            <a:br>
              <a:rPr lang="es-E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985319" y="2359609"/>
            <a:ext cx="1517087" cy="299980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Implicit Emotional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05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(via sensors &amp; other devices)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Facial expr.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Electro-dermal activity (EDA)</a:t>
            </a:r>
            <a:endParaRPr lang="es-E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Heart Rhythm</a:t>
            </a:r>
            <a:endParaRPr lang="es-ES" sz="1400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ECG</a:t>
            </a:r>
            <a:endParaRPr lang="es-ES" sz="1400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  <a:endParaRPr lang="es-ES" sz="1400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  <a:endParaRPr lang="es-ES" sz="1400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s-ES" sz="1400" dirty="0">
              <a:solidFill>
                <a:schemeClr val="bg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6382629" y="2282409"/>
            <a:ext cx="1246266" cy="265205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Acceleration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Defeat range Luminosity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Contrast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8439374" y="2502663"/>
            <a:ext cx="1246266" cy="203638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Explicit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Player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600" b="1" kern="12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Adaptation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14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Panel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ight Arrow 8"/>
          <p:cNvSpPr/>
          <p:nvPr/>
        </p:nvSpPr>
        <p:spPr>
          <a:xfrm>
            <a:off x="3578936" y="3319605"/>
            <a:ext cx="623133" cy="2845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2000"/>
          </a:p>
        </p:txBody>
      </p:sp>
      <p:sp>
        <p:nvSpPr>
          <p:cNvPr id="12" name="Right Arrow 9"/>
          <p:cNvSpPr/>
          <p:nvPr/>
        </p:nvSpPr>
        <p:spPr>
          <a:xfrm>
            <a:off x="5635275" y="3035024"/>
            <a:ext cx="623133" cy="2845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2000"/>
          </a:p>
        </p:txBody>
      </p:sp>
      <p:sp>
        <p:nvSpPr>
          <p:cNvPr id="13" name="Right Arrow 10"/>
          <p:cNvSpPr/>
          <p:nvPr/>
        </p:nvSpPr>
        <p:spPr>
          <a:xfrm>
            <a:off x="7753928" y="3461895"/>
            <a:ext cx="623133" cy="28458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2000"/>
          </a:p>
        </p:txBody>
      </p:sp>
      <p:sp>
        <p:nvSpPr>
          <p:cNvPr id="14" name="Cloud Callout 11"/>
          <p:cNvSpPr/>
          <p:nvPr/>
        </p:nvSpPr>
        <p:spPr>
          <a:xfrm>
            <a:off x="2556162" y="1221258"/>
            <a:ext cx="1588989" cy="958041"/>
          </a:xfrm>
          <a:prstGeom prst="cloudCallout">
            <a:avLst>
              <a:gd name="adj1" fmla="val 41803"/>
              <a:gd name="adj2" fmla="val 150879"/>
            </a:avLst>
          </a:prstGeom>
          <a:solidFill>
            <a:schemeClr val="tx2">
              <a:lumMod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b="1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Cloud Callout 13"/>
          <p:cNvSpPr/>
          <p:nvPr/>
        </p:nvSpPr>
        <p:spPr>
          <a:xfrm>
            <a:off x="4804810" y="4963977"/>
            <a:ext cx="1588990" cy="958042"/>
          </a:xfrm>
          <a:prstGeom prst="cloudCallout">
            <a:avLst>
              <a:gd name="adj1" fmla="val 44248"/>
              <a:gd name="adj2" fmla="val -183872"/>
            </a:avLst>
          </a:prstGeom>
          <a:solidFill>
            <a:schemeClr val="tx2">
              <a:lumMod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b="1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Cloud Callout 15"/>
          <p:cNvSpPr/>
          <p:nvPr/>
        </p:nvSpPr>
        <p:spPr>
          <a:xfrm>
            <a:off x="7796298" y="1243226"/>
            <a:ext cx="1588989" cy="958041"/>
          </a:xfrm>
          <a:prstGeom prst="cloudCallout">
            <a:avLst>
              <a:gd name="adj1" fmla="val -40092"/>
              <a:gd name="adj2" fmla="val 159157"/>
            </a:avLst>
          </a:prstGeom>
          <a:solidFill>
            <a:schemeClr val="tx2">
              <a:lumMod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b="1" kern="1200" dirty="0" err="1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Visuali-zation</a:t>
            </a:r>
            <a:endParaRPr lang="es-E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8" name="Групиране 2"/>
          <p:cNvGrpSpPr/>
          <p:nvPr/>
        </p:nvGrpSpPr>
        <p:grpSpPr>
          <a:xfrm>
            <a:off x="4264187" y="2228749"/>
            <a:ext cx="1246266" cy="2225068"/>
            <a:chOff x="2731947" y="2302891"/>
            <a:chExt cx="1246266" cy="2225068"/>
          </a:xfrm>
        </p:grpSpPr>
        <p:sp>
          <p:nvSpPr>
            <p:cNvPr id="19" name="TextBox 18"/>
            <p:cNvSpPr txBox="1"/>
            <p:nvPr/>
          </p:nvSpPr>
          <p:spPr>
            <a:xfrm>
              <a:off x="2731947" y="2302891"/>
              <a:ext cx="1246266" cy="222506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1600" b="1" kern="120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Triggering Events</a:t>
              </a:r>
              <a:br>
                <a:rPr lang="en-US" sz="1600" b="1" kern="120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600" b="1" kern="120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on Behavior </a:t>
              </a:r>
              <a:br>
                <a:rPr lang="en-US" sz="1600" b="1" kern="120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600" b="1" kern="1200">
                  <a:solidFill>
                    <a:srgbClr val="FFFF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Templates</a:t>
              </a:r>
              <a:endParaRPr lang="es-ES" sz="14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Freeform 17"/>
            <p:cNvSpPr/>
            <p:nvPr/>
          </p:nvSpPr>
          <p:spPr>
            <a:xfrm>
              <a:off x="2981396" y="3902757"/>
              <a:ext cx="656313" cy="407313"/>
            </a:xfrm>
            <a:custGeom>
              <a:avLst/>
              <a:gdLst>
                <a:gd name="connsiteX0" fmla="*/ 0 w 1246909"/>
                <a:gd name="connsiteY0" fmla="*/ 560831 h 598719"/>
                <a:gd name="connsiteX1" fmla="*/ 475013 w 1246909"/>
                <a:gd name="connsiteY1" fmla="*/ 548956 h 598719"/>
                <a:gd name="connsiteX2" fmla="*/ 902525 w 1246909"/>
                <a:gd name="connsiteY2" fmla="*/ 73943 h 598719"/>
                <a:gd name="connsiteX3" fmla="*/ 1187532 w 1246909"/>
                <a:gd name="connsiteY3" fmla="*/ 2691 h 598719"/>
                <a:gd name="connsiteX4" fmla="*/ 1246909 w 1246909"/>
                <a:gd name="connsiteY4" fmla="*/ 85818 h 59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909" h="598719">
                  <a:moveTo>
                    <a:pt x="0" y="560831"/>
                  </a:moveTo>
                  <a:cubicBezTo>
                    <a:pt x="162296" y="595467"/>
                    <a:pt x="324592" y="630104"/>
                    <a:pt x="475013" y="548956"/>
                  </a:cubicBezTo>
                  <a:cubicBezTo>
                    <a:pt x="625434" y="467808"/>
                    <a:pt x="783772" y="164987"/>
                    <a:pt x="902525" y="73943"/>
                  </a:cubicBezTo>
                  <a:cubicBezTo>
                    <a:pt x="1021278" y="-17101"/>
                    <a:pt x="1130135" y="712"/>
                    <a:pt x="1187532" y="2691"/>
                  </a:cubicBezTo>
                  <a:cubicBezTo>
                    <a:pt x="1244929" y="4670"/>
                    <a:pt x="1246909" y="85818"/>
                    <a:pt x="1246909" y="85818"/>
                  </a:cubicBezTo>
                </a:path>
              </a:pathLst>
            </a:custGeom>
            <a:noFill/>
            <a:ln w="53975" cmpd="sng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2000"/>
            </a:p>
          </p:txBody>
        </p:sp>
      </p:grpSp>
      <p:sp>
        <p:nvSpPr>
          <p:cNvPr id="21" name="U-Turn Arrow 16"/>
          <p:cNvSpPr/>
          <p:nvPr/>
        </p:nvSpPr>
        <p:spPr>
          <a:xfrm rot="10800000">
            <a:off x="2537253" y="4915281"/>
            <a:ext cx="4350563" cy="1527146"/>
          </a:xfrm>
          <a:prstGeom prst="uturnArrow">
            <a:avLst>
              <a:gd name="adj1" fmla="val 8807"/>
              <a:gd name="adj2" fmla="val 12181"/>
              <a:gd name="adj3" fmla="val 13942"/>
              <a:gd name="adj4" fmla="val 38253"/>
              <a:gd name="adj5" fmla="val 7049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s-ES"/>
          </a:p>
        </p:txBody>
      </p:sp>
      <p:pic>
        <p:nvPicPr>
          <p:cNvPr id="22" name="Picture 7" descr="D:\Dropbox\Projects\ADAPTIMES\Dissemination\Web-site\images\adaptimes-logo.1.pn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650" y="1321504"/>
            <a:ext cx="2486209" cy="564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9671221" y="5972431"/>
            <a:ext cx="205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Bontchev</a:t>
            </a:r>
            <a:r>
              <a:rPr lang="en-US" dirty="0"/>
              <a:t>, 2017)</a:t>
            </a:r>
          </a:p>
        </p:txBody>
      </p:sp>
    </p:spTree>
    <p:extLst>
      <p:ext uri="{BB962C8B-B14F-4D97-AF65-F5344CB8AC3E}">
        <p14:creationId xmlns:p14="http://schemas.microsoft.com/office/powerpoint/2010/main" val="331126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measuring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Measuring player’s </a:t>
            </a:r>
            <a:r>
              <a:rPr lang="en-US" b="1" i="1" dirty="0"/>
              <a:t>performance</a:t>
            </a:r>
            <a:r>
              <a:rPr lang="en-US" dirty="0"/>
              <a:t> – by tracking player’s results, incl. time, task difficulties and efficiency</a:t>
            </a:r>
          </a:p>
          <a:p>
            <a:r>
              <a:rPr lang="en-US" dirty="0"/>
              <a:t>Measuring </a:t>
            </a:r>
            <a:r>
              <a:rPr lang="en-US" b="1" i="1" dirty="0"/>
              <a:t>playing styles </a:t>
            </a:r>
            <a:r>
              <a:rPr lang="en-US" dirty="0"/>
              <a:t>– based 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Self-report, i.e. pre- or post-game survey (</a:t>
            </a:r>
            <a:r>
              <a:rPr lang="en-US" sz="2800" dirty="0" err="1"/>
              <a:t>Bontchev</a:t>
            </a:r>
            <a:r>
              <a:rPr lang="en-US" sz="2800" dirty="0"/>
              <a:t> et al., 2018)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Tracking specific gaming metrics describing player’s style of playing (</a:t>
            </a:r>
            <a:r>
              <a:rPr lang="en-US" sz="2800" dirty="0" err="1"/>
              <a:t>Bontchev</a:t>
            </a:r>
            <a:r>
              <a:rPr lang="en-US" sz="2800" dirty="0"/>
              <a:t> &amp; Georgieva, 2018)</a:t>
            </a:r>
          </a:p>
          <a:p>
            <a:r>
              <a:rPr lang="en-US" dirty="0"/>
              <a:t>Measuring player’s </a:t>
            </a:r>
            <a:r>
              <a:rPr lang="en-US" b="1" i="1" dirty="0"/>
              <a:t>affect</a:t>
            </a:r>
            <a:r>
              <a:rPr lang="en-US" dirty="0"/>
              <a:t> (emotions and arousal) by means of: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Analysis of psychophysiology signals (arousal)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Visual expressions analysis (emotional states)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3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Affect inferred by psychophysiological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EDA (Electro-Dermal Activity)</a:t>
            </a:r>
          </a:p>
          <a:p>
            <a:r>
              <a:rPr lang="en-US" dirty="0"/>
              <a:t>Custom EDA meter – custom hardware device and software (H2020 RAGE asset developed by a team of FMI-SU)</a:t>
            </a:r>
            <a:endParaRPr lang="bg-BG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Картина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039" y="2129482"/>
            <a:ext cx="5088591" cy="3213847"/>
          </a:xfrm>
          <a:prstGeom prst="rect">
            <a:avLst/>
          </a:prstGeom>
        </p:spPr>
      </p:pic>
      <p:pic>
        <p:nvPicPr>
          <p:cNvPr id="8" name="Картина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714" y="2609336"/>
            <a:ext cx="5315465" cy="387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3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 inferred by visual expressions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Custom emotion recognizer using </a:t>
            </a:r>
            <a:r>
              <a:rPr lang="en-US" dirty="0" err="1"/>
              <a:t>Affectiva</a:t>
            </a:r>
            <a:r>
              <a:rPr lang="en-US" dirty="0"/>
              <a:t> SDK</a:t>
            </a:r>
          </a:p>
          <a:p>
            <a:pPr>
              <a:spcBef>
                <a:spcPts val="0"/>
              </a:spcBef>
            </a:pPr>
            <a:r>
              <a:rPr lang="en-US" dirty="0"/>
              <a:t>Recognizes: </a:t>
            </a:r>
            <a:r>
              <a:rPr lang="en-US" i="1" dirty="0"/>
              <a:t>sadness, disgust, anger, surprise, fear, joy</a:t>
            </a:r>
            <a:r>
              <a:rPr lang="en-US" dirty="0"/>
              <a:t>; </a:t>
            </a:r>
            <a:r>
              <a:rPr lang="en-US" i="1" dirty="0"/>
              <a:t>engagement, attention (fixation), eye closures (saccades)</a:t>
            </a:r>
          </a:p>
          <a:p>
            <a:endParaRPr lang="bg-BG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34" y="2301155"/>
            <a:ext cx="7150445" cy="42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68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Emotion-based game adaptation</a:t>
            </a:r>
            <a:r>
              <a:rPr lang="bg-BG" dirty="0"/>
              <a:t> 1/2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/>
              <a:t>02/11/2016</a:t>
            </a:r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Assessing Engagement in an Emotionally-Adaptive Applied Game</a:t>
            </a:r>
            <a:endParaRPr lang="en-US" dirty="0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Картина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689" y="893805"/>
            <a:ext cx="7893423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Правоъгълник 7"/>
          <p:cNvSpPr/>
          <p:nvPr/>
        </p:nvSpPr>
        <p:spPr>
          <a:xfrm>
            <a:off x="2057400" y="5867401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Adaptation of flying objects’ velocity, puzzle difficulty, and ambient light for 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lower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phasic arousal</a:t>
            </a:r>
            <a:endParaRPr lang="bg-BG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0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Emotion-based game adaptation</a:t>
            </a:r>
            <a:r>
              <a:rPr lang="bg-BG" dirty="0"/>
              <a:t> </a:t>
            </a:r>
            <a:r>
              <a:rPr lang="en-US" dirty="0"/>
              <a:t>2</a:t>
            </a:r>
            <a:r>
              <a:rPr lang="bg-BG" dirty="0"/>
              <a:t>/2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dirty="0"/>
              <a:t>02/11/2016</a:t>
            </a:r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Assessing Engagement in an Emotionally-Adaptive Applied Game</a:t>
            </a:r>
            <a:endParaRPr lang="en-US" dirty="0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Правоъгълник 7"/>
          <p:cNvSpPr/>
          <p:nvPr/>
        </p:nvSpPr>
        <p:spPr>
          <a:xfrm>
            <a:off x="2057400" y="5867401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Adaptation of flying objects’ velocity, puzzle difficulty, and ambient light for 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higher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phasic arousal</a:t>
            </a:r>
            <a:endParaRPr lang="bg-BG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Картина 8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5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643" y="999710"/>
            <a:ext cx="7721957" cy="4991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973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Current research in the scope of the MOTIVATE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607" y="1383957"/>
            <a:ext cx="11152414" cy="507399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Modeling intelligent tools for adaptive and personalized educational STEM video games (MOTIVATE) - </a:t>
            </a:r>
            <a:r>
              <a:rPr lang="en-US" dirty="0">
                <a:hlinkClick r:id="rId2"/>
              </a:rPr>
              <a:t>https://motivate-bg.online/</a:t>
            </a:r>
            <a:r>
              <a:rPr lang="en-US" dirty="0"/>
              <a:t> </a:t>
            </a:r>
          </a:p>
          <a:p>
            <a:pPr>
              <a:spcAft>
                <a:spcPts val="1200"/>
              </a:spcAft>
            </a:pPr>
            <a:r>
              <a:rPr lang="en-US" dirty="0"/>
              <a:t>Aims at the integration of affordable eye-tracking technology and its applications into game-based learning: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applying adaptive learning strategies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in intelligent educational game-based environments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for personalized game-based learning experiences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466" y="3814269"/>
            <a:ext cx="2502981" cy="239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1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Eye-tracking based game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607" y="1118506"/>
            <a:ext cx="11152414" cy="5739494"/>
          </a:xfrm>
        </p:spPr>
        <p:txBody>
          <a:bodyPr>
            <a:normAutofit/>
          </a:bodyPr>
          <a:lstStyle/>
          <a:p>
            <a:r>
              <a:rPr lang="en-US" dirty="0"/>
              <a:t>Four key components: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eye-tracking interface </a:t>
            </a:r>
            <a:r>
              <a:rPr lang="en-US" dirty="0"/>
              <a:t>that dynamically captures and analyzes learners' eye tracks, saccades, and gaze data;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 </a:t>
            </a:r>
            <a:r>
              <a:rPr lang="en-US" b="1" dirty="0"/>
              <a:t>adaptive gaming engine </a:t>
            </a:r>
            <a:r>
              <a:rPr lang="en-US" dirty="0"/>
              <a:t>that interprets this data to modify in real-time both the: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 gameplay and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 didactic content;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built-in </a:t>
            </a:r>
            <a:r>
              <a:rPr lang="en-US" b="1" dirty="0"/>
              <a:t>player’s feedback mechanism </a:t>
            </a:r>
            <a:r>
              <a:rPr lang="en-US" dirty="0"/>
              <a:t>that provides insights to both learners and educators regarding the expected enhancement of: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 learning progress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 engagement and motivation, and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400" dirty="0"/>
              <a:t> excitement and UX,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together with a </a:t>
            </a:r>
            <a:r>
              <a:rPr lang="en-US" b="1" dirty="0"/>
              <a:t>player evaluation </a:t>
            </a:r>
            <a:r>
              <a:rPr lang="en-US" dirty="0"/>
              <a:t>of the affective loop (i.e., the parameters of the positive/negative affective feedback).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0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dirty="0"/>
              <a:t>Basic workflow: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 The eye-tracking interface is applied for detection patterns in eye movement, saccades, and gaze behavior, to identify topics/areas of interest and potential challenges faced by the learner. 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 Next, this information is used by the adaptive game engine to tailor both the gameplay and learning content integrated within the game. 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 By adjusting the challenges that align with both the current cognitive and emotional state of a particular learner, the adaptive educational game is expected to provoke and report:</a:t>
            </a:r>
          </a:p>
          <a:p>
            <a:pPr lvl="2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/>
              <a:t>a sustained engagement for achieving a better learning motivation and gaming experience, and</a:t>
            </a:r>
          </a:p>
          <a:p>
            <a:pPr lvl="2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/>
              <a:t>together with a player evaluation of the affective loop. 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dirty="0"/>
              <a:t> Additionally, the feedback mechanism could help educators understand individual learning dynamics and facilitate informed instructional decisions.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84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component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50" y="1808333"/>
            <a:ext cx="10769735" cy="414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44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/>
          <p:cNvSpPr/>
          <p:nvPr/>
        </p:nvSpPr>
        <p:spPr>
          <a:xfrm>
            <a:off x="-116378" y="-74821"/>
            <a:ext cx="12308378" cy="6704220"/>
          </a:xfrm>
          <a:prstGeom prst="roundRect">
            <a:avLst>
              <a:gd name="adj" fmla="val 208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50129"/>
            <a:ext cx="1047750" cy="365125"/>
          </a:xfrm>
        </p:spPr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43125" y="6583785"/>
            <a:ext cx="8278586" cy="365125"/>
          </a:xfrm>
        </p:spPr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78886" y="6550129"/>
            <a:ext cx="1238250" cy="365125"/>
          </a:xfrm>
        </p:spPr>
        <p:txBody>
          <a:bodyPr/>
          <a:lstStyle/>
          <a:p>
            <a:fld id="{75BBA16B-9D76-409E-A4DB-EDE76CDC68E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556000" y="131233"/>
            <a:ext cx="4399279" cy="20955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Eye-Tracking </a:t>
            </a:r>
          </a:p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Interface</a:t>
            </a: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60247" y="253152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Eye-Movement Capture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3247" y="778087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Saccade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8781" y="820420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Gaze Pattern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51779" y="1379223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Real-Time Data </a:t>
            </a:r>
            <a:r>
              <a:rPr lang="en-US" sz="1200" b="1" dirty="0"/>
              <a:t>Processing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2589" y="1684020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Challenge Identification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80180" y="1700953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Finding Area of Interest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3000" y="2578100"/>
            <a:ext cx="4162213" cy="275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Adaptive Game </a:t>
            </a:r>
          </a:p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Engine</a:t>
            </a: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41714" y="2632285"/>
            <a:ext cx="1159087" cy="43222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Data Interpretation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5522" y="3124204"/>
            <a:ext cx="1159087" cy="44111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Adaptation Decision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2448" y="4655819"/>
            <a:ext cx="1159087" cy="44830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Gameplay Modification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3246" y="3639820"/>
            <a:ext cx="1201421" cy="54271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Cognitive &amp; Emotional State Assessment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4056" y="4063153"/>
            <a:ext cx="1184478" cy="39031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Challenge Level Calibration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8534" y="4655821"/>
            <a:ext cx="1253067" cy="44873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Didactic Content Adjustment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3654" y="3983567"/>
            <a:ext cx="3939120" cy="23833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                 Affective Loop Mechanism</a:t>
            </a: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99968" y="4520354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Affective Loop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38139" y="5257799"/>
            <a:ext cx="1129679" cy="3903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Affective Loop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4979" y="5648113"/>
            <a:ext cx="1463619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Affective Feedback Assessment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19697" y="4442960"/>
            <a:ext cx="1244600" cy="4245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Negative Feedback Tuning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0" y="3064932"/>
            <a:ext cx="3498426" cy="333586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   Feedback  Mechanism</a:t>
            </a: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74981" y="3639819"/>
            <a:ext cx="972820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Engagement Metrics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9714" y="3555155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Motivation Assessment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182" y="5714153"/>
            <a:ext cx="115908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Learner Dashboard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066" y="4452619"/>
            <a:ext cx="1337734" cy="54271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Learning Progress Analytics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72733" y="4867486"/>
            <a:ext cx="1253067" cy="39031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UX &amp; Excitement Evaluation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334" y="5637953"/>
            <a:ext cx="1253067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Educator Insights Panel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631267" y="5520267"/>
            <a:ext cx="1253066" cy="3979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Game Tasks</a:t>
            </a:r>
          </a:p>
        </p:txBody>
      </p:sp>
      <p:sp>
        <p:nvSpPr>
          <p:cNvPr id="65" name="Smiley Face 64"/>
          <p:cNvSpPr/>
          <p:nvPr/>
        </p:nvSpPr>
        <p:spPr>
          <a:xfrm>
            <a:off x="6307669" y="5867400"/>
            <a:ext cx="355598" cy="333375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2467" y="5909730"/>
            <a:ext cx="71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Learner</a:t>
            </a:r>
          </a:p>
        </p:txBody>
      </p:sp>
      <p:sp>
        <p:nvSpPr>
          <p:cNvPr id="67" name="Smiley Face 66"/>
          <p:cNvSpPr/>
          <p:nvPr/>
        </p:nvSpPr>
        <p:spPr>
          <a:xfrm>
            <a:off x="3886202" y="5655735"/>
            <a:ext cx="351374" cy="312314"/>
          </a:xfrm>
          <a:prstGeom prst="smileyFac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16867" y="5427134"/>
            <a:ext cx="795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Educator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48134" y="228601"/>
            <a:ext cx="1143000" cy="42333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Eye-Tracking Camera</a:t>
            </a:r>
          </a:p>
        </p:txBody>
      </p:sp>
      <p:cxnSp>
        <p:nvCxnSpPr>
          <p:cNvPr id="72" name="Elbow Connector 71"/>
          <p:cNvCxnSpPr>
            <a:stCxn id="69" idx="1"/>
            <a:endCxn id="11" idx="3"/>
          </p:cNvCxnSpPr>
          <p:nvPr/>
        </p:nvCxnSpPr>
        <p:spPr>
          <a:xfrm rot="10800000">
            <a:off x="6519334" y="439842"/>
            <a:ext cx="1828800" cy="426"/>
          </a:xfrm>
          <a:prstGeom prst="bentConnector3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11" idx="2"/>
            <a:endCxn id="13" idx="0"/>
          </p:cNvCxnSpPr>
          <p:nvPr/>
        </p:nvCxnSpPr>
        <p:spPr>
          <a:xfrm rot="16200000" flipH="1">
            <a:off x="6537114" y="29209"/>
            <a:ext cx="193888" cy="138853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/>
          <p:cNvCxnSpPr>
            <a:stCxn id="11" idx="1"/>
            <a:endCxn id="12" idx="0"/>
          </p:cNvCxnSpPr>
          <p:nvPr/>
        </p:nvCxnSpPr>
        <p:spPr>
          <a:xfrm rot="10800000" flipV="1">
            <a:off x="4542791" y="439841"/>
            <a:ext cx="817456" cy="338245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12" idx="2"/>
            <a:endCxn id="14" idx="0"/>
          </p:cNvCxnSpPr>
          <p:nvPr/>
        </p:nvCxnSpPr>
        <p:spPr>
          <a:xfrm rot="16200000" flipH="1">
            <a:off x="5123179" y="571079"/>
            <a:ext cx="227756" cy="1388532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13" idx="1"/>
            <a:endCxn id="14" idx="3"/>
          </p:cNvCxnSpPr>
          <p:nvPr/>
        </p:nvCxnSpPr>
        <p:spPr>
          <a:xfrm rot="10800000" flipV="1">
            <a:off x="6510867" y="1007109"/>
            <a:ext cx="237915" cy="558803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14" idx="1"/>
            <a:endCxn id="16" idx="0"/>
          </p:cNvCxnSpPr>
          <p:nvPr/>
        </p:nvCxnSpPr>
        <p:spPr>
          <a:xfrm rot="10800000" flipV="1">
            <a:off x="4559725" y="1565913"/>
            <a:ext cx="792055" cy="135040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14" idx="2"/>
            <a:endCxn id="15" idx="1"/>
          </p:cNvCxnSpPr>
          <p:nvPr/>
        </p:nvCxnSpPr>
        <p:spPr>
          <a:xfrm rot="16200000" flipH="1">
            <a:off x="6242903" y="1441023"/>
            <a:ext cx="118107" cy="741266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cxnSpLocks/>
            <a:endCxn id="19" idx="1"/>
          </p:cNvCxnSpPr>
          <p:nvPr/>
        </p:nvCxnSpPr>
        <p:spPr>
          <a:xfrm rot="16200000" flipH="1">
            <a:off x="4507123" y="2113808"/>
            <a:ext cx="782534" cy="686647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/>
          <p:cNvCxnSpPr>
            <a:cxnSpLocks/>
            <a:stCxn id="15" idx="2"/>
            <a:endCxn id="19" idx="3"/>
          </p:cNvCxnSpPr>
          <p:nvPr/>
        </p:nvCxnSpPr>
        <p:spPr>
          <a:xfrm rot="5400000">
            <a:off x="6430968" y="2027233"/>
            <a:ext cx="790999" cy="851332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stCxn id="15" idx="3"/>
            <a:endCxn id="27" idx="0"/>
          </p:cNvCxnSpPr>
          <p:nvPr/>
        </p:nvCxnSpPr>
        <p:spPr>
          <a:xfrm>
            <a:off x="7831676" y="1870710"/>
            <a:ext cx="947836" cy="2649644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cxnSpLocks/>
            <a:stCxn id="19" idx="2"/>
          </p:cNvCxnSpPr>
          <p:nvPr/>
        </p:nvCxnSpPr>
        <p:spPr>
          <a:xfrm rot="5400000">
            <a:off x="5391368" y="2812420"/>
            <a:ext cx="177799" cy="681983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20" idx="2"/>
            <a:endCxn id="22" idx="0"/>
          </p:cNvCxnSpPr>
          <p:nvPr/>
        </p:nvCxnSpPr>
        <p:spPr>
          <a:xfrm rot="16200000" flipH="1">
            <a:off x="5157259" y="2963122"/>
            <a:ext cx="74504" cy="127889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/>
          <p:cNvCxnSpPr>
            <a:stCxn id="22" idx="3"/>
            <a:endCxn id="23" idx="0"/>
          </p:cNvCxnSpPr>
          <p:nvPr/>
        </p:nvCxnSpPr>
        <p:spPr>
          <a:xfrm>
            <a:off x="6434667" y="3911177"/>
            <a:ext cx="711628" cy="151976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/>
          <p:cNvCxnSpPr>
            <a:cxnSpLocks/>
            <a:stCxn id="23" idx="1"/>
            <a:endCxn id="21" idx="0"/>
          </p:cNvCxnSpPr>
          <p:nvPr/>
        </p:nvCxnSpPr>
        <p:spPr>
          <a:xfrm rot="10800000" flipV="1">
            <a:off x="5761992" y="4258309"/>
            <a:ext cx="792064" cy="397509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cxnSpLocks/>
            <a:stCxn id="23" idx="2"/>
            <a:endCxn id="24" idx="0"/>
          </p:cNvCxnSpPr>
          <p:nvPr/>
        </p:nvCxnSpPr>
        <p:spPr>
          <a:xfrm rot="5400000">
            <a:off x="7019505" y="4529030"/>
            <a:ext cx="202355" cy="51227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/>
          <p:cNvCxnSpPr>
            <a:cxnSpLocks/>
            <a:stCxn id="21" idx="2"/>
            <a:endCxn id="64" idx="0"/>
          </p:cNvCxnSpPr>
          <p:nvPr/>
        </p:nvCxnSpPr>
        <p:spPr>
          <a:xfrm rot="5400000">
            <a:off x="5301827" y="5060101"/>
            <a:ext cx="416139" cy="504192"/>
          </a:xfrm>
          <a:prstGeom prst="bentConnector3">
            <a:avLst>
              <a:gd name="adj1" fmla="val 3402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/>
          <p:cNvCxnSpPr>
            <a:cxnSpLocks/>
            <a:stCxn id="24" idx="2"/>
            <a:endCxn id="64" idx="3"/>
          </p:cNvCxnSpPr>
          <p:nvPr/>
        </p:nvCxnSpPr>
        <p:spPr>
          <a:xfrm rot="5400000">
            <a:off x="6182362" y="4806527"/>
            <a:ext cx="614679" cy="1210735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>
            <a:cxnSpLocks/>
            <a:stCxn id="64" idx="2"/>
            <a:endCxn id="65" idx="2"/>
          </p:cNvCxnSpPr>
          <p:nvPr/>
        </p:nvCxnSpPr>
        <p:spPr>
          <a:xfrm rot="16200000" flipH="1">
            <a:off x="5724790" y="5451209"/>
            <a:ext cx="115888" cy="1049869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headEnd type="triangl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/>
          <p:cNvCxnSpPr>
            <a:stCxn id="23" idx="1"/>
            <a:endCxn id="50" idx="3"/>
          </p:cNvCxnSpPr>
          <p:nvPr/>
        </p:nvCxnSpPr>
        <p:spPr>
          <a:xfrm rot="10800000">
            <a:off x="3098802" y="3741846"/>
            <a:ext cx="3455255" cy="51646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/>
          <p:cNvCxnSpPr>
            <a:stCxn id="50" idx="0"/>
            <a:endCxn id="20" idx="1"/>
          </p:cNvCxnSpPr>
          <p:nvPr/>
        </p:nvCxnSpPr>
        <p:spPr>
          <a:xfrm rot="5400000" flipH="1" flipV="1">
            <a:off x="3142193" y="2721826"/>
            <a:ext cx="210395" cy="1456264"/>
          </a:xfrm>
          <a:prstGeom prst="bentConnector2">
            <a:avLst/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/>
          <p:cNvCxnSpPr>
            <a:stCxn id="22" idx="1"/>
            <a:endCxn id="49" idx="2"/>
          </p:cNvCxnSpPr>
          <p:nvPr/>
        </p:nvCxnSpPr>
        <p:spPr>
          <a:xfrm rot="10800000" flipV="1">
            <a:off x="961392" y="3911177"/>
            <a:ext cx="4271855" cy="102022"/>
          </a:xfrm>
          <a:prstGeom prst="bentConnector4">
            <a:avLst>
              <a:gd name="adj1" fmla="val 44307"/>
              <a:gd name="adj2" fmla="val 431956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Elbow Connector 144"/>
          <p:cNvCxnSpPr>
            <a:cxnSpLocks/>
            <a:stCxn id="30" idx="3"/>
            <a:endCxn id="20" idx="3"/>
          </p:cNvCxnSpPr>
          <p:nvPr/>
        </p:nvCxnSpPr>
        <p:spPr>
          <a:xfrm flipH="1" flipV="1">
            <a:off x="5134609" y="3344760"/>
            <a:ext cx="6633209" cy="2108196"/>
          </a:xfrm>
          <a:prstGeom prst="bentConnector3">
            <a:avLst>
              <a:gd name="adj1" fmla="val -1817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Elbow Connector 152"/>
          <p:cNvCxnSpPr>
            <a:stCxn id="22" idx="1"/>
            <a:endCxn id="52" idx="3"/>
          </p:cNvCxnSpPr>
          <p:nvPr/>
        </p:nvCxnSpPr>
        <p:spPr>
          <a:xfrm rot="10800000" flipV="1">
            <a:off x="1574800" y="3911176"/>
            <a:ext cx="3658446" cy="812799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/>
          <p:cNvCxnSpPr>
            <a:stCxn id="52" idx="1"/>
            <a:endCxn id="20" idx="0"/>
          </p:cNvCxnSpPr>
          <p:nvPr/>
        </p:nvCxnSpPr>
        <p:spPr>
          <a:xfrm rot="10800000" flipH="1">
            <a:off x="237066" y="3124204"/>
            <a:ext cx="4318000" cy="1599772"/>
          </a:xfrm>
          <a:prstGeom prst="bentConnector4">
            <a:avLst>
              <a:gd name="adj1" fmla="val -3754"/>
              <a:gd name="adj2" fmla="val 111172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/>
          <p:cNvCxnSpPr>
            <a:stCxn id="49" idx="3"/>
            <a:endCxn id="51" idx="3"/>
          </p:cNvCxnSpPr>
          <p:nvPr/>
        </p:nvCxnSpPr>
        <p:spPr>
          <a:xfrm>
            <a:off x="1447801" y="3826509"/>
            <a:ext cx="135468" cy="2074334"/>
          </a:xfrm>
          <a:prstGeom prst="bentConnector3">
            <a:avLst>
              <a:gd name="adj1" fmla="val 268748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/>
          <p:cNvCxnSpPr>
            <a:stCxn id="49" idx="3"/>
            <a:endCxn id="54" idx="1"/>
          </p:cNvCxnSpPr>
          <p:nvPr/>
        </p:nvCxnSpPr>
        <p:spPr>
          <a:xfrm>
            <a:off x="1447801" y="3826509"/>
            <a:ext cx="499533" cy="199813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53" idx="2"/>
            <a:endCxn id="51" idx="0"/>
          </p:cNvCxnSpPr>
          <p:nvPr/>
        </p:nvCxnSpPr>
        <p:spPr>
          <a:xfrm rot="5400000">
            <a:off x="1573320" y="4688206"/>
            <a:ext cx="456354" cy="159554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/>
          <p:cNvCxnSpPr>
            <a:cxnSpLocks/>
            <a:stCxn id="53" idx="3"/>
            <a:endCxn id="65" idx="4"/>
          </p:cNvCxnSpPr>
          <p:nvPr/>
        </p:nvCxnSpPr>
        <p:spPr>
          <a:xfrm>
            <a:off x="3225800" y="5062643"/>
            <a:ext cx="3259668" cy="1138132"/>
          </a:xfrm>
          <a:prstGeom prst="bentConnector4">
            <a:avLst>
              <a:gd name="adj1" fmla="val 37072"/>
              <a:gd name="adj2" fmla="val 120086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Elbow Connector 177"/>
          <p:cNvCxnSpPr>
            <a:cxnSpLocks/>
            <a:stCxn id="51" idx="2"/>
            <a:endCxn id="65" idx="2"/>
          </p:cNvCxnSpPr>
          <p:nvPr/>
        </p:nvCxnSpPr>
        <p:spPr>
          <a:xfrm rot="5400000" flipH="1" flipV="1">
            <a:off x="3628974" y="3408839"/>
            <a:ext cx="53445" cy="5303943"/>
          </a:xfrm>
          <a:prstGeom prst="bentConnector4">
            <a:avLst>
              <a:gd name="adj1" fmla="val -427729"/>
              <a:gd name="adj2" fmla="val 55463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180"/>
          <p:cNvCxnSpPr>
            <a:cxnSpLocks/>
            <a:stCxn id="54" idx="3"/>
            <a:endCxn id="67" idx="2"/>
          </p:cNvCxnSpPr>
          <p:nvPr/>
        </p:nvCxnSpPr>
        <p:spPr>
          <a:xfrm flipV="1">
            <a:off x="3200401" y="5811892"/>
            <a:ext cx="685801" cy="1275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Elbow Connector 184"/>
          <p:cNvCxnSpPr>
            <a:stCxn id="50" idx="2"/>
            <a:endCxn id="54" idx="1"/>
          </p:cNvCxnSpPr>
          <p:nvPr/>
        </p:nvCxnSpPr>
        <p:spPr>
          <a:xfrm rot="5400000">
            <a:off x="1285242" y="4590627"/>
            <a:ext cx="1896108" cy="571924"/>
          </a:xfrm>
          <a:prstGeom prst="bentConnector4">
            <a:avLst>
              <a:gd name="adj1" fmla="val 45077"/>
              <a:gd name="adj2" fmla="val 154774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lbow Connector 190"/>
          <p:cNvCxnSpPr>
            <a:stCxn id="49" idx="1"/>
            <a:endCxn id="51" idx="1"/>
          </p:cNvCxnSpPr>
          <p:nvPr/>
        </p:nvCxnSpPr>
        <p:spPr>
          <a:xfrm rot="10800000" flipV="1">
            <a:off x="424183" y="3826509"/>
            <a:ext cx="50799" cy="2074334"/>
          </a:xfrm>
          <a:prstGeom prst="bentConnector3">
            <a:avLst>
              <a:gd name="adj1" fmla="val 550009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/>
          <p:cNvCxnSpPr>
            <a:cxnSpLocks/>
            <a:endCxn id="51" idx="0"/>
          </p:cNvCxnSpPr>
          <p:nvPr/>
        </p:nvCxnSpPr>
        <p:spPr>
          <a:xfrm rot="16200000" flipH="1">
            <a:off x="486198" y="5196625"/>
            <a:ext cx="718822" cy="316234"/>
          </a:xfrm>
          <a:prstGeom prst="bentConnector3">
            <a:avLst>
              <a:gd name="adj1" fmla="val 54626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/>
          <p:cNvSpPr/>
          <p:nvPr/>
        </p:nvSpPr>
        <p:spPr>
          <a:xfrm>
            <a:off x="8753419" y="6596804"/>
            <a:ext cx="3081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Detailed component diagram</a:t>
            </a:r>
          </a:p>
        </p:txBody>
      </p:sp>
      <p:cxnSp>
        <p:nvCxnSpPr>
          <p:cNvPr id="203" name="Elbow Connector 202"/>
          <p:cNvCxnSpPr>
            <a:cxnSpLocks/>
            <a:stCxn id="23" idx="3"/>
            <a:endCxn id="27" idx="1"/>
          </p:cNvCxnSpPr>
          <p:nvPr/>
        </p:nvCxnSpPr>
        <p:spPr>
          <a:xfrm>
            <a:off x="7738534" y="4258310"/>
            <a:ext cx="461434" cy="44873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Elbow Connector 206"/>
          <p:cNvCxnSpPr>
            <a:stCxn id="49" idx="0"/>
            <a:endCxn id="50" idx="1"/>
          </p:cNvCxnSpPr>
          <p:nvPr/>
        </p:nvCxnSpPr>
        <p:spPr>
          <a:xfrm rot="16200000" flipH="1">
            <a:off x="1399539" y="3201671"/>
            <a:ext cx="102026" cy="978323"/>
          </a:xfrm>
          <a:prstGeom prst="bentConnector4">
            <a:avLst>
              <a:gd name="adj1" fmla="val -224061"/>
              <a:gd name="adj2" fmla="val 74859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lbow Connector 218"/>
          <p:cNvCxnSpPr>
            <a:cxnSpLocks/>
            <a:stCxn id="27" idx="3"/>
          </p:cNvCxnSpPr>
          <p:nvPr/>
        </p:nvCxnSpPr>
        <p:spPr>
          <a:xfrm flipV="1">
            <a:off x="9359055" y="4497993"/>
            <a:ext cx="1060642" cy="209051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lbow Connector 221"/>
          <p:cNvCxnSpPr>
            <a:cxnSpLocks/>
            <a:stCxn id="27" idx="2"/>
            <a:endCxn id="96" idx="0"/>
          </p:cNvCxnSpPr>
          <p:nvPr/>
        </p:nvCxnSpPr>
        <p:spPr>
          <a:xfrm rot="16200000" flipH="1">
            <a:off x="8873416" y="4799829"/>
            <a:ext cx="142658" cy="330467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Elbow Connector 225"/>
          <p:cNvCxnSpPr>
            <a:cxnSpLocks/>
            <a:stCxn id="96" idx="2"/>
            <a:endCxn id="31" idx="0"/>
          </p:cNvCxnSpPr>
          <p:nvPr/>
        </p:nvCxnSpPr>
        <p:spPr>
          <a:xfrm rot="16200000" flipH="1">
            <a:off x="9039214" y="5480537"/>
            <a:ext cx="238341" cy="96810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Elbow Connector 230"/>
          <p:cNvCxnSpPr>
            <a:cxnSpLocks/>
            <a:stCxn id="47" idx="1"/>
            <a:endCxn id="31" idx="3"/>
          </p:cNvCxnSpPr>
          <p:nvPr/>
        </p:nvCxnSpPr>
        <p:spPr>
          <a:xfrm rot="10800000" flipV="1">
            <a:off x="9938599" y="4655223"/>
            <a:ext cx="481099" cy="1179580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Elbow Connector 233"/>
          <p:cNvCxnSpPr>
            <a:cxnSpLocks/>
            <a:stCxn id="30" idx="2"/>
            <a:endCxn id="54" idx="2"/>
          </p:cNvCxnSpPr>
          <p:nvPr/>
        </p:nvCxnSpPr>
        <p:spPr>
          <a:xfrm rot="5400000">
            <a:off x="6706814" y="1515168"/>
            <a:ext cx="363220" cy="8629111"/>
          </a:xfrm>
          <a:prstGeom prst="bentConnector3">
            <a:avLst>
              <a:gd name="adj1" fmla="val 17438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Elbow Connector 236"/>
          <p:cNvCxnSpPr>
            <a:stCxn id="52" idx="2"/>
            <a:endCxn id="54" idx="0"/>
          </p:cNvCxnSpPr>
          <p:nvPr/>
        </p:nvCxnSpPr>
        <p:spPr>
          <a:xfrm rot="16200000" flipH="1">
            <a:off x="1418590" y="4482674"/>
            <a:ext cx="642621" cy="1667935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Elbow Connector 239"/>
          <p:cNvCxnSpPr>
            <a:stCxn id="50" idx="2"/>
            <a:endCxn id="54" idx="3"/>
          </p:cNvCxnSpPr>
          <p:nvPr/>
        </p:nvCxnSpPr>
        <p:spPr>
          <a:xfrm rot="16200000" flipH="1">
            <a:off x="1911775" y="4536017"/>
            <a:ext cx="1896108" cy="681143"/>
          </a:xfrm>
          <a:prstGeom prst="bentConnector4">
            <a:avLst>
              <a:gd name="adj1" fmla="val 45077"/>
              <a:gd name="adj2" fmla="val 133561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Elbow Connector 242"/>
          <p:cNvCxnSpPr>
            <a:cxnSpLocks/>
            <a:stCxn id="31" idx="1"/>
            <a:endCxn id="24" idx="3"/>
          </p:cNvCxnSpPr>
          <p:nvPr/>
        </p:nvCxnSpPr>
        <p:spPr>
          <a:xfrm rot="10800000">
            <a:off x="7721601" y="4880189"/>
            <a:ext cx="753378" cy="954615"/>
          </a:xfrm>
          <a:prstGeom prst="bentConnector3">
            <a:avLst>
              <a:gd name="adj1" fmla="val 44483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Elbow Connector 259"/>
          <p:cNvCxnSpPr>
            <a:cxnSpLocks/>
            <a:stCxn id="31" idx="2"/>
            <a:endCxn id="30" idx="1"/>
          </p:cNvCxnSpPr>
          <p:nvPr/>
        </p:nvCxnSpPr>
        <p:spPr>
          <a:xfrm rot="5400000" flipH="1" flipV="1">
            <a:off x="9638195" y="5021550"/>
            <a:ext cx="568537" cy="1431350"/>
          </a:xfrm>
          <a:prstGeom prst="bentConnector4">
            <a:avLst>
              <a:gd name="adj1" fmla="val -24125"/>
              <a:gd name="adj2" fmla="val 75564"/>
            </a:avLst>
          </a:prstGeom>
          <a:ln w="158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C56738FB-3388-49F7-8D1C-40C5D1149074}"/>
              </a:ext>
            </a:extLst>
          </p:cNvPr>
          <p:cNvSpPr/>
          <p:nvPr/>
        </p:nvSpPr>
        <p:spPr>
          <a:xfrm>
            <a:off x="8474979" y="5036392"/>
            <a:ext cx="1270000" cy="3733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Positive Feedback Tuning</a:t>
            </a:r>
          </a:p>
        </p:txBody>
      </p:sp>
    </p:spTree>
    <p:extLst>
      <p:ext uri="{BB962C8B-B14F-4D97-AF65-F5344CB8AC3E}">
        <p14:creationId xmlns:p14="http://schemas.microsoft.com/office/powerpoint/2010/main" val="3606861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607" y="1600200"/>
            <a:ext cx="11152414" cy="4857749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Identification of area of interest and challenge perceived by the player</a:t>
            </a:r>
          </a:p>
          <a:p>
            <a:pPr>
              <a:spcAft>
                <a:spcPts val="1200"/>
              </a:spcAft>
            </a:pPr>
            <a:r>
              <a:rPr lang="en-US" dirty="0"/>
              <a:t>Real-time assessment of engagement and motivation</a:t>
            </a:r>
          </a:p>
          <a:p>
            <a:pPr>
              <a:spcAft>
                <a:spcPts val="1200"/>
              </a:spcAft>
            </a:pPr>
            <a:r>
              <a:rPr lang="en-US" dirty="0"/>
              <a:t>UX and excitement evaluation</a:t>
            </a:r>
          </a:p>
          <a:p>
            <a:pPr>
              <a:spcAft>
                <a:spcPts val="1200"/>
              </a:spcAft>
            </a:pPr>
            <a:r>
              <a:rPr lang="en-US" dirty="0"/>
              <a:t>Monitoring the affective loop by combining positive and negative feedback</a:t>
            </a:r>
          </a:p>
          <a:p>
            <a:pPr>
              <a:spcAft>
                <a:spcPts val="1200"/>
              </a:spcAft>
            </a:pPr>
            <a:r>
              <a:rPr lang="en-US" dirty="0"/>
              <a:t>Affective analytics</a:t>
            </a:r>
          </a:p>
          <a:p>
            <a:pPr>
              <a:spcAft>
                <a:spcPts val="1200"/>
              </a:spcAft>
            </a:pPr>
            <a:r>
              <a:rPr lang="en-US" dirty="0"/>
              <a:t>Learner progress analytics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73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607" y="1210962"/>
            <a:ext cx="11152414" cy="524698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The suggested architecture integrates relatively cheap and affordable eye-tracking technology into adaptive educational video games and virtual reality environments, in order to create more personalized educational experiences. </a:t>
            </a:r>
          </a:p>
          <a:p>
            <a:pPr>
              <a:spcAft>
                <a:spcPts val="1200"/>
              </a:spcAft>
            </a:pPr>
            <a:r>
              <a:rPr lang="en-US" dirty="0"/>
              <a:t>Thus, such environments are supposed not only to enhance game-based learning engagement but also to improve learning outcomes. </a:t>
            </a:r>
          </a:p>
          <a:p>
            <a:pPr>
              <a:spcAft>
                <a:spcPts val="1200"/>
              </a:spcAft>
            </a:pPr>
            <a:r>
              <a:rPr lang="en-US" dirty="0"/>
              <a:t>Intelligent educational environments, applying eye-tracking-based adaptation, provide a significant opportunity to achieve personalized learning that is more effective and responsive to the needs of each learner.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07/06/2025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 for personalized game-based learning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93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027" y="2010032"/>
            <a:ext cx="11318421" cy="42749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900" dirty="0">
                <a:solidFill>
                  <a:schemeClr val="accent5">
                    <a:lumMod val="75000"/>
                  </a:schemeClr>
                </a:solidFill>
              </a:rPr>
              <a:t>Thank you for your attention!</a:t>
            </a:r>
          </a:p>
          <a:p>
            <a:pPr marL="0" indent="0">
              <a:buNone/>
            </a:pP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bg-BG" sz="3000" b="1" dirty="0"/>
              <a:t>Контакти:</a:t>
            </a:r>
          </a:p>
          <a:p>
            <a:pPr marL="0" indent="0">
              <a:buNone/>
            </a:pPr>
            <a:r>
              <a:rPr lang="en-US" sz="3000" dirty="0">
                <a:solidFill>
                  <a:schemeClr val="accent5">
                    <a:lumMod val="75000"/>
                  </a:schemeClr>
                </a:solidFill>
                <a:hlinkClick r:id="rId2"/>
              </a:rPr>
              <a:t>bbontchev@fmi.uni-sofia.bg</a:t>
            </a:r>
            <a:endParaRPr lang="bg-BG" sz="3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accent5">
                    <a:lumMod val="75000"/>
                  </a:schemeClr>
                </a:solidFill>
                <a:hlinkClick r:id="rId3"/>
              </a:rPr>
              <a:t>ddessy@gmai.com</a:t>
            </a:r>
            <a:endParaRPr lang="en-US" sz="3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accent5">
                    <a:lumMod val="75000"/>
                  </a:schemeClr>
                </a:solidFill>
                <a:hlinkClick r:id="rId4"/>
              </a:rPr>
              <a:t>valentina.terzieva@iict.bas.bg</a:t>
            </a:r>
            <a:r>
              <a:rPr lang="en-US" sz="3000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sz="3600" b="1" dirty="0">
              <a:latin typeface="+mn-lt"/>
            </a:endParaRPr>
          </a:p>
          <a:p>
            <a:pPr marL="0" indent="0">
              <a:buNone/>
            </a:pPr>
            <a:r>
              <a:rPr lang="bg-BG" sz="3000" b="1" dirty="0"/>
              <a:t>Благодарност</a:t>
            </a:r>
            <a:r>
              <a:rPr lang="en-US" sz="3000" b="1" dirty="0"/>
              <a:t>:</a:t>
            </a:r>
            <a:endParaRPr lang="bg-BG" sz="3000" b="1" dirty="0"/>
          </a:p>
          <a:p>
            <a:pPr marL="0" indent="0">
              <a:buNone/>
            </a:pP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Изследването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, довело до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тези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резултати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, е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финансирано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по проект MOTIVATE,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финансиран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от Фонд „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Научни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изследвания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“, Договор за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безвъзмездна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финансова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000" dirty="0" err="1">
                <a:solidFill>
                  <a:schemeClr val="accent5">
                    <a:lumMod val="75000"/>
                  </a:schemeClr>
                </a:solidFill>
              </a:rPr>
              <a:t>помощ</a:t>
            </a:r>
            <a:r>
              <a:rPr lang="ru-RU" sz="3000" dirty="0">
                <a:solidFill>
                  <a:schemeClr val="accent5">
                    <a:lumMod val="75000"/>
                  </a:schemeClr>
                </a:solidFill>
              </a:rPr>
              <a:t> № КП-06-Н85/2 от 12.05.2024 г.</a:t>
            </a:r>
            <a:endParaRPr lang="bg-BG" sz="2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4/22/2025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Eye-tracking-based adaptation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BA16B-9D76-409E-A4DB-EDE76CDC68E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59027" y="0"/>
            <a:ext cx="11532973" cy="1219200"/>
          </a:xfrm>
          <a:prstGeom prst="roundRect">
            <a:avLst>
              <a:gd name="adj" fmla="val 5181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631" y="0"/>
            <a:ext cx="2647098" cy="12109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2606" y="2460391"/>
            <a:ext cx="4670853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</a:t>
            </a:r>
            <a:r>
              <a:rPr lang="en-US" sz="13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72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&amp;</a:t>
            </a:r>
            <a:r>
              <a:rPr lang="en-US" sz="13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04727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1428</Words>
  <Application>Microsoft Office PowerPoint</Application>
  <PresentationFormat>Widescreen</PresentationFormat>
  <Paragraphs>287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Eye-tracking-based adaptation  for personalized game-based learning  within intelligent educational environments</vt:lpstr>
      <vt:lpstr>Agenda</vt:lpstr>
      <vt:lpstr>Educational video games</vt:lpstr>
      <vt:lpstr>Player-centric adaptation of educational video games</vt:lpstr>
      <vt:lpstr>Previous research of the team</vt:lpstr>
      <vt:lpstr>The adaptation model of </vt:lpstr>
      <vt:lpstr>Emotion-based dynamic adaptation control </vt:lpstr>
      <vt:lpstr>The measuring process</vt:lpstr>
      <vt:lpstr>Affect inferred by psychophysiological signals</vt:lpstr>
      <vt:lpstr>Emotions inferred by visual expressions analysis</vt:lpstr>
      <vt:lpstr>Emotion-based game adaptation 1/2</vt:lpstr>
      <vt:lpstr>Emotion-based game adaptation 2/2</vt:lpstr>
      <vt:lpstr>Current research in the scope of the MOTIVATE project</vt:lpstr>
      <vt:lpstr>Eye-tracking based game adaptation</vt:lpstr>
      <vt:lpstr>Workflow</vt:lpstr>
      <vt:lpstr>Basic component diagram</vt:lpstr>
      <vt:lpstr>PowerPoint Presentation</vt:lpstr>
      <vt:lpstr>Important issues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Presentation</dc:title>
  <dc:creator>Dessislava Vassileva</dc:creator>
  <cp:lastModifiedBy>user</cp:lastModifiedBy>
  <cp:revision>45</cp:revision>
  <dcterms:created xsi:type="dcterms:W3CDTF">2025-04-22T07:20:44Z</dcterms:created>
  <dcterms:modified xsi:type="dcterms:W3CDTF">2025-07-22T12:35:02Z</dcterms:modified>
</cp:coreProperties>
</file>