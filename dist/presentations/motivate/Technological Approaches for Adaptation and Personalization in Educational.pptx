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8"/>
  </p:notesMasterIdLst>
  <p:sldIdLst>
    <p:sldId id="256" r:id="rId5"/>
    <p:sldId id="25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80" r:id="rId14"/>
    <p:sldId id="266" r:id="rId15"/>
    <p:sldId id="277" r:id="rId16"/>
    <p:sldId id="268" r:id="rId17"/>
    <p:sldId id="269" r:id="rId18"/>
    <p:sldId id="270" r:id="rId19"/>
    <p:sldId id="271" r:id="rId20"/>
    <p:sldId id="278" r:id="rId21"/>
    <p:sldId id="279" r:id="rId22"/>
    <p:sldId id="272" r:id="rId23"/>
    <p:sldId id="273" r:id="rId24"/>
    <p:sldId id="274" r:id="rId25"/>
    <p:sldId id="275" r:id="rId26"/>
    <p:sldId id="276" r:id="rId2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A7E8"/>
    <a:srgbClr val="5E6AD8"/>
    <a:srgbClr val="939BE5"/>
    <a:srgbClr val="F9E7F7"/>
    <a:srgbClr val="F9CBB1"/>
    <a:srgbClr val="9FFFCA"/>
    <a:srgbClr val="D3B5E9"/>
    <a:srgbClr val="FFBDBD"/>
    <a:srgbClr val="F6FCBA"/>
    <a:srgbClr val="E4D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4F9043-4A09-48BF-B7FD-FF1C26E427C7}" type="doc">
      <dgm:prSet loTypeId="urn:microsoft.com/office/officeart/2005/8/layout/process1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ES"/>
        </a:p>
      </dgm:t>
    </dgm:pt>
    <dgm:pt modelId="{5A46755A-08D7-440A-8EEE-B9E86D67F8BB}">
      <dgm:prSet phldrT="[Text]" custT="1"/>
      <dgm:spPr>
        <a:solidFill>
          <a:srgbClr val="6873DA"/>
        </a:solidFill>
        <a:ln>
          <a:gradFill>
            <a:gsLst>
              <a:gs pos="0">
                <a:schemeClr val="accent4">
                  <a:lumMod val="20000"/>
                  <a:lumOff val="80000"/>
                </a:schemeClr>
              </a:gs>
              <a:gs pos="46000">
                <a:schemeClr val="accent1">
                  <a:lumMod val="45000"/>
                  <a:lumOff val="55000"/>
                </a:schemeClr>
              </a:gs>
              <a:gs pos="67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a:ln>
      </dgm:spPr>
      <dgm:t>
        <a:bodyPr anchor="t"/>
        <a:lstStyle/>
        <a:p>
          <a:pPr>
            <a:buNone/>
          </a:pPr>
          <a:r>
            <a:rPr lang="es-ES" sz="3200" b="1" i="0" dirty="0">
              <a:solidFill>
                <a:schemeClr val="accent4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PRISMA</a:t>
          </a:r>
        </a:p>
        <a:p>
          <a:pPr>
            <a:buNone/>
          </a:pPr>
          <a:r>
            <a:rPr lang="es-ES" sz="2800" b="0" i="0" dirty="0" err="1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Systematic</a:t>
          </a:r>
          <a:r>
            <a:rPr lang="es-ES" sz="2800" b="0" i="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 </a:t>
          </a:r>
          <a:r>
            <a:rPr lang="es-ES" sz="2800" b="0" i="0" dirty="0" err="1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quantitative</a:t>
          </a:r>
          <a:r>
            <a:rPr lang="es-ES" sz="2800" b="0" i="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 </a:t>
          </a:r>
          <a:r>
            <a:rPr lang="es-ES" sz="2800" b="0" i="0" dirty="0" err="1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review</a:t>
          </a:r>
          <a:r>
            <a:rPr lang="es-ES" sz="2800" b="0" i="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 </a:t>
          </a:r>
          <a:r>
            <a:rPr lang="es-ES" sz="2800" b="0" i="0" dirty="0" err="1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methodology</a:t>
          </a:r>
          <a:endParaRPr lang="es-ES" sz="2800" dirty="0"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F3AB5CE6-1B3B-468A-B0A3-C3FAD05150CF}" type="parTrans" cxnId="{E2D41B19-9B77-4B0E-A34E-32C3F3BC18EF}">
      <dgm:prSet/>
      <dgm:spPr/>
      <dgm:t>
        <a:bodyPr/>
        <a:lstStyle/>
        <a:p>
          <a:endParaRPr lang="es-ES"/>
        </a:p>
      </dgm:t>
    </dgm:pt>
    <dgm:pt modelId="{C88C03B3-E18E-46D3-A5AF-B3F7255D6C43}" type="sibTrans" cxnId="{E2D41B19-9B77-4B0E-A34E-32C3F3BC18EF}">
      <dgm:prSet/>
      <dgm:spPr/>
      <dgm:t>
        <a:bodyPr/>
        <a:lstStyle/>
        <a:p>
          <a:endParaRPr lang="es-ES"/>
        </a:p>
      </dgm:t>
    </dgm:pt>
    <dgm:pt modelId="{E1E8A4DC-0231-419C-99B9-BF4565353E20}">
      <dgm:prSet phldrT="[Text]" custT="1"/>
      <dgm:spPr>
        <a:solidFill>
          <a:srgbClr val="6873DA"/>
        </a:solidFill>
      </dgm:spPr>
      <dgm:t>
        <a:bodyPr anchor="t"/>
        <a:lstStyle/>
        <a:p>
          <a:pPr>
            <a:buNone/>
          </a:pPr>
          <a:r>
            <a:rPr lang="es-ES" sz="3200" b="1" i="0" dirty="0" err="1">
              <a:solidFill>
                <a:schemeClr val="accent4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ATLAS.ti</a:t>
          </a:r>
          <a:endParaRPr lang="es-ES" sz="3200" b="1" i="0" dirty="0">
            <a:solidFill>
              <a:schemeClr val="accent4">
                <a:lumMod val="40000"/>
                <a:lumOff val="6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  <a:p>
          <a:pPr>
            <a:buNone/>
          </a:pPr>
          <a:r>
            <a:rPr lang="es-ES" sz="2800" b="0" i="0" dirty="0" err="1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Qualitative</a:t>
          </a:r>
          <a:r>
            <a:rPr lang="es-ES" sz="2800" b="0" i="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 </a:t>
          </a:r>
          <a:r>
            <a:rPr lang="es-ES" sz="2800" b="0" i="0" dirty="0" err="1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content</a:t>
          </a:r>
          <a:r>
            <a:rPr lang="es-ES" sz="2800" b="0" i="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 </a:t>
          </a:r>
          <a:r>
            <a:rPr lang="es-ES" sz="2800" b="0" i="0" dirty="0" err="1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analysis</a:t>
          </a:r>
          <a:r>
            <a:rPr lang="es-ES" sz="2800" b="0" i="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 </a:t>
          </a:r>
          <a:r>
            <a:rPr lang="es-ES" sz="2800" b="0" i="0" dirty="0" err="1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tool</a:t>
          </a:r>
          <a:endParaRPr lang="es-ES" sz="2800" dirty="0"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D1159704-646B-4787-96D9-31E2869343A9}" type="parTrans" cxnId="{261DCD65-8944-4FD2-9729-683766AA8018}">
      <dgm:prSet/>
      <dgm:spPr/>
      <dgm:t>
        <a:bodyPr/>
        <a:lstStyle/>
        <a:p>
          <a:endParaRPr lang="es-ES"/>
        </a:p>
      </dgm:t>
    </dgm:pt>
    <dgm:pt modelId="{F12DE3DD-DB78-485F-AE65-CEEC83E7983B}" type="sibTrans" cxnId="{261DCD65-8944-4FD2-9729-683766AA8018}">
      <dgm:prSet/>
      <dgm:spPr/>
      <dgm:t>
        <a:bodyPr/>
        <a:lstStyle/>
        <a:p>
          <a:endParaRPr lang="es-ES"/>
        </a:p>
      </dgm:t>
    </dgm:pt>
    <dgm:pt modelId="{42583224-B014-40F4-B8C9-30FA2751F4BF}">
      <dgm:prSet phldrT="[Text]" custT="1"/>
      <dgm:spPr>
        <a:solidFill>
          <a:srgbClr val="6873DA"/>
        </a:solidFill>
      </dgm:spPr>
      <dgm:t>
        <a:bodyPr anchor="t"/>
        <a:lstStyle/>
        <a:p>
          <a:pPr>
            <a:buNone/>
          </a:pPr>
          <a:r>
            <a:rPr lang="es-ES" sz="3200" b="1" i="0" dirty="0" err="1">
              <a:solidFill>
                <a:schemeClr val="accent4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Databases</a:t>
          </a:r>
          <a:endParaRPr lang="es-ES" sz="3200" b="1" i="0" dirty="0">
            <a:solidFill>
              <a:schemeClr val="accent4">
                <a:lumMod val="40000"/>
                <a:lumOff val="6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  <a:p>
          <a:pPr>
            <a:buNone/>
          </a:pPr>
          <a:r>
            <a:rPr lang="en-US" sz="2800" b="0" i="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Web of Science &amp; Scopus (2015-2025)</a:t>
          </a:r>
          <a:endParaRPr lang="es-ES" sz="2800" dirty="0"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11742B49-138B-4FEC-91E8-3928A90A465B}" type="parTrans" cxnId="{2F831400-8B28-4896-B750-B0C103FB98EF}">
      <dgm:prSet/>
      <dgm:spPr/>
      <dgm:t>
        <a:bodyPr/>
        <a:lstStyle/>
        <a:p>
          <a:endParaRPr lang="es-ES"/>
        </a:p>
      </dgm:t>
    </dgm:pt>
    <dgm:pt modelId="{8C76ACCC-1D7E-4710-9571-B16460BB1DF0}" type="sibTrans" cxnId="{2F831400-8B28-4896-B750-B0C103FB98EF}">
      <dgm:prSet/>
      <dgm:spPr/>
      <dgm:t>
        <a:bodyPr/>
        <a:lstStyle/>
        <a:p>
          <a:endParaRPr lang="es-ES"/>
        </a:p>
      </dgm:t>
    </dgm:pt>
    <dgm:pt modelId="{2B1742DC-9D45-4ED9-ABAC-FAB16E04B68E}" type="pres">
      <dgm:prSet presAssocID="{C84F9043-4A09-48BF-B7FD-FF1C26E427C7}" presName="Name0" presStyleCnt="0">
        <dgm:presLayoutVars>
          <dgm:dir/>
          <dgm:resizeHandles val="exact"/>
        </dgm:presLayoutVars>
      </dgm:prSet>
      <dgm:spPr/>
    </dgm:pt>
    <dgm:pt modelId="{8E9ED6C5-5A6C-462A-99C7-6D5BD344378A}" type="pres">
      <dgm:prSet presAssocID="{5A46755A-08D7-440A-8EEE-B9E86D67F8BB}" presName="node" presStyleLbl="node1" presStyleIdx="0" presStyleCnt="3">
        <dgm:presLayoutVars>
          <dgm:bulletEnabled val="1"/>
        </dgm:presLayoutVars>
      </dgm:prSet>
      <dgm:spPr/>
    </dgm:pt>
    <dgm:pt modelId="{ABA0C805-E261-4635-AE94-5D9DA3CA942E}" type="pres">
      <dgm:prSet presAssocID="{C88C03B3-E18E-46D3-A5AF-B3F7255D6C43}" presName="sibTrans" presStyleLbl="sibTrans2D1" presStyleIdx="0" presStyleCnt="2"/>
      <dgm:spPr/>
    </dgm:pt>
    <dgm:pt modelId="{A3258130-E89C-4ADE-9434-83BEF06264DD}" type="pres">
      <dgm:prSet presAssocID="{C88C03B3-E18E-46D3-A5AF-B3F7255D6C43}" presName="connectorText" presStyleLbl="sibTrans2D1" presStyleIdx="0" presStyleCnt="2"/>
      <dgm:spPr/>
    </dgm:pt>
    <dgm:pt modelId="{DAEB01DF-1589-43AB-8A2C-C5B2CD601ABB}" type="pres">
      <dgm:prSet presAssocID="{E1E8A4DC-0231-419C-99B9-BF4565353E20}" presName="node" presStyleLbl="node1" presStyleIdx="1" presStyleCnt="3">
        <dgm:presLayoutVars>
          <dgm:bulletEnabled val="1"/>
        </dgm:presLayoutVars>
      </dgm:prSet>
      <dgm:spPr/>
    </dgm:pt>
    <dgm:pt modelId="{CA5CAE15-09D0-4471-8FCF-BB811D61AA74}" type="pres">
      <dgm:prSet presAssocID="{F12DE3DD-DB78-485F-AE65-CEEC83E7983B}" presName="sibTrans" presStyleLbl="sibTrans2D1" presStyleIdx="1" presStyleCnt="2"/>
      <dgm:spPr/>
    </dgm:pt>
    <dgm:pt modelId="{F39E0AC4-C696-4B7A-B934-37010ADDA5A6}" type="pres">
      <dgm:prSet presAssocID="{F12DE3DD-DB78-485F-AE65-CEEC83E7983B}" presName="connectorText" presStyleLbl="sibTrans2D1" presStyleIdx="1" presStyleCnt="2"/>
      <dgm:spPr/>
    </dgm:pt>
    <dgm:pt modelId="{7993C91E-D63F-428F-A43A-8500E1ACA5AF}" type="pres">
      <dgm:prSet presAssocID="{42583224-B014-40F4-B8C9-30FA2751F4BF}" presName="node" presStyleLbl="node1" presStyleIdx="2" presStyleCnt="3">
        <dgm:presLayoutVars>
          <dgm:bulletEnabled val="1"/>
        </dgm:presLayoutVars>
      </dgm:prSet>
      <dgm:spPr/>
    </dgm:pt>
  </dgm:ptLst>
  <dgm:cxnLst>
    <dgm:cxn modelId="{2F831400-8B28-4896-B750-B0C103FB98EF}" srcId="{C84F9043-4A09-48BF-B7FD-FF1C26E427C7}" destId="{42583224-B014-40F4-B8C9-30FA2751F4BF}" srcOrd="2" destOrd="0" parTransId="{11742B49-138B-4FEC-91E8-3928A90A465B}" sibTransId="{8C76ACCC-1D7E-4710-9571-B16460BB1DF0}"/>
    <dgm:cxn modelId="{84490D0B-4CB9-4883-80D9-7CAF29586A75}" type="presOf" srcId="{5A46755A-08D7-440A-8EEE-B9E86D67F8BB}" destId="{8E9ED6C5-5A6C-462A-99C7-6D5BD344378A}" srcOrd="0" destOrd="0" presId="urn:microsoft.com/office/officeart/2005/8/layout/process1"/>
    <dgm:cxn modelId="{E2D41B19-9B77-4B0E-A34E-32C3F3BC18EF}" srcId="{C84F9043-4A09-48BF-B7FD-FF1C26E427C7}" destId="{5A46755A-08D7-440A-8EEE-B9E86D67F8BB}" srcOrd="0" destOrd="0" parTransId="{F3AB5CE6-1B3B-468A-B0A3-C3FAD05150CF}" sibTransId="{C88C03B3-E18E-46D3-A5AF-B3F7255D6C43}"/>
    <dgm:cxn modelId="{9FAFB61F-0179-4901-BEDA-47160B522511}" type="presOf" srcId="{C88C03B3-E18E-46D3-A5AF-B3F7255D6C43}" destId="{ABA0C805-E261-4635-AE94-5D9DA3CA942E}" srcOrd="0" destOrd="0" presId="urn:microsoft.com/office/officeart/2005/8/layout/process1"/>
    <dgm:cxn modelId="{261DCD65-8944-4FD2-9729-683766AA8018}" srcId="{C84F9043-4A09-48BF-B7FD-FF1C26E427C7}" destId="{E1E8A4DC-0231-419C-99B9-BF4565353E20}" srcOrd="1" destOrd="0" parTransId="{D1159704-646B-4787-96D9-31E2869343A9}" sibTransId="{F12DE3DD-DB78-485F-AE65-CEEC83E7983B}"/>
    <dgm:cxn modelId="{F7B02E47-115F-4C5A-9723-ACA365F70CE3}" type="presOf" srcId="{42583224-B014-40F4-B8C9-30FA2751F4BF}" destId="{7993C91E-D63F-428F-A43A-8500E1ACA5AF}" srcOrd="0" destOrd="0" presId="urn:microsoft.com/office/officeart/2005/8/layout/process1"/>
    <dgm:cxn modelId="{00431493-253C-4A5A-8760-DB149634A80B}" type="presOf" srcId="{C84F9043-4A09-48BF-B7FD-FF1C26E427C7}" destId="{2B1742DC-9D45-4ED9-ABAC-FAB16E04B68E}" srcOrd="0" destOrd="0" presId="urn:microsoft.com/office/officeart/2005/8/layout/process1"/>
    <dgm:cxn modelId="{D8E642B6-5636-4AFB-81FB-5B69B33D3FD5}" type="presOf" srcId="{F12DE3DD-DB78-485F-AE65-CEEC83E7983B}" destId="{F39E0AC4-C696-4B7A-B934-37010ADDA5A6}" srcOrd="1" destOrd="0" presId="urn:microsoft.com/office/officeart/2005/8/layout/process1"/>
    <dgm:cxn modelId="{8EFBAABE-97CC-4A34-BCB6-3F3AAAE240BA}" type="presOf" srcId="{E1E8A4DC-0231-419C-99B9-BF4565353E20}" destId="{DAEB01DF-1589-43AB-8A2C-C5B2CD601ABB}" srcOrd="0" destOrd="0" presId="urn:microsoft.com/office/officeart/2005/8/layout/process1"/>
    <dgm:cxn modelId="{AF38EEC7-52F2-41D7-BA47-0B8F69AAF02F}" type="presOf" srcId="{F12DE3DD-DB78-485F-AE65-CEEC83E7983B}" destId="{CA5CAE15-09D0-4471-8FCF-BB811D61AA74}" srcOrd="0" destOrd="0" presId="urn:microsoft.com/office/officeart/2005/8/layout/process1"/>
    <dgm:cxn modelId="{DA6CFBF9-382A-4CDD-995E-BE7672AA7343}" type="presOf" srcId="{C88C03B3-E18E-46D3-A5AF-B3F7255D6C43}" destId="{A3258130-E89C-4ADE-9434-83BEF06264DD}" srcOrd="1" destOrd="0" presId="urn:microsoft.com/office/officeart/2005/8/layout/process1"/>
    <dgm:cxn modelId="{8D451AE6-E3E7-4B31-AF5E-9275B4DFF7BB}" type="presParOf" srcId="{2B1742DC-9D45-4ED9-ABAC-FAB16E04B68E}" destId="{8E9ED6C5-5A6C-462A-99C7-6D5BD344378A}" srcOrd="0" destOrd="0" presId="urn:microsoft.com/office/officeart/2005/8/layout/process1"/>
    <dgm:cxn modelId="{DC375218-6BBF-4313-A8CC-C95B2031726A}" type="presParOf" srcId="{2B1742DC-9D45-4ED9-ABAC-FAB16E04B68E}" destId="{ABA0C805-E261-4635-AE94-5D9DA3CA942E}" srcOrd="1" destOrd="0" presId="urn:microsoft.com/office/officeart/2005/8/layout/process1"/>
    <dgm:cxn modelId="{B88727FC-614D-42F4-977D-02379FDDF67F}" type="presParOf" srcId="{ABA0C805-E261-4635-AE94-5D9DA3CA942E}" destId="{A3258130-E89C-4ADE-9434-83BEF06264DD}" srcOrd="0" destOrd="0" presId="urn:microsoft.com/office/officeart/2005/8/layout/process1"/>
    <dgm:cxn modelId="{81F8339A-F70C-4935-A070-025F8DB8A41E}" type="presParOf" srcId="{2B1742DC-9D45-4ED9-ABAC-FAB16E04B68E}" destId="{DAEB01DF-1589-43AB-8A2C-C5B2CD601ABB}" srcOrd="2" destOrd="0" presId="urn:microsoft.com/office/officeart/2005/8/layout/process1"/>
    <dgm:cxn modelId="{466488F7-EA60-46F8-AF62-04A8E66DAF8C}" type="presParOf" srcId="{2B1742DC-9D45-4ED9-ABAC-FAB16E04B68E}" destId="{CA5CAE15-09D0-4471-8FCF-BB811D61AA74}" srcOrd="3" destOrd="0" presId="urn:microsoft.com/office/officeart/2005/8/layout/process1"/>
    <dgm:cxn modelId="{B0EC06C9-203B-4368-8B88-4083DCCFEB3D}" type="presParOf" srcId="{CA5CAE15-09D0-4471-8FCF-BB811D61AA74}" destId="{F39E0AC4-C696-4B7A-B934-37010ADDA5A6}" srcOrd="0" destOrd="0" presId="urn:microsoft.com/office/officeart/2005/8/layout/process1"/>
    <dgm:cxn modelId="{9E09F4A0-05CF-4AAA-A4F5-05B28AF505FE}" type="presParOf" srcId="{2B1742DC-9D45-4ED9-ABAC-FAB16E04B68E}" destId="{7993C91E-D63F-428F-A43A-8500E1ACA5AF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9ED6C5-5A6C-462A-99C7-6D5BD344378A}">
      <dsp:nvSpPr>
        <dsp:cNvPr id="0" name=""/>
        <dsp:cNvSpPr/>
      </dsp:nvSpPr>
      <dsp:spPr>
        <a:xfrm>
          <a:off x="8986" y="1412490"/>
          <a:ext cx="2686017" cy="2593685"/>
        </a:xfrm>
        <a:prstGeom prst="roundRect">
          <a:avLst>
            <a:gd name="adj" fmla="val 10000"/>
          </a:avLst>
        </a:prstGeom>
        <a:solidFill>
          <a:srgbClr val="6873DA"/>
        </a:solidFill>
        <a:ln w="19050" cap="flat" cmpd="sng" algn="ctr">
          <a:gradFill>
            <a:gsLst>
              <a:gs pos="0">
                <a:schemeClr val="accent4">
                  <a:lumMod val="20000"/>
                  <a:lumOff val="80000"/>
                </a:schemeClr>
              </a:gs>
              <a:gs pos="46000">
                <a:schemeClr val="accent1">
                  <a:lumMod val="45000"/>
                  <a:lumOff val="55000"/>
                </a:schemeClr>
              </a:gs>
              <a:gs pos="67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b="1" i="0" kern="1200" dirty="0">
              <a:solidFill>
                <a:schemeClr val="accent4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PRISMA</a:t>
          </a:r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0" i="0" kern="1200" dirty="0" err="1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Systematic</a:t>
          </a:r>
          <a:r>
            <a:rPr lang="es-ES" sz="2800" b="0" i="0" kern="12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 </a:t>
          </a:r>
          <a:r>
            <a:rPr lang="es-ES" sz="2800" b="0" i="0" kern="1200" dirty="0" err="1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quantitative</a:t>
          </a:r>
          <a:r>
            <a:rPr lang="es-ES" sz="2800" b="0" i="0" kern="12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 </a:t>
          </a:r>
          <a:r>
            <a:rPr lang="es-ES" sz="2800" b="0" i="0" kern="1200" dirty="0" err="1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review</a:t>
          </a:r>
          <a:r>
            <a:rPr lang="es-ES" sz="2800" b="0" i="0" kern="12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 </a:t>
          </a:r>
          <a:r>
            <a:rPr lang="es-ES" sz="2800" b="0" i="0" kern="1200" dirty="0" err="1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methodology</a:t>
          </a:r>
          <a:endParaRPr lang="es-ES" sz="2800" kern="1200" dirty="0"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</dsp:txBody>
      <dsp:txXfrm>
        <a:off x="84952" y="1488456"/>
        <a:ext cx="2534085" cy="2441753"/>
      </dsp:txXfrm>
    </dsp:sp>
    <dsp:sp modelId="{ABA0C805-E261-4635-AE94-5D9DA3CA942E}">
      <dsp:nvSpPr>
        <dsp:cNvPr id="0" name=""/>
        <dsp:cNvSpPr/>
      </dsp:nvSpPr>
      <dsp:spPr>
        <a:xfrm>
          <a:off x="2963605" y="2376267"/>
          <a:ext cx="569435" cy="6661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800" kern="1200"/>
        </a:p>
      </dsp:txBody>
      <dsp:txXfrm>
        <a:off x="2963605" y="2509493"/>
        <a:ext cx="398605" cy="399680"/>
      </dsp:txXfrm>
    </dsp:sp>
    <dsp:sp modelId="{DAEB01DF-1589-43AB-8A2C-C5B2CD601ABB}">
      <dsp:nvSpPr>
        <dsp:cNvPr id="0" name=""/>
        <dsp:cNvSpPr/>
      </dsp:nvSpPr>
      <dsp:spPr>
        <a:xfrm>
          <a:off x="3769410" y="1412490"/>
          <a:ext cx="2686017" cy="2593685"/>
        </a:xfrm>
        <a:prstGeom prst="roundRect">
          <a:avLst>
            <a:gd name="adj" fmla="val 10000"/>
          </a:avLst>
        </a:prstGeom>
        <a:solidFill>
          <a:srgbClr val="6873DA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b="1" i="0" kern="1200" dirty="0" err="1">
              <a:solidFill>
                <a:schemeClr val="accent4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ATLAS.ti</a:t>
          </a:r>
          <a:endParaRPr lang="es-ES" sz="3200" b="1" i="0" kern="1200" dirty="0">
            <a:solidFill>
              <a:schemeClr val="accent4">
                <a:lumMod val="40000"/>
                <a:lumOff val="6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0" i="0" kern="1200" dirty="0" err="1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Qualitative</a:t>
          </a:r>
          <a:r>
            <a:rPr lang="es-ES" sz="2800" b="0" i="0" kern="12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 </a:t>
          </a:r>
          <a:r>
            <a:rPr lang="es-ES" sz="2800" b="0" i="0" kern="1200" dirty="0" err="1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content</a:t>
          </a:r>
          <a:r>
            <a:rPr lang="es-ES" sz="2800" b="0" i="0" kern="12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 </a:t>
          </a:r>
          <a:r>
            <a:rPr lang="es-ES" sz="2800" b="0" i="0" kern="1200" dirty="0" err="1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analysis</a:t>
          </a:r>
          <a:r>
            <a:rPr lang="es-ES" sz="2800" b="0" i="0" kern="12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 </a:t>
          </a:r>
          <a:r>
            <a:rPr lang="es-ES" sz="2800" b="0" i="0" kern="1200" dirty="0" err="1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tool</a:t>
          </a:r>
          <a:endParaRPr lang="es-ES" sz="2800" kern="1200" dirty="0"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</dsp:txBody>
      <dsp:txXfrm>
        <a:off x="3845376" y="1488456"/>
        <a:ext cx="2534085" cy="2441753"/>
      </dsp:txXfrm>
    </dsp:sp>
    <dsp:sp modelId="{CA5CAE15-09D0-4471-8FCF-BB811D61AA74}">
      <dsp:nvSpPr>
        <dsp:cNvPr id="0" name=""/>
        <dsp:cNvSpPr/>
      </dsp:nvSpPr>
      <dsp:spPr>
        <a:xfrm>
          <a:off x="6724029" y="2376267"/>
          <a:ext cx="569435" cy="6661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800" kern="1200"/>
        </a:p>
      </dsp:txBody>
      <dsp:txXfrm>
        <a:off x="6724029" y="2509493"/>
        <a:ext cx="398605" cy="399680"/>
      </dsp:txXfrm>
    </dsp:sp>
    <dsp:sp modelId="{7993C91E-D63F-428F-A43A-8500E1ACA5AF}">
      <dsp:nvSpPr>
        <dsp:cNvPr id="0" name=""/>
        <dsp:cNvSpPr/>
      </dsp:nvSpPr>
      <dsp:spPr>
        <a:xfrm>
          <a:off x="7529835" y="1412490"/>
          <a:ext cx="2686017" cy="2593685"/>
        </a:xfrm>
        <a:prstGeom prst="roundRect">
          <a:avLst>
            <a:gd name="adj" fmla="val 10000"/>
          </a:avLst>
        </a:prstGeom>
        <a:solidFill>
          <a:srgbClr val="6873DA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b="1" i="0" kern="1200" dirty="0" err="1">
              <a:solidFill>
                <a:schemeClr val="accent4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Databases</a:t>
          </a:r>
          <a:endParaRPr lang="es-ES" sz="3200" b="1" i="0" kern="1200" dirty="0">
            <a:solidFill>
              <a:schemeClr val="accent4">
                <a:lumMod val="40000"/>
                <a:lumOff val="6000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Web of Science &amp; Scopus (2015-2025)</a:t>
          </a:r>
          <a:endParaRPr lang="es-ES" sz="2800" kern="1200" dirty="0"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</dsp:txBody>
      <dsp:txXfrm>
        <a:off x="7605801" y="1488456"/>
        <a:ext cx="2534085" cy="24417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262A2-FE53-41F1-839C-FB3B214A65AD}" type="datetimeFigureOut">
              <a:rPr lang="es-ES" smtClean="0"/>
              <a:t>30/09/2025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05E339-FDE9-4ED3-A994-18EAC898B037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4048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5E339-FDE9-4ED3-A994-18EAC898B037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0437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5E339-FDE9-4ED3-A994-18EAC898B037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5844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5E339-FDE9-4ED3-A994-18EAC898B037}" type="slidenum">
              <a:rPr lang="es-ES" smtClean="0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0748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8C227-A593-71C7-7F9D-B5D3FC1FB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9C16B7-D686-14A7-C8FE-A36705B5B3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6518A-94CA-3515-B533-8F2E51C6D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35545-88F4-4702-BEA8-5C193E18CE31}" type="datetime1">
              <a:rPr lang="es-ES" smtClean="0"/>
              <a:t>30/09/2025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45150-352D-F543-54AC-D37C92A94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Technological Approaches for Adaptation and Personalization in Educational Video Games</a:t>
            </a:r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E67FE-D799-B944-4825-71CF1354C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58B27-4A86-4F91-9EE8-35FF76DC3A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1852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E05AC-3760-0845-6E18-2CE50265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4A4A4-BB37-E10E-B350-8DD314AA1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BBC2D-4606-C661-D6FE-D6DF177C2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1EEC2-C28B-4091-8FC0-7F26AB0A4ACC}" type="datetime1">
              <a:rPr lang="es-ES" smtClean="0"/>
              <a:t>30/09/2025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F2DC3-7EF8-5478-AB97-EF83E39D2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Technological Approaches for Adaptation and Personalization in Educational Video Games</a:t>
            </a:r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E2C1F-69ED-90C4-1B37-4ED054CBE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58B27-4A86-4F91-9EE8-35FF76DC3A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7025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07D75-1280-FF3B-9E90-4420D0EF1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1D0D8-BD0A-B777-B75A-7F6F1D443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CC726-2B0C-3C17-F66D-7493D5FC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72DE0-D20F-4814-B5CE-8EB0C88673CD}" type="datetime1">
              <a:rPr lang="es-ES" smtClean="0"/>
              <a:t>30/09/2025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64F49-5E04-48DA-48B6-09036BF00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Technological Approaches for Adaptation and Personalization in Educational Video Games</a:t>
            </a:r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6CA57-8130-8408-4E28-4858823F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58B27-4A86-4F91-9EE8-35FF76DC3A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96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EC2FF-6033-71C8-884A-295801E1B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B17A7-D3E7-9348-A892-CB72FAD22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F2ECE8-EDFF-3BBE-915B-8B52F6B64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C9733-0CEA-244A-34C0-652B5AABC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A7AC4-6E93-434E-B089-F88C675CCAFB}" type="datetime1">
              <a:rPr lang="es-ES" smtClean="0"/>
              <a:t>30/09/2025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670D1-2DB1-D206-86C0-14F7045E4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Technological Approaches for Adaptation and Personalization in Educational Video Games</a:t>
            </a:r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8B512-8C61-F85A-88A7-18652E12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58B27-4A86-4F91-9EE8-35FF76DC3A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5433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636FF-7890-A1B6-4764-67BAEB7CC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443E0-707E-C164-CF82-4EB79E9F0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10CF72-42CB-0FB0-80FA-B782F29E4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EBA7CE-56C0-66E0-4B34-2EA98B0384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AD26BF-C5D1-0339-F742-562745B2C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B2A029-AE6C-FC4D-7DE0-67D14F7A4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E2DAA-C72A-4678-9BDA-8786D881F553}" type="datetime1">
              <a:rPr lang="es-ES" smtClean="0"/>
              <a:t>30/09/2025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27D436-E750-4F2F-49EF-219BCCB53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Technological Approaches for Adaptation and Personalization in Educational Video Games</a:t>
            </a:r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7AA08-59B4-00B7-3EDC-E81994ED4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58B27-4A86-4F91-9EE8-35FF76DC3A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8408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EB8E7-3A7A-3FA0-7C52-CB4E09317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C50399-6E65-623E-5010-144CB796A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66F0A-E38C-4C9F-9826-93C007AF64AF}" type="datetime1">
              <a:rPr lang="es-ES" smtClean="0"/>
              <a:t>30/09/2025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CE5EED-C53C-44E6-36FA-86580E6A6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Technological Approaches for Adaptation and Personalization in Educational Video Games</a:t>
            </a:r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35412-B579-86F0-8DC2-AEC509111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58B27-4A86-4F91-9EE8-35FF76DC3A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4955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89C0FB-CDC4-DF92-7844-644A171E7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68796-6FC2-4EF4-B284-CD48BEACC65F}" type="datetime1">
              <a:rPr lang="es-ES" smtClean="0"/>
              <a:t>30/09/2025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545649-6304-5B90-23EF-22416C9FF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Technological Approaches for Adaptation and Personalization in Educational Video Games</a:t>
            </a:r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F80DD-F6C2-7458-311C-8A40E6BE6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58B27-4A86-4F91-9EE8-35FF76DC3A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5610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AB087-BE76-7297-1FF1-D3A45E01B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0518A-B943-17B9-5A79-1BDF6AFF0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070D4B-2501-B46E-27BB-C8ACE1729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EACAC4-C317-F150-B971-7C6EDABF7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9A6B-CDA1-4BEE-9C85-BED0D46A558E}" type="datetime1">
              <a:rPr lang="es-ES" smtClean="0"/>
              <a:t>30/09/2025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1C5703-01BD-954B-45FB-199287A02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Technological Approaches for Adaptation and Personalization in Educational Video Games</a:t>
            </a:r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757B8-D619-FFB2-9293-A2269CA5C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58B27-4A86-4F91-9EE8-35FF76DC3A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5650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8B1BD-2BCD-E2CD-1F2A-004BCC089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16E13C-DDFB-F80D-AEBD-B85B6731FF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0BA9FA-9CBC-6DD3-5341-3D9352245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12AABA-9416-8A7F-F647-1852A1960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FF6B4-18DD-4852-AED8-75B47851A537}" type="datetime1">
              <a:rPr lang="es-ES" smtClean="0"/>
              <a:t>30/09/2025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44520D-4648-A7C5-552B-4ED89DF3C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Technological Approaches for Adaptation and Personalization in Educational Video Games</a:t>
            </a:r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30844F-6888-C9E9-F35F-4AE07B28A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58B27-4A86-4F91-9EE8-35FF76DC3A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5215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AAAF6-A175-A293-587C-BDBD50F7F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105392-FEBF-BA2E-6B5A-04DDA0AF94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A0A66-DA0D-9F88-B72E-DECD8E879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D3433-8E77-4CB2-A50D-CC58BC3E43B5}" type="datetime1">
              <a:rPr lang="es-ES" smtClean="0"/>
              <a:t>30/09/2025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292D2-E16E-9720-9146-5D89B46A4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Technological Approaches for Adaptation and Personalization in Educational Video Games</a:t>
            </a:r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4B59E-9DDE-C245-57FC-997EDD770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58B27-4A86-4F91-9EE8-35FF76DC3A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5844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D55720-69AC-E8CA-8ECC-51D92ECFAD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A689B7-35CA-0067-4DB7-0DDFD1857A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266A2-B447-1568-AD5C-9705D03EC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E35E-793F-45AD-ACB4-D29AF00BF75E}" type="datetime1">
              <a:rPr lang="es-ES" smtClean="0"/>
              <a:t>30/09/2025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E99AD-D2EB-01AD-560B-56B75D592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Technological Approaches for Adaptation and Personalization in Educational Video Games</a:t>
            </a:r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F90B7-B024-18F5-16D3-284768D51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58B27-4A86-4F91-9EE8-35FF76DC3A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8970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C6AFF2-DE1C-A75C-D2A7-AF5C3EDF1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D8CC9-B3D2-14E3-07D3-3CAE519BE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68A3F-F48A-DAB9-8650-550FC8BD51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81CED3-E178-489A-8C2B-07C3E4FCE6D7}" type="datetime1">
              <a:rPr lang="es-ES" smtClean="0"/>
              <a:t>30/09/2025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974ED-9FEA-A6C5-D64A-ED8B3703FB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Technological Approaches for Adaptation and Personalization in Educational Video Games</a:t>
            </a:r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A91A6-E429-8038-3461-43B917FA3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C58B27-4A86-4F91-9EE8-35FF76DC3A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9737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jpg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w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jpe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 descr="A bridge over water with a castle in the background&#10;&#10;AI-generated content may be incorrect.">
            <a:extLst>
              <a:ext uri="{FF2B5EF4-FFF2-40B4-BE49-F238E27FC236}">
                <a16:creationId xmlns:a16="http://schemas.microsoft.com/office/drawing/2014/main" id="{1F5D7148-BD9A-7666-AC10-8C3253B1F5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3" y="-8046"/>
            <a:ext cx="12168046" cy="2253953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353C7B3F-C047-747A-1BD0-36D2102DA19D}"/>
              </a:ext>
            </a:extLst>
          </p:cNvPr>
          <p:cNvSpPr/>
          <p:nvPr/>
        </p:nvSpPr>
        <p:spPr>
          <a:xfrm>
            <a:off x="-65315" y="6294663"/>
            <a:ext cx="12191999" cy="64021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4B2B9E-0209-5BBB-2D05-1DA0D21E91DA}"/>
              </a:ext>
            </a:extLst>
          </p:cNvPr>
          <p:cNvSpPr txBox="1"/>
          <p:nvPr/>
        </p:nvSpPr>
        <p:spPr>
          <a:xfrm>
            <a:off x="0" y="0"/>
            <a:ext cx="12191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2000" b="1" dirty="0">
                <a:solidFill>
                  <a:schemeClr val="bg1">
                    <a:lumMod val="95000"/>
                  </a:schemeClr>
                </a:solidFill>
                <a:latin typeface="Calibri (Body)"/>
              </a:rPr>
              <a:t>28</a:t>
            </a:r>
            <a:r>
              <a:rPr lang="bg-BG" sz="2000" b="1" baseline="30000" dirty="0">
                <a:solidFill>
                  <a:schemeClr val="bg1">
                    <a:lumMod val="95000"/>
                  </a:schemeClr>
                </a:solidFill>
                <a:latin typeface="Calibri (Body)"/>
              </a:rPr>
              <a:t>th</a:t>
            </a:r>
            <a:r>
              <a:rPr lang="bg-BG" sz="2000" b="1" dirty="0">
                <a:solidFill>
                  <a:schemeClr val="bg1">
                    <a:lumMod val="95000"/>
                  </a:schemeClr>
                </a:solidFill>
                <a:latin typeface="Calibri (Body)"/>
              </a:rPr>
              <a:t> International </a:t>
            </a:r>
            <a:r>
              <a:rPr lang="bg-BG" sz="2000" b="1" dirty="0" err="1">
                <a:solidFill>
                  <a:schemeClr val="bg1">
                    <a:lumMod val="95000"/>
                  </a:schemeClr>
                </a:solidFill>
                <a:latin typeface="Calibri (Body)"/>
              </a:rPr>
              <a:t>Conference</a:t>
            </a:r>
            <a:r>
              <a:rPr lang="bg-BG" sz="2000" b="1" dirty="0">
                <a:solidFill>
                  <a:schemeClr val="bg1">
                    <a:lumMod val="95000"/>
                  </a:schemeClr>
                </a:solidFill>
                <a:latin typeface="Calibri (Body)"/>
              </a:rPr>
              <a:t> </a:t>
            </a:r>
            <a:r>
              <a:rPr lang="bg-BG" sz="2000" b="1" dirty="0" err="1">
                <a:solidFill>
                  <a:schemeClr val="bg1">
                    <a:lumMod val="95000"/>
                  </a:schemeClr>
                </a:solidFill>
                <a:latin typeface="Calibri (Body)"/>
              </a:rPr>
              <a:t>on</a:t>
            </a:r>
            <a:r>
              <a:rPr lang="bg-BG" sz="2000" b="1" dirty="0">
                <a:solidFill>
                  <a:schemeClr val="bg1">
                    <a:lumMod val="95000"/>
                  </a:schemeClr>
                </a:solidFill>
                <a:latin typeface="Calibri (Body)"/>
              </a:rPr>
              <a:t> </a:t>
            </a:r>
            <a:r>
              <a:rPr lang="bg-BG" sz="2000" b="1" dirty="0" err="1">
                <a:solidFill>
                  <a:schemeClr val="bg1">
                    <a:lumMod val="95000"/>
                  </a:schemeClr>
                </a:solidFill>
                <a:latin typeface="Calibri (Body)"/>
              </a:rPr>
              <a:t>Interactive</a:t>
            </a:r>
            <a:r>
              <a:rPr lang="bg-BG" sz="2000" b="1" dirty="0">
                <a:solidFill>
                  <a:schemeClr val="bg1">
                    <a:lumMod val="95000"/>
                  </a:schemeClr>
                </a:solidFill>
                <a:latin typeface="Calibri (Body)"/>
              </a:rPr>
              <a:t> </a:t>
            </a:r>
            <a:r>
              <a:rPr lang="bg-BG" sz="2000" b="1" dirty="0" err="1">
                <a:solidFill>
                  <a:schemeClr val="bg1">
                    <a:lumMod val="95000"/>
                  </a:schemeClr>
                </a:solidFill>
                <a:latin typeface="Calibri (Body)"/>
              </a:rPr>
              <a:t>Collaborative</a:t>
            </a:r>
            <a:r>
              <a:rPr lang="bg-BG" sz="2000" b="1" dirty="0">
                <a:solidFill>
                  <a:schemeClr val="bg1">
                    <a:lumMod val="95000"/>
                  </a:schemeClr>
                </a:solidFill>
                <a:latin typeface="Calibri (Body)"/>
              </a:rPr>
              <a:t> </a:t>
            </a:r>
            <a:r>
              <a:rPr lang="bg-BG" sz="2000" b="1" dirty="0" err="1">
                <a:solidFill>
                  <a:schemeClr val="bg1">
                    <a:lumMod val="95000"/>
                  </a:schemeClr>
                </a:solidFill>
                <a:latin typeface="Calibri (Body)"/>
              </a:rPr>
              <a:t>Learning</a:t>
            </a:r>
            <a:endParaRPr lang="bg-BG" sz="2000" b="1" dirty="0">
              <a:solidFill>
                <a:schemeClr val="bg1">
                  <a:lumMod val="95000"/>
                </a:schemeClr>
              </a:solidFill>
              <a:latin typeface="Calibri (Body)"/>
            </a:endParaRP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1142D7E1-160E-4562-954E-B00851F74A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015931"/>
            <a:ext cx="12191999" cy="1374725"/>
          </a:xfrm>
        </p:spPr>
        <p:txBody>
          <a:bodyPr anchor="b">
            <a:no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Technological Approaches for Adaptation and Personalization in Educational Video Games</a:t>
            </a: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BCF80B23-197E-59FA-DFEA-E771C45564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41271"/>
            <a:ext cx="12192000" cy="3216729"/>
          </a:xfrm>
        </p:spPr>
        <p:txBody>
          <a:bodyPr anchor="t">
            <a:normAutofit fontScale="25000" lnSpcReduction="20000"/>
          </a:bodyPr>
          <a:lstStyle/>
          <a:p>
            <a:pPr algn="ctr">
              <a:lnSpc>
                <a:spcPct val="120000"/>
              </a:lnSpc>
            </a:pPr>
            <a:r>
              <a:rPr lang="it-IT" sz="8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 (Body)"/>
              </a:rPr>
              <a:t>Boyan Bontchev, Valentina Terzieva, </a:t>
            </a:r>
          </a:p>
          <a:p>
            <a:pPr algn="ctr">
              <a:lnSpc>
                <a:spcPct val="120000"/>
              </a:lnSpc>
            </a:pPr>
            <a:r>
              <a:rPr lang="it-IT" sz="8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 (Body)"/>
              </a:rPr>
              <a:t>Elena Paunova, Yavor Dankov, and </a:t>
            </a: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it-IT" sz="8000" b="1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Calibri (Body)"/>
              </a:rPr>
              <a:t>Dessislava Vassileva</a:t>
            </a:r>
          </a:p>
          <a:p>
            <a:pPr algn="ctr">
              <a:lnSpc>
                <a:spcPct val="120000"/>
              </a:lnSpc>
            </a:pPr>
            <a:r>
              <a:rPr lang="en-US" sz="7200" dirty="0">
                <a:solidFill>
                  <a:schemeClr val="accent2">
                    <a:lumMod val="75000"/>
                  </a:schemeClr>
                </a:solidFill>
                <a:latin typeface="Calibri (Body)"/>
              </a:rPr>
              <a:t>Faculty of Mathematics and Informatics, </a:t>
            </a:r>
          </a:p>
          <a:p>
            <a:pPr algn="ctr">
              <a:spcAft>
                <a:spcPts val="2000"/>
              </a:spcAft>
            </a:pPr>
            <a:r>
              <a:rPr lang="en-US" sz="7200" dirty="0">
                <a:solidFill>
                  <a:schemeClr val="accent2">
                    <a:lumMod val="75000"/>
                  </a:schemeClr>
                </a:solidFill>
                <a:latin typeface="Calibri (Body)"/>
              </a:rPr>
              <a:t>Sofia University “St. Kliment </a:t>
            </a:r>
            <a:r>
              <a:rPr lang="en-US" sz="7200" dirty="0" err="1">
                <a:solidFill>
                  <a:schemeClr val="accent2">
                    <a:lumMod val="75000"/>
                  </a:schemeClr>
                </a:solidFill>
                <a:latin typeface="Calibri (Body)"/>
              </a:rPr>
              <a:t>Ohridski</a:t>
            </a:r>
            <a:r>
              <a:rPr lang="en-US" sz="7200" dirty="0">
                <a:solidFill>
                  <a:schemeClr val="accent2">
                    <a:lumMod val="75000"/>
                  </a:schemeClr>
                </a:solidFill>
                <a:latin typeface="Calibri (Body)"/>
              </a:rPr>
              <a:t>”, Bulgaria</a:t>
            </a:r>
            <a:endParaRPr lang="en-US" sz="7200" dirty="0">
              <a:latin typeface="Calibri (Body)"/>
            </a:endParaRPr>
          </a:p>
          <a:p>
            <a:pPr algn="ctr"/>
            <a:endParaRPr lang="en-US" i="1" dirty="0"/>
          </a:p>
          <a:p>
            <a:pPr algn="ctr"/>
            <a:endParaRPr lang="en-US" i="1" dirty="0"/>
          </a:p>
          <a:p>
            <a:pPr algn="ctr">
              <a:spcBef>
                <a:spcPts val="1200"/>
              </a:spcBef>
            </a:pPr>
            <a:r>
              <a:rPr lang="en-US" sz="8000" i="1" dirty="0">
                <a:solidFill>
                  <a:schemeClr val="accent4">
                    <a:lumMod val="20000"/>
                    <a:lumOff val="80000"/>
                  </a:schemeClr>
                </a:solidFill>
                <a:latin typeface="Calibri (Body)"/>
              </a:rPr>
              <a:t>01–03 October 2025, Budapest, Hungary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EDC7A07-7739-1D7C-1602-F38516A8EA2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28" y="3000286"/>
            <a:ext cx="1266847" cy="1209729"/>
          </a:xfrm>
          <a:prstGeom prst="rect">
            <a:avLst/>
          </a:prstGeom>
        </p:spPr>
      </p:pic>
      <p:graphicFrame>
        <p:nvGraphicFramePr>
          <p:cNvPr id="39" name="Обект 11">
            <a:extLst>
              <a:ext uri="{FF2B5EF4-FFF2-40B4-BE49-F238E27FC236}">
                <a16:creationId xmlns:a16="http://schemas.microsoft.com/office/drawing/2014/main" id="{FF123333-A9AD-BA58-3A43-68C7A8414E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05756"/>
              </p:ext>
            </p:extLst>
          </p:nvPr>
        </p:nvGraphicFramePr>
        <p:xfrm>
          <a:off x="336097" y="5000515"/>
          <a:ext cx="928511" cy="1139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Picture" r:id="rId5" imgW="1991868" imgH="2458212" progId="Word.Picture.8">
                  <p:embed/>
                </p:oleObj>
              </mc:Choice>
              <mc:Fallback>
                <p:oleObj name="Picture" r:id="rId5" imgW="1991868" imgH="2458212" progId="Word.Picture.8">
                  <p:embed/>
                  <p:pic>
                    <p:nvPicPr>
                      <p:cNvPr id="7" name="Обект 11">
                        <a:extLst>
                          <a:ext uri="{FF2B5EF4-FFF2-40B4-BE49-F238E27FC236}">
                            <a16:creationId xmlns:a16="http://schemas.microsoft.com/office/drawing/2014/main" id="{BBA67734-F66C-43A7-A610-E8068D0FB8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097" y="5000515"/>
                        <a:ext cx="928511" cy="11395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0" name="Picture 39">
            <a:extLst>
              <a:ext uri="{FF2B5EF4-FFF2-40B4-BE49-F238E27FC236}">
                <a16:creationId xmlns:a16="http://schemas.microsoft.com/office/drawing/2014/main" id="{BA59ADEB-C275-AF53-A20A-E4662EEFDDB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53"/>
          <a:stretch>
            <a:fillRect/>
          </a:stretch>
        </p:blipFill>
        <p:spPr>
          <a:xfrm>
            <a:off x="10589056" y="2965320"/>
            <a:ext cx="1266847" cy="1198145"/>
          </a:xfrm>
          <a:prstGeom prst="rect">
            <a:avLst/>
          </a:prstGeom>
        </p:spPr>
      </p:pic>
      <p:pic>
        <p:nvPicPr>
          <p:cNvPr id="41" name="Picture 172" descr="Начало">
            <a:extLst>
              <a:ext uri="{FF2B5EF4-FFF2-40B4-BE49-F238E27FC236}">
                <a16:creationId xmlns:a16="http://schemas.microsoft.com/office/drawing/2014/main" id="{77173C73-437B-CE0E-5294-A9F98F241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3968" y="4836878"/>
            <a:ext cx="1511185" cy="963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AE798CC4-9C47-669A-7181-EB21432B49B7}"/>
              </a:ext>
            </a:extLst>
          </p:cNvPr>
          <p:cNvSpPr txBox="1"/>
          <p:nvPr/>
        </p:nvSpPr>
        <p:spPr>
          <a:xfrm>
            <a:off x="-10452" y="325953"/>
            <a:ext cx="12191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alibri (Body)"/>
              </a:rPr>
              <a:t>54</a:t>
            </a:r>
            <a:r>
              <a:rPr lang="en-US" sz="2000" b="1" baseline="30000" dirty="0">
                <a:solidFill>
                  <a:schemeClr val="bg1">
                    <a:lumMod val="85000"/>
                  </a:schemeClr>
                </a:solidFill>
                <a:latin typeface="Calibri (Body)"/>
              </a:rPr>
              <a:t>th</a:t>
            </a: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Calibri (Body)"/>
              </a:rPr>
              <a:t> IGIP International Conference on Engineering Pedagogy</a:t>
            </a:r>
            <a:endParaRPr lang="bg-BG" sz="2000" b="1" dirty="0">
              <a:solidFill>
                <a:schemeClr val="bg1">
                  <a:lumMod val="85000"/>
                </a:schemeClr>
              </a:solidFill>
              <a:latin typeface="Calibri (Body)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1524C58-49DC-29A4-043A-6A778341CF7A}"/>
              </a:ext>
            </a:extLst>
          </p:cNvPr>
          <p:cNvSpPr txBox="1"/>
          <p:nvPr/>
        </p:nvSpPr>
        <p:spPr>
          <a:xfrm>
            <a:off x="-13500" y="661233"/>
            <a:ext cx="12191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Innovation via Collaborative Learning in Engineering Education</a:t>
            </a:r>
            <a:endParaRPr lang="bg-BG" sz="2000" dirty="0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1042" name="Picture 18">
            <a:extLst>
              <a:ext uri="{FF2B5EF4-FFF2-40B4-BE49-F238E27FC236}">
                <a16:creationId xmlns:a16="http://schemas.microsoft.com/office/drawing/2014/main" id="{54028AD0-ED4F-900D-0B4C-0E6193B1F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187" y="4376022"/>
            <a:ext cx="1511185" cy="498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14E3BF2B-077E-4B09-1C65-50DFB48DAD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9055" y="4249820"/>
            <a:ext cx="1562481" cy="624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Slide Number Placeholder 50">
            <a:extLst>
              <a:ext uri="{FF2B5EF4-FFF2-40B4-BE49-F238E27FC236}">
                <a16:creationId xmlns:a16="http://schemas.microsoft.com/office/drawing/2014/main" id="{816EBB61-F76E-D178-99D3-AA1C5A89D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58B27-4A86-4F91-9EE8-35FF76DC3ABD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6330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9A042-4179-231D-5C53-17E8C01BE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Educational Video Games in 21</a:t>
            </a:r>
            <a:r>
              <a:rPr lang="en-US" b="1" baseline="30000" dirty="0">
                <a:solidFill>
                  <a:srgbClr val="0070C0"/>
                </a:solidFill>
                <a:latin typeface="Calibri (Body)"/>
              </a:rPr>
              <a:t>st</a:t>
            </a:r>
            <a:r>
              <a:rPr lang="en-US" b="1" dirty="0">
                <a:solidFill>
                  <a:srgbClr val="0070C0"/>
                </a:solidFill>
                <a:latin typeface="Calibri (Body)"/>
              </a:rPr>
              <a:t> Century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2C9318D-2980-8A67-62ED-FD6DD0B21C57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2A8AC5A-500A-B9AE-9F21-B9DB70975B69}"/>
              </a:ext>
            </a:extLst>
          </p:cNvPr>
          <p:cNvSpPr/>
          <p:nvPr/>
        </p:nvSpPr>
        <p:spPr>
          <a:xfrm>
            <a:off x="688201" y="1708728"/>
            <a:ext cx="10307782" cy="1433943"/>
          </a:xfrm>
          <a:prstGeom prst="roundRect">
            <a:avLst/>
          </a:prstGeom>
          <a:gradFill flip="none" rotWithShape="1">
            <a:gsLst>
              <a:gs pos="16000">
                <a:schemeClr val="tx2">
                  <a:lumMod val="10000"/>
                  <a:lumOff val="90000"/>
                </a:schemeClr>
              </a:gs>
              <a:gs pos="100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10800000" scaled="0"/>
            <a:tileRect/>
          </a:gradFill>
          <a:ln w="0"/>
          <a:effectLst>
            <a:outerShdw blurRad="50800" dist="19050" dir="5400000" algn="ctr" rotWithShape="0">
              <a:schemeClr val="tx2">
                <a:lumMod val="25000"/>
                <a:lumOff val="75000"/>
              </a:scheme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Modern pedagogical tools</a:t>
            </a: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used across all educational levels - from elementary to university</a:t>
            </a:r>
            <a:endParaRPr lang="es-ES" sz="3600" b="1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D596F1A-2C2E-B7F3-E342-F1885CB941C1}"/>
              </a:ext>
            </a:extLst>
          </p:cNvPr>
          <p:cNvSpPr/>
          <p:nvPr/>
        </p:nvSpPr>
        <p:spPr>
          <a:xfrm>
            <a:off x="646730" y="3516691"/>
            <a:ext cx="4932034" cy="1433943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Diverse Genres</a:t>
            </a:r>
          </a:p>
          <a:p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Simulation, puzzle, role-playing, adventure, strategy games enabling various pedagogical approaches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55B822D-6D64-F48A-3362-0FAD5DC7A494}"/>
              </a:ext>
            </a:extLst>
          </p:cNvPr>
          <p:cNvSpPr/>
          <p:nvPr/>
        </p:nvSpPr>
        <p:spPr>
          <a:xfrm>
            <a:off x="6022478" y="3516691"/>
            <a:ext cx="4932034" cy="1433943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Customizable</a:t>
            </a:r>
          </a:p>
          <a:p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Adaptable to different target criteria and changing learner needs</a:t>
            </a:r>
          </a:p>
          <a:p>
            <a:pPr algn="ctr"/>
            <a:endParaRPr lang="es-ES" sz="2000" b="1" dirty="0">
              <a:solidFill>
                <a:schemeClr val="tx1">
                  <a:lumMod val="85000"/>
                  <a:lumOff val="15000"/>
                </a:schemeClr>
              </a:solidFill>
              <a:latin typeface="Calibri (Body)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1E98C1-E6C6-2E7C-79ED-B769C9FCEF70}"/>
              </a:ext>
            </a:extLst>
          </p:cNvPr>
          <p:cNvSpPr txBox="1"/>
          <p:nvPr/>
        </p:nvSpPr>
        <p:spPr>
          <a:xfrm>
            <a:off x="646730" y="5373143"/>
            <a:ext cx="102337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Focus: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STEM education and adaptation/personalization approaches</a:t>
            </a:r>
            <a:endParaRPr lang="es-ES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3AA2F80B-9DEE-1608-0381-F025D55FC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2</a:t>
            </a:fld>
            <a:endParaRPr lang="es-E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494BEDBE-7CD8-08A8-5C78-C5F91FB62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Technological Approaches for Adaptation and Personalization in Educational Video Games</a:t>
            </a:r>
            <a:endParaRPr lang="es-E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81CEA54-447D-D154-92F5-47A21EA036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ICL'25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164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38F93-62D9-8C99-DBF6-DB7D12926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C1EC9-B6E3-868A-FF9B-30DA0FB16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Research Questions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53C80E9-4AE8-4E82-1091-96FDA9C030F8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1EA974B-5C5D-21EB-070F-3E9AFAD3BBBF}"/>
              </a:ext>
            </a:extLst>
          </p:cNvPr>
          <p:cNvSpPr/>
          <p:nvPr/>
        </p:nvSpPr>
        <p:spPr>
          <a:xfrm>
            <a:off x="605259" y="1995057"/>
            <a:ext cx="10349253" cy="198119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U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RQ1: Most Popular Approaches</a:t>
            </a:r>
          </a:p>
          <a:p>
            <a:pPr>
              <a:spcAft>
                <a:spcPts val="600"/>
              </a:spcAft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What are the most popular and effective approaches for describing and managing adaptation and personalization in educational video games?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90686F1-0E2F-E998-C90F-30F78DB18F55}"/>
              </a:ext>
            </a:extLst>
          </p:cNvPr>
          <p:cNvSpPr/>
          <p:nvPr/>
        </p:nvSpPr>
        <p:spPr>
          <a:xfrm>
            <a:off x="591405" y="4313374"/>
            <a:ext cx="10349253" cy="1981204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U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RQ2: Current Trends</a:t>
            </a:r>
          </a:p>
          <a:p>
            <a:pPr>
              <a:spcAft>
                <a:spcPts val="600"/>
              </a:spcAft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What are the current trends for describing and managing adaptation and personalization in the era of Generative Artificial Intelligence (GAI)?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FE9398-76AE-6E27-DDD4-C01D7791A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3</a:t>
            </a:fld>
            <a:endParaRPr lang="es-ES"/>
          </a:p>
        </p:txBody>
      </p:sp>
      <p:sp>
        <p:nvSpPr>
          <p:cNvPr id="10" name="Footer Placeholder 24">
            <a:extLst>
              <a:ext uri="{FF2B5EF4-FFF2-40B4-BE49-F238E27FC236}">
                <a16:creationId xmlns:a16="http://schemas.microsoft.com/office/drawing/2014/main" id="{9DDD5469-913D-1FA1-B904-F63AC19B4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Technological Approaches for Adaptation and Personalization in Educational Video Games</a:t>
            </a:r>
            <a:endParaRPr lang="es-ES" dirty="0"/>
          </a:p>
        </p:txBody>
      </p:sp>
      <p:pic>
        <p:nvPicPr>
          <p:cNvPr id="3" name="Graphic 2" descr="Magnifying glass with solid fill">
            <a:extLst>
              <a:ext uri="{FF2B5EF4-FFF2-40B4-BE49-F238E27FC236}">
                <a16:creationId xmlns:a16="http://schemas.microsoft.com/office/drawing/2014/main" id="{278C8E45-2D7E-C7EA-3EA2-54914C690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4537" y="2164068"/>
            <a:ext cx="314039" cy="314039"/>
          </a:xfrm>
          <a:prstGeom prst="rect">
            <a:avLst/>
          </a:prstGeom>
        </p:spPr>
      </p:pic>
      <p:pic>
        <p:nvPicPr>
          <p:cNvPr id="6" name="Graphic 5" descr="Magnifying glass with solid fill">
            <a:extLst>
              <a:ext uri="{FF2B5EF4-FFF2-40B4-BE49-F238E27FC236}">
                <a16:creationId xmlns:a16="http://schemas.microsoft.com/office/drawing/2014/main" id="{99759E23-EC31-D7CB-CCF5-81CB6C8A7A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4261" y="4479583"/>
            <a:ext cx="314039" cy="314039"/>
          </a:xfrm>
          <a:prstGeom prst="rect">
            <a:avLst/>
          </a:prstGeom>
        </p:spPr>
      </p:pic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F52C145-078F-13CE-7EE0-012A236E5F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ICL'25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589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17B11-5A57-30F8-16FF-71673BF6E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F38AF-7DB1-209B-C401-25FC8C10D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Popular Educational Game Genres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B3A21C7-F75C-772F-614D-25B77D836648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93CD5F3-DE58-DF28-0131-CE3B87527AE2}"/>
              </a:ext>
            </a:extLst>
          </p:cNvPr>
          <p:cNvSpPr/>
          <p:nvPr/>
        </p:nvSpPr>
        <p:spPr>
          <a:xfrm>
            <a:off x="605260" y="1995057"/>
            <a:ext cx="5019685" cy="198119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US" sz="24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Puzzle Games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Logical problems, memory improvement, and pattern recognition</a:t>
            </a:r>
          </a:p>
          <a:p>
            <a:pPr>
              <a:spcAft>
                <a:spcPts val="600"/>
              </a:spcAft>
            </a:pP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Examples: Quantum Moves,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GeoGuessr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B05D191-EC5A-C692-5929-9E5AE7AF7689}"/>
              </a:ext>
            </a:extLst>
          </p:cNvPr>
          <p:cNvSpPr/>
          <p:nvPr/>
        </p:nvSpPr>
        <p:spPr>
          <a:xfrm>
            <a:off x="6022387" y="1995056"/>
            <a:ext cx="5019685" cy="198119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US" sz="24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Simulation Games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Real system representation, safe experimentation</a:t>
            </a:r>
          </a:p>
          <a:p>
            <a:pPr>
              <a:spcAft>
                <a:spcPts val="600"/>
              </a:spcAft>
            </a:pP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Examples: Minecraft: Education Edition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CEA238F-5B96-974C-BD08-EDB14317D9D7}"/>
              </a:ext>
            </a:extLst>
          </p:cNvPr>
          <p:cNvSpPr/>
          <p:nvPr/>
        </p:nvSpPr>
        <p:spPr>
          <a:xfrm>
            <a:off x="591407" y="4299524"/>
            <a:ext cx="5019685" cy="198119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US" sz="24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Quiz Games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Logical problems, memory improvement, pattern recognition</a:t>
            </a:r>
          </a:p>
          <a:p>
            <a:pPr>
              <a:spcAft>
                <a:spcPts val="600"/>
              </a:spcAft>
            </a:pP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Examples: Kahoot!,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QuizUp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AF47EB5-FD3F-78B0-D112-77D69306759A}"/>
              </a:ext>
            </a:extLst>
          </p:cNvPr>
          <p:cNvSpPr/>
          <p:nvPr/>
        </p:nvSpPr>
        <p:spPr>
          <a:xfrm>
            <a:off x="6008534" y="4299523"/>
            <a:ext cx="5019685" cy="198119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US" sz="24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Strategy Games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Planning, decision-making, resource management</a:t>
            </a:r>
          </a:p>
          <a:p>
            <a:pPr>
              <a:spcAft>
                <a:spcPts val="600"/>
              </a:spcAft>
            </a:pP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Examples: Habitat, Genius: Biology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6B76919-6EC3-93B4-E07B-EE8B74D7F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0175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4</a:t>
            </a:fld>
            <a:endParaRPr lang="es-ES" dirty="0"/>
          </a:p>
        </p:txBody>
      </p:sp>
      <p:sp>
        <p:nvSpPr>
          <p:cNvPr id="14" name="Footer Placeholder 24">
            <a:extLst>
              <a:ext uri="{FF2B5EF4-FFF2-40B4-BE49-F238E27FC236}">
                <a16:creationId xmlns:a16="http://schemas.microsoft.com/office/drawing/2014/main" id="{FA223230-1ABB-97F6-3DAA-1533C0F9B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0752"/>
            <a:ext cx="6324600" cy="365125"/>
          </a:xfrm>
        </p:spPr>
        <p:txBody>
          <a:bodyPr/>
          <a:lstStyle/>
          <a:p>
            <a:r>
              <a:rPr lang="en-US" dirty="0"/>
              <a:t>Technological Approaches for Adaptation and Personalization in Educational Video Games</a:t>
            </a:r>
            <a:endParaRPr lang="es-E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276DB26-B30E-F8A2-3221-C49BD575A3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92875"/>
            <a:ext cx="2057400" cy="365125"/>
          </a:xfrm>
        </p:spPr>
        <p:txBody>
          <a:bodyPr/>
          <a:lstStyle/>
          <a:p>
            <a:r>
              <a:rPr lang="bg-BG" dirty="0"/>
              <a:t>ICL'25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697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70EDB-391F-07FF-1FD0-DBDE2565D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5D656-92B4-3A70-DEE3-24285E930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Additional Game Genres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E0957C6-05BB-0CDA-58AF-4A3E0EA6CC01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43965A6-3E5D-45FA-B16D-76E535206766}"/>
              </a:ext>
            </a:extLst>
          </p:cNvPr>
          <p:cNvSpPr/>
          <p:nvPr/>
        </p:nvSpPr>
        <p:spPr>
          <a:xfrm>
            <a:off x="799086" y="1676394"/>
            <a:ext cx="10224840" cy="1417640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US" sz="24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Sandbox Games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Open worlds, free exploration, creativity encouragement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Examples: The Sandbox Edu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6F7010C-D02C-A25B-D1D5-7079D93378D9}"/>
              </a:ext>
            </a:extLst>
          </p:cNvPr>
          <p:cNvSpPr/>
          <p:nvPr/>
        </p:nvSpPr>
        <p:spPr>
          <a:xfrm>
            <a:off x="799086" y="3435723"/>
            <a:ext cx="10248162" cy="1494178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US" sz="24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Role-Playing Games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Character assumption, story-driven gameplay, skill development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Examples: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DragonBox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Classcraft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140CF13-0892-3C68-6A74-4F1783F2D719}"/>
              </a:ext>
            </a:extLst>
          </p:cNvPr>
          <p:cNvSpPr/>
          <p:nvPr/>
        </p:nvSpPr>
        <p:spPr>
          <a:xfrm>
            <a:off x="729673" y="5188328"/>
            <a:ext cx="10317575" cy="1417639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US" sz="24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Adventure Games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Exploration, narration, educational quest solving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Examples: Oregon Trail,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Zoombinis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5AEAE3-6914-89D9-79D8-FF08BD7B3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0760" y="6605966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5</a:t>
            </a:fld>
            <a:endParaRPr lang="es-ES" dirty="0"/>
          </a:p>
        </p:txBody>
      </p:sp>
      <p:sp>
        <p:nvSpPr>
          <p:cNvPr id="6" name="Footer Placeholder 24">
            <a:extLst>
              <a:ext uri="{FF2B5EF4-FFF2-40B4-BE49-F238E27FC236}">
                <a16:creationId xmlns:a16="http://schemas.microsoft.com/office/drawing/2014/main" id="{E1A3C7D9-947F-1769-B8F4-1D42F8D7B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26160" y="6605967"/>
            <a:ext cx="6324600" cy="365125"/>
          </a:xfrm>
        </p:spPr>
        <p:txBody>
          <a:bodyPr/>
          <a:lstStyle/>
          <a:p>
            <a:r>
              <a:rPr lang="en-US" dirty="0"/>
              <a:t>Technological Approaches for Adaptation and Personalization in Educational Video Games</a:t>
            </a:r>
            <a:endParaRPr lang="es-E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24817-95AC-17F4-9E47-FB0F52D1DC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9086" y="6605966"/>
            <a:ext cx="2057400" cy="365125"/>
          </a:xfrm>
        </p:spPr>
        <p:txBody>
          <a:bodyPr/>
          <a:lstStyle/>
          <a:p>
            <a:r>
              <a:rPr lang="bg-BG" dirty="0"/>
              <a:t>ICL'25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76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04188-A8E8-29DE-DE39-2E29B692B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45EC-A130-AEB0-FF60-E8BD78AA4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Personalization vs Adaptation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A4EE23-2CD2-34E0-79D7-2ADE996F10FA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A52616D-C6B7-B599-22D0-3CFECAF2EBAF}"/>
              </a:ext>
            </a:extLst>
          </p:cNvPr>
          <p:cNvSpPr/>
          <p:nvPr/>
        </p:nvSpPr>
        <p:spPr>
          <a:xfrm>
            <a:off x="596116" y="1506356"/>
            <a:ext cx="5019685" cy="216047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Personalization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Proactive &amp; Prior -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configured before gameplay begins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Pre-defined Characteristics - based on known learner attributes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Profile-Based Experience - customized according to user profiles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511962B-BDC6-A99C-2F6F-84A388FE9A79}"/>
              </a:ext>
            </a:extLst>
          </p:cNvPr>
          <p:cNvSpPr/>
          <p:nvPr/>
        </p:nvSpPr>
        <p:spPr>
          <a:xfrm>
            <a:off x="6004099" y="1506351"/>
            <a:ext cx="5019685" cy="2160483"/>
          </a:xfrm>
          <a:prstGeom prst="roundRect">
            <a:avLst/>
          </a:prstGeom>
          <a:solidFill>
            <a:srgbClr val="F9E7F7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Adaptation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Reactive &amp; Real-time -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adjusts dynamically during gameplay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Performance-Driven - based on real-time behavior data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Dynamic Adjustments - game elements modified during play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73D4D-332E-71FE-153C-506C6B462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6</a:t>
            </a:fld>
            <a:endParaRPr lang="es-ES" dirty="0"/>
          </a:p>
        </p:txBody>
      </p:sp>
      <p:sp>
        <p:nvSpPr>
          <p:cNvPr id="10" name="Footer Placeholder 24">
            <a:extLst>
              <a:ext uri="{FF2B5EF4-FFF2-40B4-BE49-F238E27FC236}">
                <a16:creationId xmlns:a16="http://schemas.microsoft.com/office/drawing/2014/main" id="{E21A97E4-9CFF-C527-A8B6-6D91B2C3F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Technological Approaches for Adaptation and Personalization in Educational Video Games</a:t>
            </a:r>
            <a:endParaRPr lang="es-E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C88DEB6-01FD-C334-2573-726AB380B7BE}"/>
              </a:ext>
            </a:extLst>
          </p:cNvPr>
          <p:cNvSpPr/>
          <p:nvPr/>
        </p:nvSpPr>
        <p:spPr>
          <a:xfrm>
            <a:off x="660816" y="3822115"/>
            <a:ext cx="4954985" cy="160117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Based on:</a:t>
            </a:r>
          </a:p>
          <a:p>
            <a:pPr marL="342900" indent="-342900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Learning goals &amp; objectives</a:t>
            </a:r>
          </a:p>
          <a:p>
            <a:pPr marL="342900" indent="-342900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Prior knowledge &amp; experience</a:t>
            </a:r>
          </a:p>
          <a:p>
            <a:pPr marL="342900" indent="-342900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Age &amp; educational level</a:t>
            </a:r>
          </a:p>
          <a:p>
            <a:pPr marL="342900" indent="-342900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Learning/playing styles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F55AE37-8247-5027-75F7-AA8DB3D2E6A0}"/>
              </a:ext>
            </a:extLst>
          </p:cNvPr>
          <p:cNvSpPr/>
          <p:nvPr/>
        </p:nvSpPr>
        <p:spPr>
          <a:xfrm>
            <a:off x="6004098" y="3822122"/>
            <a:ext cx="5019685" cy="1601170"/>
          </a:xfrm>
          <a:prstGeom prst="roundRect">
            <a:avLst/>
          </a:prstGeom>
          <a:solidFill>
            <a:srgbClr val="F9E7F7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Adjusts:</a:t>
            </a:r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Learning content &amp; sequencing</a:t>
            </a:r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Difficulty level &amp; challenges</a:t>
            </a:r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Interface &amp; presentation style</a:t>
            </a:r>
          </a:p>
          <a:p>
            <a:pPr marL="342900" indent="-342900"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Feedback &amp; scaffolding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560E3C1-C25D-57DD-A609-197670C97B60}"/>
              </a:ext>
            </a:extLst>
          </p:cNvPr>
          <p:cNvSpPr/>
          <p:nvPr/>
        </p:nvSpPr>
        <p:spPr>
          <a:xfrm>
            <a:off x="660815" y="5578573"/>
            <a:ext cx="10362968" cy="8653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b="1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Key Difference: </a:t>
            </a:r>
            <a:r>
              <a:rPr lang="en-US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Personalization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uses </a:t>
            </a:r>
            <a:r>
              <a:rPr lang="en-US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static learner characteristics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 pre-configure the experience, while </a:t>
            </a:r>
            <a:r>
              <a:rPr lang="en-US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Adaptation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uses 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dynamic performance data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 adjust in real-time.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4B0A184-DCDC-20D7-0ECD-3FF502617F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5653"/>
            <a:ext cx="2057400" cy="365125"/>
          </a:xfrm>
        </p:spPr>
        <p:txBody>
          <a:bodyPr/>
          <a:lstStyle/>
          <a:p>
            <a:r>
              <a:rPr lang="bg-BG" dirty="0"/>
              <a:t>ICL'25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557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081C6-47DC-7252-993C-53F5EA42E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D807-563B-BE09-8897-1551CE2EC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Main Personalization Approaches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999B21-5107-DBB4-5286-FD6294E650A6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CB8E015-45B6-8548-96A1-F16B9AD6A28F}"/>
              </a:ext>
            </a:extLst>
          </p:cNvPr>
          <p:cNvSpPr/>
          <p:nvPr/>
        </p:nvSpPr>
        <p:spPr>
          <a:xfrm>
            <a:off x="605260" y="1995057"/>
            <a:ext cx="5019685" cy="198119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User-Centered</a:t>
            </a:r>
            <a:endParaRPr lang="es-ES" sz="28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Individual player features, interaction data, performance-based adaptation</a:t>
            </a:r>
            <a:endParaRPr lang="es-ES" sz="2400" b="1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7526A8F-2881-E5AA-CE85-789852F90F10}"/>
              </a:ext>
            </a:extLst>
          </p:cNvPr>
          <p:cNvSpPr/>
          <p:nvPr/>
        </p:nvSpPr>
        <p:spPr>
          <a:xfrm>
            <a:off x="6022387" y="1995056"/>
            <a:ext cx="5019685" cy="198119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Teacher-Centered</a:t>
            </a:r>
            <a:endParaRPr lang="es-ES" sz="28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Educator views, learning objectives, student needs assessment</a:t>
            </a:r>
            <a:endParaRPr lang="es-ES" sz="2400" b="1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4C6AB6A-6670-2CBB-1ACB-4A43E9D4B74E}"/>
              </a:ext>
            </a:extLst>
          </p:cNvPr>
          <p:cNvSpPr/>
          <p:nvPr/>
        </p:nvSpPr>
        <p:spPr>
          <a:xfrm>
            <a:off x="591407" y="4299524"/>
            <a:ext cx="5019685" cy="198119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Designer-Centered</a:t>
            </a:r>
            <a:endParaRPr lang="es-ES" sz="28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Research-based, best practices, engagement theories</a:t>
            </a:r>
            <a:endParaRPr lang="en-US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9753A37-6F97-347B-C2BA-FF5082201A9F}"/>
              </a:ext>
            </a:extLst>
          </p:cNvPr>
          <p:cNvSpPr/>
          <p:nvPr/>
        </p:nvSpPr>
        <p:spPr>
          <a:xfrm>
            <a:off x="6008534" y="4299523"/>
            <a:ext cx="5019685" cy="198119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Platform-Centered</a:t>
            </a:r>
            <a:endParaRPr lang="es-ES" sz="28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s-E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AR/VR </a:t>
            </a:r>
            <a:r>
              <a:rPr lang="es-ES" sz="2400" dirty="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capabilities</a:t>
            </a:r>
            <a:r>
              <a:rPr lang="es-E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s-ES" sz="2400" dirty="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mobile</a:t>
            </a:r>
            <a:r>
              <a:rPr lang="es-E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sensors</a:t>
            </a:r>
            <a:r>
              <a:rPr lang="es-E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s-ES" sz="2400" dirty="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device-specific</a:t>
            </a:r>
            <a:r>
              <a:rPr lang="es-E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features</a:t>
            </a:r>
            <a:endParaRPr lang="en-US" sz="2400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6626215-8673-33E9-F174-31AB4CC11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7</a:t>
            </a:fld>
            <a:endParaRPr lang="es-ES" dirty="0"/>
          </a:p>
        </p:txBody>
      </p:sp>
      <p:sp>
        <p:nvSpPr>
          <p:cNvPr id="12" name="Footer Placeholder 24">
            <a:extLst>
              <a:ext uri="{FF2B5EF4-FFF2-40B4-BE49-F238E27FC236}">
                <a16:creationId xmlns:a16="http://schemas.microsoft.com/office/drawing/2014/main" id="{26850E5A-7E64-1C0F-65AA-39B981D98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Technological Approaches for Adaptation and Personalization in Educational Video Games</a:t>
            </a:r>
            <a:endParaRPr lang="es-E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BFC3E2E-B08C-6164-6002-703378D92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673" y="6483731"/>
            <a:ext cx="2057400" cy="365125"/>
          </a:xfrm>
        </p:spPr>
        <p:txBody>
          <a:bodyPr/>
          <a:lstStyle/>
          <a:p>
            <a:r>
              <a:rPr lang="bg-BG" dirty="0"/>
              <a:t>ICL'25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995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3DEAE-C345-5470-4C32-A3FBC3666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6BFC8-8CD1-8642-CE67-82CAB9F34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Additional Tailoring Approaches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E0245A-C570-FF4A-AB4B-06726EFAA29E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A6A607C-CC0A-8BBE-B16E-3289F97F6A60}"/>
              </a:ext>
            </a:extLst>
          </p:cNvPr>
          <p:cNvSpPr/>
          <p:nvPr/>
        </p:nvSpPr>
        <p:spPr>
          <a:xfrm>
            <a:off x="605260" y="1995057"/>
            <a:ext cx="5019685" cy="198119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Contextual </a:t>
            </a: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Tailoring</a:t>
            </a:r>
            <a:endParaRPr lang="es-ES" sz="28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Real-world factors, current events, location-based adaptation</a:t>
            </a:r>
            <a:endParaRPr lang="es-ES" sz="2400" b="1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F8F73DC-5AA2-8B47-3704-5B4385321135}"/>
              </a:ext>
            </a:extLst>
          </p:cNvPr>
          <p:cNvSpPr/>
          <p:nvPr/>
        </p:nvSpPr>
        <p:spPr>
          <a:xfrm>
            <a:off x="6022387" y="1995056"/>
            <a:ext cx="5019685" cy="198119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Performance-</a:t>
            </a: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Based</a:t>
            </a:r>
            <a:endParaRPr lang="es-ES" sz="28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Performance metrics, learning outcomes, dynamic difficulty adjustment</a:t>
            </a:r>
            <a:endParaRPr lang="es-ES" sz="2400" b="1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4AB1B0B-FC7A-E9AF-E3A3-850298C081F5}"/>
              </a:ext>
            </a:extLst>
          </p:cNvPr>
          <p:cNvSpPr/>
          <p:nvPr/>
        </p:nvSpPr>
        <p:spPr>
          <a:xfrm>
            <a:off x="591407" y="4299524"/>
            <a:ext cx="5019685" cy="198119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Social-</a:t>
            </a: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Collaborative</a:t>
            </a:r>
            <a:endParaRPr lang="es-ES" sz="28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Player collaboration dynamics, peer feedback, group performance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B29C1C-EA09-8C96-3123-E9668FA181D1}"/>
              </a:ext>
            </a:extLst>
          </p:cNvPr>
          <p:cNvSpPr/>
          <p:nvPr/>
        </p:nvSpPr>
        <p:spPr>
          <a:xfrm>
            <a:off x="6008534" y="4299523"/>
            <a:ext cx="5019685" cy="198119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Combined</a:t>
            </a:r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Elements</a:t>
            </a:r>
            <a:endParaRPr lang="es-ES" sz="28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Multi-approach integration for enhanced engagement and motivation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15136B-C216-6571-11A7-C70BE1EF8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8</a:t>
            </a:fld>
            <a:endParaRPr lang="es-ES" dirty="0"/>
          </a:p>
        </p:txBody>
      </p:sp>
      <p:sp>
        <p:nvSpPr>
          <p:cNvPr id="10" name="Footer Placeholder 24">
            <a:extLst>
              <a:ext uri="{FF2B5EF4-FFF2-40B4-BE49-F238E27FC236}">
                <a16:creationId xmlns:a16="http://schemas.microsoft.com/office/drawing/2014/main" id="{85DEB158-6CA4-6A4A-5471-CCDEB9DE2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Technological Approaches for Adaptation and Personalization in Educational Video Games</a:t>
            </a:r>
            <a:endParaRPr lang="es-E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8D330-7C51-038D-0307-35110F8B43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ICL'25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582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9D38B-1DDC-6992-6240-326C0E277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4536E-57F0-B9E2-7B7A-4DD3E6155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Research Methodology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4AAD418-076E-BA3D-1CFA-DCAF7F376314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13536F6-798F-A1B6-443C-C0E9D7F928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3935252"/>
              </p:ext>
            </p:extLst>
          </p:nvPr>
        </p:nvGraphicFramePr>
        <p:xfrm>
          <a:off x="729672" y="239373"/>
          <a:ext cx="10224839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BE7DC63-15E9-24B2-4038-121B5D94DC03}"/>
              </a:ext>
            </a:extLst>
          </p:cNvPr>
          <p:cNvSpPr/>
          <p:nvPr/>
        </p:nvSpPr>
        <p:spPr>
          <a:xfrm>
            <a:off x="667464" y="4590480"/>
            <a:ext cx="10349253" cy="198119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800"/>
              </a:spcAft>
            </a:pPr>
            <a:r>
              <a:rPr lang="en-US" sz="32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Search Query Focus:</a:t>
            </a:r>
          </a:p>
          <a:p>
            <a:pPr>
              <a:spcAft>
                <a:spcPts val="600"/>
              </a:spcAft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Educational games + (personalization OR adaptation OR customization OR tailoring)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F763BE0-F513-5558-3BDF-072EF6F26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8954" y="6610351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9</a:t>
            </a:fld>
            <a:endParaRPr lang="es-ES" dirty="0"/>
          </a:p>
        </p:txBody>
      </p:sp>
      <p:sp>
        <p:nvSpPr>
          <p:cNvPr id="12" name="Footer Placeholder 24">
            <a:extLst>
              <a:ext uri="{FF2B5EF4-FFF2-40B4-BE49-F238E27FC236}">
                <a16:creationId xmlns:a16="http://schemas.microsoft.com/office/drawing/2014/main" id="{4459AAB8-36A0-A7D7-BADC-5D92A6613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0" y="6610351"/>
            <a:ext cx="6324600" cy="365125"/>
          </a:xfrm>
        </p:spPr>
        <p:txBody>
          <a:bodyPr/>
          <a:lstStyle/>
          <a:p>
            <a:r>
              <a:rPr lang="en-US" dirty="0"/>
              <a:t>Technological Approaches for Adaptation and Personalization in Educational Video Games</a:t>
            </a:r>
            <a:endParaRPr lang="es-E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9954753-B97E-8CFF-EF3F-2E0DA86AB0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464" y="6618627"/>
            <a:ext cx="2057400" cy="365125"/>
          </a:xfrm>
        </p:spPr>
        <p:txBody>
          <a:bodyPr/>
          <a:lstStyle/>
          <a:p>
            <a:r>
              <a:rPr lang="bg-BG" dirty="0"/>
              <a:t>ICL'25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269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B97FF-BCBF-F638-D2C0-CF9431DD2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A059D-6D96-BE5B-9D72-F2A4DB3E1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Why PRISMA + </a:t>
            </a:r>
            <a:r>
              <a:rPr lang="en-US" b="1" dirty="0" err="1">
                <a:solidFill>
                  <a:srgbClr val="0070C0"/>
                </a:solidFill>
                <a:latin typeface="Calibri (Body)"/>
              </a:rPr>
              <a:t>ATLAS.ti</a:t>
            </a:r>
            <a:r>
              <a:rPr lang="en-US" b="1" dirty="0">
                <a:solidFill>
                  <a:srgbClr val="0070C0"/>
                </a:solidFill>
                <a:latin typeface="Calibri (Body)"/>
              </a:rPr>
              <a:t>?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1ADF00-FF7F-B139-19C5-DC92F6FF3AD4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A67FCB9-CB0D-B9A5-FDB4-95BA88B4F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7242" y="6483731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10</a:t>
            </a:fld>
            <a:endParaRPr lang="es-ES" dirty="0"/>
          </a:p>
        </p:txBody>
      </p:sp>
      <p:sp>
        <p:nvSpPr>
          <p:cNvPr id="12" name="Footer Placeholder 24">
            <a:extLst>
              <a:ext uri="{FF2B5EF4-FFF2-40B4-BE49-F238E27FC236}">
                <a16:creationId xmlns:a16="http://schemas.microsoft.com/office/drawing/2014/main" id="{82B51A65-64A6-9963-1FAA-7F09B55B0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0" y="6509641"/>
            <a:ext cx="6324600" cy="365125"/>
          </a:xfrm>
        </p:spPr>
        <p:txBody>
          <a:bodyPr/>
          <a:lstStyle/>
          <a:p>
            <a:r>
              <a:rPr lang="en-US" dirty="0"/>
              <a:t>Technological Approaches for Adaptation and Personalization in Educational Video Games</a:t>
            </a:r>
            <a:endParaRPr lang="es-E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06EC68B-E7BA-DCB7-5722-1697C8EEED0C}"/>
              </a:ext>
            </a:extLst>
          </p:cNvPr>
          <p:cNvSpPr/>
          <p:nvPr/>
        </p:nvSpPr>
        <p:spPr>
          <a:xfrm>
            <a:off x="429954" y="1517170"/>
            <a:ext cx="5107431" cy="1817158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PRISMA </a:t>
            </a:r>
          </a:p>
          <a:p>
            <a:r>
              <a:rPr lang="es-ES" sz="16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Quantitative </a:t>
            </a:r>
            <a:r>
              <a:rPr lang="es-ES" sz="16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Systematic</a:t>
            </a:r>
            <a:r>
              <a:rPr lang="es-ES" sz="16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16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Review</a:t>
            </a:r>
            <a:endParaRPr lang="es-ES" sz="16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Transparent &amp; Reproducible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Reduces Selection Bias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Gold Standard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Comprehensive Scope</a:t>
            </a:r>
            <a:endParaRPr lang="en-US" sz="1400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8" name="Graphic 7" descr="Magnifying glass with solid fill">
            <a:extLst>
              <a:ext uri="{FF2B5EF4-FFF2-40B4-BE49-F238E27FC236}">
                <a16:creationId xmlns:a16="http://schemas.microsoft.com/office/drawing/2014/main" id="{6AFED462-C16E-675C-9E5A-51AC951F0B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390" y="1705261"/>
            <a:ext cx="314039" cy="314039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DFBDA9A-FC5D-30D1-308B-E35142599174}"/>
              </a:ext>
            </a:extLst>
          </p:cNvPr>
          <p:cNvSpPr/>
          <p:nvPr/>
        </p:nvSpPr>
        <p:spPr>
          <a:xfrm>
            <a:off x="5934827" y="1517170"/>
            <a:ext cx="5019685" cy="1817158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</a:t>
            </a: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ATLAS.ti</a:t>
            </a:r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  <a:p>
            <a:r>
              <a:rPr lang="es-ES" sz="16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Qualitative</a:t>
            </a:r>
            <a:r>
              <a:rPr lang="es-ES" sz="16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Content </a:t>
            </a:r>
            <a:r>
              <a:rPr lang="es-ES" sz="16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Analysis</a:t>
            </a:r>
            <a:endParaRPr lang="es-ES" sz="16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Deep Content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Pattern Recognition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Quantifiable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Multi-Researcher Validation</a:t>
            </a:r>
          </a:p>
        </p:txBody>
      </p:sp>
      <p:pic>
        <p:nvPicPr>
          <p:cNvPr id="14" name="Graphic 13" descr="Document with solid fill">
            <a:extLst>
              <a:ext uri="{FF2B5EF4-FFF2-40B4-BE49-F238E27FC236}">
                <a16:creationId xmlns:a16="http://schemas.microsoft.com/office/drawing/2014/main" id="{BA1F2208-BC20-34F4-74D8-D2C4366FF4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0" y="1705261"/>
            <a:ext cx="350986" cy="350986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D2169A0-7646-8E1D-7A91-E5A8160E41BB}"/>
              </a:ext>
            </a:extLst>
          </p:cNvPr>
          <p:cNvSpPr/>
          <p:nvPr/>
        </p:nvSpPr>
        <p:spPr>
          <a:xfrm>
            <a:off x="429954" y="3505197"/>
            <a:ext cx="10524558" cy="1325556"/>
          </a:xfrm>
          <a:prstGeom prst="roundRect">
            <a:avLst/>
          </a:prstGeom>
          <a:solidFill>
            <a:srgbClr val="9FFFCA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Why</a:t>
            </a:r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Combine </a:t>
            </a: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Both</a:t>
            </a:r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Approaches</a:t>
            </a:r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Complementary Strengths - PRISMA identifies WHAT exists, </a:t>
            </a:r>
            <a:r>
              <a:rPr lang="en-US" sz="1600" dirty="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ATLAS.ti</a:t>
            </a:r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reveals HOW it's discussed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Rigor + Depth - Systematic breadth meets contextual understanding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Answers Both RQs - </a:t>
            </a:r>
            <a:r>
              <a:rPr lang="fr-FR" sz="16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RQ1: </a:t>
            </a:r>
            <a:r>
              <a:rPr lang="fr-FR" sz="1600" dirty="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Popular</a:t>
            </a:r>
            <a:r>
              <a:rPr lang="fr-FR" sz="16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fr-FR" sz="1600" dirty="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approaches</a:t>
            </a:r>
            <a:r>
              <a:rPr lang="fr-FR" sz="16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(quantitative) | RQ2: </a:t>
            </a:r>
            <a:r>
              <a:rPr lang="fr-FR" sz="1600" dirty="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Emerging</a:t>
            </a:r>
            <a:r>
              <a:rPr lang="fr-FR" sz="16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trends (qualitative patterns)</a:t>
            </a:r>
            <a:endParaRPr lang="en-US" sz="1600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BAB0CB9-693C-D4FF-BDD9-1AA2C5D47F45}"/>
              </a:ext>
            </a:extLst>
          </p:cNvPr>
          <p:cNvSpPr/>
          <p:nvPr/>
        </p:nvSpPr>
        <p:spPr>
          <a:xfrm>
            <a:off x="429954" y="5001622"/>
            <a:ext cx="10524558" cy="132555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Result</a:t>
            </a:r>
            <a:endParaRPr lang="es-ES" sz="28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robust mixed-methods approach providing both statistical evidence and rich contextual insights into adaptation and personalization trends in educational video games.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46D7B83-160C-0C40-3A57-B1100B1CBB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0" y="6501258"/>
            <a:ext cx="2057400" cy="365125"/>
          </a:xfrm>
        </p:spPr>
        <p:txBody>
          <a:bodyPr/>
          <a:lstStyle/>
          <a:p>
            <a:r>
              <a:rPr lang="bg-BG" dirty="0"/>
              <a:t>ICL'25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046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5A6FB-0C55-50BE-CEC9-CF60B5A5B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46861-8FCE-61AB-73BB-24EC5EF1C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Data Collection Results</a:t>
            </a:r>
            <a:br>
              <a:rPr lang="en-US" b="1" dirty="0">
                <a:solidFill>
                  <a:srgbClr val="0070C0"/>
                </a:solidFill>
                <a:latin typeface="Calibri (Body)"/>
              </a:rPr>
            </a:br>
            <a:r>
              <a:rPr lang="en-US" sz="2800" i="1" dirty="0">
                <a:solidFill>
                  <a:srgbClr val="002060"/>
                </a:solidFill>
                <a:latin typeface="Calibri (Body)"/>
              </a:rPr>
              <a:t>PRISMA Methodology - Initial Screening</a:t>
            </a:r>
            <a:endParaRPr lang="es-ES" sz="2800" i="1" dirty="0">
              <a:solidFill>
                <a:srgbClr val="00206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EAD178-48F0-0615-D541-66FB1EED88B5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D5525B6-DEC4-8DD1-8676-2CCB760432A0}"/>
              </a:ext>
            </a:extLst>
          </p:cNvPr>
          <p:cNvSpPr/>
          <p:nvPr/>
        </p:nvSpPr>
        <p:spPr>
          <a:xfrm>
            <a:off x="261566" y="3748658"/>
            <a:ext cx="11647054" cy="281550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n-US" sz="32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Inclusion Criteria Applied: </a:t>
            </a:r>
          </a:p>
          <a:p>
            <a:r>
              <a:rPr lang="es-ES" dirty="0">
                <a:solidFill>
                  <a:srgbClr val="0070C0"/>
                </a:solidFill>
              </a:rPr>
              <a:t>✓</a:t>
            </a: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Video games focus; </a:t>
            </a:r>
          </a:p>
          <a:p>
            <a:r>
              <a:rPr lang="es-ES" sz="2400" dirty="0">
                <a:solidFill>
                  <a:srgbClr val="0070C0"/>
                </a:solidFill>
              </a:rPr>
              <a:t>✓ </a:t>
            </a: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Detailed adaptation/personalization descriptions; </a:t>
            </a:r>
          </a:p>
          <a:p>
            <a:r>
              <a:rPr lang="es-ES" sz="2400" dirty="0">
                <a:solidFill>
                  <a:srgbClr val="0070C0"/>
                </a:solidFill>
              </a:rPr>
              <a:t>✓  </a:t>
            </a: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Journal articles, conference papers, books; </a:t>
            </a:r>
          </a:p>
          <a:p>
            <a:r>
              <a:rPr lang="es-ES" sz="2400" dirty="0">
                <a:solidFill>
                  <a:srgbClr val="0070C0"/>
                </a:solidFill>
              </a:rPr>
              <a:t>✓ </a:t>
            </a: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English language; </a:t>
            </a:r>
          </a:p>
          <a:p>
            <a:pPr>
              <a:spcAft>
                <a:spcPts val="1800"/>
              </a:spcAft>
            </a:pPr>
            <a:r>
              <a:rPr lang="es-ES" sz="2400" dirty="0">
                <a:solidFill>
                  <a:srgbClr val="0070C0"/>
                </a:solidFill>
              </a:rPr>
              <a:t>✓ </a:t>
            </a: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Published 2015-2025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BECADA1-D613-EEF4-D071-06A23623E0C8}"/>
              </a:ext>
            </a:extLst>
          </p:cNvPr>
          <p:cNvSpPr/>
          <p:nvPr/>
        </p:nvSpPr>
        <p:spPr>
          <a:xfrm>
            <a:off x="261566" y="1630222"/>
            <a:ext cx="3283435" cy="1911922"/>
          </a:xfrm>
          <a:prstGeom prst="roundRect">
            <a:avLst/>
          </a:prstGeom>
          <a:solidFill>
            <a:srgbClr val="0070C0"/>
          </a:solidFill>
          <a:ln w="0">
            <a:solidFill>
              <a:srgbClr val="00B0F0"/>
            </a:solidFill>
          </a:ln>
          <a:effectLst>
            <a:outerShdw blurRad="50800" dist="19050" dir="5400000" algn="ctr" rotWithShape="0">
              <a:schemeClr val="tx2">
                <a:lumMod val="25000"/>
                <a:lumOff val="75000"/>
              </a:scheme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spcAft>
                <a:spcPts val="1200"/>
              </a:spcAft>
            </a:pPr>
            <a:r>
              <a:rPr lang="es-ES" sz="2800" b="1" dirty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985 </a:t>
            </a:r>
            <a:r>
              <a:rPr lang="es-ES" sz="2800" b="1" dirty="0" err="1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Initial</a:t>
            </a:r>
            <a:r>
              <a:rPr lang="es-ES" sz="2800" b="1" dirty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800" b="1" dirty="0" err="1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Publications</a:t>
            </a:r>
            <a:endParaRPr lang="es-ES" sz="2800" b="1" dirty="0">
              <a:solidFill>
                <a:schemeClr val="bg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/>
            <a:r>
              <a:rPr lang="en-US" sz="2400" dirty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Web of Science: 432 | Scopus: 553</a:t>
            </a:r>
            <a:endParaRPr lang="es-ES" sz="2400" dirty="0">
              <a:solidFill>
                <a:schemeClr val="bg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020AC0E-74B3-D5EB-3CB5-CD18DF138C66}"/>
              </a:ext>
            </a:extLst>
          </p:cNvPr>
          <p:cNvSpPr/>
          <p:nvPr/>
        </p:nvSpPr>
        <p:spPr>
          <a:xfrm>
            <a:off x="4302252" y="1565570"/>
            <a:ext cx="3282696" cy="1976574"/>
          </a:xfrm>
          <a:prstGeom prst="roundRect">
            <a:avLst/>
          </a:prstGeom>
          <a:solidFill>
            <a:srgbClr val="C00000"/>
          </a:solidFill>
          <a:ln w="0">
            <a:solidFill>
              <a:srgbClr val="00B0F0"/>
            </a:solidFill>
          </a:ln>
          <a:effectLst>
            <a:outerShdw blurRad="50800" dist="19050" dir="5400000" algn="ctr" rotWithShape="0">
              <a:schemeClr val="tx2">
                <a:lumMod val="25000"/>
                <a:lumOff val="75000"/>
              </a:scheme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spcAft>
                <a:spcPts val="1200"/>
              </a:spcAft>
            </a:pPr>
            <a:r>
              <a:rPr lang="es-ES" sz="2800" b="1" dirty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362 </a:t>
            </a:r>
            <a:r>
              <a:rPr lang="es-ES" sz="2800" b="1" dirty="0" err="1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Duplicates</a:t>
            </a:r>
            <a:r>
              <a:rPr lang="es-ES" sz="2800" b="1" dirty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Removed</a:t>
            </a:r>
          </a:p>
          <a:p>
            <a:pPr algn="ctr"/>
            <a:r>
              <a:rPr lang="es-ES" sz="2400" dirty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Cross-</a:t>
            </a:r>
            <a:r>
              <a:rPr lang="es-ES" sz="2400" dirty="0" err="1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database</a:t>
            </a:r>
            <a:r>
              <a:rPr lang="es-ES" sz="2400" dirty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400" dirty="0" err="1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duplicate</a:t>
            </a:r>
            <a:r>
              <a:rPr lang="es-ES" sz="2400" dirty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400" dirty="0" err="1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removal</a:t>
            </a:r>
            <a:endParaRPr lang="es-ES" sz="2400" dirty="0">
              <a:solidFill>
                <a:schemeClr val="bg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4E6AE4F5-26E1-C0CD-E8A7-4914F3964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96492"/>
            <a:ext cx="2743200" cy="365125"/>
          </a:xfrm>
        </p:spPr>
        <p:txBody>
          <a:bodyPr/>
          <a:lstStyle/>
          <a:p>
            <a:fld id="{60C58B27-4A86-4F91-9EE8-35FF76DC3ABD}" type="slidenum">
              <a:rPr lang="es-ES" smtClean="0"/>
              <a:t>11</a:t>
            </a:fld>
            <a:endParaRPr lang="es-ES"/>
          </a:p>
        </p:txBody>
      </p:sp>
      <p:sp>
        <p:nvSpPr>
          <p:cNvPr id="19" name="Footer Placeholder 24">
            <a:extLst>
              <a:ext uri="{FF2B5EF4-FFF2-40B4-BE49-F238E27FC236}">
                <a16:creationId xmlns:a16="http://schemas.microsoft.com/office/drawing/2014/main" id="{A1ADA922-0DD9-22D0-1BB0-93197F3D9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598222"/>
            <a:ext cx="6324600" cy="365125"/>
          </a:xfrm>
        </p:spPr>
        <p:txBody>
          <a:bodyPr/>
          <a:lstStyle/>
          <a:p>
            <a:r>
              <a:rPr lang="en-US" dirty="0"/>
              <a:t>Technological Approaches for Adaptation and Personalization in Educational Video Games</a:t>
            </a:r>
            <a:endParaRPr lang="es-ES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F67BE5DE-9613-704A-441D-6D604B2203FB}"/>
              </a:ext>
            </a:extLst>
          </p:cNvPr>
          <p:cNvSpPr/>
          <p:nvPr/>
        </p:nvSpPr>
        <p:spPr>
          <a:xfrm>
            <a:off x="3718383" y="2290619"/>
            <a:ext cx="441029" cy="3696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9539E79-F381-6951-F7AF-6F8FD8A76233}"/>
              </a:ext>
            </a:extLst>
          </p:cNvPr>
          <p:cNvSpPr/>
          <p:nvPr/>
        </p:nvSpPr>
        <p:spPr>
          <a:xfrm>
            <a:off x="8340852" y="1597896"/>
            <a:ext cx="3282696" cy="197657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0">
            <a:solidFill>
              <a:srgbClr val="00B0F0"/>
            </a:solidFill>
          </a:ln>
          <a:effectLst>
            <a:outerShdw blurRad="50800" dist="19050" dir="5400000" algn="ctr" rotWithShape="0">
              <a:schemeClr val="tx2">
                <a:lumMod val="25000"/>
                <a:lumOff val="75000"/>
              </a:scheme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spcAft>
                <a:spcPts val="1200"/>
              </a:spcAft>
            </a:pPr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623 </a:t>
            </a: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Publications</a:t>
            </a:r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for</a:t>
            </a:r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Screening</a:t>
            </a:r>
          </a:p>
          <a:p>
            <a:pPr algn="ctr">
              <a:spcAft>
                <a:spcPts val="1200"/>
              </a:spcAft>
            </a:pPr>
            <a:r>
              <a:rPr lang="en-US" sz="2400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Ready for manual relevance review</a:t>
            </a:r>
            <a:endParaRPr lang="es-ES" sz="2400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FBD7CAC7-1F32-7BF8-26BA-35834392AE66}"/>
              </a:ext>
            </a:extLst>
          </p:cNvPr>
          <p:cNvSpPr/>
          <p:nvPr/>
        </p:nvSpPr>
        <p:spPr>
          <a:xfrm>
            <a:off x="7726441" y="2300053"/>
            <a:ext cx="441029" cy="3696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D058A1D-0CB8-6B17-4503-5B97908F27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596492"/>
            <a:ext cx="2057400" cy="365125"/>
          </a:xfrm>
        </p:spPr>
        <p:txBody>
          <a:bodyPr/>
          <a:lstStyle/>
          <a:p>
            <a:r>
              <a:rPr lang="bg-BG" dirty="0"/>
              <a:t>ICL'25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688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2E2F6-DF00-A1F9-8830-370604245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8D349-6365-A394-6FDE-4B3AD4C0D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Data Collection Results</a:t>
            </a:r>
            <a:br>
              <a:rPr lang="en-US" b="1" dirty="0">
                <a:solidFill>
                  <a:srgbClr val="0070C0"/>
                </a:solidFill>
                <a:latin typeface="Calibri (Body)"/>
              </a:rPr>
            </a:br>
            <a:r>
              <a:rPr lang="en-US" sz="2800" i="1" dirty="0">
                <a:solidFill>
                  <a:srgbClr val="002060"/>
                </a:solidFill>
                <a:latin typeface="Calibri (Body)"/>
              </a:rPr>
              <a:t>PRISMA Methodology - Final Filtering</a:t>
            </a:r>
            <a:endParaRPr lang="es-ES" sz="2800" i="1" dirty="0">
              <a:solidFill>
                <a:srgbClr val="00206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0849AE-6D31-51E3-C85E-45AC38A6E296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4A9BE34-C0DA-871C-3A76-849968C32835}"/>
              </a:ext>
            </a:extLst>
          </p:cNvPr>
          <p:cNvSpPr/>
          <p:nvPr/>
        </p:nvSpPr>
        <p:spPr>
          <a:xfrm>
            <a:off x="261566" y="1630222"/>
            <a:ext cx="3283435" cy="1911922"/>
          </a:xfrm>
          <a:prstGeom prst="roundRect">
            <a:avLst/>
          </a:prstGeom>
          <a:solidFill>
            <a:srgbClr val="0070C0"/>
          </a:solidFill>
          <a:ln w="0">
            <a:solidFill>
              <a:srgbClr val="00B0F0"/>
            </a:solidFill>
          </a:ln>
          <a:effectLst>
            <a:outerShdw blurRad="50800" dist="19050" dir="5400000" algn="ctr" rotWithShape="0">
              <a:schemeClr val="tx2">
                <a:lumMod val="25000"/>
                <a:lumOff val="75000"/>
              </a:scheme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spcAft>
                <a:spcPts val="1200"/>
              </a:spcAft>
            </a:pPr>
            <a:r>
              <a:rPr lang="es-ES" sz="2400" b="1" dirty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623</a:t>
            </a:r>
          </a:p>
          <a:p>
            <a:pPr algn="ctr">
              <a:spcAft>
                <a:spcPts val="1200"/>
              </a:spcAft>
            </a:pPr>
            <a:r>
              <a:rPr lang="en-US" sz="2000" dirty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Publications for Manual Review</a:t>
            </a:r>
            <a:endParaRPr lang="es-ES" sz="2000" dirty="0">
              <a:solidFill>
                <a:schemeClr val="bg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E03415E-E736-ABDE-443C-6048ECD7097B}"/>
              </a:ext>
            </a:extLst>
          </p:cNvPr>
          <p:cNvSpPr/>
          <p:nvPr/>
        </p:nvSpPr>
        <p:spPr>
          <a:xfrm>
            <a:off x="4302252" y="1565569"/>
            <a:ext cx="3282696" cy="2676807"/>
          </a:xfrm>
          <a:prstGeom prst="roundRect">
            <a:avLst/>
          </a:prstGeom>
          <a:solidFill>
            <a:srgbClr val="C00000"/>
          </a:solidFill>
          <a:ln w="0">
            <a:solidFill>
              <a:srgbClr val="00B0F0"/>
            </a:solidFill>
          </a:ln>
          <a:effectLst>
            <a:outerShdw blurRad="50800" dist="19050" dir="5400000" algn="ctr" rotWithShape="0">
              <a:schemeClr val="tx2">
                <a:lumMod val="25000"/>
                <a:lumOff val="75000"/>
              </a:scheme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spcAft>
                <a:spcPts val="1200"/>
              </a:spcAft>
            </a:pPr>
            <a:r>
              <a:rPr lang="es-ES" sz="2400" b="1" dirty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Manual </a:t>
            </a:r>
            <a:r>
              <a:rPr lang="es-ES" sz="2400" b="1" dirty="0" err="1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Review</a:t>
            </a:r>
            <a:r>
              <a:rPr lang="es-ES" sz="2400" b="1" dirty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es-ES" sz="2400" b="1" dirty="0" err="1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Remove</a:t>
            </a:r>
            <a:r>
              <a:rPr lang="es-ES" sz="2400" b="1" dirty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321</a:t>
            </a:r>
          </a:p>
          <a:p>
            <a:pPr algn="ctr">
              <a:spcAft>
                <a:spcPts val="1200"/>
              </a:spcAft>
            </a:pPr>
            <a:r>
              <a:rPr lang="en-US" sz="2000" dirty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Not focused on educational video games; Lacking adaptation/personalization details; Out of scope for research questions</a:t>
            </a:r>
            <a:endParaRPr lang="es-ES" sz="2000" dirty="0">
              <a:solidFill>
                <a:schemeClr val="bg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9F7BCEC-ECD6-2BCF-9465-5DB41D16F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96492"/>
            <a:ext cx="2743200" cy="365125"/>
          </a:xfrm>
        </p:spPr>
        <p:txBody>
          <a:bodyPr/>
          <a:lstStyle/>
          <a:p>
            <a:r>
              <a:rPr lang="es-ES" dirty="0"/>
              <a:t>12</a:t>
            </a:r>
          </a:p>
        </p:txBody>
      </p:sp>
      <p:sp>
        <p:nvSpPr>
          <p:cNvPr id="19" name="Footer Placeholder 24">
            <a:extLst>
              <a:ext uri="{FF2B5EF4-FFF2-40B4-BE49-F238E27FC236}">
                <a16:creationId xmlns:a16="http://schemas.microsoft.com/office/drawing/2014/main" id="{63C997CD-CEF1-4430-F8B5-159B8EC06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598222"/>
            <a:ext cx="6324600" cy="365125"/>
          </a:xfrm>
        </p:spPr>
        <p:txBody>
          <a:bodyPr/>
          <a:lstStyle/>
          <a:p>
            <a:r>
              <a:rPr lang="en-US" dirty="0"/>
              <a:t>Technological Approaches for Adaptation and Personalization in Educational Video Games</a:t>
            </a:r>
            <a:endParaRPr lang="es-ES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88BB806C-6045-80F2-ACEC-876B6A077466}"/>
              </a:ext>
            </a:extLst>
          </p:cNvPr>
          <p:cNvSpPr/>
          <p:nvPr/>
        </p:nvSpPr>
        <p:spPr>
          <a:xfrm>
            <a:off x="3718383" y="2290619"/>
            <a:ext cx="441029" cy="3696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3ED0985-79ED-D8C9-1926-C55C3889971F}"/>
              </a:ext>
            </a:extLst>
          </p:cNvPr>
          <p:cNvSpPr/>
          <p:nvPr/>
        </p:nvSpPr>
        <p:spPr>
          <a:xfrm>
            <a:off x="8340852" y="1597896"/>
            <a:ext cx="3282696" cy="197657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0">
            <a:solidFill>
              <a:srgbClr val="00B0F0"/>
            </a:solidFill>
          </a:ln>
          <a:effectLst>
            <a:outerShdw blurRad="50800" dist="19050" dir="5400000" algn="ctr" rotWithShape="0">
              <a:schemeClr val="tx2">
                <a:lumMod val="25000"/>
                <a:lumOff val="75000"/>
              </a:scheme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spcAft>
                <a:spcPts val="1200"/>
              </a:spcAft>
            </a:pPr>
            <a:r>
              <a:rPr lang="es-ES" sz="24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302</a:t>
            </a:r>
          </a:p>
          <a:p>
            <a:pPr algn="ctr">
              <a:spcAft>
                <a:spcPts val="1200"/>
              </a:spcAft>
            </a:pPr>
            <a:r>
              <a:rPr lang="en-US" sz="2000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Eligible Publications</a:t>
            </a:r>
            <a:endParaRPr lang="es-ES" sz="2000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F0D8374E-7238-60A2-E60D-1A0BA7A6EC87}"/>
              </a:ext>
            </a:extLst>
          </p:cNvPr>
          <p:cNvSpPr/>
          <p:nvPr/>
        </p:nvSpPr>
        <p:spPr>
          <a:xfrm>
            <a:off x="7726441" y="2300053"/>
            <a:ext cx="441029" cy="3696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7729D5F-37D4-7105-114C-7BC99131DD53}"/>
              </a:ext>
            </a:extLst>
          </p:cNvPr>
          <p:cNvSpPr/>
          <p:nvPr/>
        </p:nvSpPr>
        <p:spPr>
          <a:xfrm>
            <a:off x="8167470" y="4390785"/>
            <a:ext cx="3721839" cy="217059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0">
            <a:solidFill>
              <a:srgbClr val="00B0F0"/>
            </a:solidFill>
          </a:ln>
          <a:effectLst>
            <a:outerShdw blurRad="50800" dist="19050" dir="5400000" algn="ctr" rotWithShape="0">
              <a:schemeClr val="tx2">
                <a:lumMod val="25000"/>
                <a:lumOff val="75000"/>
              </a:scheme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spcAft>
                <a:spcPts val="1200"/>
              </a:spcAft>
            </a:pPr>
            <a:r>
              <a:rPr lang="es-ES" sz="24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Impact-Based</a:t>
            </a:r>
            <a:r>
              <a:rPr lang="es-ES" sz="24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4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Filtering</a:t>
            </a:r>
            <a:endParaRPr lang="es-ES" sz="24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2000" dirty="0">
                <a:solidFill>
                  <a:srgbClr val="00B05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✓ Keep: Cited papers (191)</a:t>
            </a:r>
          </a:p>
          <a:p>
            <a:pPr>
              <a:spcAft>
                <a:spcPts val="1200"/>
              </a:spcAft>
            </a:pPr>
            <a:r>
              <a:rPr lang="es-ES" sz="2000" dirty="0">
                <a:solidFill>
                  <a:srgbClr val="00B05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✓ </a:t>
            </a:r>
            <a:r>
              <a:rPr lang="es-ES" sz="2000" dirty="0" err="1">
                <a:solidFill>
                  <a:srgbClr val="00B05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Keep</a:t>
            </a:r>
            <a:r>
              <a:rPr lang="es-ES" sz="2000" dirty="0">
                <a:solidFill>
                  <a:srgbClr val="00B05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es-ES" sz="2000" dirty="0" err="1">
                <a:solidFill>
                  <a:srgbClr val="00B05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Recent</a:t>
            </a:r>
            <a:r>
              <a:rPr lang="es-ES" sz="2000" dirty="0">
                <a:solidFill>
                  <a:srgbClr val="00B05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2023+ (55)</a:t>
            </a:r>
          </a:p>
          <a:p>
            <a:pPr>
              <a:spcAft>
                <a:spcPts val="1200"/>
              </a:spcAft>
            </a:pPr>
            <a:r>
              <a:rPr lang="es-ES" dirty="0">
                <a:solidFill>
                  <a:srgbClr val="FF0000"/>
                </a:solidFill>
              </a:rPr>
              <a:t>✗ </a:t>
            </a:r>
            <a:r>
              <a:rPr lang="es-ES" dirty="0" err="1">
                <a:solidFill>
                  <a:srgbClr val="FF0000"/>
                </a:solidFill>
              </a:rPr>
              <a:t>Remove</a:t>
            </a:r>
            <a:r>
              <a:rPr lang="es-ES" dirty="0">
                <a:solidFill>
                  <a:srgbClr val="FF0000"/>
                </a:solidFill>
              </a:rPr>
              <a:t>: Pre-2023 </a:t>
            </a:r>
            <a:r>
              <a:rPr lang="es-ES" dirty="0" err="1">
                <a:solidFill>
                  <a:srgbClr val="FF0000"/>
                </a:solidFill>
              </a:rPr>
              <a:t>uncited</a:t>
            </a:r>
            <a:r>
              <a:rPr lang="es-ES" dirty="0">
                <a:solidFill>
                  <a:srgbClr val="FF0000"/>
                </a:solidFill>
              </a:rPr>
              <a:t> (56)</a:t>
            </a:r>
            <a:endParaRPr lang="es-ES" sz="2000" dirty="0">
              <a:solidFill>
                <a:srgbClr val="FF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282B9D8-1DF4-561D-25C6-6DEBCB292C6F}"/>
              </a:ext>
            </a:extLst>
          </p:cNvPr>
          <p:cNvSpPr/>
          <p:nvPr/>
        </p:nvSpPr>
        <p:spPr>
          <a:xfrm rot="5400000">
            <a:off x="9761685" y="3846033"/>
            <a:ext cx="441029" cy="3696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85EE6A-7BAF-2441-E22A-7FA4AEE0D619}"/>
              </a:ext>
            </a:extLst>
          </p:cNvPr>
          <p:cNvSpPr/>
          <p:nvPr/>
        </p:nvSpPr>
        <p:spPr>
          <a:xfrm>
            <a:off x="262305" y="4390785"/>
            <a:ext cx="3282696" cy="197657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0">
            <a:solidFill>
              <a:srgbClr val="00B0F0"/>
            </a:solidFill>
          </a:ln>
          <a:effectLst>
            <a:outerShdw blurRad="50800" dist="19050" dir="5400000" algn="ctr" rotWithShape="0">
              <a:schemeClr val="tx2">
                <a:lumMod val="25000"/>
                <a:lumOff val="75000"/>
              </a:scheme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spcAft>
                <a:spcPts val="1200"/>
              </a:spcAft>
            </a:pPr>
            <a:r>
              <a:rPr lang="es-ES" sz="24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246 Final </a:t>
            </a:r>
            <a:r>
              <a:rPr lang="es-ES" sz="24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Dataset</a:t>
            </a:r>
            <a:endParaRPr lang="es-ES" sz="24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>
              <a:spcAft>
                <a:spcPts val="1200"/>
              </a:spcAft>
            </a:pPr>
            <a:r>
              <a:rPr lang="en-US" sz="2000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For qualitative analysis using </a:t>
            </a:r>
            <a:r>
              <a:rPr lang="en-US" sz="2000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ATLAS.ti</a:t>
            </a:r>
            <a:endParaRPr lang="es-ES" sz="2000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CFBFBBE-4C3A-540D-6FA6-3A34A8B3205B}"/>
              </a:ext>
            </a:extLst>
          </p:cNvPr>
          <p:cNvSpPr/>
          <p:nvPr/>
        </p:nvSpPr>
        <p:spPr>
          <a:xfrm rot="10800000">
            <a:off x="3718383" y="5235471"/>
            <a:ext cx="4160234" cy="3696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A72A0-BC91-B375-6A67-FCE2147BD8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596492"/>
            <a:ext cx="2057400" cy="365125"/>
          </a:xfrm>
        </p:spPr>
        <p:txBody>
          <a:bodyPr/>
          <a:lstStyle/>
          <a:p>
            <a:r>
              <a:rPr lang="bg-BG" dirty="0"/>
              <a:t>ICL'25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829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E27F7-864F-CA83-C665-E16D64008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367CB-FB6D-691E-4845-8565A7E49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Research Framework: Two Key Questions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24050F1-5E6E-EB34-02A4-B8539AB9A4CF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593EAE9-E22F-ECF0-52A1-341172B65C6F}"/>
              </a:ext>
            </a:extLst>
          </p:cNvPr>
          <p:cNvSpPr/>
          <p:nvPr/>
        </p:nvSpPr>
        <p:spPr>
          <a:xfrm>
            <a:off x="622392" y="1725637"/>
            <a:ext cx="5019685" cy="4258783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n-U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HOW? - Tailoring Approaches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Learner outcomes &amp; performance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Emotional state &amp; arousal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Learner model &amp; characteristics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Learning/playing styles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Preferences and goals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Age and gender factors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39E333A-4D5F-7082-5DE7-42EABCDDE6B9}"/>
              </a:ext>
            </a:extLst>
          </p:cNvPr>
          <p:cNvSpPr/>
          <p:nvPr/>
        </p:nvSpPr>
        <p:spPr>
          <a:xfrm>
            <a:off x="6030551" y="1789991"/>
            <a:ext cx="5019685" cy="419442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WHAT? - Objects of Tailoring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Learning content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Learning difficulty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Gameplay mechanics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Non-player characters (NPCs)</a:t>
            </a: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6C9D5D-5C76-E465-E17C-9B35781CE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r>
              <a:rPr lang="es-ES" dirty="0"/>
              <a:t>13</a:t>
            </a:r>
          </a:p>
        </p:txBody>
      </p:sp>
      <p:sp>
        <p:nvSpPr>
          <p:cNvPr id="7" name="Footer Placeholder 24">
            <a:extLst>
              <a:ext uri="{FF2B5EF4-FFF2-40B4-BE49-F238E27FC236}">
                <a16:creationId xmlns:a16="http://schemas.microsoft.com/office/drawing/2014/main" id="{7562F595-BB49-4D44-D5C8-7BB90018F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Technological Approaches for Adaptation and Personalization in Educational Video Games</a:t>
            </a:r>
            <a:endParaRPr lang="es-E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D5A8140-0252-9E46-14A3-F4CA422E03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ICL'25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626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D924E-3B53-C1F6-B723-619D4A018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20980-8E76-4422-2DDB-2CA76157C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>
            <a:normAutofit/>
          </a:bodyPr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Key Findings: HOW to Personalize</a:t>
            </a:r>
            <a:br>
              <a:rPr lang="en-US" b="1" dirty="0">
                <a:solidFill>
                  <a:srgbClr val="0070C0"/>
                </a:solidFill>
                <a:latin typeface="Calibri (Body)"/>
              </a:rPr>
            </a:br>
            <a:r>
              <a:rPr lang="en-US" sz="3100" i="1" dirty="0">
                <a:solidFill>
                  <a:srgbClr val="002060"/>
                </a:solidFill>
                <a:latin typeface="Calibri (Body)"/>
              </a:rPr>
              <a:t>Approaches for Tailoring Educational Video Games</a:t>
            </a:r>
            <a:endParaRPr lang="es-ES" sz="3100" i="1" dirty="0">
              <a:solidFill>
                <a:srgbClr val="00206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ABDC85-1895-B439-FD21-39ED4F382541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1DDB77-89A9-4969-DE88-B9ECD6A586DA}"/>
              </a:ext>
            </a:extLst>
          </p:cNvPr>
          <p:cNvSpPr/>
          <p:nvPr/>
        </p:nvSpPr>
        <p:spPr>
          <a:xfrm>
            <a:off x="512711" y="1753267"/>
            <a:ext cx="10349253" cy="1433941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US" sz="24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Dominant Approach:  </a:t>
            </a:r>
            <a:r>
              <a:rPr lang="en-US" sz="20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Performance-driven adaptation remains the most extensively researched method</a:t>
            </a:r>
          </a:p>
          <a:p>
            <a:pPr>
              <a:spcAft>
                <a:spcPts val="1200"/>
              </a:spcAft>
            </a:pPr>
            <a:r>
              <a:rPr lang="en-US" sz="24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Emerging Trend: </a:t>
            </a:r>
            <a:r>
              <a:rPr lang="en-US" sz="20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Growing recognition of learner agency and self-determination</a:t>
            </a:r>
          </a:p>
          <a:p>
            <a:pPr>
              <a:spcAft>
                <a:spcPts val="1200"/>
              </a:spcAft>
            </a:pPr>
            <a:endParaRPr lang="en-US" sz="2400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0EB009-B6E8-FFAD-FD8A-1A814CFED13E}"/>
              </a:ext>
            </a:extLst>
          </p:cNvPr>
          <p:cNvSpPr/>
          <p:nvPr/>
        </p:nvSpPr>
        <p:spPr>
          <a:xfrm>
            <a:off x="512712" y="3545092"/>
            <a:ext cx="10441800" cy="879125"/>
          </a:xfrm>
          <a:prstGeom prst="roundRect">
            <a:avLst/>
          </a:prstGeom>
          <a:solidFill>
            <a:srgbClr val="0070C0"/>
          </a:solidFill>
          <a:ln w="0">
            <a:solidFill>
              <a:srgbClr val="00B0F0"/>
            </a:solidFill>
          </a:ln>
          <a:effectLst>
            <a:outerShdw blurRad="50800" dist="19050" dir="5400000" algn="ctr" rotWithShape="0">
              <a:schemeClr val="tx2">
                <a:lumMod val="25000"/>
                <a:lumOff val="75000"/>
              </a:scheme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#1</a:t>
            </a:r>
            <a:r>
              <a:rPr lang="en-US" sz="3200" b="1" dirty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400" b="1" dirty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Learner Outcomes</a:t>
            </a:r>
          </a:p>
          <a:p>
            <a:r>
              <a:rPr lang="en-US" sz="1600" b="1" dirty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 Assessment results, completion rates, skill mastery                                                      </a:t>
            </a:r>
            <a:endParaRPr lang="es-ES" sz="1600" b="1" dirty="0">
              <a:solidFill>
                <a:schemeClr val="bg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E231EB1-ECF3-5645-6E7D-E8611ABFF804}"/>
              </a:ext>
            </a:extLst>
          </p:cNvPr>
          <p:cNvSpPr/>
          <p:nvPr/>
        </p:nvSpPr>
        <p:spPr>
          <a:xfrm>
            <a:off x="512711" y="4514150"/>
            <a:ext cx="10442448" cy="795528"/>
          </a:xfrm>
          <a:prstGeom prst="roundRect">
            <a:avLst/>
          </a:prstGeom>
          <a:solidFill>
            <a:srgbClr val="0070C0"/>
          </a:solidFill>
          <a:ln w="0">
            <a:solidFill>
              <a:srgbClr val="00B0F0"/>
            </a:solidFill>
          </a:ln>
          <a:effectLst>
            <a:outerShdw blurRad="50800" dist="19050" dir="5400000" algn="ctr" rotWithShape="0">
              <a:schemeClr val="tx2">
                <a:lumMod val="25000"/>
                <a:lumOff val="75000"/>
              </a:scheme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#2 Preferences &amp; Goals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E8E8E8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  </a:t>
            </a:r>
            <a:r>
              <a:rPr lang="en-US" sz="1600" b="1" dirty="0">
                <a:solidFill>
                  <a:srgbClr val="E8E8E8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User choices, learning objectives, motivation factors</a:t>
            </a:r>
            <a:endParaRPr kumimoji="0" lang="es-ES" sz="1600" b="1" i="0" u="none" strike="noStrike" kern="1200" cap="none" spc="0" normalizeH="0" baseline="0" noProof="0" dirty="0">
              <a:ln>
                <a:noFill/>
              </a:ln>
              <a:solidFill>
                <a:srgbClr val="E8E8E8"/>
              </a:solidFill>
              <a:effectLst/>
              <a:uLnTx/>
              <a:uFillTx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067FC44-A924-91D4-F126-5F00013EA456}"/>
              </a:ext>
            </a:extLst>
          </p:cNvPr>
          <p:cNvSpPr/>
          <p:nvPr/>
        </p:nvSpPr>
        <p:spPr>
          <a:xfrm>
            <a:off x="512711" y="5400487"/>
            <a:ext cx="10441801" cy="795528"/>
          </a:xfrm>
          <a:prstGeom prst="roundRect">
            <a:avLst/>
          </a:prstGeom>
          <a:solidFill>
            <a:srgbClr val="0070C0"/>
          </a:solidFill>
          <a:ln w="0">
            <a:solidFill>
              <a:srgbClr val="00B0F0"/>
            </a:solidFill>
          </a:ln>
          <a:effectLst>
            <a:outerShdw blurRad="50800" dist="19050" dir="5400000" algn="ctr" rotWithShape="0">
              <a:schemeClr val="tx2">
                <a:lumMod val="25000"/>
                <a:lumOff val="75000"/>
              </a:scheme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#3 Learner Model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rgbClr val="E8E8E8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 </a:t>
            </a:r>
            <a:r>
              <a:rPr lang="en-US" sz="1600" b="1" dirty="0">
                <a:solidFill>
                  <a:srgbClr val="E8E8E8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Student profiles, prior knowledge, cognitive traits</a:t>
            </a:r>
            <a:endParaRPr kumimoji="0" lang="es-ES" sz="1600" b="1" i="0" u="none" strike="noStrike" kern="1200" cap="none" spc="0" normalizeH="0" baseline="0" noProof="0" dirty="0">
              <a:ln>
                <a:noFill/>
              </a:ln>
              <a:solidFill>
                <a:srgbClr val="E8E8E8"/>
              </a:solidFill>
              <a:effectLst/>
              <a:uLnTx/>
              <a:uFillTx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1FCCCD2-3327-D772-729D-11C41B467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r>
              <a:rPr lang="es-ES" dirty="0"/>
              <a:t>14</a:t>
            </a:r>
          </a:p>
        </p:txBody>
      </p:sp>
      <p:sp>
        <p:nvSpPr>
          <p:cNvPr id="18" name="Footer Placeholder 24">
            <a:extLst>
              <a:ext uri="{FF2B5EF4-FFF2-40B4-BE49-F238E27FC236}">
                <a16:creationId xmlns:a16="http://schemas.microsoft.com/office/drawing/2014/main" id="{A8C8A95C-CD5B-542D-54B2-61798B1A2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Technological Approaches for Adaptation and Personalization in Educational Video Games</a:t>
            </a:r>
            <a:endParaRPr lang="es-E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E0595E-7F08-4873-D55B-5E0695695DD0}"/>
              </a:ext>
            </a:extLst>
          </p:cNvPr>
          <p:cNvSpPr txBox="1"/>
          <p:nvPr/>
        </p:nvSpPr>
        <p:spPr>
          <a:xfrm>
            <a:off x="9624475" y="3615322"/>
            <a:ext cx="13300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98 | 116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05DE53-D584-ED00-FB56-609A285825B1}"/>
              </a:ext>
            </a:extLst>
          </p:cNvPr>
          <p:cNvSpPr txBox="1"/>
          <p:nvPr/>
        </p:nvSpPr>
        <p:spPr>
          <a:xfrm>
            <a:off x="9624475" y="3909271"/>
            <a:ext cx="13300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WoS</a:t>
            </a:r>
            <a:r>
              <a:rPr lang="es-ES" sz="1200" b="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| </a:t>
            </a:r>
            <a:r>
              <a:rPr lang="es-ES" sz="1200" b="1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Scopus</a:t>
            </a:r>
            <a:endParaRPr lang="es-ES" sz="1200" b="1" dirty="0">
              <a:solidFill>
                <a:schemeClr val="bg1">
                  <a:lumMod val="9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E04B59-8916-6918-8BBE-AC37138266E3}"/>
              </a:ext>
            </a:extLst>
          </p:cNvPr>
          <p:cNvSpPr txBox="1"/>
          <p:nvPr/>
        </p:nvSpPr>
        <p:spPr>
          <a:xfrm>
            <a:off x="9078284" y="4137703"/>
            <a:ext cx="1950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avg</a:t>
            </a:r>
            <a:r>
              <a:rPr lang="es-ES" sz="1200" b="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 </a:t>
            </a:r>
            <a:r>
              <a:rPr lang="es-ES" sz="1200" b="1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annual</a:t>
            </a:r>
            <a:r>
              <a:rPr lang="es-ES" sz="1200" b="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1200" b="1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publications</a:t>
            </a:r>
            <a:endParaRPr lang="es-ES" sz="1200" b="1" dirty="0">
              <a:solidFill>
                <a:schemeClr val="bg1">
                  <a:lumMod val="9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2ADFC7-D02E-B47A-56A3-C92DF684915F}"/>
              </a:ext>
            </a:extLst>
          </p:cNvPr>
          <p:cNvSpPr txBox="1"/>
          <p:nvPr/>
        </p:nvSpPr>
        <p:spPr>
          <a:xfrm>
            <a:off x="9624475" y="4534732"/>
            <a:ext cx="13300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47 | 57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FBFFD9-EC9B-1A49-6DEC-4319CF755E59}"/>
              </a:ext>
            </a:extLst>
          </p:cNvPr>
          <p:cNvSpPr txBox="1"/>
          <p:nvPr/>
        </p:nvSpPr>
        <p:spPr>
          <a:xfrm>
            <a:off x="9624475" y="4828681"/>
            <a:ext cx="13300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WoS</a:t>
            </a:r>
            <a:r>
              <a:rPr lang="es-ES" sz="1200" b="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| </a:t>
            </a:r>
            <a:r>
              <a:rPr lang="es-ES" sz="1200" b="1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Scopus</a:t>
            </a:r>
            <a:endParaRPr lang="es-ES" sz="1200" b="1" dirty="0">
              <a:solidFill>
                <a:schemeClr val="bg1">
                  <a:lumMod val="9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3149FF-8F53-35FF-86C2-7D1B657D957F}"/>
              </a:ext>
            </a:extLst>
          </p:cNvPr>
          <p:cNvSpPr txBox="1"/>
          <p:nvPr/>
        </p:nvSpPr>
        <p:spPr>
          <a:xfrm>
            <a:off x="9078284" y="5057113"/>
            <a:ext cx="1950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avg. annual publications</a:t>
            </a:r>
            <a:endParaRPr lang="es-ES" sz="1200" b="1" dirty="0">
              <a:solidFill>
                <a:schemeClr val="bg1">
                  <a:lumMod val="9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62442E-1CA2-A91F-0720-55F0E7B86FB5}"/>
              </a:ext>
            </a:extLst>
          </p:cNvPr>
          <p:cNvSpPr txBox="1"/>
          <p:nvPr/>
        </p:nvSpPr>
        <p:spPr>
          <a:xfrm>
            <a:off x="9624475" y="5437129"/>
            <a:ext cx="13300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34 | 37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15727C-99D4-D90E-FD21-4FFFF857ACD9}"/>
              </a:ext>
            </a:extLst>
          </p:cNvPr>
          <p:cNvSpPr txBox="1"/>
          <p:nvPr/>
        </p:nvSpPr>
        <p:spPr>
          <a:xfrm>
            <a:off x="9624475" y="5731078"/>
            <a:ext cx="13300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WoS</a:t>
            </a:r>
            <a:r>
              <a:rPr lang="es-ES" sz="1200" b="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| </a:t>
            </a:r>
            <a:r>
              <a:rPr lang="es-ES" sz="1200" b="1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Scopus</a:t>
            </a:r>
            <a:endParaRPr lang="es-ES" sz="1200" b="1" dirty="0">
              <a:solidFill>
                <a:schemeClr val="bg1">
                  <a:lumMod val="9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D0DBB6-BBF0-21D1-A99F-D24FF8656B3F}"/>
              </a:ext>
            </a:extLst>
          </p:cNvPr>
          <p:cNvSpPr txBox="1"/>
          <p:nvPr/>
        </p:nvSpPr>
        <p:spPr>
          <a:xfrm>
            <a:off x="9078284" y="5959510"/>
            <a:ext cx="1950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avg</a:t>
            </a:r>
            <a:r>
              <a:rPr lang="es-ES" sz="1200" b="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 </a:t>
            </a:r>
            <a:r>
              <a:rPr lang="es-ES" sz="1200" b="1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annual</a:t>
            </a:r>
            <a:r>
              <a:rPr lang="es-ES" sz="1200" b="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1200" b="1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publications</a:t>
            </a:r>
            <a:endParaRPr lang="es-ES" sz="1200" b="1" dirty="0">
              <a:solidFill>
                <a:schemeClr val="bg1">
                  <a:lumMod val="9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C4EA3DE-4975-1806-72EB-0FF1BED275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92875"/>
            <a:ext cx="2057400" cy="365125"/>
          </a:xfrm>
        </p:spPr>
        <p:txBody>
          <a:bodyPr/>
          <a:lstStyle/>
          <a:p>
            <a:r>
              <a:rPr lang="bg-BG" dirty="0"/>
              <a:t>ICL'25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044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BFFB8-7D7C-A388-B218-814A33827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C2935-B6F8-F23D-6E1E-CE90680FA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Key Findings: WHAT to Personalize</a:t>
            </a:r>
            <a:br>
              <a:rPr lang="en-US" b="1" dirty="0">
                <a:solidFill>
                  <a:srgbClr val="0070C0"/>
                </a:solidFill>
                <a:latin typeface="Calibri (Body)"/>
              </a:rPr>
            </a:br>
            <a:r>
              <a:rPr lang="en-US" sz="3100" i="1" dirty="0">
                <a:solidFill>
                  <a:srgbClr val="002060"/>
                </a:solidFill>
                <a:latin typeface="Calibri (Body)"/>
              </a:rPr>
              <a:t>Objects of Tailoring in Educational Video Games</a:t>
            </a:r>
            <a:endParaRPr lang="es-ES" sz="3100" i="1" dirty="0">
              <a:solidFill>
                <a:srgbClr val="00206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558A23-5373-B55B-C8F3-E585C047905B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EA420E2-23D3-3DD5-6C30-ED4E3E5BD8F7}"/>
              </a:ext>
            </a:extLst>
          </p:cNvPr>
          <p:cNvSpPr/>
          <p:nvPr/>
        </p:nvSpPr>
        <p:spPr>
          <a:xfrm>
            <a:off x="729671" y="1773009"/>
            <a:ext cx="10349253" cy="62575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n-US" sz="24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Priority: </a:t>
            </a:r>
            <a:r>
              <a:rPr lang="en-US" sz="20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Gameplay mechanics directly influence engagement and learning effectiveness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7D6BCD4-434A-AA89-C137-DA66BCF56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r>
              <a:rPr lang="es-ES" dirty="0"/>
              <a:t>15</a:t>
            </a:r>
          </a:p>
        </p:txBody>
      </p:sp>
      <p:sp>
        <p:nvSpPr>
          <p:cNvPr id="22" name="Footer Placeholder 24">
            <a:extLst>
              <a:ext uri="{FF2B5EF4-FFF2-40B4-BE49-F238E27FC236}">
                <a16:creationId xmlns:a16="http://schemas.microsoft.com/office/drawing/2014/main" id="{A4A2B93A-F724-D230-D4A9-D236EA2A3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Technological Approaches for Adaptation and Personalization in Educational Video Games</a:t>
            </a:r>
            <a:endParaRPr lang="es-ES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7BFBBC7-86F2-81BC-DC21-36474BC452B9}"/>
              </a:ext>
            </a:extLst>
          </p:cNvPr>
          <p:cNvSpPr/>
          <p:nvPr/>
        </p:nvSpPr>
        <p:spPr>
          <a:xfrm>
            <a:off x="729673" y="2660270"/>
            <a:ext cx="10441800" cy="879125"/>
          </a:xfrm>
          <a:prstGeom prst="roundRect">
            <a:avLst/>
          </a:prstGeom>
          <a:solidFill>
            <a:srgbClr val="0070C0"/>
          </a:solidFill>
          <a:ln w="0">
            <a:solidFill>
              <a:srgbClr val="00B0F0"/>
            </a:solidFill>
          </a:ln>
          <a:effectLst>
            <a:outerShdw blurRad="50800" dist="19050" dir="5400000" algn="ctr" rotWithShape="0">
              <a:schemeClr val="tx2">
                <a:lumMod val="25000"/>
                <a:lumOff val="75000"/>
              </a:scheme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b="1" dirty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#1</a:t>
            </a:r>
            <a:r>
              <a:rPr lang="en-US" sz="3200" b="1" dirty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400" b="1" dirty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Gameplay Mechanics</a:t>
            </a:r>
          </a:p>
          <a:p>
            <a:r>
              <a:rPr lang="en-US" sz="1600" b="1" dirty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 Rules, challenges, feedback systems, interaction patterns</a:t>
            </a:r>
            <a:endParaRPr lang="es-ES" sz="1600" b="1" dirty="0">
              <a:solidFill>
                <a:schemeClr val="bg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8E0DD67-740D-477F-006B-97DC3C677BAC}"/>
              </a:ext>
            </a:extLst>
          </p:cNvPr>
          <p:cNvSpPr/>
          <p:nvPr/>
        </p:nvSpPr>
        <p:spPr>
          <a:xfrm>
            <a:off x="729672" y="3629328"/>
            <a:ext cx="10442448" cy="795528"/>
          </a:xfrm>
          <a:prstGeom prst="roundRect">
            <a:avLst/>
          </a:prstGeom>
          <a:solidFill>
            <a:srgbClr val="0070C0"/>
          </a:solidFill>
          <a:ln w="0">
            <a:solidFill>
              <a:srgbClr val="00B0F0"/>
            </a:solidFill>
          </a:ln>
          <a:effectLst>
            <a:outerShdw blurRad="50800" dist="19050" dir="5400000" algn="ctr" rotWithShape="0">
              <a:schemeClr val="tx2">
                <a:lumMod val="25000"/>
                <a:lumOff val="75000"/>
              </a:scheme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#2 Learning Content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E8E8E8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  </a:t>
            </a:r>
            <a:r>
              <a:rPr lang="en-US" sz="1600" b="1" dirty="0">
                <a:solidFill>
                  <a:srgbClr val="E8E8E8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Topics, materials, educational objectives, sequencing</a:t>
            </a:r>
            <a:endParaRPr kumimoji="0" lang="es-ES" sz="1600" b="1" i="0" u="none" strike="noStrike" kern="1200" cap="none" spc="0" normalizeH="0" baseline="0" noProof="0" dirty="0">
              <a:ln>
                <a:noFill/>
              </a:ln>
              <a:solidFill>
                <a:srgbClr val="E8E8E8"/>
              </a:solidFill>
              <a:effectLst/>
              <a:uLnTx/>
              <a:uFillTx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78E3F66-75E3-32AA-4455-6FEB2D2BC538}"/>
              </a:ext>
            </a:extLst>
          </p:cNvPr>
          <p:cNvSpPr/>
          <p:nvPr/>
        </p:nvSpPr>
        <p:spPr>
          <a:xfrm>
            <a:off x="729672" y="4515665"/>
            <a:ext cx="10441801" cy="795528"/>
          </a:xfrm>
          <a:prstGeom prst="roundRect">
            <a:avLst/>
          </a:prstGeom>
          <a:solidFill>
            <a:srgbClr val="0070C0"/>
          </a:solidFill>
          <a:ln w="0">
            <a:solidFill>
              <a:srgbClr val="00B0F0"/>
            </a:solidFill>
          </a:ln>
          <a:effectLst>
            <a:outerShdw blurRad="50800" dist="19050" dir="5400000" algn="ctr" rotWithShape="0">
              <a:schemeClr val="tx2">
                <a:lumMod val="25000"/>
                <a:lumOff val="75000"/>
              </a:scheme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#3 Learning Difficulty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rgbClr val="E8E8E8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 </a:t>
            </a:r>
            <a:r>
              <a:rPr lang="en-US" sz="1600" b="1" dirty="0">
                <a:solidFill>
                  <a:srgbClr val="E8E8E8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Task complexity, adaptive challenges, scaffolding levels</a:t>
            </a:r>
            <a:endParaRPr kumimoji="0" lang="es-ES" sz="1600" b="1" i="0" u="none" strike="noStrike" kern="1200" cap="none" spc="0" normalizeH="0" baseline="0" noProof="0" dirty="0">
              <a:ln>
                <a:noFill/>
              </a:ln>
              <a:solidFill>
                <a:srgbClr val="E8E8E8"/>
              </a:solidFill>
              <a:effectLst/>
              <a:uLnTx/>
              <a:uFillTx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16C6AF-032E-9EE0-0045-9EEDBCF8AF4F}"/>
              </a:ext>
            </a:extLst>
          </p:cNvPr>
          <p:cNvSpPr txBox="1"/>
          <p:nvPr/>
        </p:nvSpPr>
        <p:spPr>
          <a:xfrm>
            <a:off x="9841436" y="2730500"/>
            <a:ext cx="13300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44 | 51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5ACE4C-5D54-72FD-662B-017BB2CC21BE}"/>
              </a:ext>
            </a:extLst>
          </p:cNvPr>
          <p:cNvSpPr txBox="1"/>
          <p:nvPr/>
        </p:nvSpPr>
        <p:spPr>
          <a:xfrm>
            <a:off x="9841436" y="3024449"/>
            <a:ext cx="13300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WoS</a:t>
            </a:r>
            <a:r>
              <a:rPr lang="es-ES" sz="1200" b="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| </a:t>
            </a:r>
            <a:r>
              <a:rPr lang="es-ES" sz="1200" b="1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Scopus</a:t>
            </a:r>
            <a:endParaRPr lang="es-ES" sz="1200" b="1" dirty="0">
              <a:solidFill>
                <a:schemeClr val="bg1">
                  <a:lumMod val="9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603D00-0ED8-7E39-4CD6-C1C361C16BEE}"/>
              </a:ext>
            </a:extLst>
          </p:cNvPr>
          <p:cNvSpPr txBox="1"/>
          <p:nvPr/>
        </p:nvSpPr>
        <p:spPr>
          <a:xfrm>
            <a:off x="9295245" y="3252881"/>
            <a:ext cx="1950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avg</a:t>
            </a:r>
            <a:r>
              <a:rPr lang="es-ES" sz="1200" b="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 </a:t>
            </a:r>
            <a:r>
              <a:rPr lang="es-ES" sz="1200" b="1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annual</a:t>
            </a:r>
            <a:r>
              <a:rPr lang="es-ES" sz="1200" b="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1200" b="1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publications</a:t>
            </a:r>
            <a:endParaRPr lang="es-ES" sz="1200" b="1" dirty="0">
              <a:solidFill>
                <a:schemeClr val="bg1">
                  <a:lumMod val="9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499F4A-1721-B05D-8DEA-6C5C980F6E6D}"/>
              </a:ext>
            </a:extLst>
          </p:cNvPr>
          <p:cNvSpPr txBox="1"/>
          <p:nvPr/>
        </p:nvSpPr>
        <p:spPr>
          <a:xfrm>
            <a:off x="9841436" y="3649910"/>
            <a:ext cx="13300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24 | 30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067DB2-E540-3C56-237E-77994C4C6379}"/>
              </a:ext>
            </a:extLst>
          </p:cNvPr>
          <p:cNvSpPr txBox="1"/>
          <p:nvPr/>
        </p:nvSpPr>
        <p:spPr>
          <a:xfrm>
            <a:off x="9841436" y="3943859"/>
            <a:ext cx="13300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WoS</a:t>
            </a:r>
            <a:r>
              <a:rPr lang="es-ES" sz="1200" b="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| </a:t>
            </a:r>
            <a:r>
              <a:rPr lang="es-ES" sz="1200" b="1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Scopus</a:t>
            </a:r>
            <a:endParaRPr lang="es-ES" sz="1200" b="1" dirty="0">
              <a:solidFill>
                <a:schemeClr val="bg1">
                  <a:lumMod val="9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E5044C-D838-0319-1033-340F998F05D4}"/>
              </a:ext>
            </a:extLst>
          </p:cNvPr>
          <p:cNvSpPr txBox="1"/>
          <p:nvPr/>
        </p:nvSpPr>
        <p:spPr>
          <a:xfrm>
            <a:off x="9295245" y="4172291"/>
            <a:ext cx="1950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avg. annual publications</a:t>
            </a:r>
            <a:endParaRPr lang="es-ES" sz="1200" b="1" dirty="0">
              <a:solidFill>
                <a:schemeClr val="bg1">
                  <a:lumMod val="9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D293C7-D290-3200-2434-B92D865E6633}"/>
              </a:ext>
            </a:extLst>
          </p:cNvPr>
          <p:cNvSpPr txBox="1"/>
          <p:nvPr/>
        </p:nvSpPr>
        <p:spPr>
          <a:xfrm>
            <a:off x="9841436" y="4552307"/>
            <a:ext cx="13300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15 | 20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DF622C-CC09-1FBC-ECA3-08D810AF6568}"/>
              </a:ext>
            </a:extLst>
          </p:cNvPr>
          <p:cNvSpPr txBox="1"/>
          <p:nvPr/>
        </p:nvSpPr>
        <p:spPr>
          <a:xfrm>
            <a:off x="9841436" y="4846256"/>
            <a:ext cx="13300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WoS</a:t>
            </a:r>
            <a:r>
              <a:rPr lang="es-ES" sz="1200" b="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| </a:t>
            </a:r>
            <a:r>
              <a:rPr lang="es-ES" sz="1200" b="1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Scopus</a:t>
            </a:r>
            <a:endParaRPr lang="es-ES" sz="1200" b="1" dirty="0">
              <a:solidFill>
                <a:schemeClr val="bg1">
                  <a:lumMod val="9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1AE4A96-438D-2AE0-D1D6-1BCF7A127881}"/>
              </a:ext>
            </a:extLst>
          </p:cNvPr>
          <p:cNvSpPr txBox="1"/>
          <p:nvPr/>
        </p:nvSpPr>
        <p:spPr>
          <a:xfrm>
            <a:off x="9295245" y="5074688"/>
            <a:ext cx="1950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avg</a:t>
            </a:r>
            <a:r>
              <a:rPr lang="es-ES" sz="1200" b="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 </a:t>
            </a:r>
            <a:r>
              <a:rPr lang="es-ES" sz="1200" b="1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annual</a:t>
            </a:r>
            <a:r>
              <a:rPr lang="es-ES" sz="1200" b="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1200" b="1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publications</a:t>
            </a:r>
            <a:endParaRPr lang="es-ES" sz="1200" b="1" dirty="0">
              <a:solidFill>
                <a:schemeClr val="bg1">
                  <a:lumMod val="9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8401585-A780-9E4E-B6A1-D307E7CC6B3A}"/>
              </a:ext>
            </a:extLst>
          </p:cNvPr>
          <p:cNvSpPr/>
          <p:nvPr/>
        </p:nvSpPr>
        <p:spPr>
          <a:xfrm>
            <a:off x="729671" y="5430352"/>
            <a:ext cx="10441801" cy="795528"/>
          </a:xfrm>
          <a:prstGeom prst="roundRect">
            <a:avLst/>
          </a:prstGeom>
          <a:solidFill>
            <a:srgbClr val="FFBDBD">
              <a:alpha val="86000"/>
            </a:srgbClr>
          </a:solidFill>
          <a:ln w="0">
            <a:solidFill>
              <a:srgbClr val="00B0F0">
                <a:alpha val="46000"/>
              </a:srgbClr>
            </a:solidFill>
          </a:ln>
          <a:effectLst>
            <a:outerShdw blurRad="50800" dist="19050" dir="5400000" algn="ctr" rotWithShape="0">
              <a:schemeClr val="tx2">
                <a:lumMod val="25000"/>
                <a:lumOff val="75000"/>
              </a:scheme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NPC Adaptation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CRITICAL RESEARCH GAP -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Minimal attention despite high potential</a:t>
            </a:r>
            <a:endParaRPr kumimoji="0" lang="es-E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27BA48C-F3C9-881D-EC9E-2A48DCE465EC}"/>
              </a:ext>
            </a:extLst>
          </p:cNvPr>
          <p:cNvSpPr txBox="1"/>
          <p:nvPr/>
        </p:nvSpPr>
        <p:spPr>
          <a:xfrm>
            <a:off x="9841435" y="5440750"/>
            <a:ext cx="13300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1.5 | 2.5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3241F4-C2AE-BED3-A5E7-A2CB8C17548F}"/>
              </a:ext>
            </a:extLst>
          </p:cNvPr>
          <p:cNvSpPr txBox="1"/>
          <p:nvPr/>
        </p:nvSpPr>
        <p:spPr>
          <a:xfrm>
            <a:off x="9841435" y="5734699"/>
            <a:ext cx="13300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 err="1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WoS</a:t>
            </a:r>
            <a:r>
              <a:rPr lang="es-ES" sz="12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| </a:t>
            </a:r>
            <a:r>
              <a:rPr lang="es-ES" sz="1200" b="1" dirty="0" err="1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Scopus</a:t>
            </a:r>
            <a:endParaRPr lang="es-ES" sz="1200" b="1" dirty="0">
              <a:solidFill>
                <a:srgbClr val="C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0E2FF5E-E94E-B5AA-2436-FDEA6E739E58}"/>
              </a:ext>
            </a:extLst>
          </p:cNvPr>
          <p:cNvSpPr txBox="1"/>
          <p:nvPr/>
        </p:nvSpPr>
        <p:spPr>
          <a:xfrm>
            <a:off x="9295244" y="5963131"/>
            <a:ext cx="1950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 err="1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avg</a:t>
            </a:r>
            <a:r>
              <a:rPr lang="es-ES" sz="12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 </a:t>
            </a:r>
            <a:r>
              <a:rPr lang="es-ES" sz="1200" b="1" dirty="0" err="1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annual</a:t>
            </a:r>
            <a:r>
              <a:rPr lang="es-ES" sz="1200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1200" b="1" dirty="0" err="1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publications</a:t>
            </a:r>
            <a:endParaRPr lang="es-ES" sz="1200" b="1" dirty="0">
              <a:solidFill>
                <a:srgbClr val="C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060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76598-B471-5DE7-8F22-E3661BB12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5533C-6DBF-541C-C9B6-0FA3A95EB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Current Trends &amp; GAI Impact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B12CAB-1703-E252-6EEE-8F91F72B9F26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35257CD-2749-ACA6-987B-1B0003F253D8}"/>
              </a:ext>
            </a:extLst>
          </p:cNvPr>
          <p:cNvSpPr/>
          <p:nvPr/>
        </p:nvSpPr>
        <p:spPr>
          <a:xfrm>
            <a:off x="688201" y="3816924"/>
            <a:ext cx="10349253" cy="2574640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n-US" sz="32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Future Opportunities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Affective computing technologies for emotional adaptation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GAI-powered intelligent NPCs (currently under-researched)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Enhanced real-time adaptation capabilities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1B4EB1-EA16-332E-8680-80CF4DD3D473}"/>
              </a:ext>
            </a:extLst>
          </p:cNvPr>
          <p:cNvSpPr/>
          <p:nvPr/>
        </p:nvSpPr>
        <p:spPr>
          <a:xfrm>
            <a:off x="688201" y="1708728"/>
            <a:ext cx="4678125" cy="1865745"/>
          </a:xfrm>
          <a:prstGeom prst="roundRect">
            <a:avLst/>
          </a:prstGeom>
          <a:solidFill>
            <a:srgbClr val="0070C0"/>
          </a:solidFill>
          <a:ln w="0">
            <a:solidFill>
              <a:srgbClr val="00B0F0"/>
            </a:solidFill>
          </a:ln>
          <a:effectLst>
            <a:outerShdw blurRad="50800" dist="19050" dir="5400000" algn="ctr" rotWithShape="0">
              <a:schemeClr val="tx2">
                <a:lumMod val="25000"/>
                <a:lumOff val="75000"/>
              </a:scheme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600" b="1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Exponential</a:t>
            </a:r>
            <a:r>
              <a:rPr lang="es-ES" sz="2600" b="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600" b="1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Growth</a:t>
            </a:r>
            <a:endParaRPr lang="es-ES" sz="2600" b="1" dirty="0">
              <a:solidFill>
                <a:schemeClr val="bg1">
                  <a:lumMod val="9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Increasing research momentum in learner outcome and emotional state approaches since 2023</a:t>
            </a:r>
            <a:endParaRPr lang="es-ES" sz="2200" dirty="0">
              <a:solidFill>
                <a:schemeClr val="bg1">
                  <a:lumMod val="9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0EE7A92-2B43-409F-5031-748C6EA40D79}"/>
              </a:ext>
            </a:extLst>
          </p:cNvPr>
          <p:cNvSpPr/>
          <p:nvPr/>
        </p:nvSpPr>
        <p:spPr>
          <a:xfrm>
            <a:off x="6276386" y="1708728"/>
            <a:ext cx="4678125" cy="1865745"/>
          </a:xfrm>
          <a:prstGeom prst="roundRect">
            <a:avLst/>
          </a:prstGeom>
          <a:solidFill>
            <a:srgbClr val="0070C0"/>
          </a:solidFill>
          <a:ln w="0">
            <a:solidFill>
              <a:srgbClr val="00B0F0"/>
            </a:solidFill>
          </a:ln>
          <a:effectLst>
            <a:outerShdw blurRad="50800" dist="19050" dir="5400000" algn="ctr" rotWithShape="0">
              <a:schemeClr val="tx2">
                <a:lumMod val="25000"/>
                <a:lumOff val="75000"/>
              </a:scheme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s-ES" sz="2600" b="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GAI </a:t>
            </a:r>
            <a:r>
              <a:rPr lang="es-ES" sz="2600" b="1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Applications</a:t>
            </a:r>
            <a:endParaRPr lang="es-ES" sz="2600" b="1" dirty="0">
              <a:solidFill>
                <a:schemeClr val="bg1">
                  <a:lumMod val="9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Real-time content generation, emotional recognition, intelligent virtual agents</a:t>
            </a:r>
            <a:endParaRPr kumimoji="0" lang="es-ES" sz="2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64A1264-2799-78D3-02C6-8A6E9C786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7"/>
            <a:ext cx="2743200" cy="365125"/>
          </a:xfrm>
        </p:spPr>
        <p:txBody>
          <a:bodyPr/>
          <a:lstStyle/>
          <a:p>
            <a:r>
              <a:rPr lang="es-ES" dirty="0"/>
              <a:t>16</a:t>
            </a:r>
          </a:p>
        </p:txBody>
      </p:sp>
      <p:sp>
        <p:nvSpPr>
          <p:cNvPr id="15" name="Footer Placeholder 24">
            <a:extLst>
              <a:ext uri="{FF2B5EF4-FFF2-40B4-BE49-F238E27FC236}">
                <a16:creationId xmlns:a16="http://schemas.microsoft.com/office/drawing/2014/main" id="{D0764722-99A6-C24F-F88A-74BE06C1C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505861"/>
            <a:ext cx="6324600" cy="365125"/>
          </a:xfrm>
        </p:spPr>
        <p:txBody>
          <a:bodyPr/>
          <a:lstStyle/>
          <a:p>
            <a:r>
              <a:rPr lang="en-US" dirty="0"/>
              <a:t>Technological Approaches for Adaptation and Personalization in Educational Video Games</a:t>
            </a:r>
            <a:endParaRPr lang="es-E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24BDB-FC39-06BD-9396-0D617CBE16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8201" y="6483731"/>
            <a:ext cx="2057400" cy="365125"/>
          </a:xfrm>
        </p:spPr>
        <p:txBody>
          <a:bodyPr/>
          <a:lstStyle/>
          <a:p>
            <a:r>
              <a:rPr lang="bg-BG" dirty="0"/>
              <a:t>ICL'25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716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E29ED-55FE-9221-5806-53B59DE6F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DCE2F-21A0-D85A-2134-7A2B24E82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GAI in Educational Games 1/2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69E55A-AF4E-8CE5-8C5E-092F2B3A6321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A8BD40B-7C88-6BFA-E71E-DFBDF190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7"/>
            <a:ext cx="2743200" cy="365125"/>
          </a:xfrm>
        </p:spPr>
        <p:txBody>
          <a:bodyPr/>
          <a:lstStyle/>
          <a:p>
            <a:r>
              <a:rPr lang="es-ES" dirty="0"/>
              <a:t>17</a:t>
            </a:r>
          </a:p>
        </p:txBody>
      </p:sp>
      <p:sp>
        <p:nvSpPr>
          <p:cNvPr id="15" name="Footer Placeholder 24">
            <a:extLst>
              <a:ext uri="{FF2B5EF4-FFF2-40B4-BE49-F238E27FC236}">
                <a16:creationId xmlns:a16="http://schemas.microsoft.com/office/drawing/2014/main" id="{1B5DFB1E-AFBA-783E-4495-DB72A408D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505861"/>
            <a:ext cx="6324600" cy="365125"/>
          </a:xfrm>
        </p:spPr>
        <p:txBody>
          <a:bodyPr/>
          <a:lstStyle/>
          <a:p>
            <a:r>
              <a:rPr lang="en-US" dirty="0"/>
              <a:t>Technological Approaches for Adaptation and Personalization in Educational Video Games</a:t>
            </a:r>
            <a:endParaRPr lang="es-E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ECA91FC-DD95-AC47-4304-5759200F3BA3}"/>
              </a:ext>
            </a:extLst>
          </p:cNvPr>
          <p:cNvSpPr/>
          <p:nvPr/>
        </p:nvSpPr>
        <p:spPr>
          <a:xfrm>
            <a:off x="840597" y="1564466"/>
            <a:ext cx="10340017" cy="1081704"/>
          </a:xfrm>
          <a:prstGeom prst="roundRect">
            <a:avLst/>
          </a:prstGeom>
          <a:solidFill>
            <a:srgbClr val="7030A0"/>
          </a:solidFill>
          <a:ln w="0">
            <a:solidFill>
              <a:srgbClr val="00B0F0"/>
            </a:solidFill>
          </a:ln>
          <a:effectLst>
            <a:outerShdw blurRad="50800" dist="19050" dir="5400000" algn="ctr" rotWithShape="0">
              <a:schemeClr val="tx2">
                <a:lumMod val="25000"/>
                <a:lumOff val="75000"/>
              </a:scheme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s-ES" sz="2000" b="1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Exponential</a:t>
            </a:r>
            <a:r>
              <a:rPr lang="es-ES" sz="2000" b="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000" b="1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Growth</a:t>
            </a:r>
            <a:r>
              <a:rPr lang="es-ES" sz="2000" b="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000" b="1" dirty="0" err="1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Since</a:t>
            </a:r>
            <a:r>
              <a:rPr lang="es-ES" sz="2000" b="1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2023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Research on GAI applications in educational games increased from 39 publications (2023) to 76 publications (2024) - nearly doubling in one year</a:t>
            </a:r>
            <a:endParaRPr lang="es-ES" dirty="0">
              <a:solidFill>
                <a:schemeClr val="bg1">
                  <a:lumMod val="9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9FC2351-01C0-D758-1E96-C47D3B420003}"/>
              </a:ext>
            </a:extLst>
          </p:cNvPr>
          <p:cNvSpPr/>
          <p:nvPr/>
        </p:nvSpPr>
        <p:spPr>
          <a:xfrm>
            <a:off x="840597" y="2687991"/>
            <a:ext cx="10340017" cy="1911441"/>
          </a:xfrm>
          <a:prstGeom prst="roundRect">
            <a:avLst/>
          </a:prstGeom>
          <a:solidFill>
            <a:schemeClr val="bg1"/>
          </a:solidFill>
          <a:ln w="0">
            <a:solidFill>
              <a:srgbClr val="00B0F0"/>
            </a:solidFill>
          </a:ln>
          <a:effectLst>
            <a:outerShdw blurRad="50800" dist="19050" dir="5400000" algn="ctr" rotWithShape="0">
              <a:schemeClr val="tx2">
                <a:lumMod val="25000"/>
                <a:lumOff val="75000"/>
              </a:scheme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Conversational NPCs with Natural Language</a:t>
            </a:r>
            <a:endParaRPr lang="es-ES" sz="2000" b="1" dirty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LLM-powered NPCs that engage in contextual, dynamic conversations based on game history and player actions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Examples: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Ubisoft NEO-NPCs: Generative AI prototype enabling real conversations with characters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Xbox-Inworld Partnership: AI-powered NPCs remembering player history and adapting dialogue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Educational Context: Virtual tutors providing personalized explanations and Socratic questioning</a:t>
            </a:r>
          </a:p>
          <a:p>
            <a:endParaRPr lang="es-ES" sz="2000" dirty="0">
              <a:solidFill>
                <a:schemeClr val="bg1">
                  <a:lumMod val="9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6C9EA64-42D6-C9D2-43AE-6CBDAA9F5564}"/>
              </a:ext>
            </a:extLst>
          </p:cNvPr>
          <p:cNvSpPr/>
          <p:nvPr/>
        </p:nvSpPr>
        <p:spPr>
          <a:xfrm>
            <a:off x="840597" y="4703553"/>
            <a:ext cx="10340017" cy="1587519"/>
          </a:xfrm>
          <a:prstGeom prst="roundRect">
            <a:avLst/>
          </a:prstGeom>
          <a:solidFill>
            <a:schemeClr val="bg1"/>
          </a:solidFill>
          <a:ln w="0">
            <a:solidFill>
              <a:srgbClr val="00B0F0"/>
            </a:solidFill>
          </a:ln>
          <a:effectLst>
            <a:outerShdw blurRad="50800" dist="19050" dir="5400000" algn="ctr" rotWithShape="0">
              <a:schemeClr val="tx2">
                <a:lumMod val="25000"/>
                <a:lumOff val="75000"/>
              </a:scheme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Real-Time Adaptive Content Generation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Dynamic creation of personalized learning content, puzzles, and challenges based on student performance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Applications: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 Procedural Quest Generation: Creating unique educational missions tailored to learning gaps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Adaptive Problem Sets: Generating math/science problems at appropriate difficulty levels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Personalized Feedback: Context-aware hints and explanations matching student reasoning patterns</a:t>
            </a:r>
            <a:endParaRPr lang="es-ES" sz="2000" dirty="0">
              <a:solidFill>
                <a:schemeClr val="bg1">
                  <a:lumMod val="9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94C97BA-63B2-A975-C49E-0CB27C0330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ICL'25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45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69B8C-C78C-9A5D-24F1-510A57A55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D11DF-E76B-4E61-AFD7-726F22003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GAI in Educational Games 2/2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27EA69F-9D7E-59A3-3F4A-78706D5A4AE1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6139B86-DF69-212B-4B1B-BA44983C0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7"/>
            <a:ext cx="2743200" cy="365125"/>
          </a:xfrm>
        </p:spPr>
        <p:txBody>
          <a:bodyPr/>
          <a:lstStyle/>
          <a:p>
            <a:r>
              <a:rPr lang="es-ES" dirty="0"/>
              <a:t>18</a:t>
            </a:r>
          </a:p>
        </p:txBody>
      </p:sp>
      <p:sp>
        <p:nvSpPr>
          <p:cNvPr id="15" name="Footer Placeholder 24">
            <a:extLst>
              <a:ext uri="{FF2B5EF4-FFF2-40B4-BE49-F238E27FC236}">
                <a16:creationId xmlns:a16="http://schemas.microsoft.com/office/drawing/2014/main" id="{9E1323DC-9727-DDEB-8034-C70536112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505861"/>
            <a:ext cx="6324600" cy="365125"/>
          </a:xfrm>
        </p:spPr>
        <p:txBody>
          <a:bodyPr/>
          <a:lstStyle/>
          <a:p>
            <a:r>
              <a:rPr lang="en-US" dirty="0"/>
              <a:t>Technological Approaches for Adaptation and Personalization in Educational Video Games</a:t>
            </a:r>
            <a:endParaRPr lang="es-E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2CFC71-A711-CC86-5D6F-D075FBBA779A}"/>
              </a:ext>
            </a:extLst>
          </p:cNvPr>
          <p:cNvSpPr/>
          <p:nvPr/>
        </p:nvSpPr>
        <p:spPr>
          <a:xfrm>
            <a:off x="729673" y="1635760"/>
            <a:ext cx="10340017" cy="1698187"/>
          </a:xfrm>
          <a:prstGeom prst="roundRect">
            <a:avLst/>
          </a:prstGeom>
          <a:solidFill>
            <a:schemeClr val="bg1"/>
          </a:solidFill>
          <a:ln w="0">
            <a:solidFill>
              <a:srgbClr val="00B0F0"/>
            </a:solidFill>
          </a:ln>
          <a:effectLst>
            <a:outerShdw blurRad="50800" dist="19050" dir="5400000" algn="ctr" rotWithShape="0">
              <a:schemeClr val="tx2">
                <a:lumMod val="25000"/>
                <a:lumOff val="75000"/>
              </a:scheme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Emotional State Recognition &amp; Adaptation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AI-driven affective computing analyzing player emotions to adjust game difficulty and support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Implementations: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Frustration Detection: Identifying struggle patterns and providing timely scaffolding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Engagement Monitoring: Adjusting pacing when boredom or disengagement is detected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Motivational Support: GAI-generated encouragement matched to student's emotional state</a:t>
            </a:r>
            <a:endParaRPr lang="es-ES" sz="2000" dirty="0">
              <a:solidFill>
                <a:schemeClr val="bg1">
                  <a:lumMod val="9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F62ECA5-9D11-F717-BA68-ECB42E3ECABE}"/>
              </a:ext>
            </a:extLst>
          </p:cNvPr>
          <p:cNvSpPr/>
          <p:nvPr/>
        </p:nvSpPr>
        <p:spPr>
          <a:xfrm>
            <a:off x="653520" y="3460911"/>
            <a:ext cx="10416170" cy="132556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0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Key </a:t>
            </a:r>
            <a:r>
              <a:rPr lang="es-ES" sz="20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Opportunity</a:t>
            </a:r>
            <a:endParaRPr lang="es-ES" sz="20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NPC adaptation remains critically </a:t>
            </a:r>
            <a:r>
              <a:rPr lang="en-US" dirty="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underresearched</a:t>
            </a:r>
            <a:r>
              <a:rPr lang="en-US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(avg. 2 publications/year) despite GAI capabilities</a:t>
            </a:r>
            <a:endParaRPr lang="es-ES" b="1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7330C42-4FEE-AA2D-D8A1-5C2A2277D61F}"/>
              </a:ext>
            </a:extLst>
          </p:cNvPr>
          <p:cNvSpPr/>
          <p:nvPr/>
        </p:nvSpPr>
        <p:spPr>
          <a:xfrm>
            <a:off x="653520" y="4913439"/>
            <a:ext cx="10416170" cy="1301816"/>
          </a:xfrm>
          <a:prstGeom prst="roundRect">
            <a:avLst/>
          </a:prstGeom>
          <a:solidFill>
            <a:srgbClr val="F9CBB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0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Future </a:t>
            </a:r>
            <a:r>
              <a:rPr lang="es-ES" sz="20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Direction</a:t>
            </a:r>
            <a:endParaRPr lang="es-ES" sz="20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Combining LLMs with pedagogical models for intelligent virtual teaching assistants</a:t>
            </a:r>
            <a:endParaRPr lang="es-ES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81431-32B8-8BBF-26F1-A730A73488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3520" y="6483731"/>
            <a:ext cx="2057400" cy="365125"/>
          </a:xfrm>
        </p:spPr>
        <p:txBody>
          <a:bodyPr/>
          <a:lstStyle/>
          <a:p>
            <a:r>
              <a:rPr lang="bg-BG" dirty="0"/>
              <a:t>ICL'25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416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8D996-C2AD-BCA8-0B0E-ED8ACDD16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AFEB7-4C04-AB1A-F245-2442EDF87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Research Implications for Developers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877949A-FED8-EE2F-7217-421E78620D20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F2D69E-26D1-B47B-C7DB-942574676F1E}"/>
              </a:ext>
            </a:extLst>
          </p:cNvPr>
          <p:cNvSpPr/>
          <p:nvPr/>
        </p:nvSpPr>
        <p:spPr>
          <a:xfrm>
            <a:off x="605260" y="1995057"/>
            <a:ext cx="5019685" cy="198119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Priority</a:t>
            </a:r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Focus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Implement performance-based tracking and adaptation mechanisms as primary approach</a:t>
            </a:r>
            <a:endParaRPr lang="es-ES" sz="2400" b="1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4360810-E645-7E35-7F5C-BBCBAA8EE49E}"/>
              </a:ext>
            </a:extLst>
          </p:cNvPr>
          <p:cNvSpPr/>
          <p:nvPr/>
        </p:nvSpPr>
        <p:spPr>
          <a:xfrm>
            <a:off x="6022387" y="1995056"/>
            <a:ext cx="5019685" cy="198119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Differentiation</a:t>
            </a:r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Opportunity</a:t>
            </a:r>
            <a:endParaRPr lang="es-ES" sz="28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Incorporate affective computing technologies for emotional state adaptation</a:t>
            </a:r>
            <a:endParaRPr lang="es-ES" sz="2400" b="1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ACBE3B7-AFFA-F74B-4912-904D43E86A06}"/>
              </a:ext>
            </a:extLst>
          </p:cNvPr>
          <p:cNvSpPr/>
          <p:nvPr/>
        </p:nvSpPr>
        <p:spPr>
          <a:xfrm>
            <a:off x="591407" y="4299524"/>
            <a:ext cx="5019685" cy="198119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Untapped</a:t>
            </a:r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Potential</a:t>
            </a:r>
            <a:endParaRPr lang="es-ES" sz="28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Leverage GAI for intelligent, responsive virtual agents and NPC adaptation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0497090-7A4F-129D-EEE0-7C42F2CBC736}"/>
              </a:ext>
            </a:extLst>
          </p:cNvPr>
          <p:cNvSpPr/>
          <p:nvPr/>
        </p:nvSpPr>
        <p:spPr>
          <a:xfrm>
            <a:off x="6008534" y="4299523"/>
            <a:ext cx="5019685" cy="198119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Balanced</a:t>
            </a:r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Approach</a:t>
            </a:r>
            <a:endParaRPr lang="es-ES" sz="28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Combine multiple approaches for enhanced engagement and personalization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FEA19F5-B271-C783-B26F-D48AC675C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04131"/>
            <a:ext cx="2743200" cy="365125"/>
          </a:xfrm>
        </p:spPr>
        <p:txBody>
          <a:bodyPr/>
          <a:lstStyle/>
          <a:p>
            <a:r>
              <a:rPr lang="es-ES" dirty="0"/>
              <a:t>19</a:t>
            </a:r>
          </a:p>
        </p:txBody>
      </p:sp>
      <p:sp>
        <p:nvSpPr>
          <p:cNvPr id="13" name="Footer Placeholder 24">
            <a:extLst>
              <a:ext uri="{FF2B5EF4-FFF2-40B4-BE49-F238E27FC236}">
                <a16:creationId xmlns:a16="http://schemas.microsoft.com/office/drawing/2014/main" id="{B53A2BF3-297D-B54D-C8D8-37AFBEC70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Technological Approaches for Adaptation and Personalization in Educational Video Games</a:t>
            </a:r>
            <a:endParaRPr lang="es-E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A4270F1-559D-7106-C9B1-EB11F8D8D4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ICL'25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167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6411E-98E1-D341-8F32-BD19F9CC7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49EE8-28B9-790E-EB4C-0A3ED51B3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Study Limitations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50DBAB1-4932-6A1E-C628-5712320ACC24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4985F00-3865-93AC-11BB-2E67157C8D93}"/>
              </a:ext>
            </a:extLst>
          </p:cNvPr>
          <p:cNvSpPr/>
          <p:nvPr/>
        </p:nvSpPr>
        <p:spPr>
          <a:xfrm>
            <a:off x="605260" y="1995057"/>
            <a:ext cx="5019685" cy="198119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Time </a:t>
            </a: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Scope</a:t>
            </a:r>
            <a:endParaRPr lang="es-ES" sz="28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Limited to publications from 2015-2025 to focus on contemporary trends</a:t>
            </a:r>
            <a:endParaRPr lang="es-ES" sz="2400" b="1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94E8FC0-69CD-0212-97B3-7BABD4F19588}"/>
              </a:ext>
            </a:extLst>
          </p:cNvPr>
          <p:cNvSpPr/>
          <p:nvPr/>
        </p:nvSpPr>
        <p:spPr>
          <a:xfrm>
            <a:off x="6022387" y="1995056"/>
            <a:ext cx="5019685" cy="198119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Database</a:t>
            </a:r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Selection</a:t>
            </a:r>
            <a:endParaRPr lang="es-ES" sz="28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Restricted to Scopus and Web of Science as leading scientific databases</a:t>
            </a:r>
            <a:endParaRPr lang="es-ES" sz="2400" b="1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05063A4-D4F8-ED3F-460E-5E24104F95D3}"/>
              </a:ext>
            </a:extLst>
          </p:cNvPr>
          <p:cNvSpPr/>
          <p:nvPr/>
        </p:nvSpPr>
        <p:spPr>
          <a:xfrm>
            <a:off x="591407" y="4299524"/>
            <a:ext cx="5019685" cy="198119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Relevance</a:t>
            </a:r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Criteria</a:t>
            </a:r>
            <a:endParaRPr lang="es-ES" sz="28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Applied strict filtering to eliminate publications not directly related to research questions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4480B9C-6DC5-4CB8-3334-92AAC428C32F}"/>
              </a:ext>
            </a:extLst>
          </p:cNvPr>
          <p:cNvSpPr/>
          <p:nvPr/>
        </p:nvSpPr>
        <p:spPr>
          <a:xfrm>
            <a:off x="6008534" y="4299523"/>
            <a:ext cx="5019685" cy="1981197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Language</a:t>
            </a:r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Scope</a:t>
            </a:r>
            <a:endParaRPr lang="es-ES" sz="28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English-only publications, potentially missing regional research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E53CD1-286D-6408-EF8F-DC7550958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4897"/>
            <a:ext cx="2743200" cy="365125"/>
          </a:xfrm>
        </p:spPr>
        <p:txBody>
          <a:bodyPr/>
          <a:lstStyle/>
          <a:p>
            <a:r>
              <a:rPr lang="es-ES" dirty="0"/>
              <a:t>20</a:t>
            </a:r>
          </a:p>
        </p:txBody>
      </p:sp>
      <p:sp>
        <p:nvSpPr>
          <p:cNvPr id="11" name="Footer Placeholder 24">
            <a:extLst>
              <a:ext uri="{FF2B5EF4-FFF2-40B4-BE49-F238E27FC236}">
                <a16:creationId xmlns:a16="http://schemas.microsoft.com/office/drawing/2014/main" id="{AA5C8EEC-A993-62C3-9077-0996617D3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7"/>
            <a:ext cx="6324600" cy="365125"/>
          </a:xfrm>
        </p:spPr>
        <p:txBody>
          <a:bodyPr/>
          <a:lstStyle/>
          <a:p>
            <a:r>
              <a:rPr lang="en-US" dirty="0"/>
              <a:t>Technological Approaches for Adaptation and Personalization in Educational Video Games</a:t>
            </a:r>
            <a:endParaRPr lang="es-E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960478B-F791-8EE3-AA65-83E289173B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94897"/>
            <a:ext cx="2057400" cy="365125"/>
          </a:xfrm>
        </p:spPr>
        <p:txBody>
          <a:bodyPr/>
          <a:lstStyle/>
          <a:p>
            <a:r>
              <a:rPr lang="bg-BG" dirty="0"/>
              <a:t>ICL'25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643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4CF87-A9E4-C6A9-F25D-6869CB2E4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A5794-E6C4-5207-4905-30A30AA60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Future Research Directions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AF6BA22-237C-36B7-EA4F-1D4C6F0B088F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C912E9F-D4B8-5154-014A-85A83A47C763}"/>
              </a:ext>
            </a:extLst>
          </p:cNvPr>
          <p:cNvSpPr/>
          <p:nvPr/>
        </p:nvSpPr>
        <p:spPr>
          <a:xfrm>
            <a:off x="273396" y="1995056"/>
            <a:ext cx="5568696" cy="198119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GAI </a:t>
            </a: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Integration</a:t>
            </a:r>
            <a:endParaRPr lang="es-ES" sz="28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In-depth analysis of generative artificial intelligence applications in educational game personalization</a:t>
            </a:r>
            <a:endParaRPr lang="es-ES" sz="2400" b="1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AFA64B-418E-4158-C181-76F32331B6A1}"/>
              </a:ext>
            </a:extLst>
          </p:cNvPr>
          <p:cNvSpPr/>
          <p:nvPr/>
        </p:nvSpPr>
        <p:spPr>
          <a:xfrm>
            <a:off x="6271768" y="1995056"/>
            <a:ext cx="5564353" cy="198119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NPC </a:t>
            </a: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Enhancement</a:t>
            </a:r>
            <a:endParaRPr lang="es-ES" sz="28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Comprehensive study of NPC adaptation technologies - a significantly </a:t>
            </a:r>
            <a:r>
              <a:rPr lang="en-US" sz="2400" dirty="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underresearched</a:t>
            </a: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area with high potential</a:t>
            </a:r>
            <a:endParaRPr lang="es-ES" sz="2400" b="1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73B0941-D82B-55BC-FDC1-ADD4A6244356}"/>
              </a:ext>
            </a:extLst>
          </p:cNvPr>
          <p:cNvSpPr/>
          <p:nvPr/>
        </p:nvSpPr>
        <p:spPr>
          <a:xfrm>
            <a:off x="273396" y="4299523"/>
            <a:ext cx="5568696" cy="198119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Real-time </a:t>
            </a: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Analytics</a:t>
            </a:r>
            <a:endParaRPr lang="es-ES" sz="28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Advanced learning analytics and performance-based adaptation mechanisms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C80FB15-B60A-56A0-13B4-15FF9517B5F0}"/>
              </a:ext>
            </a:extLst>
          </p:cNvPr>
          <p:cNvSpPr/>
          <p:nvPr/>
        </p:nvSpPr>
        <p:spPr>
          <a:xfrm>
            <a:off x="6349910" y="4299523"/>
            <a:ext cx="5486211" cy="198119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Emotional</a:t>
            </a:r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Computing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Integration of affective computing for emotional state recognition and adaptation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D39A94-97C3-09C9-F858-58319CBA7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7"/>
            <a:ext cx="2743200" cy="365125"/>
          </a:xfrm>
        </p:spPr>
        <p:txBody>
          <a:bodyPr/>
          <a:lstStyle/>
          <a:p>
            <a:r>
              <a:rPr lang="es-ES" dirty="0"/>
              <a:t>21</a:t>
            </a:r>
          </a:p>
        </p:txBody>
      </p:sp>
      <p:sp>
        <p:nvSpPr>
          <p:cNvPr id="6" name="Footer Placeholder 24">
            <a:extLst>
              <a:ext uri="{FF2B5EF4-FFF2-40B4-BE49-F238E27FC236}">
                <a16:creationId xmlns:a16="http://schemas.microsoft.com/office/drawing/2014/main" id="{2DDC03AB-A67D-94D6-A51F-F8902582B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9"/>
            <a:ext cx="6324600" cy="365125"/>
          </a:xfrm>
        </p:spPr>
        <p:txBody>
          <a:bodyPr/>
          <a:lstStyle/>
          <a:p>
            <a:r>
              <a:rPr lang="en-US" dirty="0"/>
              <a:t>Technological Approaches for Adaptation and Personalization in Educational Video Games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6613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44C1A-E963-9B6D-D551-49497601A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BFFE-D517-28F9-593B-6A8E8FAD6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Conclusions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8394FE7-CECF-E265-CAF2-8889813CE8C9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9DCD57A-B7D1-3412-5BAB-85127D0FF25C}"/>
              </a:ext>
            </a:extLst>
          </p:cNvPr>
          <p:cNvSpPr/>
          <p:nvPr/>
        </p:nvSpPr>
        <p:spPr>
          <a:xfrm>
            <a:off x="273396" y="1995056"/>
            <a:ext cx="5568696" cy="198119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Dominant</a:t>
            </a:r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Approaches</a:t>
            </a:r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Identified</a:t>
            </a:r>
            <a:endParaRPr lang="es-ES" sz="28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Performance-based adaptation leads research, followed by preference-based personalization</a:t>
            </a:r>
            <a:endParaRPr lang="es-ES" sz="2400" b="1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FF9F876-E600-0CF3-8DDB-06E16F429E01}"/>
              </a:ext>
            </a:extLst>
          </p:cNvPr>
          <p:cNvSpPr/>
          <p:nvPr/>
        </p:nvSpPr>
        <p:spPr>
          <a:xfrm>
            <a:off x="6267425" y="1995056"/>
            <a:ext cx="5564353" cy="198119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Gameplay</a:t>
            </a:r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Focus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Game mechanics adaptation is most researched, directly impacting engagement and learning</a:t>
            </a:r>
            <a:endParaRPr lang="es-ES" sz="2400" b="1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C94C0DF-B5B4-75EA-C06E-11146178B61A}"/>
              </a:ext>
            </a:extLst>
          </p:cNvPr>
          <p:cNvSpPr/>
          <p:nvPr/>
        </p:nvSpPr>
        <p:spPr>
          <a:xfrm>
            <a:off x="273396" y="4299523"/>
            <a:ext cx="5568696" cy="198119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GAI Era </a:t>
            </a: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Opportunities</a:t>
            </a:r>
            <a:endParaRPr lang="es-ES" sz="2800" b="1" dirty="0">
              <a:solidFill>
                <a:srgbClr val="0070C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Exponential growth potential in emotional recognition and intelligent virtual agents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9D7A26B-5632-68FE-ECB3-F35D6E7A6D67}"/>
              </a:ext>
            </a:extLst>
          </p:cNvPr>
          <p:cNvSpPr/>
          <p:nvPr/>
        </p:nvSpPr>
        <p:spPr>
          <a:xfrm>
            <a:off x="6349910" y="4299523"/>
            <a:ext cx="5486211" cy="198119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800" b="1" dirty="0" err="1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Research</a:t>
            </a:r>
            <a:r>
              <a:rPr lang="es-ES" sz="2800" b="1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Gaps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Significant opportunities in NPC adaptation and affective computing integration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4E6D6C-BA2C-D4DE-348B-6AA60F2B0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4"/>
            <a:ext cx="2743200" cy="365125"/>
          </a:xfrm>
        </p:spPr>
        <p:txBody>
          <a:bodyPr/>
          <a:lstStyle/>
          <a:p>
            <a:r>
              <a:rPr lang="es-ES" dirty="0"/>
              <a:t>22</a:t>
            </a:r>
          </a:p>
        </p:txBody>
      </p:sp>
      <p:sp>
        <p:nvSpPr>
          <p:cNvPr id="11" name="Footer Placeholder 24">
            <a:extLst>
              <a:ext uri="{FF2B5EF4-FFF2-40B4-BE49-F238E27FC236}">
                <a16:creationId xmlns:a16="http://schemas.microsoft.com/office/drawing/2014/main" id="{D4E8915E-1EA2-73F0-4DA5-27CF91B2E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487388"/>
            <a:ext cx="6324600" cy="365125"/>
          </a:xfrm>
        </p:spPr>
        <p:txBody>
          <a:bodyPr/>
          <a:lstStyle/>
          <a:p>
            <a:r>
              <a:rPr lang="en-US" dirty="0"/>
              <a:t>Technological Approaches for Adaptation and Personalization in Educational Video Games</a:t>
            </a:r>
            <a:endParaRPr lang="es-E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0091FFD-9482-FBCB-E1BF-7FCA522277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392" y="6483731"/>
            <a:ext cx="2057400" cy="365125"/>
          </a:xfrm>
        </p:spPr>
        <p:txBody>
          <a:bodyPr/>
          <a:lstStyle/>
          <a:p>
            <a:r>
              <a:rPr lang="bg-BG" dirty="0"/>
              <a:t>ICL'25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1931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AFC04-E5CD-46DC-64E6-ABFCB6C23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0CCF0-4B33-326C-74C1-7401BB074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"/>
            <a:ext cx="12192000" cy="1325563"/>
          </a:xfrm>
        </p:spPr>
        <p:txBody>
          <a:bodyPr/>
          <a:lstStyle/>
          <a:p>
            <a:pPr marL="640080"/>
            <a:r>
              <a:rPr lang="en-US" b="1" dirty="0">
                <a:solidFill>
                  <a:srgbClr val="0070C0"/>
                </a:solidFill>
                <a:latin typeface="Calibri (Body)"/>
              </a:rPr>
              <a:t>Thank You for Your Attention!</a:t>
            </a:r>
            <a:endParaRPr lang="es-ES" dirty="0">
              <a:solidFill>
                <a:srgbClr val="0070C0"/>
              </a:solidFill>
              <a:latin typeface="Calibri (Body)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76F8809-DAB8-FE86-5115-4A418FBEF091}"/>
              </a:ext>
            </a:extLst>
          </p:cNvPr>
          <p:cNvCxnSpPr>
            <a:cxnSpLocks/>
          </p:cNvCxnSpPr>
          <p:nvPr/>
        </p:nvCxnSpPr>
        <p:spPr>
          <a:xfrm>
            <a:off x="729673" y="1334707"/>
            <a:ext cx="10224839" cy="0"/>
          </a:xfrm>
          <a:prstGeom prst="line">
            <a:avLst/>
          </a:prstGeom>
          <a:ln w="412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Image result for question mark">
            <a:extLst>
              <a:ext uri="{FF2B5EF4-FFF2-40B4-BE49-F238E27FC236}">
                <a16:creationId xmlns:a16="http://schemas.microsoft.com/office/drawing/2014/main" id="{66F543E4-2B44-9A27-8EC1-6C06DFAC6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7921" y="1704447"/>
            <a:ext cx="5285232" cy="414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8A56E-A550-CA18-989A-C137172D6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655"/>
            <a:ext cx="2743200" cy="365125"/>
          </a:xfrm>
        </p:spPr>
        <p:txBody>
          <a:bodyPr/>
          <a:lstStyle/>
          <a:p>
            <a:r>
              <a:rPr lang="es-ES" dirty="0"/>
              <a:t>23</a:t>
            </a:r>
          </a:p>
        </p:txBody>
      </p:sp>
      <p:sp>
        <p:nvSpPr>
          <p:cNvPr id="11" name="Footer Placeholder 24">
            <a:extLst>
              <a:ext uri="{FF2B5EF4-FFF2-40B4-BE49-F238E27FC236}">
                <a16:creationId xmlns:a16="http://schemas.microsoft.com/office/drawing/2014/main" id="{AFB33BAD-5DDE-83BE-9EE2-F0B7DF6AB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79792" y="6505862"/>
            <a:ext cx="6324600" cy="365125"/>
          </a:xfrm>
        </p:spPr>
        <p:txBody>
          <a:bodyPr/>
          <a:lstStyle/>
          <a:p>
            <a:r>
              <a:rPr lang="en-US" dirty="0"/>
              <a:t>Technological Approaches for Adaptation and Personalization in Educational Video Games</a:t>
            </a:r>
            <a:endParaRPr lang="es-E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3189A13-FB44-F6D0-1309-5B3B79C6C9BF}"/>
              </a:ext>
            </a:extLst>
          </p:cNvPr>
          <p:cNvSpPr/>
          <p:nvPr/>
        </p:nvSpPr>
        <p:spPr>
          <a:xfrm>
            <a:off x="605260" y="1995057"/>
            <a:ext cx="5758964" cy="414106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52000">
                <a:schemeClr val="accent5">
                  <a:lumMod val="45000"/>
                  <a:lumOff val="55000"/>
                </a:schemeClr>
              </a:gs>
              <a:gs pos="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11400000" scaled="0"/>
            <a:tileRect/>
          </a:gra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200"/>
              </a:spcAft>
            </a:pPr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         </a:t>
            </a:r>
            <a:r>
              <a:rPr lang="es-ES" sz="2400" b="1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Contact</a:t>
            </a:r>
            <a:r>
              <a:rPr lang="es-ES" sz="24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400" b="1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</a:t>
            </a:r>
            <a:r>
              <a:rPr lang="es-ES" sz="24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2400" b="1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Research</a:t>
            </a:r>
            <a:r>
              <a:rPr lang="es-ES" sz="24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Team</a:t>
            </a:r>
          </a:p>
          <a:p>
            <a:pPr>
              <a:spcAft>
                <a:spcPts val="1200"/>
              </a:spcAft>
            </a:pPr>
            <a:endParaRPr lang="en-US" sz="2400" b="1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   Lead Researcher</a:t>
            </a:r>
          </a:p>
          <a:p>
            <a:pPr>
              <a:spcAft>
                <a:spcPts val="1200"/>
              </a:spcAft>
            </a:pPr>
            <a:r>
              <a:rPr lang="en-US" sz="24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  bbontchev@fmi.uni-sofia.bg</a:t>
            </a:r>
          </a:p>
          <a:p>
            <a:pPr>
              <a:spcAft>
                <a:spcPts val="1200"/>
              </a:spcAft>
            </a:pPr>
            <a:endParaRPr lang="en-US" sz="2400" b="1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   Institution</a:t>
            </a:r>
          </a:p>
          <a:p>
            <a:pPr>
              <a:spcAft>
                <a:spcPts val="1200"/>
              </a:spcAft>
            </a:pPr>
            <a:r>
              <a:rPr lang="en-US" sz="24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  Sofia University "St. Kliment </a:t>
            </a:r>
            <a:r>
              <a:rPr lang="en-US" sz="2400" b="1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Ohridski</a:t>
            </a:r>
            <a:r>
              <a:rPr lang="en-US" sz="24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"</a:t>
            </a:r>
          </a:p>
          <a:p>
            <a:pPr>
              <a:spcAft>
                <a:spcPts val="1200"/>
              </a:spcAft>
            </a:pPr>
            <a:endParaRPr lang="es-ES" sz="2400" b="1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Aft>
                <a:spcPts val="1200"/>
              </a:spcAft>
            </a:pPr>
            <a:endParaRPr lang="es-ES" sz="2400" b="1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7" name="Graphic 16" descr="Questions with solid fill">
            <a:extLst>
              <a:ext uri="{FF2B5EF4-FFF2-40B4-BE49-F238E27FC236}">
                <a16:creationId xmlns:a16="http://schemas.microsoft.com/office/drawing/2014/main" id="{432BD6CA-B59D-212C-8587-80FE50160F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0288" y="1995056"/>
            <a:ext cx="914400" cy="914400"/>
          </a:xfrm>
          <a:prstGeom prst="rect">
            <a:avLst/>
          </a:prstGeom>
        </p:spPr>
      </p:pic>
      <p:pic>
        <p:nvPicPr>
          <p:cNvPr id="19" name="Graphic 18" descr="Envelope with solid fill">
            <a:extLst>
              <a:ext uri="{FF2B5EF4-FFF2-40B4-BE49-F238E27FC236}">
                <a16:creationId xmlns:a16="http://schemas.microsoft.com/office/drawing/2014/main" id="{80BB0149-AABE-5D6D-4D0C-A596703A25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6856" y="3386921"/>
            <a:ext cx="532015" cy="532015"/>
          </a:xfrm>
          <a:prstGeom prst="rect">
            <a:avLst/>
          </a:prstGeom>
        </p:spPr>
      </p:pic>
      <p:pic>
        <p:nvPicPr>
          <p:cNvPr id="21" name="Graphic 20" descr="Earth globe: Africa and Europe with solid fill">
            <a:extLst>
              <a:ext uri="{FF2B5EF4-FFF2-40B4-BE49-F238E27FC236}">
                <a16:creationId xmlns:a16="http://schemas.microsoft.com/office/drawing/2014/main" id="{EFF5B348-9CDB-4807-1E5F-EBE926CF28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4263" y="4798929"/>
            <a:ext cx="457200" cy="45720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FB45E08-20F3-25FE-929C-4AC993AD164F}"/>
              </a:ext>
            </a:extLst>
          </p:cNvPr>
          <p:cNvCxnSpPr>
            <a:cxnSpLocks/>
          </p:cNvCxnSpPr>
          <p:nvPr/>
        </p:nvCxnSpPr>
        <p:spPr>
          <a:xfrm>
            <a:off x="2025628" y="4350380"/>
            <a:ext cx="2246375" cy="0"/>
          </a:xfrm>
          <a:prstGeom prst="line">
            <a:avLst/>
          </a:prstGeom>
          <a:ln w="41275">
            <a:solidFill>
              <a:schemeClr val="accent5">
                <a:alpha val="5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5EC3E-ED73-3C88-5685-67EFF7630C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5260" y="6485654"/>
            <a:ext cx="2057400" cy="365125"/>
          </a:xfrm>
        </p:spPr>
        <p:txBody>
          <a:bodyPr/>
          <a:lstStyle/>
          <a:p>
            <a:r>
              <a:rPr lang="bg-BG" dirty="0"/>
              <a:t>ICL'25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722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C3112DAB00CE24EAD44367B51571DBF" ma:contentTypeVersion="13" ma:contentTypeDescription="Crear nuevo documento." ma:contentTypeScope="" ma:versionID="edd599ad898262d6cc010d11724763fb">
  <xsd:schema xmlns:xsd="http://www.w3.org/2001/XMLSchema" xmlns:xs="http://www.w3.org/2001/XMLSchema" xmlns:p="http://schemas.microsoft.com/office/2006/metadata/properties" xmlns:ns3="55d054d4-f837-4a35-85f0-01157a8614b3" targetNamespace="http://schemas.microsoft.com/office/2006/metadata/properties" ma:root="true" ma:fieldsID="25af41f01a8318b231a18c0c357003fc" ns3:_="">
    <xsd:import namespace="55d054d4-f837-4a35-85f0-01157a8614b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Location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d054d4-f837-4a35-85f0-01157a8614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5d054d4-f837-4a35-85f0-01157a8614b3" xsi:nil="true"/>
  </documentManagement>
</p:properties>
</file>

<file path=customXml/itemProps1.xml><?xml version="1.0" encoding="utf-8"?>
<ds:datastoreItem xmlns:ds="http://schemas.openxmlformats.org/officeDocument/2006/customXml" ds:itemID="{F496DE62-F4DC-46AE-873F-0C9AE263DB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C27DCBF-24DB-44C9-A806-EA873EB30F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d054d4-f837-4a35-85f0-01157a8614b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60367D7-886E-496F-BBF8-0066257F463E}">
  <ds:schemaRefs>
    <ds:schemaRef ds:uri="http://purl.org/dc/elements/1.1/"/>
    <ds:schemaRef ds:uri="http://www.w3.org/XML/1998/namespace"/>
    <ds:schemaRef ds:uri="http://purl.org/dc/terms/"/>
    <ds:schemaRef ds:uri="55d054d4-f837-4a35-85f0-01157a8614b3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1847</Words>
  <Application>Microsoft Office PowerPoint</Application>
  <PresentationFormat>Widescreen</PresentationFormat>
  <Paragraphs>343</Paragraphs>
  <Slides>23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Aptos Display</vt:lpstr>
      <vt:lpstr>Arial</vt:lpstr>
      <vt:lpstr>Calibri (Body)</vt:lpstr>
      <vt:lpstr>Calibri Light</vt:lpstr>
      <vt:lpstr>Office Theme</vt:lpstr>
      <vt:lpstr>Picture</vt:lpstr>
      <vt:lpstr>Technological Approaches for Adaptation and Personalization in Educational Video Games</vt:lpstr>
      <vt:lpstr>Educational Video Games in 21st Century</vt:lpstr>
      <vt:lpstr>Research Questions</vt:lpstr>
      <vt:lpstr>Popular Educational Game Genres</vt:lpstr>
      <vt:lpstr>Additional Game Genres</vt:lpstr>
      <vt:lpstr>Personalization vs Adaptation</vt:lpstr>
      <vt:lpstr>Main Personalization Approaches</vt:lpstr>
      <vt:lpstr>Additional Tailoring Approaches</vt:lpstr>
      <vt:lpstr>Research Methodology</vt:lpstr>
      <vt:lpstr>Why PRISMA + ATLAS.ti?</vt:lpstr>
      <vt:lpstr>Data Collection Results PRISMA Methodology - Initial Screening</vt:lpstr>
      <vt:lpstr>Data Collection Results PRISMA Methodology - Final Filtering</vt:lpstr>
      <vt:lpstr>Research Framework: Two Key Questions</vt:lpstr>
      <vt:lpstr>Key Findings: HOW to Personalize Approaches for Tailoring Educational Video Games</vt:lpstr>
      <vt:lpstr>Key Findings: WHAT to Personalize Objects of Tailoring in Educational Video Games</vt:lpstr>
      <vt:lpstr>Current Trends &amp; GAI Impact</vt:lpstr>
      <vt:lpstr>GAI in Educational Games 1/2</vt:lpstr>
      <vt:lpstr>GAI in Educational Games 2/2</vt:lpstr>
      <vt:lpstr>Research Implications for Developers</vt:lpstr>
      <vt:lpstr>Study Limitations</vt:lpstr>
      <vt:lpstr>Future Research Directions</vt:lpstr>
      <vt:lpstr>Conclusions</vt:lpstr>
      <vt:lpstr>Thank You for Your Attention!</vt:lpstr>
    </vt:vector>
  </TitlesOfParts>
  <Company>PAYRETAILERS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Technological Approaches for Adaptation and Personalization in Educational Video Games</dc:title>
  <dc:creator>Dessislava Vassileva</dc:creator>
  <cp:lastModifiedBy>Boyan</cp:lastModifiedBy>
  <cp:revision>98</cp:revision>
  <dcterms:created xsi:type="dcterms:W3CDTF">2025-09-29T16:58:13Z</dcterms:created>
  <dcterms:modified xsi:type="dcterms:W3CDTF">2025-09-30T14:24:05Z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0x0101002C3112DAB00CE24EAD44367B51571DBF</vt:lpwstr>
  </property>
</Properties>
</file>