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80" r:id="rId1"/>
  </p:sldMasterIdLst>
  <p:notesMasterIdLst>
    <p:notesMasterId r:id="rId48"/>
  </p:notesMasterIdLst>
  <p:sldIdLst>
    <p:sldId id="256" r:id="rId2"/>
    <p:sldId id="449" r:id="rId3"/>
    <p:sldId id="335" r:id="rId4"/>
    <p:sldId id="374" r:id="rId5"/>
    <p:sldId id="336" r:id="rId6"/>
    <p:sldId id="409" r:id="rId7"/>
    <p:sldId id="410" r:id="rId8"/>
    <p:sldId id="411" r:id="rId9"/>
    <p:sldId id="392" r:id="rId10"/>
    <p:sldId id="396" r:id="rId11"/>
    <p:sldId id="402" r:id="rId12"/>
    <p:sldId id="393" r:id="rId13"/>
    <p:sldId id="408" r:id="rId14"/>
    <p:sldId id="394" r:id="rId15"/>
    <p:sldId id="412" r:id="rId16"/>
    <p:sldId id="414" r:id="rId17"/>
    <p:sldId id="360" r:id="rId18"/>
    <p:sldId id="362" r:id="rId19"/>
    <p:sldId id="363" r:id="rId20"/>
    <p:sldId id="364" r:id="rId21"/>
    <p:sldId id="342" r:id="rId22"/>
    <p:sldId id="343" r:id="rId23"/>
    <p:sldId id="330" r:id="rId24"/>
    <p:sldId id="366" r:id="rId25"/>
    <p:sldId id="361" r:id="rId26"/>
    <p:sldId id="351" r:id="rId27"/>
    <p:sldId id="354" r:id="rId28"/>
    <p:sldId id="450" r:id="rId29"/>
    <p:sldId id="294" r:id="rId30"/>
    <p:sldId id="451" r:id="rId31"/>
    <p:sldId id="453" r:id="rId32"/>
    <p:sldId id="454" r:id="rId33"/>
    <p:sldId id="417" r:id="rId34"/>
    <p:sldId id="403" r:id="rId35"/>
    <p:sldId id="404" r:id="rId36"/>
    <p:sldId id="405" r:id="rId37"/>
    <p:sldId id="443" r:id="rId38"/>
    <p:sldId id="446" r:id="rId39"/>
    <p:sldId id="447" r:id="rId40"/>
    <p:sldId id="445" r:id="rId41"/>
    <p:sldId id="444" r:id="rId42"/>
    <p:sldId id="448" r:id="rId43"/>
    <p:sldId id="406" r:id="rId44"/>
    <p:sldId id="407" r:id="rId45"/>
    <p:sldId id="371" r:id="rId46"/>
    <p:sldId id="302" r:id="rId47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16B0"/>
    <a:srgbClr val="A9D6ED"/>
    <a:srgbClr val="D2B4E2"/>
    <a:srgbClr val="09E7E2"/>
    <a:srgbClr val="00FFCC"/>
    <a:srgbClr val="005D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ен стил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58" autoAdjust="0"/>
    <p:restoredTop sz="94582" autoAdjust="0"/>
  </p:normalViewPr>
  <p:slideViewPr>
    <p:cSldViewPr snapToGrid="0">
      <p:cViewPr varScale="1">
        <p:scale>
          <a:sx n="66" d="100"/>
          <a:sy n="66" d="100"/>
        </p:scale>
        <p:origin x="64" y="3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8"/>
          </a:xfrm>
          <a:prstGeom prst="rect">
            <a:avLst/>
          </a:prstGeom>
        </p:spPr>
        <p:txBody>
          <a:bodyPr vert="horz" lIns="96657" tIns="48328" rIns="96657" bIns="48328" rtlCol="0"/>
          <a:lstStyle>
            <a:lvl1pPr algn="l">
              <a:defRPr sz="13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4143588" y="0"/>
            <a:ext cx="3169920" cy="481728"/>
          </a:xfrm>
          <a:prstGeom prst="rect">
            <a:avLst/>
          </a:prstGeom>
        </p:spPr>
        <p:txBody>
          <a:bodyPr vert="horz" lIns="96657" tIns="48328" rIns="96657" bIns="48328" rtlCol="0"/>
          <a:lstStyle>
            <a:lvl1pPr algn="r">
              <a:defRPr sz="1300"/>
            </a:lvl1pPr>
          </a:lstStyle>
          <a:p>
            <a:fld id="{46CF724F-28C7-42C2-99E1-9DBF03350C35}" type="datetimeFigureOut">
              <a:rPr lang="bg-BG" smtClean="0"/>
              <a:t>8.9.2025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7" tIns="48328" rIns="96657" bIns="48328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731520" y="4620578"/>
            <a:ext cx="5852160" cy="3780472"/>
          </a:xfrm>
          <a:prstGeom prst="rect">
            <a:avLst/>
          </a:prstGeom>
        </p:spPr>
        <p:txBody>
          <a:bodyPr vert="horz" lIns="96657" tIns="48328" rIns="96657" bIns="48328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7"/>
          </a:xfrm>
          <a:prstGeom prst="rect">
            <a:avLst/>
          </a:prstGeom>
        </p:spPr>
        <p:txBody>
          <a:bodyPr vert="horz" lIns="96657" tIns="48328" rIns="96657" bIns="48328" rtlCol="0" anchor="b"/>
          <a:lstStyle>
            <a:lvl1pPr algn="l">
              <a:defRPr sz="13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4143588" y="9119474"/>
            <a:ext cx="3169920" cy="481727"/>
          </a:xfrm>
          <a:prstGeom prst="rect">
            <a:avLst/>
          </a:prstGeom>
        </p:spPr>
        <p:txBody>
          <a:bodyPr vert="horz" lIns="96657" tIns="48328" rIns="96657" bIns="48328" rtlCol="0" anchor="b"/>
          <a:lstStyle>
            <a:lvl1pPr algn="r">
              <a:defRPr sz="1300"/>
            </a:lvl1pPr>
          </a:lstStyle>
          <a:p>
            <a:fld id="{764A960C-B8F8-4F9F-B915-EBDF90A0BA3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4029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21947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85339" indent="-302053" defTabSz="1021947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8212" indent="-241642" defTabSz="1021947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91498" indent="-241642" defTabSz="1021947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4783" indent="-241642" defTabSz="1021947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58068" indent="-241642" defTabSz="1021947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141353" indent="-241642" defTabSz="1021947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24638" indent="-241642" defTabSz="1021947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07922" indent="-241642" defTabSz="1021947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B659F4-512B-4AFC-949B-7FAB90E978EC}" type="slidenum">
              <a:rPr lang="bg-BG" altLang="en-US" sz="1400"/>
              <a:pPr>
                <a:spcBef>
                  <a:spcPct val="0"/>
                </a:spcBef>
              </a:pPr>
              <a:t>3</a:t>
            </a:fld>
            <a:endParaRPr lang="bg-BG" altLang="en-US" sz="1400"/>
          </a:p>
        </p:txBody>
      </p:sp>
      <p:sp>
        <p:nvSpPr>
          <p:cNvPr id="1945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75" y="1200150"/>
            <a:ext cx="5759450" cy="3240088"/>
          </a:xfrm>
          <a:ln/>
        </p:spPr>
      </p:sp>
      <p:sp>
        <p:nvSpPr>
          <p:cNvPr id="1946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9461" name="Slide Number Placeholder 3"/>
          <p:cNvSpPr txBox="1">
            <a:spLocks noGrp="1"/>
          </p:cNvSpPr>
          <p:nvPr/>
        </p:nvSpPr>
        <p:spPr bwMode="auto">
          <a:xfrm>
            <a:off x="4419601" y="9576198"/>
            <a:ext cx="3381587" cy="503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2176" tIns="51088" rIns="102176" bIns="51088" anchor="b"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56BF55D-7E45-48AC-8355-6C944BAD0957}" type="slidenum">
              <a:rPr lang="en-US" altLang="en-US" sz="1400"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 sz="14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222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F0DC74-9DDB-4196-970F-84387BA4357A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9668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	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A960C-B8F8-4F9F-B915-EBDF90A0BA3B}" type="slidenum">
              <a:rPr lang="bg-BG" smtClean="0"/>
              <a:t>35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06522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bg-BG" dirty="0" err="1"/>
              <a:t>Редакт</a:t>
            </a:r>
            <a:r>
              <a:rPr lang="bg-BG" dirty="0"/>
              <a:t>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bg-BG"/>
              <a:t>Щракнете за редакция стил подзагл. обр.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290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459" y="365760"/>
            <a:ext cx="10515600" cy="817088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bg-BG" dirty="0" err="1"/>
              <a:t>Редакт</a:t>
            </a:r>
            <a:r>
              <a:rPr lang="bg-BG" dirty="0"/>
              <a:t>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787" y="1451296"/>
            <a:ext cx="10324052" cy="472884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bg-BG" dirty="0"/>
              <a:t>Щракнете, за да редактирате стиловете на текста в образеца</a:t>
            </a:r>
          </a:p>
          <a:p>
            <a:pPr lvl="1"/>
            <a:r>
              <a:rPr lang="bg-BG" dirty="0"/>
              <a:t>Второ ниво</a:t>
            </a:r>
          </a:p>
          <a:p>
            <a:pPr lvl="2"/>
            <a:r>
              <a:rPr lang="bg-BG" dirty="0"/>
              <a:t>Трето ниво</a:t>
            </a:r>
          </a:p>
          <a:p>
            <a:pPr lvl="3"/>
            <a:r>
              <a:rPr lang="bg-BG" dirty="0"/>
              <a:t>Четвърто ниво</a:t>
            </a:r>
          </a:p>
          <a:p>
            <a:pPr lvl="4"/>
            <a:r>
              <a:rPr lang="bg-BG" dirty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866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3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544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593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00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33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146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56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14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10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1"/>
            <a:ext cx="10515600" cy="6912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 dirty="0" err="1"/>
              <a:t>Редакт</a:t>
            </a:r>
            <a:r>
              <a:rPr lang="bg-BG" dirty="0"/>
              <a:t>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6" y="1325461"/>
            <a:ext cx="10575087" cy="4854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 dirty="0"/>
              <a:t>Щракнете, за да редактирате стиловете на текста в образеца</a:t>
            </a:r>
          </a:p>
          <a:p>
            <a:pPr lvl="1"/>
            <a:r>
              <a:rPr lang="bg-BG" dirty="0"/>
              <a:t>Второ ниво</a:t>
            </a:r>
          </a:p>
          <a:p>
            <a:pPr lvl="2"/>
            <a:r>
              <a:rPr lang="bg-BG" dirty="0"/>
              <a:t>Трето ниво</a:t>
            </a:r>
          </a:p>
          <a:p>
            <a:pPr lvl="3"/>
            <a:r>
              <a:rPr lang="bg-BG" dirty="0"/>
              <a:t>Четвърто ниво</a:t>
            </a:r>
          </a:p>
          <a:p>
            <a:pPr lvl="4"/>
            <a:r>
              <a:rPr lang="bg-BG" dirty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56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5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wmf"/><Relationship Id="rId9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rainstorm.es/products/estudio/" TargetMode="External"/><Relationship Id="rId2" Type="http://schemas.openxmlformats.org/officeDocument/2006/relationships/hyperlink" Target="https://face.sightcorp.com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hyperlink" Target="mailto:bbontchev@fmi.uni-sofia.b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D80E08-7C50-4D2B-AD89-ABAA67005450}"/>
              </a:ext>
            </a:extLst>
          </p:cNvPr>
          <p:cNvSpPr/>
          <p:nvPr/>
        </p:nvSpPr>
        <p:spPr>
          <a:xfrm>
            <a:off x="1524000" y="871126"/>
            <a:ext cx="9144000" cy="259685"/>
          </a:xfrm>
          <a:prstGeom prst="rect">
            <a:avLst/>
          </a:prstGeom>
          <a:solidFill>
            <a:srgbClr val="1616B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https://i-metode.fmi.uni-sofia.bg/bg</a:t>
            </a:r>
            <a:endParaRPr lang="bg-BG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1662" y="1461608"/>
            <a:ext cx="8796339" cy="183023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Serious Game</a:t>
            </a:r>
            <a:br>
              <a:rPr lang="en-US" sz="3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Teaching Entrepreneurship</a:t>
            </a:r>
            <a:br>
              <a:rPr lang="en-US" sz="3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 Strategic Management</a:t>
            </a:r>
            <a:endParaRPr lang="en-US" sz="4400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002740"/>
            <a:ext cx="9144000" cy="2419653"/>
          </a:xfrm>
        </p:spPr>
        <p:txBody>
          <a:bodyPr>
            <a:normAutofit/>
          </a:bodyPr>
          <a:lstStyle/>
          <a:p>
            <a:br>
              <a:rPr lang="en-US" i="1" dirty="0"/>
            </a:br>
            <a:endParaRPr lang="en-US" sz="1400" i="1" dirty="0"/>
          </a:p>
          <a:p>
            <a:r>
              <a:rPr lang="en-US" sz="2400" i="1" dirty="0">
                <a:solidFill>
                  <a:srgbClr val="C00000"/>
                </a:solidFill>
              </a:rPr>
              <a:t>Boyan Bontchev, Sia </a:t>
            </a:r>
            <a:r>
              <a:rPr lang="en-US" sz="2400" i="1" dirty="0" err="1">
                <a:solidFill>
                  <a:srgbClr val="C00000"/>
                </a:solidFill>
              </a:rPr>
              <a:t>Tsolova</a:t>
            </a:r>
            <a:r>
              <a:rPr lang="en-US" sz="2400" i="1" dirty="0">
                <a:solidFill>
                  <a:srgbClr val="C00000"/>
                </a:solidFill>
              </a:rPr>
              <a:t>, and </a:t>
            </a:r>
            <a:r>
              <a:rPr lang="en-US" sz="2400" i="1" dirty="0" err="1">
                <a:solidFill>
                  <a:srgbClr val="C00000"/>
                </a:solidFill>
              </a:rPr>
              <a:t>Dessislava</a:t>
            </a:r>
            <a:r>
              <a:rPr lang="en-US" sz="2400" i="1" dirty="0">
                <a:solidFill>
                  <a:srgbClr val="C00000"/>
                </a:solidFill>
              </a:rPr>
              <a:t> </a:t>
            </a:r>
            <a:r>
              <a:rPr lang="en-US" sz="2400" i="1" dirty="0" err="1">
                <a:solidFill>
                  <a:srgbClr val="C00000"/>
                </a:solidFill>
              </a:rPr>
              <a:t>Vassileva</a:t>
            </a:r>
            <a:endParaRPr lang="en-US" sz="2400" i="1" dirty="0">
              <a:solidFill>
                <a:srgbClr val="C00000"/>
              </a:solidFill>
            </a:endParaRPr>
          </a:p>
          <a:p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Faculty of Mathematics and Informatics, </a:t>
            </a:r>
          </a:p>
          <a:p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Sofia University “St. 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</a:rPr>
              <a:t>Kliment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</a:rPr>
              <a:t>Ohridski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”, Bulgaria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3962401" y="5377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12" name="Об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9285563"/>
              </p:ext>
            </p:extLst>
          </p:nvPr>
        </p:nvGraphicFramePr>
        <p:xfrm>
          <a:off x="1377927" y="5125524"/>
          <a:ext cx="1190940" cy="1461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" name="Picture" r:id="rId3" imgW="1991868" imgH="2458212" progId="Word.Picture.8">
                  <p:embed/>
                </p:oleObj>
              </mc:Choice>
              <mc:Fallback>
                <p:oleObj name="Picture" r:id="rId3" imgW="1991868" imgH="2458212" progId="Word.Pictur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927" y="5125524"/>
                        <a:ext cx="1190940" cy="14616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6934200" y="5476993"/>
            <a:ext cx="1188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sp>
        <p:nvSpPr>
          <p:cNvPr id="4" name="Правоъгълник 3"/>
          <p:cNvSpPr/>
          <p:nvPr/>
        </p:nvSpPr>
        <p:spPr>
          <a:xfrm>
            <a:off x="2952925" y="5502385"/>
            <a:ext cx="57338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 </a:t>
            </a:r>
            <a:r>
              <a:rPr lang="en-US" sz="2000" dirty="0" err="1"/>
              <a:t>FedCSIS</a:t>
            </a:r>
            <a:r>
              <a:rPr lang="en-US" sz="2000" dirty="0"/>
              <a:t> 20</a:t>
            </a:r>
            <a:r>
              <a:rPr lang="en-US" sz="2000" baseline="30000" dirty="0"/>
              <a:t>th</a:t>
            </a:r>
            <a:r>
              <a:rPr lang="en-US" sz="2000" dirty="0"/>
              <a:t> Conf. on CS and Intelligence Systems,</a:t>
            </a:r>
          </a:p>
          <a:p>
            <a:pPr algn="ctr"/>
            <a:r>
              <a:rPr lang="en-US" sz="2000" dirty="0"/>
              <a:t>Krakow, Poland</a:t>
            </a:r>
            <a:endParaRPr lang="bg-BG" sz="2000" dirty="0"/>
          </a:p>
        </p:txBody>
      </p:sp>
      <p:sp>
        <p:nvSpPr>
          <p:cNvPr id="10" name="Правоъгълник 9"/>
          <p:cNvSpPr/>
          <p:nvPr/>
        </p:nvSpPr>
        <p:spPr>
          <a:xfrm>
            <a:off x="3505200" y="6326386"/>
            <a:ext cx="46526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September 14, 2025</a:t>
            </a:r>
            <a:endParaRPr lang="bg-BG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196" name="Picture 172" descr="Начало">
            <a:extLst>
              <a:ext uri="{FF2B5EF4-FFF2-40B4-BE49-F238E27FC236}">
                <a16:creationId xmlns:a16="http://schemas.microsoft.com/office/drawing/2014/main" id="{DBD9AA6A-63B1-4718-B938-03E32CA36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104" y="5286707"/>
            <a:ext cx="1817267" cy="1158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90A48F-27D0-48AC-9917-3B8B9FD0C4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3123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C13DC65-23CD-4FFF-AA63-003E050442A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15" y="1694995"/>
            <a:ext cx="1828552" cy="1746109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168414D-61B2-4F6C-B04B-7CA342FBE2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20338" y="1576817"/>
            <a:ext cx="1696047" cy="179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927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B86E2-B6C9-4210-98C0-63EC3C8C0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E6DF2-DEA0-4AD3-8603-F3D4F80C6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Challenges in designing serious games (SG) for learning</a:t>
            </a:r>
          </a:p>
          <a:p>
            <a:r>
              <a:rPr lang="en-US" sz="2400" dirty="0"/>
              <a:t>Tailoring SG for learning</a:t>
            </a:r>
          </a:p>
          <a:p>
            <a:r>
              <a:rPr lang="en-US" sz="2400" dirty="0"/>
              <a:t>Issues of personalization</a:t>
            </a:r>
          </a:p>
          <a:p>
            <a:r>
              <a:rPr lang="en-US" sz="2400" dirty="0"/>
              <a:t>Recognition of playing styles – the “Rush for Gold” game</a:t>
            </a:r>
          </a:p>
          <a:p>
            <a:r>
              <a:rPr lang="en-US" sz="2400" dirty="0"/>
              <a:t>Personalization based on learning styles – the STRAMAG game</a:t>
            </a:r>
          </a:p>
          <a:p>
            <a:r>
              <a:rPr lang="en-US" sz="2400" dirty="0"/>
              <a:t>Lessons learned</a:t>
            </a:r>
          </a:p>
          <a:p>
            <a:r>
              <a:rPr lang="en-US" sz="2400" dirty="0"/>
              <a:t>Trends in usage of AI for personalization and adaptation of SG</a:t>
            </a:r>
          </a:p>
          <a:p>
            <a:r>
              <a:rPr lang="en-US" sz="2400" dirty="0"/>
              <a:t>Conclusions</a:t>
            </a:r>
            <a:endParaRPr lang="bg-BG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C885E-EF88-4D8D-A215-C959C623B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85B6E-2C6D-41FD-B9A9-2C808CD4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9817D-5A29-4CAE-9C7B-A9F44CFE9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170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sz="1200"/>
              <a:t>FedCSIS'25</a:t>
            </a:r>
            <a:endParaRPr lang="en-US" sz="1200"/>
          </a:p>
        </p:txBody>
      </p:sp>
      <p:sp>
        <p:nvSpPr>
          <p:cNvPr id="18434" name="Footer Placeholder 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+mn-lt"/>
              </a:rPr>
              <a:t>A Serious Game for Teaching Entrepreneurship and Strategic Management</a:t>
            </a:r>
            <a:endParaRPr lang="bg-BG" altLang="en-US" sz="1200" dirty="0">
              <a:latin typeface="+mn-lt"/>
            </a:endParaRPr>
          </a:p>
        </p:txBody>
      </p:sp>
      <p:sp>
        <p:nvSpPr>
          <p:cNvPr id="19461" name="Rectangle 1"/>
          <p:cNvSpPr>
            <a:spLocks noGrp="1"/>
          </p:cNvSpPr>
          <p:nvPr>
            <p:ph type="title" idx="4294967295"/>
          </p:nvPr>
        </p:nvSpPr>
        <p:spPr>
          <a:xfrm>
            <a:off x="938893" y="304800"/>
            <a:ext cx="9008384" cy="1371600"/>
          </a:xfrm>
        </p:spPr>
        <p:txBody>
          <a:bodyPr/>
          <a:lstStyle/>
          <a:p>
            <a:pPr eaLnBrk="1" hangingPunct="1"/>
            <a:r>
              <a:rPr lang="en-US" altLang="en-US" dirty="0"/>
              <a:t>Serious Games (SGs)</a:t>
            </a:r>
          </a:p>
        </p:txBody>
      </p:sp>
      <p:sp>
        <p:nvSpPr>
          <p:cNvPr id="19462" name="Rectangle 2"/>
          <p:cNvSpPr>
            <a:spLocks noGrp="1"/>
          </p:cNvSpPr>
          <p:nvPr>
            <p:ph sz="quarter" idx="4294967295"/>
          </p:nvPr>
        </p:nvSpPr>
        <p:spPr>
          <a:xfrm>
            <a:off x="938893" y="2138457"/>
            <a:ext cx="9729107" cy="4217894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endParaRPr lang="it-IT" altLang="en-US" sz="1200" b="1" dirty="0"/>
          </a:p>
          <a:p>
            <a:pPr marL="0" indent="0">
              <a:lnSpc>
                <a:spcPct val="80000"/>
              </a:lnSpc>
              <a:buNone/>
            </a:pPr>
            <a:r>
              <a:rPr lang="it-IT" altLang="en-US" sz="2400" b="1" dirty="0"/>
              <a:t>Digital interactive applications </a:t>
            </a:r>
            <a:r>
              <a:rPr lang="it-IT" altLang="en-US" sz="2400" dirty="0"/>
              <a:t>that allow users to </a:t>
            </a:r>
            <a:r>
              <a:rPr lang="it-IT" altLang="en-US" sz="2400" b="1" dirty="0"/>
              <a:t>create specific</a:t>
            </a:r>
            <a:r>
              <a:rPr lang="it-IT" altLang="en-US" sz="2400" dirty="0"/>
              <a:t> </a:t>
            </a:r>
            <a:r>
              <a:rPr lang="it-IT" altLang="en-US" sz="2400" b="1" dirty="0"/>
              <a:t>experiences </a:t>
            </a:r>
            <a:r>
              <a:rPr lang="it-IT" altLang="en-US" sz="2400" dirty="0"/>
              <a:t>that promote active and experiential paths of learning in various domains of human existence,</a:t>
            </a:r>
            <a:r>
              <a:rPr lang="it-IT" altLang="en-US" sz="1800" dirty="0"/>
              <a:t> </a:t>
            </a:r>
            <a:endParaRPr lang="it-IT" altLang="en-US" sz="2400" dirty="0"/>
          </a:p>
          <a:p>
            <a:pPr marL="0" indent="0">
              <a:lnSpc>
                <a:spcPct val="80000"/>
              </a:lnSpc>
            </a:pPr>
            <a:r>
              <a:rPr lang="it-IT" altLang="en-US" sz="2400" dirty="0"/>
              <a:t> through </a:t>
            </a:r>
            <a:r>
              <a:rPr lang="it-IT" altLang="en-US" sz="2400" b="1" dirty="0"/>
              <a:t>virtual/augmented simulations </a:t>
            </a:r>
          </a:p>
          <a:p>
            <a:pPr marL="0" indent="0">
              <a:lnSpc>
                <a:spcPct val="80000"/>
              </a:lnSpc>
            </a:pPr>
            <a:r>
              <a:rPr lang="it-IT" altLang="en-US" sz="2400" b="1" dirty="0"/>
              <a:t> </a:t>
            </a:r>
            <a:r>
              <a:rPr lang="it-IT" altLang="en-US" sz="2400" dirty="0"/>
              <a:t>through </a:t>
            </a:r>
            <a:r>
              <a:rPr lang="it-IT" altLang="en-US" sz="2400" b="1" dirty="0"/>
              <a:t>ludic </a:t>
            </a:r>
            <a:r>
              <a:rPr lang="it-IT" altLang="en-US" sz="2400" dirty="0"/>
              <a:t>and</a:t>
            </a:r>
            <a:r>
              <a:rPr lang="it-IT" altLang="en-US" sz="2400" b="1" dirty="0"/>
              <a:t> playful formats</a:t>
            </a:r>
          </a:p>
          <a:p>
            <a:pPr marL="0" indent="0">
              <a:lnSpc>
                <a:spcPct val="80000"/>
              </a:lnSpc>
              <a:spcBef>
                <a:spcPts val="2400"/>
              </a:spcBef>
              <a:buNone/>
            </a:pPr>
            <a:r>
              <a:rPr lang="en-US" sz="2400" dirty="0"/>
              <a:t>“A </a:t>
            </a:r>
            <a:r>
              <a:rPr lang="en-US" sz="2400" b="1" dirty="0"/>
              <a:t>serious game</a:t>
            </a:r>
            <a:r>
              <a:rPr lang="en-US" sz="2400" dirty="0"/>
              <a:t> or </a:t>
            </a:r>
            <a:r>
              <a:rPr lang="en-US" sz="2400" b="1" dirty="0"/>
              <a:t>applied game</a:t>
            </a:r>
            <a:r>
              <a:rPr lang="en-US" sz="2400" dirty="0"/>
              <a:t> is a game designed for a primary purpose other than pure entertainment” (</a:t>
            </a:r>
            <a:r>
              <a:rPr lang="en-GB" sz="2400" i="1" dirty="0" err="1">
                <a:solidFill>
                  <a:srgbClr val="00B0F0"/>
                </a:solidFill>
              </a:rPr>
              <a:t>Abt</a:t>
            </a:r>
            <a:r>
              <a:rPr lang="en-GB" sz="2400" i="1" dirty="0">
                <a:solidFill>
                  <a:srgbClr val="00B0F0"/>
                </a:solidFill>
              </a:rPr>
              <a:t>, 1970</a:t>
            </a:r>
            <a:r>
              <a:rPr lang="en-US" sz="2400" dirty="0"/>
              <a:t>)</a:t>
            </a:r>
            <a:r>
              <a:rPr lang="en-US" altLang="en-US" sz="2400" dirty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2400" dirty="0"/>
              <a:t>“A </a:t>
            </a:r>
            <a:r>
              <a:rPr lang="en-US" altLang="en-US" sz="2400" b="1" dirty="0"/>
              <a:t>serious game </a:t>
            </a:r>
            <a:r>
              <a:rPr lang="en-US" altLang="en-US" sz="2400" dirty="0"/>
              <a:t>is a digital game in which </a:t>
            </a:r>
            <a:r>
              <a:rPr lang="en-US" altLang="en-US" sz="2400" i="1" u="sng" dirty="0"/>
              <a:t>education is the primary goal</a:t>
            </a:r>
            <a:r>
              <a:rPr lang="en-US" altLang="en-US" sz="2400" dirty="0"/>
              <a:t>, rather than entertainment” </a:t>
            </a:r>
            <a:r>
              <a:rPr lang="en-US" altLang="en-US" sz="2400" i="1" dirty="0"/>
              <a:t>(</a:t>
            </a:r>
            <a:r>
              <a:rPr lang="en-US" altLang="en-US" sz="2400" i="1" dirty="0" err="1">
                <a:solidFill>
                  <a:srgbClr val="00B0F0"/>
                </a:solidFill>
              </a:rPr>
              <a:t>Micheal</a:t>
            </a:r>
            <a:r>
              <a:rPr lang="en-US" altLang="en-US" sz="2400" i="1" dirty="0">
                <a:solidFill>
                  <a:srgbClr val="00B0F0"/>
                </a:solidFill>
              </a:rPr>
              <a:t> &amp; Chen, 2006</a:t>
            </a:r>
            <a:r>
              <a:rPr lang="en-US" altLang="en-US" sz="2400" i="1" dirty="0"/>
              <a:t>)</a:t>
            </a:r>
            <a:r>
              <a:rPr lang="en-US" altLang="bg-BG" sz="2400" dirty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bg-BG" sz="2400" dirty="0"/>
              <a:t> SGs enable self-controlled, active, and playful learning </a:t>
            </a:r>
            <a:endParaRPr lang="en-US" altLang="en-US" sz="2400" dirty="0"/>
          </a:p>
          <a:p>
            <a:pPr marL="0" indent="0">
              <a:lnSpc>
                <a:spcPct val="80000"/>
              </a:lnSpc>
              <a:buNone/>
            </a:pPr>
            <a:endParaRPr lang="en-US" altLang="en-US" sz="2400" dirty="0"/>
          </a:p>
        </p:txBody>
      </p:sp>
      <p:sp>
        <p:nvSpPr>
          <p:cNvPr id="18439" name="Slide Number Placeholder 4"/>
          <p:cNvSpPr txBox="1">
            <a:spLocks noGrp="1"/>
          </p:cNvSpPr>
          <p:nvPr/>
        </p:nvSpPr>
        <p:spPr bwMode="auto">
          <a:xfrm>
            <a:off x="1524000" y="1271589"/>
            <a:ext cx="533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fld id="{1C4D92D5-9949-4BCE-936B-87CFC9558C58}" type="slidenum">
              <a:rPr lang="en-US" altLang="bg-BG" sz="1200">
                <a:solidFill>
                  <a:srgbClr val="FFFFFF"/>
                </a:solidFill>
              </a:rPr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bg-BG" sz="1200">
              <a:solidFill>
                <a:srgbClr val="FFFFFF"/>
              </a:solidFill>
            </a:endParaRPr>
          </a:p>
        </p:txBody>
      </p:sp>
      <p:pic>
        <p:nvPicPr>
          <p:cNvPr id="18440" name="Picture 8" descr="https://encrypted-tbn2.google.com/images?q=tbn:ANd9GcS0voI7O24gpJCq0kq406eizNMQ_5Zetvy0o2rpNmKkoy35y5x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"/>
            <a:ext cx="2971800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8404FC-0696-4F63-9CC0-B6A071523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6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46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46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46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4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4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4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4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4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4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4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4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4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4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4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4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4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4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4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4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4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4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/>
      <p:bldP spid="19462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8200" y="0"/>
            <a:ext cx="9032233" cy="817088"/>
          </a:xfrm>
        </p:spPr>
        <p:txBody>
          <a:bodyPr/>
          <a:lstStyle/>
          <a:p>
            <a:r>
              <a:rPr lang="en-US" dirty="0"/>
              <a:t>A Taxonomy of Serious Games </a:t>
            </a:r>
            <a:endParaRPr lang="bg-BG" dirty="0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pic>
        <p:nvPicPr>
          <p:cNvPr id="7" name="Picture 27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63" y="682997"/>
            <a:ext cx="10461170" cy="553850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Правоъгълник 7"/>
          <p:cNvSpPr/>
          <p:nvPr/>
        </p:nvSpPr>
        <p:spPr>
          <a:xfrm>
            <a:off x="7614660" y="6176874"/>
            <a:ext cx="28023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>
                <a:solidFill>
                  <a:srgbClr val="7030A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Source: Sawyer and Smith, 2008</a:t>
            </a:r>
            <a:endParaRPr lang="bg-BG" sz="1400" i="1" dirty="0">
              <a:solidFill>
                <a:srgbClr val="7030A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вал 2"/>
          <p:cNvSpPr/>
          <p:nvPr/>
        </p:nvSpPr>
        <p:spPr>
          <a:xfrm>
            <a:off x="5683624" y="548150"/>
            <a:ext cx="2008094" cy="5647765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Овал 8"/>
          <p:cNvSpPr/>
          <p:nvPr/>
        </p:nvSpPr>
        <p:spPr>
          <a:xfrm>
            <a:off x="6033248" y="636495"/>
            <a:ext cx="1308846" cy="618565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DEFE0C04-F485-45A9-83B3-D389F6B12D6A}"/>
              </a:ext>
            </a:extLst>
          </p:cNvPr>
          <p:cNvSpPr/>
          <p:nvPr/>
        </p:nvSpPr>
        <p:spPr>
          <a:xfrm>
            <a:off x="6154346" y="4165141"/>
            <a:ext cx="1023109" cy="459614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B8AA9-1301-40A1-9379-BC869E3D1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7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938893" y="365760"/>
            <a:ext cx="10321166" cy="817088"/>
          </a:xfrm>
        </p:spPr>
        <p:txBody>
          <a:bodyPr>
            <a:normAutofit/>
          </a:bodyPr>
          <a:lstStyle/>
          <a:p>
            <a:r>
              <a:rPr lang="es-ES" kern="0" dirty="0">
                <a:solidFill>
                  <a:srgbClr val="FF0000"/>
                </a:solidFill>
              </a:rPr>
              <a:t>Serious</a:t>
            </a:r>
            <a:r>
              <a:rPr lang="es-ES" kern="0" dirty="0"/>
              <a:t> </a:t>
            </a:r>
            <a:r>
              <a:rPr lang="en-US" kern="0" dirty="0"/>
              <a:t>Problems with the </a:t>
            </a:r>
            <a:r>
              <a:rPr lang="en-US" kern="0" dirty="0">
                <a:solidFill>
                  <a:srgbClr val="FF0000"/>
                </a:solidFill>
              </a:rPr>
              <a:t>Serious</a:t>
            </a:r>
            <a:r>
              <a:rPr lang="en-US" kern="0" dirty="0"/>
              <a:t> Games</a:t>
            </a:r>
            <a:endParaRPr lang="bg-BG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938893" y="1219200"/>
            <a:ext cx="9729107" cy="5181600"/>
          </a:xfrm>
        </p:spPr>
        <p:txBody>
          <a:bodyPr>
            <a:normAutofit lnSpcReduction="10000"/>
          </a:bodyPr>
          <a:lstStyle/>
          <a:p>
            <a:r>
              <a:rPr lang="en-US" kern="0" dirty="0"/>
              <a:t>Higher development cost</a:t>
            </a:r>
          </a:p>
          <a:p>
            <a:r>
              <a:rPr lang="en-US" kern="0" dirty="0"/>
              <a:t>Lower attractiveness compared to entertainment games</a:t>
            </a:r>
          </a:p>
          <a:p>
            <a:r>
              <a:rPr lang="en-US" dirty="0"/>
              <a:t>Transition between instructional design and actual game design implementation – how Game Mechanics impact and interact with the Learning Mechanics</a:t>
            </a:r>
          </a:p>
          <a:p>
            <a:r>
              <a:rPr lang="en-US" dirty="0"/>
              <a:t>Assessment – effectively tracking and analyzing the right parameters related to learners’ progress (knowledge gain, reflection, and application) </a:t>
            </a:r>
          </a:p>
          <a:p>
            <a:r>
              <a:rPr lang="en-US" dirty="0"/>
              <a:t>How psychological theories should be used in the design of realistic and convincing non-player characters (NPCs)?</a:t>
            </a:r>
          </a:p>
          <a:p>
            <a:r>
              <a:rPr lang="en-US" dirty="0"/>
              <a:t>How different pedagogical paradigms relate to tailoring SG and their mechanics – </a:t>
            </a:r>
            <a:r>
              <a:rPr lang="en-US" i="1" u="sng" dirty="0"/>
              <a:t>by personalization and adaptation</a:t>
            </a:r>
            <a:r>
              <a:rPr lang="en-US" dirty="0"/>
              <a:t>! </a:t>
            </a:r>
          </a:p>
          <a:p>
            <a:pPr marL="0" indent="0">
              <a:buNone/>
            </a:pPr>
            <a:endParaRPr lang="bg-BG" dirty="0"/>
          </a:p>
        </p:txBody>
      </p:sp>
      <p:sp>
        <p:nvSpPr>
          <p:cNvPr id="6" name="Контейнер за дата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bg-BG"/>
              <a:t>FedCSIS'25</a:t>
            </a:r>
            <a:endParaRPr lang="bg-BG" dirty="0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 Serious Game for Teaching Entrepreneurship and Strategic Management</a:t>
            </a:r>
            <a:endParaRPr lang="bg-BG" dirty="0"/>
          </a:p>
        </p:txBody>
      </p:sp>
      <p:sp>
        <p:nvSpPr>
          <p:cNvPr id="7" name="Правоъгълник 6"/>
          <p:cNvSpPr/>
          <p:nvPr/>
        </p:nvSpPr>
        <p:spPr>
          <a:xfrm>
            <a:off x="6494585" y="5950667"/>
            <a:ext cx="3365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kern="0" dirty="0">
                <a:solidFill>
                  <a:srgbClr val="7030A0"/>
                </a:solidFill>
              </a:rPr>
              <a:t>D1.6 GALA Roadmap 2, Nov. 2011</a:t>
            </a:r>
            <a:endParaRPr lang="bg-BG" dirty="0">
              <a:solidFill>
                <a:srgbClr val="7030A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6934F-D60E-4CEB-8143-33CE7293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99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FC938-28E7-4E79-891D-5B1CA78B5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357" y="365760"/>
            <a:ext cx="9606643" cy="817088"/>
          </a:xfrm>
        </p:spPr>
        <p:txBody>
          <a:bodyPr>
            <a:normAutofit fontScale="90000"/>
          </a:bodyPr>
          <a:lstStyle/>
          <a:p>
            <a:r>
              <a:rPr lang="en-US" dirty="0"/>
              <a:t>Goals of Personalization &amp; Adaptation of SG 1/3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FB943-E15A-427F-83E0-98F032EEA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057" y="1451296"/>
            <a:ext cx="10042072" cy="5116559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Individualized learning pace</a:t>
            </a:r>
            <a:endParaRPr lang="en-US" dirty="0"/>
          </a:p>
          <a:p>
            <a:pPr lvl="1"/>
            <a:r>
              <a:rPr lang="en-US" i="1" dirty="0"/>
              <a:t>Why</a:t>
            </a:r>
            <a:r>
              <a:rPr lang="en-US" dirty="0"/>
              <a:t>: Learners differ in prior knowledge, skills, and cognitive load capacity.</a:t>
            </a:r>
          </a:p>
          <a:p>
            <a:pPr lvl="1"/>
            <a:r>
              <a:rPr lang="en-US" i="1" dirty="0"/>
              <a:t>How</a:t>
            </a:r>
            <a:r>
              <a:rPr lang="en-US" dirty="0"/>
              <a:t>: Adaptive difficulty adjusts tasks, feedback, and prompts to match the learner’s current level, reducing frustration and boredom.</a:t>
            </a:r>
          </a:p>
          <a:p>
            <a:r>
              <a:rPr lang="en-US" b="1" dirty="0"/>
              <a:t>Targeted content and scaffolding</a:t>
            </a:r>
            <a:endParaRPr lang="en-US" dirty="0"/>
          </a:p>
          <a:p>
            <a:pPr lvl="1"/>
            <a:r>
              <a:rPr lang="en-US" i="1" dirty="0"/>
              <a:t>Why</a:t>
            </a:r>
            <a:r>
              <a:rPr lang="en-US" dirty="0"/>
              <a:t>: Not all learners need the same support simultaneously.</a:t>
            </a:r>
          </a:p>
          <a:p>
            <a:pPr lvl="1"/>
            <a:r>
              <a:rPr lang="en-US" i="1" dirty="0"/>
              <a:t>How</a:t>
            </a:r>
            <a:r>
              <a:rPr lang="en-US" dirty="0"/>
              <a:t>: Personalization curates challenges and hints based on learner strengths, weaknesses, and learning goals, providing more support and resolving more complex problems where appropriate.</a:t>
            </a:r>
          </a:p>
          <a:p>
            <a:r>
              <a:rPr lang="en-US" b="1" dirty="0"/>
              <a:t>Enhanced motivation and engagement</a:t>
            </a:r>
            <a:endParaRPr lang="en-US" dirty="0"/>
          </a:p>
          <a:p>
            <a:pPr lvl="1"/>
            <a:r>
              <a:rPr lang="en-US" i="1" dirty="0"/>
              <a:t>Why</a:t>
            </a:r>
            <a:r>
              <a:rPr lang="en-US" dirty="0"/>
              <a:t>: Engagement is critical for sustained practice and transfer of learning.</a:t>
            </a:r>
          </a:p>
          <a:p>
            <a:pPr lvl="1"/>
            <a:r>
              <a:rPr lang="en-US" i="1" dirty="0"/>
              <a:t>How</a:t>
            </a:r>
            <a:r>
              <a:rPr lang="en-US" dirty="0"/>
              <a:t>: Personalization can align game scenarios with the learner’s interests, provide meaningful goals, and offer adaptive feedback that feels relevant and rewarding – by keeping the learner/player in flow.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20958-FBAC-4BD7-9126-7B43CFC04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360DD-B51E-4DFE-A7CE-3672F73B9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FA7E8-D111-46B4-9FE8-BFA1E93B2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12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FC938-28E7-4E79-891D-5B1CA78B5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864" y="365760"/>
            <a:ext cx="9631136" cy="817088"/>
          </a:xfrm>
        </p:spPr>
        <p:txBody>
          <a:bodyPr>
            <a:normAutofit fontScale="90000"/>
          </a:bodyPr>
          <a:lstStyle/>
          <a:p>
            <a:r>
              <a:rPr lang="en-US" dirty="0"/>
              <a:t>Goals of Personalization &amp; Adaptation of SG 2/3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FB943-E15A-427F-83E0-98F032EEA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563" y="1451296"/>
            <a:ext cx="10197193" cy="490505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Improved cognitive load management =&gt; better learning outcomes</a:t>
            </a:r>
            <a:endParaRPr lang="en-US" dirty="0"/>
          </a:p>
          <a:p>
            <a:pPr lvl="1"/>
            <a:r>
              <a:rPr lang="en-US" i="1" dirty="0"/>
              <a:t>Why</a:t>
            </a:r>
            <a:r>
              <a:rPr lang="en-US" dirty="0"/>
              <a:t>: Overly complex or too simple tasks can hinder learning.</a:t>
            </a:r>
          </a:p>
          <a:p>
            <a:pPr lvl="1"/>
            <a:r>
              <a:rPr lang="en-US" i="1" dirty="0"/>
              <a:t>How</a:t>
            </a:r>
            <a:r>
              <a:rPr lang="en-US" dirty="0"/>
              <a:t>: Adaptation helps keep cognitive load within an optimal zone (the “zone of proximal development”), balancing novelty and support.</a:t>
            </a:r>
          </a:p>
          <a:p>
            <a:r>
              <a:rPr lang="en-US" b="1" dirty="0"/>
              <a:t>Just-in-time feedback and reflection</a:t>
            </a:r>
            <a:endParaRPr lang="en-US" dirty="0"/>
          </a:p>
          <a:p>
            <a:pPr lvl="1"/>
            <a:r>
              <a:rPr lang="en-US" i="1" dirty="0"/>
              <a:t>Why</a:t>
            </a:r>
            <a:r>
              <a:rPr lang="en-US" dirty="0"/>
              <a:t>: Timely feedback reinforces correct strategies and corrects misconceptions.</a:t>
            </a:r>
          </a:p>
          <a:p>
            <a:pPr lvl="1"/>
            <a:r>
              <a:rPr lang="en-US" i="1" dirty="0"/>
              <a:t>How</a:t>
            </a:r>
            <a:r>
              <a:rPr lang="en-US" dirty="0"/>
              <a:t>: Adaptive systems deliver feedback tailored to the learner’s current misconceptions and shown performance, plus reflection prompts aligned to content mastery.</a:t>
            </a:r>
          </a:p>
          <a:p>
            <a:r>
              <a:rPr lang="en-US" b="1" dirty="0"/>
              <a:t>Personalized mastery pathways</a:t>
            </a:r>
            <a:endParaRPr lang="en-US" dirty="0"/>
          </a:p>
          <a:p>
            <a:pPr lvl="1"/>
            <a:r>
              <a:rPr lang="en-US" i="1" dirty="0"/>
              <a:t>Why</a:t>
            </a:r>
            <a:r>
              <a:rPr lang="en-US" dirty="0"/>
              <a:t>: Learners have different goals and trajectories.</a:t>
            </a:r>
          </a:p>
          <a:p>
            <a:pPr lvl="1"/>
            <a:r>
              <a:rPr lang="en-US" i="1" dirty="0"/>
              <a:t>How</a:t>
            </a:r>
            <a:r>
              <a:rPr lang="en-US" dirty="0"/>
              <a:t>: Systems map learning progress and suggest personalized challenges, practice sets, or remediation as needed.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20958-FBAC-4BD7-9126-7B43CFC04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360DD-B51E-4DFE-A7CE-3672F73B9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C083E-45B1-4B0D-8C8B-85F2ABAA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37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FC938-28E7-4E79-891D-5B1CA78B5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760"/>
            <a:ext cx="9715500" cy="817088"/>
          </a:xfrm>
        </p:spPr>
        <p:txBody>
          <a:bodyPr>
            <a:normAutofit/>
          </a:bodyPr>
          <a:lstStyle/>
          <a:p>
            <a:r>
              <a:rPr lang="en-US" dirty="0"/>
              <a:t>Goals of Personalization &amp; Adaptation of SG 3/3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FB943-E15A-427F-83E0-98F032EEA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51296"/>
            <a:ext cx="10118271" cy="4728843"/>
          </a:xfrm>
        </p:spPr>
        <p:txBody>
          <a:bodyPr>
            <a:normAutofit/>
          </a:bodyPr>
          <a:lstStyle/>
          <a:p>
            <a:r>
              <a:rPr lang="en-US" b="1" dirty="0"/>
              <a:t>Culturally and demographically responsive design</a:t>
            </a:r>
            <a:endParaRPr lang="en-US" dirty="0"/>
          </a:p>
          <a:p>
            <a:pPr lvl="1"/>
            <a:r>
              <a:rPr lang="en-US" i="1" dirty="0"/>
              <a:t>Why</a:t>
            </a:r>
            <a:r>
              <a:rPr lang="en-US" dirty="0"/>
              <a:t>: Diverse backgrounds influence prior knowledge and engagement preferences.</a:t>
            </a:r>
          </a:p>
          <a:p>
            <a:pPr lvl="1"/>
            <a:r>
              <a:rPr lang="en-US" i="1" dirty="0"/>
              <a:t>How</a:t>
            </a:r>
            <a:r>
              <a:rPr lang="en-US" dirty="0"/>
              <a:t>: Personalization can incorporate culturally relevant scenarios, examples, and language registers to improve relevance and accessibility.</a:t>
            </a:r>
          </a:p>
          <a:p>
            <a:r>
              <a:rPr lang="en-US" b="1" dirty="0"/>
              <a:t>Better assessment and diagnostics</a:t>
            </a:r>
            <a:endParaRPr lang="en-US" dirty="0"/>
          </a:p>
          <a:p>
            <a:pPr lvl="1"/>
            <a:r>
              <a:rPr lang="en-US" i="1" dirty="0"/>
              <a:t>Why</a:t>
            </a:r>
            <a:r>
              <a:rPr lang="en-US" dirty="0"/>
              <a:t>: Traditional one-size-fits-all assessments can miss a nuanced understanding.</a:t>
            </a:r>
          </a:p>
          <a:p>
            <a:pPr lvl="1"/>
            <a:r>
              <a:rPr lang="en-US" i="1" dirty="0"/>
              <a:t>How</a:t>
            </a:r>
            <a:r>
              <a:rPr lang="en-US" dirty="0"/>
              <a:t>: Adaptive assessments infer a learner’s competencies, misconceptions, and knowledge gaps more precisely, guiding both the game experience and external instruction.</a:t>
            </a:r>
          </a:p>
          <a:p>
            <a:endParaRPr lang="bg-B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20958-FBAC-4BD7-9126-7B43CFC04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360DD-B51E-4DFE-A7CE-3672F73B9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81625-CD63-4D53-BA74-7B3BFB417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494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020536" y="365760"/>
            <a:ext cx="9515579" cy="817088"/>
          </a:xfrm>
        </p:spPr>
        <p:txBody>
          <a:bodyPr>
            <a:normAutofit/>
          </a:bodyPr>
          <a:lstStyle/>
          <a:p>
            <a:r>
              <a:rPr lang="en-US" dirty="0"/>
              <a:t>Personalization in Video Games for Education</a:t>
            </a:r>
            <a:endParaRPr lang="bg-BG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938893" y="1451295"/>
            <a:ext cx="10050235" cy="5169941"/>
          </a:xfrm>
        </p:spPr>
        <p:txBody>
          <a:bodyPr>
            <a:normAutofit/>
          </a:bodyPr>
          <a:lstStyle/>
          <a:p>
            <a:pPr marL="361950" indent="-361950">
              <a:lnSpc>
                <a:spcPct val="95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400" b="1" dirty="0"/>
              <a:t>Personalized learning</a:t>
            </a:r>
            <a:r>
              <a:rPr lang="en-US" sz="2400" dirty="0"/>
              <a:t> </a:t>
            </a:r>
            <a:r>
              <a:rPr lang="en-US" sz="2400" b="1" dirty="0"/>
              <a:t>environments</a:t>
            </a:r>
            <a:r>
              <a:rPr lang="en-US" sz="2400" dirty="0"/>
              <a:t> are related to efforts </a:t>
            </a:r>
            <a:r>
              <a:rPr lang="en-US" sz="2400" u="sng" dirty="0"/>
              <a:t>to tailor the educational process to meet the different needs of learners</a:t>
            </a:r>
            <a:r>
              <a:rPr lang="en-US" sz="2400" dirty="0"/>
              <a:t>. (Murphy, 2016)</a:t>
            </a:r>
          </a:p>
          <a:p>
            <a:pPr marL="361950" indent="-361950">
              <a:lnSpc>
                <a:spcPct val="95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361950" indent="-361950">
              <a:lnSpc>
                <a:spcPct val="95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400" b="1" dirty="0"/>
              <a:t>User-centered tailoring of educational video game </a:t>
            </a:r>
            <a:r>
              <a:rPr lang="en-US" sz="2400" dirty="0"/>
              <a:t>– based </a:t>
            </a:r>
            <a:r>
              <a:rPr lang="en-US" sz="2400" u="sng" dirty="0"/>
              <a:t>on individual and/or group player characteristics such as needs, goals, previous experience, outcomes, learning/playing styles</a:t>
            </a:r>
            <a:r>
              <a:rPr lang="en-US" sz="2400" dirty="0"/>
              <a:t>, etc.</a:t>
            </a:r>
          </a:p>
          <a:p>
            <a:pPr marL="631825">
              <a:lnSpc>
                <a:spcPct val="95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/>
              </a:rPr>
              <a:t>Personalization of gaming/learning content, gameplay 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(incl. game mechanics and dynamics), audio-visual effects, etc.; </a:t>
            </a:r>
          </a:p>
          <a:p>
            <a:pPr marL="631825">
              <a:lnSpc>
                <a:spcPct val="95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/>
              </a:rPr>
              <a:t>Implemented in a static, dynamic, or hybrid way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, providing personalized learning experiences</a:t>
            </a: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.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8A29E-E4E6-4BEC-94F0-14F2DB41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93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810872" y="60814"/>
            <a:ext cx="8628529" cy="777386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The                         Personalization</a:t>
            </a:r>
            <a:r>
              <a:rPr lang="en-US" dirty="0">
                <a:solidFill>
                  <a:srgbClr val="FF0000"/>
                </a:solidFill>
                <a:latin typeface="Dotum" panose="020B0600000101010101" pitchFamily="34" charset="-127"/>
                <a:ea typeface="Dotum" panose="020B0600000101010101" pitchFamily="34" charset="-127"/>
              </a:rPr>
              <a:t> </a:t>
            </a:r>
            <a:r>
              <a:rPr lang="en-US" sz="4400" dirty="0"/>
              <a:t>Model</a:t>
            </a:r>
            <a:endParaRPr lang="bg-BG" sz="4400" dirty="0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 dirty="0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>
          <a:xfrm>
            <a:off x="4320989" y="6492876"/>
            <a:ext cx="3811121" cy="365125"/>
          </a:xfrm>
        </p:spPr>
        <p:txBody>
          <a:bodyPr/>
          <a:lstStyle/>
          <a:p>
            <a:r>
              <a:rPr lang="en-US" sz="1050"/>
              <a:t>A Serious Game for Teaching Entrepreneurship and Strategic Management</a:t>
            </a:r>
            <a:endParaRPr lang="en-US" sz="1050" dirty="0"/>
          </a:p>
        </p:txBody>
      </p:sp>
      <p:grpSp>
        <p:nvGrpSpPr>
          <p:cNvPr id="18" name="Групиране 17"/>
          <p:cNvGrpSpPr/>
          <p:nvPr/>
        </p:nvGrpSpPr>
        <p:grpSpPr>
          <a:xfrm>
            <a:off x="3039110" y="865095"/>
            <a:ext cx="6485890" cy="5702405"/>
            <a:chOff x="0" y="0"/>
            <a:chExt cx="6884670" cy="6644640"/>
          </a:xfrm>
        </p:grpSpPr>
        <p:grpSp>
          <p:nvGrpSpPr>
            <p:cNvPr id="25" name="Групиране 24"/>
            <p:cNvGrpSpPr/>
            <p:nvPr/>
          </p:nvGrpSpPr>
          <p:grpSpPr>
            <a:xfrm>
              <a:off x="0" y="0"/>
              <a:ext cx="6884670" cy="6644640"/>
              <a:chOff x="0" y="0"/>
              <a:chExt cx="6884670" cy="6644640"/>
            </a:xfrm>
          </p:grpSpPr>
          <p:grpSp>
            <p:nvGrpSpPr>
              <p:cNvPr id="27" name="Групиране 26"/>
              <p:cNvGrpSpPr/>
              <p:nvPr/>
            </p:nvGrpSpPr>
            <p:grpSpPr>
              <a:xfrm>
                <a:off x="0" y="0"/>
                <a:ext cx="6884670" cy="6644640"/>
                <a:chOff x="0" y="0"/>
                <a:chExt cx="6884670" cy="6644640"/>
              </a:xfrm>
            </p:grpSpPr>
            <p:sp>
              <p:nvSpPr>
                <p:cNvPr id="29" name="Блоксхема: съединение 28"/>
                <p:cNvSpPr/>
                <p:nvPr/>
              </p:nvSpPr>
              <p:spPr>
                <a:xfrm>
                  <a:off x="0" y="0"/>
                  <a:ext cx="6884670" cy="6644640"/>
                </a:xfrm>
                <a:prstGeom prst="flowChartConnector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bg-BG"/>
                </a:p>
              </p:txBody>
            </p:sp>
            <p:sp>
              <p:nvSpPr>
                <p:cNvPr id="30" name="Текстово поле 83"/>
                <p:cNvSpPr txBox="1"/>
                <p:nvPr/>
              </p:nvSpPr>
              <p:spPr>
                <a:xfrm>
                  <a:off x="2112451" y="188070"/>
                  <a:ext cx="2559162" cy="2914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s-ES" sz="2000" b="1" dirty="0" err="1">
                      <a:solidFill>
                        <a:srgbClr val="365F91"/>
                      </a:solidFill>
                      <a:effectLst>
                        <a:outerShdw blurRad="38100" dist="25400" dir="5400000" algn="ctr">
                          <a:srgbClr val="6E747A">
                            <a:alpha val="43000"/>
                          </a:srgbClr>
                        </a:outerShdw>
                      </a:effectLst>
                      <a:latin typeface="Arial" panose="020B060402020202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Learning</a:t>
                  </a:r>
                  <a:r>
                    <a:rPr lang="es-ES" sz="2000" b="1" dirty="0">
                      <a:solidFill>
                        <a:srgbClr val="365F91"/>
                      </a:solidFill>
                      <a:effectLst>
                        <a:outerShdw blurRad="38100" dist="25400" dir="5400000" algn="ctr">
                          <a:srgbClr val="6E747A">
                            <a:alpha val="43000"/>
                          </a:srgbClr>
                        </a:outerShdw>
                      </a:effectLst>
                      <a:latin typeface="Arial" panose="020B060402020202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content</a:t>
                  </a:r>
                  <a:endParaRPr lang="bg-BG" sz="1200" dirty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8" name="Текстово поле 84"/>
              <p:cNvSpPr txBox="1"/>
              <p:nvPr/>
            </p:nvSpPr>
            <p:spPr>
              <a:xfrm rot="14613936">
                <a:off x="-988493" y="4269789"/>
                <a:ext cx="3292794" cy="2914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rot="0" spcFirstLastPara="0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s-ES" sz="2000" b="1" dirty="0">
                    <a:solidFill>
                      <a:srgbClr val="365F91"/>
                    </a:solidFill>
                    <a:effectLst>
                      <a:outerShdw blurRad="38100" dist="25400" dir="5400000" algn="ctr">
                        <a:srgbClr val="6E747A">
                          <a:alpha val="43000"/>
                        </a:srgbClr>
                      </a:outerShdw>
                    </a:effectLst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Help and feedback</a:t>
                </a:r>
                <a:endParaRPr lang="bg-BG" sz="1200" dirty="0"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6" name="Текстово поле 85"/>
            <p:cNvSpPr txBox="1"/>
            <p:nvPr/>
          </p:nvSpPr>
          <p:spPr>
            <a:xfrm rot="6579056">
              <a:off x="4544933" y="3928646"/>
              <a:ext cx="3585679" cy="29146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365F91"/>
                  </a:solidFill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Game tasks &amp; GUI</a:t>
              </a:r>
              <a:endParaRPr lang="bg-BG" sz="1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Групиране 18"/>
          <p:cNvGrpSpPr/>
          <p:nvPr/>
        </p:nvGrpSpPr>
        <p:grpSpPr>
          <a:xfrm>
            <a:off x="3667240" y="1378441"/>
            <a:ext cx="5226041" cy="4678980"/>
            <a:chOff x="-1" y="0"/>
            <a:chExt cx="5547360" cy="5452110"/>
          </a:xfrm>
        </p:grpSpPr>
        <p:grpSp>
          <p:nvGrpSpPr>
            <p:cNvPr id="20" name="Групиране 19"/>
            <p:cNvGrpSpPr/>
            <p:nvPr/>
          </p:nvGrpSpPr>
          <p:grpSpPr>
            <a:xfrm>
              <a:off x="-1" y="0"/>
              <a:ext cx="5547360" cy="5452110"/>
              <a:chOff x="-1" y="0"/>
              <a:chExt cx="5406390" cy="5334000"/>
            </a:xfrm>
          </p:grpSpPr>
          <p:sp>
            <p:nvSpPr>
              <p:cNvPr id="22" name="Блоксхема: съединение 21"/>
              <p:cNvSpPr/>
              <p:nvPr/>
            </p:nvSpPr>
            <p:spPr>
              <a:xfrm>
                <a:off x="-1" y="0"/>
                <a:ext cx="5406390" cy="533400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lt1">
                    <a:hueOff val="0"/>
                    <a:satOff val="0"/>
                    <a:lumOff val="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3" name="Блоксхема: съединение 22"/>
              <p:cNvSpPr/>
              <p:nvPr/>
            </p:nvSpPr>
            <p:spPr>
              <a:xfrm>
                <a:off x="769620" y="678428"/>
                <a:ext cx="3695479" cy="3861623"/>
              </a:xfrm>
              <a:prstGeom prst="flowChartConnector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lt1">
                    <a:hueOff val="0"/>
                    <a:satOff val="0"/>
                    <a:lumOff val="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4" name="Блоксхема: съединение 23"/>
              <p:cNvSpPr/>
              <p:nvPr/>
            </p:nvSpPr>
            <p:spPr>
              <a:xfrm>
                <a:off x="2122370" y="1970045"/>
                <a:ext cx="1044974" cy="1060383"/>
              </a:xfrm>
              <a:prstGeom prst="flowChartConnector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lt1">
                    <a:hueOff val="0"/>
                    <a:satOff val="0"/>
                    <a:lumOff val="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</p:grpSp>
        <p:sp>
          <p:nvSpPr>
            <p:cNvPr id="21" name="Текстово поле 91"/>
            <p:cNvSpPr txBox="1"/>
            <p:nvPr/>
          </p:nvSpPr>
          <p:spPr>
            <a:xfrm>
              <a:off x="2183112" y="2009962"/>
              <a:ext cx="1070610" cy="10858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ES" sz="2000" b="1" dirty="0">
                  <a:solidFill>
                    <a:schemeClr val="accent4">
                      <a:lumMod val="40000"/>
                      <a:lumOff val="60000"/>
                    </a:schemeClr>
                  </a:solidFill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Learner</a:t>
              </a:r>
              <a:endParaRPr lang="bg-BG" sz="1200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Текстово поле 92"/>
          <p:cNvSpPr txBox="1"/>
          <p:nvPr/>
        </p:nvSpPr>
        <p:spPr>
          <a:xfrm>
            <a:off x="5060576" y="1627309"/>
            <a:ext cx="2505635" cy="298684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 style metrics</a:t>
            </a:r>
            <a:endParaRPr lang="bg-BG" sz="11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Текстово поле 93"/>
          <p:cNvSpPr txBox="1"/>
          <p:nvPr/>
        </p:nvSpPr>
        <p:spPr>
          <a:xfrm rot="14647152">
            <a:off x="3069996" y="4169541"/>
            <a:ext cx="2393816" cy="550524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Performance indicators</a:t>
            </a:r>
            <a:endParaRPr lang="bg-BG" sz="11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Текстово поле 94"/>
          <p:cNvSpPr txBox="1"/>
          <p:nvPr/>
        </p:nvSpPr>
        <p:spPr>
          <a:xfrm rot="5964665">
            <a:off x="6985482" y="3597329"/>
            <a:ext cx="2597122" cy="696925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Choice of</a:t>
            </a:r>
            <a:br>
              <a:rPr lang="es-ES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predefined properties</a:t>
            </a:r>
            <a:endParaRPr lang="bg-BG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Текстово поле 95"/>
          <p:cNvSpPr txBox="1"/>
          <p:nvPr/>
        </p:nvSpPr>
        <p:spPr>
          <a:xfrm>
            <a:off x="5368543" y="2482639"/>
            <a:ext cx="1758398" cy="322774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 styles</a:t>
            </a:r>
            <a:endParaRPr lang="bg-BG" sz="11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Текстово поле 96"/>
          <p:cNvSpPr txBox="1"/>
          <p:nvPr/>
        </p:nvSpPr>
        <p:spPr>
          <a:xfrm>
            <a:off x="4600307" y="3702425"/>
            <a:ext cx="1495694" cy="1111887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 performance and efficiency</a:t>
            </a:r>
            <a:br>
              <a:rPr lang="en-US" sz="1600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(solved tasks, grades,</a:t>
            </a:r>
            <a:br>
              <a:rPr lang="en-US" sz="1050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and gained knowledge)</a:t>
            </a:r>
            <a:endParaRPr lang="bg-BG" sz="105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Текстово поле 97"/>
          <p:cNvSpPr txBox="1"/>
          <p:nvPr/>
        </p:nvSpPr>
        <p:spPr>
          <a:xfrm>
            <a:off x="6409765" y="3874564"/>
            <a:ext cx="1541930" cy="1154214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Preferences</a:t>
            </a:r>
            <a:endParaRPr lang="bg-BG" sz="105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(age, </a:t>
            </a:r>
            <a:r>
              <a:rPr lang="es-ES" sz="1200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goals, needs, and initial </a:t>
            </a:r>
            <a:r>
              <a:rPr lang="en-US" sz="1200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knowledge)</a:t>
            </a:r>
            <a:endParaRPr lang="bg-BG" sz="105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Право съединение 14"/>
          <p:cNvCxnSpPr/>
          <p:nvPr/>
        </p:nvCxnSpPr>
        <p:spPr>
          <a:xfrm>
            <a:off x="4033211" y="2532348"/>
            <a:ext cx="1730219" cy="85847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аво съединение 15"/>
          <p:cNvCxnSpPr/>
          <p:nvPr/>
        </p:nvCxnSpPr>
        <p:spPr>
          <a:xfrm flipV="1">
            <a:off x="6728757" y="2431199"/>
            <a:ext cx="1740733" cy="100688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аво съединение 16"/>
          <p:cNvCxnSpPr/>
          <p:nvPr/>
        </p:nvCxnSpPr>
        <p:spPr>
          <a:xfrm>
            <a:off x="6247958" y="4036730"/>
            <a:ext cx="7179" cy="20113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Картина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356" y="53790"/>
            <a:ext cx="2695291" cy="79860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9E26CF-2D22-45B2-9E44-5B1DBC022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1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FDC14-5CFB-49B4-9399-0FCBCBEA5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Core Aspects of Personalization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DACF1-14FE-4965-9A95-35FFF72BE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941" y="1087108"/>
            <a:ext cx="10653180" cy="5587268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Learner profiling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Collects data on </a:t>
            </a:r>
            <a:r>
              <a:rPr lang="en-US" sz="22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knowledge level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22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22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pace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22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22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interests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 </a:t>
            </a:r>
            <a:r>
              <a:rPr lang="en-US" sz="22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behavioral patterns</a:t>
            </a:r>
            <a:r>
              <a:rPr lang="en-US" sz="22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(e.g., time spent, trials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</a:rPr>
              <a:t>and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errors made).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</a:rPr>
              <a:t>Uses techniques like </a:t>
            </a:r>
            <a:r>
              <a:rPr lang="en-US" sz="22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knowledge tracing</a:t>
            </a:r>
            <a:r>
              <a:rPr lang="en-US" sz="22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</a:rPr>
              <a:t>and </a:t>
            </a:r>
            <a:r>
              <a:rPr lang="en-US" sz="22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cognitive diagnostics</a:t>
            </a:r>
            <a:r>
              <a:rPr lang="en-US" sz="22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</a:rPr>
              <a:t>to model learner strengths/ weaknesses.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Customized content delivery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</a:rPr>
              <a:t>to match learning preferences: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Adjusting </a:t>
            </a:r>
            <a:r>
              <a:rPr lang="en-US" sz="22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content type</a:t>
            </a:r>
            <a:r>
              <a:rPr lang="en-US" sz="22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(text, visuals, simulations, etc.), </a:t>
            </a:r>
            <a:r>
              <a:rPr lang="en-US" sz="22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paths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</a:rPr>
              <a:t>contextual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2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hints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</a:rPr>
              <a:t>, </a:t>
            </a:r>
            <a:r>
              <a:rPr lang="en-US" sz="22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rewards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</a:rPr>
              <a:t>, and/or </a:t>
            </a:r>
            <a:r>
              <a:rPr lang="en-US" sz="22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corrective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2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guidance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</a:rPr>
              <a:t> tailored to the learner’s needs and preferences. 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</a:rPr>
              <a:t>Approach: </a:t>
            </a:r>
            <a:r>
              <a:rPr lang="en-US" sz="22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static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</a:rPr>
              <a:t>,</a:t>
            </a:r>
            <a:r>
              <a:rPr lang="en-US" sz="22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dynamic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</a:rPr>
              <a:t>or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2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hybrid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US" sz="2200" dirty="0">
              <a:latin typeface="Calibri" panose="020F0502020204030204" pitchFamily="34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Multimodal engagement 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combine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</a:t>
            </a:r>
            <a:r>
              <a:rPr lang="en-US" sz="2200" b="1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audio</a:t>
            </a:r>
            <a:r>
              <a:rPr lang="en-US" sz="2200" b="1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interactive</a:t>
            </a:r>
            <a:r>
              <a:rPr lang="en-US" sz="2200" b="1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elements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</a:tabLst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</a:rPr>
              <a:t>3.  </a:t>
            </a:r>
            <a:r>
              <a:rPr lang="en-US" sz="2200" b="1" dirty="0">
                <a:latin typeface="Calibri" panose="020F0502020204030204" pitchFamily="34" charset="0"/>
                <a:cs typeface="Times New Roman" panose="02020603050405020304" pitchFamily="18" charset="0"/>
              </a:rPr>
              <a:t>Realization:</a:t>
            </a:r>
          </a:p>
          <a:p>
            <a:pPr lvl="1"/>
            <a:r>
              <a:rPr lang="en-US" sz="2200" dirty="0">
                <a:latin typeface="Calibri" panose="020F0502020204030204" pitchFamily="34" charset="0"/>
              </a:rPr>
              <a:t>The learner actively shapes their own learning experience.</a:t>
            </a:r>
          </a:p>
          <a:p>
            <a:pPr lvl="1"/>
            <a:r>
              <a:rPr lang="en-US" sz="2200" dirty="0">
                <a:latin typeface="Calibri" panose="020F0502020204030204" pitchFamily="34" charset="0"/>
              </a:rPr>
              <a:t>The system supports or enables learner-chosen preferences, goals, and paths.</a:t>
            </a:r>
          </a:p>
          <a:p>
            <a:pPr lvl="1"/>
            <a:r>
              <a:rPr lang="en-US" sz="2200" dirty="0">
                <a:latin typeface="Calibri" panose="020F0502020204030204" pitchFamily="34" charset="0"/>
              </a:rPr>
              <a:t>Emphasizes learner agency, identity, and motivation.</a:t>
            </a:r>
            <a:endParaRPr lang="en-US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B2C10-0B1F-46C6-BCD4-86F6C3A18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FB5D6-E850-4141-8A7B-86291171E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48914-29C3-4EFA-A302-B62431182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52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Adaptation in Video Games for Education</a:t>
            </a:r>
            <a:endParaRPr lang="bg-BG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955221" y="1397978"/>
            <a:ext cx="10304837" cy="50942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Adaptation: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Is directed to dynamic changes to the gameplay according to the player/learner model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The tasks’ difficulty and other game features are tailored to the changes in the properties of the individual player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Games conformed to the specific dynamic changes of different individual learners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Realization: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The system automatically adjusts the learning experience based on the learner’s data.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The goal is to optimize learning outcomes by aligning content, difficulty, pacing, or feedback to the learner’s needs.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Emphasizes system-driven transformations rather than learner control.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Dynamic but not static or hybrid</a:t>
            </a:r>
          </a:p>
          <a:p>
            <a:pPr>
              <a:buFont typeface="Wingdings" panose="05000000000000000000" pitchFamily="2" charset="2"/>
              <a:buChar char="q"/>
            </a:pPr>
            <a:endParaRPr lang="bg-BG" sz="2400" dirty="0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1469A-67C9-4632-8BC9-B892F1375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52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D22A2-2425-448F-B11C-9FE72B4EC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Player-Centric Adaptation in SG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7859A-1CD7-4AEC-908E-7481CD955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841" y="1451296"/>
            <a:ext cx="8424483" cy="472884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Our vision at player-centric adaptation in SG aims at investigating how: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 cognitive abilities (the </a:t>
            </a:r>
            <a:r>
              <a:rPr lang="en-US" sz="2800" b="1" i="1" dirty="0"/>
              <a:t>cognitive</a:t>
            </a:r>
            <a:r>
              <a:rPr lang="en-US" sz="2800" dirty="0"/>
              <a:t> part),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 psycho-emotional status (the </a:t>
            </a:r>
            <a:r>
              <a:rPr lang="en-US" sz="2800" b="1" i="1" dirty="0"/>
              <a:t>affective</a:t>
            </a:r>
            <a:r>
              <a:rPr lang="en-US" sz="2800" dirty="0"/>
              <a:t> part) and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 playing style (the </a:t>
            </a:r>
            <a:r>
              <a:rPr lang="en-US" sz="2800" b="1" i="1" dirty="0"/>
              <a:t>conative</a:t>
            </a:r>
            <a:r>
              <a:rPr lang="en-US" sz="2800" dirty="0"/>
              <a:t> part – that of “</a:t>
            </a:r>
            <a:r>
              <a:rPr lang="es-ES" sz="2800" dirty="0" err="1"/>
              <a:t>desire</a:t>
            </a:r>
            <a:r>
              <a:rPr lang="es-ES" sz="2800" dirty="0"/>
              <a:t>, </a:t>
            </a:r>
            <a:r>
              <a:rPr lang="es-ES" sz="2800" dirty="0" err="1"/>
              <a:t>volition</a:t>
            </a:r>
            <a:r>
              <a:rPr lang="es-ES" sz="2800" dirty="0"/>
              <a:t>, and </a:t>
            </a:r>
            <a:r>
              <a:rPr lang="es-ES" sz="2800" dirty="0" err="1"/>
              <a:t>striving</a:t>
            </a:r>
            <a:r>
              <a:rPr lang="es-ES" sz="2800" dirty="0"/>
              <a:t>”)  </a:t>
            </a:r>
            <a:r>
              <a:rPr lang="es-ES" dirty="0"/>
              <a:t>									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can be used in a </a:t>
            </a:r>
            <a:r>
              <a:rPr lang="en-US" b="1" i="1" dirty="0"/>
              <a:t>holistic approach </a:t>
            </a:r>
            <a:r>
              <a:rPr lang="en-US" dirty="0"/>
              <a:t>for efficient and effective player-centric adaptation </a:t>
            </a:r>
          </a:p>
          <a:p>
            <a:endParaRPr lang="bg-BG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A0488-2875-424D-AA7D-0341847F2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64A4E-5576-4142-9CF5-61C697103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pic>
        <p:nvPicPr>
          <p:cNvPr id="7" name="Picture 7" descr="D:\Dropbox\Projects\ADAPTIMES\Dissemination\Web-site\images\adaptimes-logo.1.png">
            <a:extLst>
              <a:ext uri="{FF2B5EF4-FFF2-40B4-BE49-F238E27FC236}">
                <a16:creationId xmlns:a16="http://schemas.microsoft.com/office/drawing/2014/main" id="{E1A98FCA-394B-4464-87EE-B6C96082C806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9000" contras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9227" y="5406704"/>
            <a:ext cx="3276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AF1E5-56A0-4186-B151-4D985976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006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2008096" y="159425"/>
            <a:ext cx="8659905" cy="777386"/>
          </a:xfrm>
        </p:spPr>
        <p:txBody>
          <a:bodyPr>
            <a:normAutofit/>
          </a:bodyPr>
          <a:lstStyle/>
          <a:p>
            <a:r>
              <a:rPr lang="en-US" sz="4400" dirty="0"/>
              <a:t>The                             Adaptation</a:t>
            </a:r>
            <a:r>
              <a:rPr lang="en-US" dirty="0">
                <a:solidFill>
                  <a:srgbClr val="FF0000"/>
                </a:solidFill>
                <a:latin typeface="Dotum" panose="020B0600000101010101" pitchFamily="34" charset="-127"/>
                <a:ea typeface="Dotum" panose="020B0600000101010101" pitchFamily="34" charset="-127"/>
              </a:rPr>
              <a:t> </a:t>
            </a:r>
            <a:r>
              <a:rPr lang="en-US" sz="4400" dirty="0"/>
              <a:t>Model</a:t>
            </a:r>
            <a:endParaRPr lang="bg-BG" sz="4400" dirty="0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 dirty="0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>
          <a:xfrm>
            <a:off x="4320989" y="6492876"/>
            <a:ext cx="3811121" cy="365125"/>
          </a:xfrm>
        </p:spPr>
        <p:txBody>
          <a:bodyPr/>
          <a:lstStyle/>
          <a:p>
            <a:r>
              <a:rPr lang="en-US" sz="1050"/>
              <a:t>A Serious Game for Teaching Entrepreneurship and Strategic Management</a:t>
            </a:r>
            <a:endParaRPr lang="en-US" sz="1050" dirty="0"/>
          </a:p>
        </p:txBody>
      </p:sp>
      <p:grpSp>
        <p:nvGrpSpPr>
          <p:cNvPr id="18" name="Групиране 17"/>
          <p:cNvGrpSpPr/>
          <p:nvPr/>
        </p:nvGrpSpPr>
        <p:grpSpPr>
          <a:xfrm>
            <a:off x="3039110" y="865095"/>
            <a:ext cx="6485890" cy="5702405"/>
            <a:chOff x="0" y="0"/>
            <a:chExt cx="6884670" cy="6644640"/>
          </a:xfrm>
        </p:grpSpPr>
        <p:grpSp>
          <p:nvGrpSpPr>
            <p:cNvPr id="25" name="Групиране 24"/>
            <p:cNvGrpSpPr/>
            <p:nvPr/>
          </p:nvGrpSpPr>
          <p:grpSpPr>
            <a:xfrm>
              <a:off x="0" y="0"/>
              <a:ext cx="6884670" cy="6644640"/>
              <a:chOff x="0" y="0"/>
              <a:chExt cx="6884670" cy="6644640"/>
            </a:xfrm>
          </p:grpSpPr>
          <p:grpSp>
            <p:nvGrpSpPr>
              <p:cNvPr id="27" name="Групиране 26"/>
              <p:cNvGrpSpPr/>
              <p:nvPr/>
            </p:nvGrpSpPr>
            <p:grpSpPr>
              <a:xfrm>
                <a:off x="0" y="0"/>
                <a:ext cx="6884670" cy="6644640"/>
                <a:chOff x="0" y="0"/>
                <a:chExt cx="6884670" cy="6644640"/>
              </a:xfrm>
            </p:grpSpPr>
            <p:sp>
              <p:nvSpPr>
                <p:cNvPr id="29" name="Блоксхема: съединение 28"/>
                <p:cNvSpPr/>
                <p:nvPr/>
              </p:nvSpPr>
              <p:spPr>
                <a:xfrm>
                  <a:off x="0" y="0"/>
                  <a:ext cx="6884670" cy="6644640"/>
                </a:xfrm>
                <a:prstGeom prst="flowChartConnector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bg-BG"/>
                </a:p>
              </p:txBody>
            </p:sp>
            <p:sp>
              <p:nvSpPr>
                <p:cNvPr id="30" name="Текстово поле 83"/>
                <p:cNvSpPr txBox="1"/>
                <p:nvPr/>
              </p:nvSpPr>
              <p:spPr>
                <a:xfrm>
                  <a:off x="2346821" y="208963"/>
                  <a:ext cx="2220116" cy="2914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s-ES" sz="2000" b="1" dirty="0">
                      <a:solidFill>
                        <a:srgbClr val="365F91"/>
                      </a:solidFill>
                      <a:effectLst>
                        <a:outerShdw blurRad="38100" dist="25400" dir="5400000" algn="ctr">
                          <a:srgbClr val="6E747A">
                            <a:alpha val="43000"/>
                          </a:srgbClr>
                        </a:outerShdw>
                      </a:effectLst>
                      <a:latin typeface="Arial" panose="020B060402020202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Game dynamics</a:t>
                  </a:r>
                  <a:endParaRPr lang="bg-BG" sz="1200" dirty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8" name="Текстово поле 84"/>
              <p:cNvSpPr txBox="1"/>
              <p:nvPr/>
            </p:nvSpPr>
            <p:spPr>
              <a:xfrm rot="14613936">
                <a:off x="-1126149" y="4448475"/>
                <a:ext cx="3691890" cy="2914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rot="0" spcFirstLastPara="0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s-ES" sz="2000" b="1" dirty="0">
                    <a:solidFill>
                      <a:srgbClr val="365F91"/>
                    </a:solidFill>
                    <a:effectLst>
                      <a:outerShdw blurRad="38100" dist="25400" dir="5400000" algn="ctr">
                        <a:srgbClr val="6E747A">
                          <a:alpha val="43000"/>
                        </a:srgbClr>
                      </a:outerShdw>
                    </a:effectLst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Game mechanics</a:t>
                </a:r>
                <a:endParaRPr lang="bg-BG" sz="1200" dirty="0"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6" name="Текстово поле 85"/>
            <p:cNvSpPr txBox="1"/>
            <p:nvPr/>
          </p:nvSpPr>
          <p:spPr>
            <a:xfrm rot="6579056">
              <a:off x="5017520" y="3951212"/>
              <a:ext cx="2716946" cy="29146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365F91"/>
                  </a:solidFill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Game aesthetics</a:t>
              </a:r>
              <a:endParaRPr lang="bg-BG" sz="1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Групиране 18"/>
          <p:cNvGrpSpPr/>
          <p:nvPr/>
        </p:nvGrpSpPr>
        <p:grpSpPr>
          <a:xfrm>
            <a:off x="3667240" y="1378441"/>
            <a:ext cx="5226041" cy="4678980"/>
            <a:chOff x="-1" y="0"/>
            <a:chExt cx="5547360" cy="5452110"/>
          </a:xfrm>
        </p:grpSpPr>
        <p:grpSp>
          <p:nvGrpSpPr>
            <p:cNvPr id="20" name="Групиране 19"/>
            <p:cNvGrpSpPr/>
            <p:nvPr/>
          </p:nvGrpSpPr>
          <p:grpSpPr>
            <a:xfrm>
              <a:off x="-1" y="0"/>
              <a:ext cx="5547360" cy="5452110"/>
              <a:chOff x="-1" y="0"/>
              <a:chExt cx="5406390" cy="5334000"/>
            </a:xfrm>
          </p:grpSpPr>
          <p:sp>
            <p:nvSpPr>
              <p:cNvPr id="22" name="Блоксхема: съединение 21"/>
              <p:cNvSpPr/>
              <p:nvPr/>
            </p:nvSpPr>
            <p:spPr>
              <a:xfrm>
                <a:off x="-1" y="0"/>
                <a:ext cx="5406390" cy="533400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lt1">
                    <a:hueOff val="0"/>
                    <a:satOff val="0"/>
                    <a:lumOff val="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3" name="Блоксхема: съединение 22"/>
              <p:cNvSpPr/>
              <p:nvPr/>
            </p:nvSpPr>
            <p:spPr>
              <a:xfrm>
                <a:off x="769620" y="678428"/>
                <a:ext cx="3695479" cy="3861623"/>
              </a:xfrm>
              <a:prstGeom prst="flowChartConnector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lt1">
                    <a:hueOff val="0"/>
                    <a:satOff val="0"/>
                    <a:lumOff val="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4" name="Блоксхема: съединение 23"/>
              <p:cNvSpPr/>
              <p:nvPr/>
            </p:nvSpPr>
            <p:spPr>
              <a:xfrm>
                <a:off x="2122370" y="1970045"/>
                <a:ext cx="1044974" cy="1060383"/>
              </a:xfrm>
              <a:prstGeom prst="flowChartConnector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lt1">
                    <a:hueOff val="0"/>
                    <a:satOff val="0"/>
                    <a:lumOff val="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</p:grpSp>
        <p:sp>
          <p:nvSpPr>
            <p:cNvPr id="21" name="Текстово поле 91"/>
            <p:cNvSpPr txBox="1"/>
            <p:nvPr/>
          </p:nvSpPr>
          <p:spPr>
            <a:xfrm>
              <a:off x="2192628" y="2009962"/>
              <a:ext cx="1070610" cy="10858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ES" sz="2400" b="1" dirty="0">
                  <a:solidFill>
                    <a:schemeClr val="accent4">
                      <a:lumMod val="40000"/>
                      <a:lumOff val="60000"/>
                    </a:schemeClr>
                  </a:solidFill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Player</a:t>
              </a:r>
              <a:endParaRPr lang="bg-BG" sz="1200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Текстово поле 92"/>
          <p:cNvSpPr txBox="1"/>
          <p:nvPr/>
        </p:nvSpPr>
        <p:spPr>
          <a:xfrm>
            <a:off x="5105400" y="1618344"/>
            <a:ext cx="2236116" cy="298684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Player style metrics</a:t>
            </a:r>
            <a:endParaRPr lang="bg-BG" sz="11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Текстово поле 93"/>
          <p:cNvSpPr txBox="1"/>
          <p:nvPr/>
        </p:nvSpPr>
        <p:spPr>
          <a:xfrm rot="14647152">
            <a:off x="3069996" y="4169541"/>
            <a:ext cx="2393816" cy="550524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Performance indicators</a:t>
            </a:r>
            <a:endParaRPr lang="bg-BG" sz="11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Текстово поле 94"/>
          <p:cNvSpPr txBox="1"/>
          <p:nvPr/>
        </p:nvSpPr>
        <p:spPr>
          <a:xfrm rot="5964665">
            <a:off x="6985482" y="3597329"/>
            <a:ext cx="2597122" cy="696925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Emotional </a:t>
            </a:r>
            <a:endParaRPr lang="bg-BG" sz="11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indicators</a:t>
            </a:r>
            <a:endParaRPr lang="bg-BG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Текстово поле 95"/>
          <p:cNvSpPr txBox="1"/>
          <p:nvPr/>
        </p:nvSpPr>
        <p:spPr>
          <a:xfrm>
            <a:off x="5368543" y="2482639"/>
            <a:ext cx="1592908" cy="322774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Playing styles</a:t>
            </a:r>
            <a:endParaRPr lang="bg-BG" sz="11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Текстово поле 96"/>
          <p:cNvSpPr txBox="1"/>
          <p:nvPr/>
        </p:nvSpPr>
        <p:spPr>
          <a:xfrm>
            <a:off x="4564447" y="3657601"/>
            <a:ext cx="1471632" cy="1156711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Playing performance and efficiency</a:t>
            </a:r>
            <a:br>
              <a:rPr lang="en-US" sz="1600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(abilities, skills </a:t>
            </a:r>
            <a:br>
              <a:rPr lang="en-US" sz="1050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and knowledge)</a:t>
            </a:r>
            <a:endParaRPr lang="bg-BG" sz="105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Текстово поле 97"/>
          <p:cNvSpPr txBox="1"/>
          <p:nvPr/>
        </p:nvSpPr>
        <p:spPr>
          <a:xfrm>
            <a:off x="5997551" y="3937317"/>
            <a:ext cx="2143098" cy="1154214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Emotions</a:t>
            </a:r>
            <a:endParaRPr lang="bg-BG" sz="105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(flow, immersion &amp;</a:t>
            </a:r>
            <a:endParaRPr lang="bg-BG" sz="105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intrinsic </a:t>
            </a:r>
            <a:endParaRPr lang="bg-BG" sz="105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dirty="0"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motivation)</a:t>
            </a:r>
            <a:endParaRPr lang="bg-BG" sz="105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Право съединение 14"/>
          <p:cNvCxnSpPr/>
          <p:nvPr/>
        </p:nvCxnSpPr>
        <p:spPr>
          <a:xfrm>
            <a:off x="4033211" y="2532348"/>
            <a:ext cx="1730219" cy="85847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аво съединение 15"/>
          <p:cNvCxnSpPr/>
          <p:nvPr/>
        </p:nvCxnSpPr>
        <p:spPr>
          <a:xfrm flipV="1">
            <a:off x="6728757" y="2431199"/>
            <a:ext cx="1740733" cy="100688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аво съединение 16"/>
          <p:cNvCxnSpPr/>
          <p:nvPr/>
        </p:nvCxnSpPr>
        <p:spPr>
          <a:xfrm>
            <a:off x="6247958" y="4036730"/>
            <a:ext cx="7179" cy="20113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7" descr="D:\Dropbox\Projects\ADAPTIMES\Dissemination\Web-site\images\adaptimes-logo.1.png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9000" contras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687" y="125488"/>
            <a:ext cx="3276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06A33A-057B-4BB1-8FC2-6140C6AD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5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337B1-ECE0-41BF-8648-7B771011C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/ Playing Style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6F070-93ED-4AE8-8CF5-B925C789A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 Learning style </a:t>
            </a:r>
            <a:r>
              <a:rPr lang="en-US" dirty="0"/>
              <a:t>– “characteristic cognitive, effective, and psychosocial behaviors that serve as relatively stable indicators of how learners perceive, interact with, and respond to the learning environment”.										                (Curry, 1981)</a:t>
            </a:r>
            <a:endParaRPr lang="bg-BG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 Playing style </a:t>
            </a:r>
            <a:r>
              <a:rPr lang="en-US" dirty="0"/>
              <a:t>– persistent traits of the player, whereas defined play styles as treating “motivations as a more temporary state, with an implication that players may adopt different play styles in different games or at different times”. </a:t>
            </a:r>
            <a:br>
              <a:rPr lang="en-US" dirty="0"/>
            </a:br>
            <a:r>
              <a:rPr lang="en-US" dirty="0"/>
              <a:t> 						 (</a:t>
            </a:r>
            <a:r>
              <a:rPr lang="en-US" dirty="0" err="1"/>
              <a:t>Magerko</a:t>
            </a:r>
            <a:r>
              <a:rPr lang="en-US" dirty="0"/>
              <a:t> et al, 2008)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46A97-2540-4C67-A628-DE74B4EFD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6BA8D-A39F-4BF1-B7A0-B715AC255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5E014-CEEC-4138-8BDF-59EE527D6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77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841112" y="75689"/>
            <a:ext cx="7886700" cy="817088"/>
          </a:xfrm>
        </p:spPr>
        <p:txBody>
          <a:bodyPr/>
          <a:lstStyle/>
          <a:p>
            <a:r>
              <a:rPr lang="en-US" dirty="0"/>
              <a:t>Style Models</a:t>
            </a:r>
            <a:endParaRPr lang="es-ES" dirty="0"/>
          </a:p>
        </p:txBody>
      </p:sp>
      <p:sp>
        <p:nvSpPr>
          <p:cNvPr id="8" name="Правоъгълник 7"/>
          <p:cNvSpPr/>
          <p:nvPr/>
        </p:nvSpPr>
        <p:spPr>
          <a:xfrm>
            <a:off x="1752601" y="838201"/>
            <a:ext cx="89153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Relationships between Honey and Mumford (1982) learning styles and playing styles of ADOPTA (Bontchev et al., 2018) and Bartle (1996)</a:t>
            </a:r>
            <a:endParaRPr lang="es-ES" sz="24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671798"/>
              </p:ext>
            </p:extLst>
          </p:nvPr>
        </p:nvGraphicFramePr>
        <p:xfrm>
          <a:off x="1841112" y="1669197"/>
          <a:ext cx="8598288" cy="46871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15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8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8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41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</a:rPr>
                        <a:t>Honey and Mumford</a:t>
                      </a:r>
                      <a:endParaRPr lang="es-ES" sz="2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Learns by:</a:t>
                      </a:r>
                      <a:endParaRPr lang="es-ES" sz="2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ADOPTA</a:t>
                      </a:r>
                      <a:endParaRPr lang="es-ES" sz="2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Bartle</a:t>
                      </a:r>
                      <a:endParaRPr lang="es-ES" sz="2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820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Activist</a:t>
                      </a:r>
                      <a:endParaRPr lang="es-ES" sz="2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hand–eye coordination, planning and strategizing, problem-solving, teamwork and the ability to think quickly</a:t>
                      </a:r>
                      <a:endParaRPr lang="es-ES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20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Competitor</a:t>
                      </a:r>
                      <a:endParaRPr lang="es-ES" sz="20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20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Killer</a:t>
                      </a:r>
                      <a:endParaRPr lang="es-ES" sz="20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470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Theorist</a:t>
                      </a:r>
                      <a:endParaRPr lang="es-ES" sz="2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logically entering problems step-by-step, with spatial awareness and verbal &amp; numeracy skills</a:t>
                      </a:r>
                      <a:endParaRPr lang="es-ES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20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Logician</a:t>
                      </a:r>
                      <a:endParaRPr lang="es-ES" sz="20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20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Achiever</a:t>
                      </a:r>
                      <a:endParaRPr lang="es-ES" sz="20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26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Pragmatist</a:t>
                      </a:r>
                      <a:endParaRPr lang="es-ES" sz="2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</a:rPr>
                        <a:t>planning, decision-making, testing hypotheses, strategic thinking, management skills</a:t>
                      </a:r>
                      <a:endParaRPr lang="es-ES" sz="2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Strategist</a:t>
                      </a:r>
                      <a:endParaRPr lang="es-ES" sz="2000" b="1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2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Explorer</a:t>
                      </a:r>
                      <a:endParaRPr lang="es-ES" sz="2000" b="1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41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Reflector</a:t>
                      </a:r>
                      <a:endParaRPr lang="es-ES" sz="2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</a:rPr>
                        <a:t>Observing and watching reflectively</a:t>
                      </a:r>
                      <a:endParaRPr lang="es-ES" sz="2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2000" b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Dreamer</a:t>
                      </a:r>
                      <a:endParaRPr lang="es-ES" sz="2000" b="1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2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Socializer</a:t>
                      </a:r>
                      <a:endParaRPr lang="es-ES" sz="2000" b="1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F94A763-92EA-4404-B22B-F166C31039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89050" y="6356352"/>
            <a:ext cx="2057400" cy="365125"/>
          </a:xfrm>
        </p:spPr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0A8B5C4-743C-4989-BBA3-A33F43CC7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356352"/>
            <a:ext cx="3086100" cy="365125"/>
          </a:xfrm>
        </p:spPr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AFD76-7B56-463E-B6BE-94339162C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123950" y="132080"/>
            <a:ext cx="9315450" cy="777386"/>
          </a:xfrm>
        </p:spPr>
        <p:txBody>
          <a:bodyPr/>
          <a:lstStyle/>
          <a:p>
            <a:r>
              <a:rPr lang="en-US" dirty="0"/>
              <a:t>Player Style Measurement</a:t>
            </a:r>
            <a:endParaRPr lang="es-ES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1046479" y="1066800"/>
            <a:ext cx="10314247" cy="56591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Explicitly through self-report </a:t>
            </a:r>
            <a:r>
              <a:rPr lang="en-US" sz="2000" dirty="0">
                <a:solidFill>
                  <a:srgbClr val="7030A0"/>
                </a:solidFill>
              </a:rPr>
              <a:t>(Bontchev et al, 2018)</a:t>
            </a:r>
          </a:p>
          <a:p>
            <a:pPr lvl="1"/>
            <a:r>
              <a:rPr lang="en-US" dirty="0"/>
              <a:t>A 40 items questionnaire for measuring Competitor, Dreamer (Discoverer), Logician and Strategist style of playing </a:t>
            </a:r>
          </a:p>
          <a:p>
            <a:pPr lvl="1"/>
            <a:r>
              <a:rPr lang="en-US" dirty="0"/>
              <a:t>To be experimented together with the 40 items questionnaire for measuring Honey and Mumford learning styles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Implicitly during game time of playing specific mini-game </a:t>
            </a:r>
            <a:r>
              <a:rPr lang="en-US" sz="2000" dirty="0">
                <a:solidFill>
                  <a:srgbClr val="7030A0"/>
                </a:solidFill>
              </a:rPr>
              <a:t>(Bontchev &amp; Georgieva, 2018)</a:t>
            </a:r>
          </a:p>
          <a:p>
            <a:pPr lvl="1"/>
            <a:r>
              <a:rPr lang="en-US" dirty="0"/>
              <a:t>Based on player’s metrics for specific game tasks including performance (result), efficiency (result/effort), task difficulty and play time</a:t>
            </a:r>
          </a:p>
          <a:p>
            <a:pPr lvl="1"/>
            <a:r>
              <a:rPr lang="en-US" dirty="0"/>
              <a:t>Linear regression coefficients found by qualitative study (structured interviews with gamers)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4758B98-F778-48F5-A413-5875D7F26F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3950" y="6356352"/>
            <a:ext cx="2057400" cy="365125"/>
          </a:xfrm>
        </p:spPr>
        <p:txBody>
          <a:bodyPr/>
          <a:lstStyle/>
          <a:p>
            <a:r>
              <a:rPr lang="bg-BG" dirty="0"/>
              <a:t>FedCSIS'25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4193A3E-D594-4A52-B902-EBABA6BE0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356352"/>
            <a:ext cx="3086100" cy="365125"/>
          </a:xfrm>
        </p:spPr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1BDC3-D314-48F5-9BE7-61D7327DA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56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371600" y="164785"/>
            <a:ext cx="9292856" cy="777386"/>
          </a:xfrm>
        </p:spPr>
        <p:txBody>
          <a:bodyPr>
            <a:normAutofit/>
          </a:bodyPr>
          <a:lstStyle/>
          <a:p>
            <a:r>
              <a:rPr lang="en-US" dirty="0"/>
              <a:t>Adaptable Game Features 1/3</a:t>
            </a:r>
            <a:endParaRPr lang="es-ES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1290320" y="1065945"/>
            <a:ext cx="10312400" cy="5480855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en-US" sz="3100" b="1" dirty="0">
                <a:solidFill>
                  <a:schemeClr val="accent1">
                    <a:lumMod val="75000"/>
                  </a:schemeClr>
                </a:solidFill>
              </a:rPr>
              <a:t>. </a:t>
            </a:r>
            <a:r>
              <a:rPr lang="en-US" sz="3100" dirty="0"/>
              <a:t>Adaptive automation of game tasks (and feedback for next experiments):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100" i="1" dirty="0"/>
              <a:t>explicit tasks</a:t>
            </a:r>
            <a:r>
              <a:rPr lang="en-US" sz="3100" dirty="0"/>
              <a:t> - game objectives (to shoot</a:t>
            </a:r>
            <a:r>
              <a:rPr lang="es-ES" sz="3100" dirty="0"/>
              <a:t>/discover gold bullions or to solve </a:t>
            </a:r>
            <a:r>
              <a:rPr lang="es-ES" sz="3100" dirty="0" err="1"/>
              <a:t>puzzles</a:t>
            </a:r>
            <a:r>
              <a:rPr lang="es-ES" sz="3100" dirty="0"/>
              <a:t>), </a:t>
            </a:r>
            <a:r>
              <a:rPr lang="en-US" sz="3100" dirty="0"/>
              <a:t>adapt to the gameplay;</a:t>
            </a:r>
            <a:endParaRPr lang="es-ES" sz="3100" dirty="0"/>
          </a:p>
          <a:p>
            <a:pPr>
              <a:spcBef>
                <a:spcPts val="1200"/>
              </a:spcBef>
            </a:pPr>
            <a:r>
              <a:rPr lang="en-US" sz="3100" i="1" dirty="0"/>
              <a:t>implicit tasks</a:t>
            </a:r>
            <a:r>
              <a:rPr lang="en-US" sz="3100" dirty="0"/>
              <a:t> - not explicitly stated by the game interface but expected to be fulfilled: 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3100" dirty="0"/>
              <a:t>Maximize your skills in shooting, discovering, solving, and strategic planning of activities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3100" dirty="0"/>
              <a:t>Collect as many gold </a:t>
            </a:r>
            <a:r>
              <a:rPr lang="es-ES" sz="3100" dirty="0"/>
              <a:t>bullions</a:t>
            </a:r>
            <a:r>
              <a:rPr lang="en-US" sz="3100" dirty="0"/>
              <a:t> as possible </a:t>
            </a:r>
            <a:endParaRPr lang="es-ES" sz="3100" dirty="0"/>
          </a:p>
          <a:p>
            <a:pPr>
              <a:spcBef>
                <a:spcPts val="1200"/>
              </a:spcBef>
            </a:pPr>
            <a:r>
              <a:rPr lang="en-US" sz="3100" i="1" dirty="0"/>
              <a:t>player-driven tasks</a:t>
            </a:r>
            <a:r>
              <a:rPr lang="en-US" sz="3100" dirty="0"/>
              <a:t> - created by the player thanks to his/her creativity within the existing limitations of given game mechanics and leading to so-called emergent gameplay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3100" dirty="0"/>
              <a:t>How to find the best position for shooting (depends on gun height and shooting angle)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3100" dirty="0"/>
              <a:t>How to explore the temple with changing visual properties</a:t>
            </a:r>
          </a:p>
          <a:p>
            <a:pPr marL="0" indent="0">
              <a:spcBef>
                <a:spcPts val="1200"/>
              </a:spcBef>
              <a:buNone/>
            </a:pPr>
            <a:endParaRPr lang="es-E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47561C4-2AC4-4935-A01E-0596BE2AA4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17073" y="6364238"/>
            <a:ext cx="2057400" cy="365125"/>
          </a:xfrm>
        </p:spPr>
        <p:txBody>
          <a:bodyPr/>
          <a:lstStyle/>
          <a:p>
            <a:r>
              <a:rPr lang="bg-BG" dirty="0"/>
              <a:t>FedCSIS'25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C2A5155-FC63-479D-8355-5C9626936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356352"/>
            <a:ext cx="3086100" cy="365125"/>
          </a:xfrm>
        </p:spPr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B88E1-57B2-4D4D-9761-0F7EC8D67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38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278890" y="136524"/>
            <a:ext cx="9389110" cy="777386"/>
          </a:xfrm>
        </p:spPr>
        <p:txBody>
          <a:bodyPr>
            <a:noAutofit/>
          </a:bodyPr>
          <a:lstStyle/>
          <a:p>
            <a:r>
              <a:rPr lang="en-US" dirty="0"/>
              <a:t>Adaptable Game Features 2/3</a:t>
            </a:r>
            <a:endParaRPr lang="es-ES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1199456" y="965750"/>
            <a:ext cx="10433743" cy="5892249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2.</a:t>
            </a:r>
            <a:r>
              <a:rPr lang="en-US" dirty="0"/>
              <a:t> Dynamic Difficulty Adjustment (DDA):</a:t>
            </a:r>
          </a:p>
          <a:p>
            <a:pPr lvl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i="1" dirty="0"/>
              <a:t>DDA by means of automatic level generation</a:t>
            </a:r>
            <a:r>
              <a:rPr lang="en-US" sz="2400" dirty="0"/>
              <a:t> - uses methods for procedural content generation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Logic puzzles have dynamically increased their difficulty with higher player results and vice versa</a:t>
            </a:r>
          </a:p>
          <a:p>
            <a:pPr lvl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i="1" dirty="0"/>
              <a:t>DDA by means of adjusting level content</a:t>
            </a:r>
            <a:r>
              <a:rPr lang="en-US" sz="2400" dirty="0"/>
              <a:t>, i.e., game items for player interactions – means dynamic adaptation of the level of inventory interacted by the player for a specific game context, according to the player’s skill acquisition: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Hidden billions are more challenging to find with player progress and higher affect (they are moved to more hidden places)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Flying bullions change velocity &amp; acceleration, plus striking force changes with player efficiency, as well as with the player´s emotions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01A726F-5A84-4596-ADB6-A68CB08FDE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8890" y="6356352"/>
            <a:ext cx="2057400" cy="365125"/>
          </a:xfrm>
        </p:spPr>
        <p:txBody>
          <a:bodyPr/>
          <a:lstStyle/>
          <a:p>
            <a:r>
              <a:rPr lang="bg-BG" dirty="0"/>
              <a:t>FedCSIS'25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81C79C5-5865-4677-8B26-FCF588E29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356352"/>
            <a:ext cx="3086100" cy="365125"/>
          </a:xfrm>
        </p:spPr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F5E62-19D8-4790-9FDF-51279FA7C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7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Adaptable Game Features 3/3</a:t>
            </a:r>
            <a:endParaRPr lang="es-ES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744459" y="1670538"/>
            <a:ext cx="9694941" cy="4569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3.</a:t>
            </a:r>
            <a:r>
              <a:rPr lang="en-US" sz="3200" dirty="0"/>
              <a:t> Adaptation of audio-visual effects:</a:t>
            </a:r>
          </a:p>
          <a:p>
            <a:pPr lvl="0"/>
            <a:r>
              <a:rPr lang="en-US" dirty="0"/>
              <a:t>according player´s affect (both emotions and arousal) using thresholds of happiness, fear, surprise and disgust level, there are adapted 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ambient illumination change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focus and contrast of game objects such as puzzle panels, buttons, gold bullions, statues, etc.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the volume of sound</a:t>
            </a:r>
            <a:endParaRPr lang="es-ES" sz="2800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CD79BD8-7199-4AB5-9E43-D7BE86407F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2970" y="6240464"/>
            <a:ext cx="2057400" cy="365125"/>
          </a:xfrm>
        </p:spPr>
        <p:txBody>
          <a:bodyPr/>
          <a:lstStyle/>
          <a:p>
            <a:r>
              <a:rPr lang="bg-BG" dirty="0"/>
              <a:t>FedCSIS'25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CD1E2A5-DE89-4140-A04B-821050732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356352"/>
            <a:ext cx="3086100" cy="365125"/>
          </a:xfrm>
        </p:spPr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7D8C0-B0F2-46D1-8B7E-4AE53DC2E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1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066800" y="173512"/>
            <a:ext cx="8877300" cy="817088"/>
          </a:xfrm>
        </p:spPr>
        <p:txBody>
          <a:bodyPr/>
          <a:lstStyle/>
          <a:p>
            <a:r>
              <a:rPr lang="es-ES" dirty="0"/>
              <a:t>Case study 1 – </a:t>
            </a:r>
            <a:r>
              <a:rPr lang="es-ES" dirty="0">
                <a:solidFill>
                  <a:srgbClr val="FF0000"/>
                </a:solidFill>
              </a:rPr>
              <a:t>“Rush </a:t>
            </a:r>
            <a:r>
              <a:rPr lang="es-ES" dirty="0" err="1">
                <a:solidFill>
                  <a:srgbClr val="FF0000"/>
                </a:solidFill>
              </a:rPr>
              <a:t>for</a:t>
            </a:r>
            <a:r>
              <a:rPr lang="es-ES" dirty="0">
                <a:solidFill>
                  <a:srgbClr val="FF0000"/>
                </a:solidFill>
              </a:rPr>
              <a:t> Gold” </a:t>
            </a:r>
            <a:r>
              <a:rPr lang="es-ES" dirty="0"/>
              <a:t>game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831273" y="990600"/>
            <a:ext cx="10740967" cy="58674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 3D video game using adaptation based on player performance, efficiency and emotional state using the FACE web service of </a:t>
            </a:r>
            <a:r>
              <a:rPr lang="en-US" dirty="0" err="1"/>
              <a:t>SightCorp</a:t>
            </a:r>
            <a:r>
              <a:rPr lang="en-US" dirty="0"/>
              <a:t> (</a:t>
            </a:r>
            <a:r>
              <a:rPr lang="en-US" sz="1900" dirty="0">
                <a:hlinkClick r:id="rId2"/>
              </a:rPr>
              <a:t>https://face.sightcorp.com/</a:t>
            </a:r>
            <a:r>
              <a:rPr lang="en-US" dirty="0"/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s-ES" dirty="0" err="1"/>
              <a:t>Developed</a:t>
            </a:r>
            <a:r>
              <a:rPr lang="es-ES" dirty="0"/>
              <a:t> by using Brainstorm eStudio </a:t>
            </a:r>
            <a:r>
              <a:rPr lang="es-ES" sz="1800" dirty="0"/>
              <a:t>(</a:t>
            </a:r>
            <a:r>
              <a:rPr lang="es-ES" sz="1800" dirty="0">
                <a:hlinkClick r:id="rId3"/>
              </a:rPr>
              <a:t>http://www.brainstorm.es/products/estudio/</a:t>
            </a:r>
            <a:r>
              <a:rPr lang="es-ES" sz="1800" dirty="0"/>
              <a:t>)</a:t>
            </a:r>
            <a:endParaRPr lang="en-US" sz="21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Allows implicit recognition of ADOPTA playing styles in order to validate them to ones calculated by using self-report. The implicitly found style will be used for automatic selection of learning content appropriate to that style.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Goal: to collect 12 bars of gold (bullions), which are flying, hidden or inside logic puzzles needed to be solved, all located in a 3D Egypt temple with enhanced audio-visual effects being object of adaptation, as well.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The player can use a Strategy Management Table (SMT):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/>
              <a:t>represents a table with three rows for planning the number of bars of the three groups available in the game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/>
              <a:t>contains data about the average effectiveness of performance in collecting the gold bars of each group, useful for building a strategy for an optimal way of play. </a:t>
            </a:r>
            <a:endParaRPr lang="es-E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DE61899-3955-4F96-9165-4370BD9E93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1273" y="6342384"/>
            <a:ext cx="2057400" cy="365125"/>
          </a:xfrm>
        </p:spPr>
        <p:txBody>
          <a:bodyPr/>
          <a:lstStyle/>
          <a:p>
            <a:r>
              <a:rPr lang="bg-BG" dirty="0"/>
              <a:t>FedCSIS'25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833D191-9E96-4414-AA02-97712386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356352"/>
            <a:ext cx="3086100" cy="365125"/>
          </a:xfrm>
        </p:spPr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F97F-81D4-4DE5-B867-B83210EA9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19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Rush for Gold</a:t>
            </a:r>
          </a:p>
        </p:txBody>
      </p:sp>
      <p:pic>
        <p:nvPicPr>
          <p:cNvPr id="8" name="Картина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143000"/>
            <a:ext cx="8077200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4B86076-189F-4AAF-915E-9DA7BA15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52650" y="6356352"/>
            <a:ext cx="2057400" cy="365125"/>
          </a:xfrm>
        </p:spPr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409ABE5-24A2-4150-A9F6-03FB659F7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356352"/>
            <a:ext cx="3086100" cy="365125"/>
          </a:xfrm>
        </p:spPr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D768E8-64D9-4718-946E-E09708B3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48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2819400" y="60814"/>
            <a:ext cx="7620000" cy="777386"/>
          </a:xfrm>
        </p:spPr>
        <p:txBody>
          <a:bodyPr/>
          <a:lstStyle/>
          <a:p>
            <a:r>
              <a:rPr lang="en-US" dirty="0"/>
              <a:t>Player Style Measurement</a:t>
            </a:r>
            <a:endParaRPr lang="es-ES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1036320" y="1026160"/>
            <a:ext cx="9186792" cy="37744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Implicitly during play time of specific mini-game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Based on player’s metrics for specific game tasks:</a:t>
            </a:r>
          </a:p>
          <a:p>
            <a:pPr lvl="1"/>
            <a:r>
              <a:rPr lang="en-US" dirty="0"/>
              <a:t>Performance (result)</a:t>
            </a:r>
          </a:p>
          <a:p>
            <a:pPr lvl="1"/>
            <a:r>
              <a:rPr lang="en-US" dirty="0"/>
              <a:t>Efficiency (result/effort)</a:t>
            </a:r>
          </a:p>
          <a:p>
            <a:pPr lvl="1"/>
            <a:r>
              <a:rPr lang="en-US" dirty="0"/>
              <a:t>Task difficulty</a:t>
            </a:r>
          </a:p>
          <a:p>
            <a:pPr lvl="1"/>
            <a:r>
              <a:rPr lang="en-US" dirty="0"/>
              <a:t>Play time</a:t>
            </a:r>
          </a:p>
          <a:p>
            <a:pPr lvl="1"/>
            <a:r>
              <a:rPr lang="en-US" dirty="0"/>
              <a:t>SMT updates &amp; views</a:t>
            </a:r>
            <a:br>
              <a:rPr lang="en-US" dirty="0"/>
            </a:br>
            <a:r>
              <a:rPr lang="en-US" dirty="0"/>
              <a:t>(for Strategists)</a:t>
            </a:r>
          </a:p>
          <a:p>
            <a:pPr marL="457200" lvl="1" indent="0">
              <a:buNone/>
            </a:pPr>
            <a:endParaRPr lang="es-ES" dirty="0"/>
          </a:p>
        </p:txBody>
      </p:sp>
      <p:sp>
        <p:nvSpPr>
          <p:cNvPr id="8" name="Правоъгълник 7"/>
          <p:cNvSpPr/>
          <p:nvPr/>
        </p:nvSpPr>
        <p:spPr>
          <a:xfrm>
            <a:off x="2286000" y="5232738"/>
            <a:ext cx="32004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dirty="0"/>
              <a:t>Rush For Gold, part 2 - https://www.youtube.com/</a:t>
            </a:r>
            <a:br>
              <a:rPr lang="es-ES" sz="2000" dirty="0"/>
            </a:br>
            <a:r>
              <a:rPr lang="es-ES" sz="2000" dirty="0"/>
              <a:t>watch?v=aJe61bUDE40 </a:t>
            </a:r>
          </a:p>
        </p:txBody>
      </p:sp>
      <p:pic>
        <p:nvPicPr>
          <p:cNvPr id="10" name="Картина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4360" y="2072640"/>
            <a:ext cx="5979160" cy="428371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75B4450-E8F6-4904-B8B3-08739365EC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52650" y="6356352"/>
            <a:ext cx="2057400" cy="365125"/>
          </a:xfrm>
        </p:spPr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15894B2-96C1-4F04-8700-768A4BAD5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356352"/>
            <a:ext cx="3086100" cy="365125"/>
          </a:xfrm>
        </p:spPr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12960-0F27-4D53-82ED-49074FE18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723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44459" y="90499"/>
            <a:ext cx="10515600" cy="844221"/>
          </a:xfrm>
        </p:spPr>
        <p:txBody>
          <a:bodyPr>
            <a:normAutofit/>
          </a:bodyPr>
          <a:lstStyle/>
          <a:p>
            <a:r>
              <a:rPr lang="es-ES" dirty="0"/>
              <a:t>Case </a:t>
            </a:r>
            <a:r>
              <a:rPr lang="es-ES" dirty="0" err="1"/>
              <a:t>Study</a:t>
            </a:r>
            <a:r>
              <a:rPr lang="es-ES" dirty="0"/>
              <a:t> 2 –</a:t>
            </a:r>
            <a:r>
              <a:rPr lang="es-ES" dirty="0">
                <a:solidFill>
                  <a:srgbClr val="FF0000"/>
                </a:solidFill>
              </a:rPr>
              <a:t>STRAMAG</a:t>
            </a:r>
            <a:r>
              <a:rPr lang="es-ES" dirty="0"/>
              <a:t> </a:t>
            </a:r>
            <a:r>
              <a:rPr lang="es-ES" dirty="0" err="1"/>
              <a:t>Game</a:t>
            </a:r>
            <a:r>
              <a:rPr lang="es-ES" dirty="0"/>
              <a:t> </a:t>
            </a:r>
            <a:endParaRPr lang="bg-BG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744459" y="1066799"/>
            <a:ext cx="10929381" cy="5700702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dirty="0" err="1"/>
              <a:t>An</a:t>
            </a:r>
            <a:r>
              <a:rPr lang="es-ES" dirty="0"/>
              <a:t> </a:t>
            </a:r>
            <a:r>
              <a:rPr lang="es-ES" dirty="0" err="1"/>
              <a:t>experiment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playing an action 3D video game for recognition of playing styles and, next, STRAMAG </a:t>
            </a:r>
            <a:r>
              <a:rPr lang="es-ES" dirty="0" err="1"/>
              <a:t>education</a:t>
            </a:r>
            <a:r>
              <a:rPr lang="es-ES" dirty="0"/>
              <a:t> </a:t>
            </a:r>
            <a:r>
              <a:rPr lang="es-ES" dirty="0" err="1"/>
              <a:t>game</a:t>
            </a:r>
            <a:r>
              <a:rPr lang="es-ES" dirty="0"/>
              <a:t> with learning content adapted both to styles and affect of the player, plus questionnaires about: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s-ES" dirty="0"/>
              <a:t>Demographic data – 5 items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s-ES" dirty="0"/>
              <a:t>Playing style – 40 items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s-ES" dirty="0"/>
              <a:t>Game </a:t>
            </a:r>
            <a:r>
              <a:rPr lang="es-ES" dirty="0" err="1"/>
              <a:t>engagement</a:t>
            </a:r>
            <a:r>
              <a:rPr lang="es-ES" dirty="0"/>
              <a:t> </a:t>
            </a:r>
            <a:r>
              <a:rPr lang="es-ES" dirty="0" err="1"/>
              <a:t>questionnaire</a:t>
            </a:r>
            <a:r>
              <a:rPr lang="es-ES" dirty="0"/>
              <a:t> (GEQ) – 19 items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dirty="0"/>
              <a:t>Attention, relevance, confidence, and satisfaction (ARCS) </a:t>
            </a:r>
            <a:r>
              <a:rPr lang="es-ES" dirty="0" err="1"/>
              <a:t>questionnaire</a:t>
            </a:r>
            <a:r>
              <a:rPr lang="es-ES" dirty="0"/>
              <a:t> </a:t>
            </a:r>
            <a:r>
              <a:rPr lang="en-US" dirty="0"/>
              <a:t>– 15 items – all applied </a:t>
            </a:r>
            <a:r>
              <a:rPr lang="es-ES" dirty="0"/>
              <a:t>for: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s-ES" sz="2800" dirty="0"/>
              <a:t>Enhanced recognition of individual playing style using specific game metrics and </a:t>
            </a:r>
            <a:r>
              <a:rPr lang="es-ES" sz="2800" dirty="0" err="1"/>
              <a:t>compared</a:t>
            </a:r>
            <a:r>
              <a:rPr lang="es-ES" sz="2800" dirty="0"/>
              <a:t> it to the style measured by self-report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s-ES" sz="2800" dirty="0"/>
              <a:t>A positive effect of affect-based adaptation over:</a:t>
            </a:r>
          </a:p>
          <a:p>
            <a:pPr lvl="2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900" dirty="0"/>
              <a:t>player´s engagement and attention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s-ES" sz="2900" dirty="0"/>
              <a:t>learning outcomes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s-ES" sz="2900" dirty="0"/>
              <a:t>Preference of adaptation control – </a:t>
            </a:r>
            <a:r>
              <a:rPr lang="es-ES" sz="2900" dirty="0" err="1"/>
              <a:t>adaptation</a:t>
            </a:r>
            <a:r>
              <a:rPr lang="es-ES" sz="2900" dirty="0"/>
              <a:t> </a:t>
            </a:r>
            <a:r>
              <a:rPr lang="es-ES" sz="2900" dirty="0" err="1"/>
              <a:t>strength</a:t>
            </a:r>
            <a:r>
              <a:rPr lang="es-ES" sz="2900" dirty="0"/>
              <a:t> and affective feedback direction</a:t>
            </a:r>
            <a:endParaRPr lang="bg-BG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97CE3C6-CF4A-430C-8833-63484D19B4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52650" y="6356352"/>
            <a:ext cx="2057400" cy="365125"/>
          </a:xfrm>
        </p:spPr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3593E99-D721-4D1A-A2CB-BB1A2CF0A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356352"/>
            <a:ext cx="3086100" cy="365125"/>
          </a:xfrm>
        </p:spPr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3B600-5413-414D-A70F-7BECAD3DA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38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977612" y="83228"/>
            <a:ext cx="9461788" cy="777386"/>
          </a:xfrm>
        </p:spPr>
        <p:txBody>
          <a:bodyPr>
            <a:normAutofit/>
          </a:bodyPr>
          <a:lstStyle/>
          <a:p>
            <a:r>
              <a:rPr lang="en-US" sz="3600" dirty="0"/>
              <a:t>Results about Playing Styles</a:t>
            </a:r>
            <a:endParaRPr lang="es-ES" sz="3600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660400" y="838201"/>
            <a:ext cx="10007600" cy="5888036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Explicitly measured though self-report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40 item questionnaire for measuring Competitor, Dreamer (Discoverer), Logician and Strategist style of playing – filled by 312 subjects, Cronbach alpha 0.527, 0.557, 0.711 and	0.572.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High correlations (r=0.806, 0.778, 0.879, 0.619; p&lt;0.01) between these playing styles and Honey and Mumford learning styles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Implicitly during game time of playing specific mini-game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For playing styles found by linear regression using player´s metrics and coefficients found by qualitative study (structured interviews with gamers) – high correlations with self-reported styles (</a:t>
            </a:r>
            <a:r>
              <a:rPr lang="en-US" b="1" dirty="0"/>
              <a:t>r=0.802, 0.779, 0.873, 0.633 </a:t>
            </a:r>
            <a:r>
              <a:rPr lang="en-US" dirty="0"/>
              <a:t>for C, D, L and S styles; p&lt;0.001)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For regression model coefficients estimated by the least squires method – higher correlations with self-reported styles (</a:t>
            </a:r>
            <a:r>
              <a:rPr lang="en-US" b="1" dirty="0"/>
              <a:t>r=0.827; 0.792; 0.882; 0.713 </a:t>
            </a:r>
            <a:r>
              <a:rPr lang="en-US" dirty="0"/>
              <a:t>for C, D, L and S styles; p&lt;0.001)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 marL="457200" lvl="1" indent="0">
              <a:spcBef>
                <a:spcPts val="600"/>
              </a:spcBef>
              <a:spcAft>
                <a:spcPts val="600"/>
              </a:spcAft>
              <a:buNone/>
            </a:pPr>
            <a:endParaRPr lang="es-ES" dirty="0"/>
          </a:p>
          <a:p>
            <a:pPr marL="457200" lvl="1" indent="0">
              <a:spcBef>
                <a:spcPts val="600"/>
              </a:spcBef>
              <a:spcAft>
                <a:spcPts val="600"/>
              </a:spcAft>
              <a:buNone/>
            </a:pPr>
            <a:endParaRPr lang="es-E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A4DA81D-7C71-4FCC-87A6-3AF28E289A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7612" y="6356352"/>
            <a:ext cx="2057400" cy="365125"/>
          </a:xfrm>
        </p:spPr>
        <p:txBody>
          <a:bodyPr/>
          <a:lstStyle/>
          <a:p>
            <a:r>
              <a:rPr lang="bg-BG" dirty="0"/>
              <a:t>FedCSIS'25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E8D8C0F-503A-4E56-9B7B-2C8E1F3CA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356352"/>
            <a:ext cx="3086100" cy="365125"/>
          </a:xfrm>
        </p:spPr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A32C4-7A16-4325-BD0C-0C8A154B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55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Set-Up</a:t>
            </a:r>
            <a:endParaRPr lang="bg-BG" dirty="0"/>
          </a:p>
        </p:txBody>
      </p:sp>
      <p:grpSp>
        <p:nvGrpSpPr>
          <p:cNvPr id="7" name="Групиране 6"/>
          <p:cNvGrpSpPr/>
          <p:nvPr/>
        </p:nvGrpSpPr>
        <p:grpSpPr>
          <a:xfrm>
            <a:off x="2223454" y="1219200"/>
            <a:ext cx="7911147" cy="4953000"/>
            <a:chOff x="0" y="0"/>
            <a:chExt cx="5764378" cy="2984602"/>
          </a:xfrm>
        </p:grpSpPr>
        <p:grpSp>
          <p:nvGrpSpPr>
            <p:cNvPr id="8" name="Групиране 7"/>
            <p:cNvGrpSpPr/>
            <p:nvPr/>
          </p:nvGrpSpPr>
          <p:grpSpPr>
            <a:xfrm>
              <a:off x="0" y="0"/>
              <a:ext cx="5764378" cy="2984602"/>
              <a:chOff x="0" y="0"/>
              <a:chExt cx="5764378" cy="2984602"/>
            </a:xfrm>
          </p:grpSpPr>
          <p:sp>
            <p:nvSpPr>
              <p:cNvPr id="12" name="Закръглен правоъгълник 11"/>
              <p:cNvSpPr/>
              <p:nvPr/>
            </p:nvSpPr>
            <p:spPr>
              <a:xfrm>
                <a:off x="29261" y="1002182"/>
                <a:ext cx="5669102" cy="198242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11700"/>
                  </a:spcBef>
                </a:pPr>
                <a:endParaRPr lang="en-US" b="1" kern="50" dirty="0">
                  <a:solidFill>
                    <a:srgbClr val="FFFFFF"/>
                  </a:solidFill>
                  <a:ea typeface="Times New Roman" panose="02020603050405020304" pitchFamily="18" charset="0"/>
                </a:endParaRPr>
              </a:p>
              <a:p>
                <a:pPr algn="ctr">
                  <a:spcBef>
                    <a:spcPts val="17200"/>
                  </a:spcBef>
                </a:pPr>
                <a:r>
                  <a:rPr lang="en-US" sz="2000" b="1" kern="50" dirty="0">
                    <a:solidFill>
                      <a:srgbClr val="FFFFFF"/>
                    </a:solidFill>
                    <a:ea typeface="Times New Roman" panose="02020603050405020304" pitchFamily="18" charset="0"/>
                  </a:rPr>
                  <a:t>Brainstorm </a:t>
                </a:r>
                <a:r>
                  <a:rPr lang="en-US" sz="2000" b="1" kern="50" dirty="0" err="1">
                    <a:solidFill>
                      <a:srgbClr val="FFFFFF"/>
                    </a:solidFill>
                    <a:ea typeface="Times New Roman" panose="02020603050405020304" pitchFamily="18" charset="0"/>
                  </a:rPr>
                  <a:t>eStudio</a:t>
                </a:r>
                <a:endParaRPr lang="bg-BG" sz="2000" kern="5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3" name="Закръглен правоъгълник 12"/>
              <p:cNvSpPr/>
              <p:nvPr/>
            </p:nvSpPr>
            <p:spPr>
              <a:xfrm>
                <a:off x="351130" y="1302106"/>
                <a:ext cx="1111910" cy="49743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kern="50" dirty="0">
                    <a:solidFill>
                      <a:srgbClr val="1F4E79"/>
                    </a:solidFill>
                    <a:ea typeface="Times New Roman" panose="02020603050405020304" pitchFamily="18" charset="0"/>
                  </a:rPr>
                  <a:t>Rush for Gold</a:t>
                </a:r>
                <a:endParaRPr lang="bg-BG" sz="2000" kern="5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4" name="Закръглен правоъгълник 13"/>
              <p:cNvSpPr/>
              <p:nvPr/>
            </p:nvSpPr>
            <p:spPr>
              <a:xfrm>
                <a:off x="2172614" y="1287475"/>
                <a:ext cx="1111910" cy="49743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kern="50">
                    <a:solidFill>
                      <a:srgbClr val="1F4E79"/>
                    </a:solidFill>
                    <a:ea typeface="Times New Roman" panose="02020603050405020304" pitchFamily="18" charset="0"/>
                  </a:rPr>
                  <a:t>STRAMAG maze</a:t>
                </a:r>
                <a:endParaRPr lang="bg-BG" sz="2000" kern="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5" name="Закръглен правоъгълник 14"/>
              <p:cNvSpPr/>
              <p:nvPr/>
            </p:nvSpPr>
            <p:spPr>
              <a:xfrm>
                <a:off x="4037990" y="1287475"/>
                <a:ext cx="1111910" cy="49743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kern="50" dirty="0">
                    <a:solidFill>
                      <a:srgbClr val="1F4E79"/>
                    </a:solidFill>
                    <a:ea typeface="Times New Roman" panose="02020603050405020304" pitchFamily="18" charset="0"/>
                  </a:rPr>
                  <a:t>3D quiz assessment</a:t>
                </a:r>
                <a:endParaRPr lang="bg-BG" sz="2000" kern="5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6" name="Закръглен правоъгълник 15"/>
              <p:cNvSpPr/>
              <p:nvPr/>
            </p:nvSpPr>
            <p:spPr>
              <a:xfrm>
                <a:off x="4045306" y="1989734"/>
                <a:ext cx="1111910" cy="49743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kern="50">
                    <a:solidFill>
                      <a:srgbClr val="1F4E79"/>
                    </a:solidFill>
                    <a:ea typeface="Times New Roman" panose="02020603050405020304" pitchFamily="18" charset="0"/>
                  </a:rPr>
                  <a:t>3D zoom ordering</a:t>
                </a:r>
                <a:endParaRPr lang="bg-BG" sz="2000" kern="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grpSp>
            <p:nvGrpSpPr>
              <p:cNvPr id="17" name="Групиране 16"/>
              <p:cNvGrpSpPr/>
              <p:nvPr/>
            </p:nvGrpSpPr>
            <p:grpSpPr>
              <a:xfrm>
                <a:off x="1594714" y="2033626"/>
                <a:ext cx="892454" cy="512064"/>
                <a:chOff x="0" y="0"/>
                <a:chExt cx="892454" cy="512064"/>
              </a:xfrm>
            </p:grpSpPr>
            <p:sp>
              <p:nvSpPr>
                <p:cNvPr id="35" name="Закръглен правоъгълник 34"/>
                <p:cNvSpPr/>
                <p:nvPr/>
              </p:nvSpPr>
              <p:spPr>
                <a:xfrm>
                  <a:off x="0" y="0"/>
                  <a:ext cx="723900" cy="365760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kern="50">
                      <a:solidFill>
                        <a:srgbClr val="1F4E79"/>
                      </a:solidFill>
                      <a:ea typeface="Times New Roman" panose="02020603050405020304" pitchFamily="18" charset="0"/>
                    </a:rPr>
                    <a:t>Rooms</a:t>
                  </a:r>
                  <a:endParaRPr lang="bg-BG" kern="5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36" name="Закръглен правоъгълник 35"/>
                <p:cNvSpPr/>
                <p:nvPr/>
              </p:nvSpPr>
              <p:spPr>
                <a:xfrm>
                  <a:off x="87782" y="80467"/>
                  <a:ext cx="724205" cy="365760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kern="50">
                      <a:solidFill>
                        <a:srgbClr val="1F4E79"/>
                      </a:solidFill>
                      <a:ea typeface="Times New Roman" panose="02020603050405020304" pitchFamily="18" charset="0"/>
                    </a:rPr>
                    <a:t>Rooms</a:t>
                  </a:r>
                  <a:endParaRPr lang="bg-BG" kern="5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37" name="Закръглен правоъгълник 36"/>
                <p:cNvSpPr/>
                <p:nvPr/>
              </p:nvSpPr>
              <p:spPr>
                <a:xfrm>
                  <a:off x="168249" y="146304"/>
                  <a:ext cx="724205" cy="365760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kern="50">
                      <a:solidFill>
                        <a:srgbClr val="1F4E79"/>
                      </a:solidFill>
                      <a:ea typeface="Times New Roman" panose="02020603050405020304" pitchFamily="18" charset="0"/>
                    </a:rPr>
                    <a:t>Rooms</a:t>
                  </a:r>
                  <a:endParaRPr lang="bg-BG" kern="5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8" name="Групиране 17"/>
              <p:cNvGrpSpPr/>
              <p:nvPr/>
            </p:nvGrpSpPr>
            <p:grpSpPr>
              <a:xfrm>
                <a:off x="2757830" y="2055571"/>
                <a:ext cx="892454" cy="512064"/>
                <a:chOff x="0" y="0"/>
                <a:chExt cx="892454" cy="512064"/>
              </a:xfrm>
            </p:grpSpPr>
            <p:sp>
              <p:nvSpPr>
                <p:cNvPr id="32" name="Закръглен правоъгълник 31"/>
                <p:cNvSpPr/>
                <p:nvPr/>
              </p:nvSpPr>
              <p:spPr>
                <a:xfrm>
                  <a:off x="0" y="0"/>
                  <a:ext cx="723900" cy="365760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kern="50">
                      <a:solidFill>
                        <a:srgbClr val="1F4E79"/>
                      </a:solidFill>
                      <a:ea typeface="Times New Roman" panose="02020603050405020304" pitchFamily="18" charset="0"/>
                    </a:rPr>
                    <a:t>Rooms</a:t>
                  </a:r>
                  <a:endParaRPr lang="bg-BG" kern="5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33" name="Закръглен правоъгълник 32"/>
                <p:cNvSpPr/>
                <p:nvPr/>
              </p:nvSpPr>
              <p:spPr>
                <a:xfrm>
                  <a:off x="87782" y="80467"/>
                  <a:ext cx="724205" cy="365760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kern="50">
                      <a:solidFill>
                        <a:srgbClr val="1F4E79"/>
                      </a:solidFill>
                      <a:ea typeface="Times New Roman" panose="02020603050405020304" pitchFamily="18" charset="0"/>
                    </a:rPr>
                    <a:t>Rooms</a:t>
                  </a:r>
                  <a:endParaRPr lang="bg-BG" kern="5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34" name="Закръглен правоъгълник 33"/>
                <p:cNvSpPr/>
                <p:nvPr/>
              </p:nvSpPr>
              <p:spPr>
                <a:xfrm>
                  <a:off x="168249" y="146304"/>
                  <a:ext cx="724205" cy="365760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kern="50">
                      <a:solidFill>
                        <a:srgbClr val="1F4E79"/>
                      </a:solidFill>
                      <a:ea typeface="Times New Roman" panose="02020603050405020304" pitchFamily="18" charset="0"/>
                    </a:rPr>
                    <a:t>Tunnels</a:t>
                  </a:r>
                  <a:endParaRPr lang="bg-BG" kern="5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9" name="Съединение с чупка 18"/>
              <p:cNvCxnSpPr/>
              <p:nvPr/>
            </p:nvCxnSpPr>
            <p:spPr>
              <a:xfrm>
                <a:off x="1463040" y="1550822"/>
                <a:ext cx="709599" cy="0"/>
              </a:xfrm>
              <a:prstGeom prst="bentConnector3">
                <a:avLst/>
              </a:prstGeom>
              <a:ln w="127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Съединение с чупка 19"/>
              <p:cNvCxnSpPr/>
              <p:nvPr/>
            </p:nvCxnSpPr>
            <p:spPr>
              <a:xfrm>
                <a:off x="3284525" y="1514246"/>
                <a:ext cx="738835" cy="58522"/>
              </a:xfrm>
              <a:prstGeom prst="bentConnector3">
                <a:avLst/>
              </a:prstGeom>
              <a:ln w="12700"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Съединение с чупка 20"/>
              <p:cNvCxnSpPr/>
              <p:nvPr/>
            </p:nvCxnSpPr>
            <p:spPr>
              <a:xfrm>
                <a:off x="3291840" y="1645920"/>
                <a:ext cx="760400" cy="548411"/>
              </a:xfrm>
              <a:prstGeom prst="bentConnector3">
                <a:avLst>
                  <a:gd name="adj1" fmla="val 62486"/>
                </a:avLst>
              </a:prstGeom>
              <a:ln w="12700"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Съединение с чупка 21"/>
              <p:cNvCxnSpPr/>
              <p:nvPr/>
            </p:nvCxnSpPr>
            <p:spPr>
              <a:xfrm flipH="1">
                <a:off x="2494483" y="1784909"/>
                <a:ext cx="80264" cy="555955"/>
              </a:xfrm>
              <a:prstGeom prst="bentConnector3">
                <a:avLst>
                  <a:gd name="adj1" fmla="val -68640"/>
                </a:avLst>
              </a:prstGeom>
              <a:ln w="12700"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Съединение с чупка 22"/>
              <p:cNvCxnSpPr/>
              <p:nvPr/>
            </p:nvCxnSpPr>
            <p:spPr>
              <a:xfrm flipH="1" flipV="1">
                <a:off x="2509114" y="2428646"/>
                <a:ext cx="416814" cy="73355"/>
              </a:xfrm>
              <a:prstGeom prst="bentConnector3">
                <a:avLst/>
              </a:prstGeom>
              <a:ln w="12700"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Закръглен правоъгълник 23"/>
              <p:cNvSpPr/>
              <p:nvPr/>
            </p:nvSpPr>
            <p:spPr>
              <a:xfrm>
                <a:off x="0" y="0"/>
                <a:ext cx="1060704" cy="52669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b="1" kern="50" dirty="0" err="1">
                    <a:solidFill>
                      <a:srgbClr val="FFFFFF"/>
                    </a:solidFill>
                    <a:ea typeface="Times New Roman" panose="02020603050405020304" pitchFamily="18" charset="0"/>
                  </a:rPr>
                  <a:t>Affectiva</a:t>
                </a:r>
                <a:r>
                  <a:rPr lang="en-US" b="1" kern="50" dirty="0">
                    <a:solidFill>
                      <a:srgbClr val="FFFFFF"/>
                    </a:solidFill>
                    <a:ea typeface="Times New Roman" panose="02020603050405020304" pitchFamily="18" charset="0"/>
                  </a:rPr>
                  <a:t> SDK</a:t>
                </a:r>
                <a:endParaRPr lang="bg-BG" kern="5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5" name="Закръглен правоъгълник 24"/>
              <p:cNvSpPr/>
              <p:nvPr/>
            </p:nvSpPr>
            <p:spPr>
              <a:xfrm>
                <a:off x="1645920" y="14630"/>
                <a:ext cx="1060551" cy="52669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b="1" kern="50" dirty="0">
                    <a:solidFill>
                      <a:srgbClr val="FFFFFF"/>
                    </a:solidFill>
                    <a:ea typeface="Times New Roman" panose="02020603050405020304" pitchFamily="18" charset="0"/>
                  </a:rPr>
                  <a:t>Emotion recognizer</a:t>
                </a:r>
                <a:endParaRPr lang="bg-BG" kern="5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6" name="Закръглен правоъгълник 25"/>
              <p:cNvSpPr/>
              <p:nvPr/>
            </p:nvSpPr>
            <p:spPr>
              <a:xfrm>
                <a:off x="2969971" y="14630"/>
                <a:ext cx="1097280" cy="52669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b="1" kern="50">
                    <a:solidFill>
                      <a:srgbClr val="FFFFFF"/>
                    </a:solidFill>
                    <a:ea typeface="Times New Roman" panose="02020603050405020304" pitchFamily="18" charset="0"/>
                  </a:rPr>
                  <a:t>RAGE arousal asset</a:t>
                </a:r>
                <a:endParaRPr lang="bg-BG" kern="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7" name="Закръглен правоъгълник 26"/>
              <p:cNvSpPr/>
              <p:nvPr/>
            </p:nvSpPr>
            <p:spPr>
              <a:xfrm>
                <a:off x="4667098" y="14630"/>
                <a:ext cx="1097280" cy="52669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b="1" kern="50">
                    <a:solidFill>
                      <a:srgbClr val="FFFFFF"/>
                    </a:solidFill>
                    <a:ea typeface="Times New Roman" panose="02020603050405020304" pitchFamily="18" charset="0"/>
                  </a:rPr>
                  <a:t>RAGE arousal asset</a:t>
                </a:r>
                <a:endParaRPr lang="bg-BG" kern="5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28" name="Съединение с чупка 27"/>
              <p:cNvCxnSpPr/>
              <p:nvPr/>
            </p:nvCxnSpPr>
            <p:spPr>
              <a:xfrm>
                <a:off x="1068019" y="204826"/>
                <a:ext cx="592963" cy="123901"/>
              </a:xfrm>
              <a:prstGeom prst="bentConnector3">
                <a:avLst/>
              </a:prstGeom>
              <a:ln w="127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Съединение с чупка 28"/>
              <p:cNvCxnSpPr/>
              <p:nvPr/>
            </p:nvCxnSpPr>
            <p:spPr>
              <a:xfrm>
                <a:off x="4074566" y="285293"/>
                <a:ext cx="592532" cy="95097"/>
              </a:xfrm>
              <a:prstGeom prst="bentConnector3">
                <a:avLst/>
              </a:prstGeom>
              <a:ln w="127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Съединение с чупка 29"/>
              <p:cNvCxnSpPr/>
              <p:nvPr/>
            </p:nvCxnSpPr>
            <p:spPr>
              <a:xfrm>
                <a:off x="2157984" y="526694"/>
                <a:ext cx="0" cy="468173"/>
              </a:xfrm>
              <a:prstGeom prst="bentConnector3">
                <a:avLst/>
              </a:prstGeom>
              <a:ln w="127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Съединение с чупка 30"/>
              <p:cNvCxnSpPr/>
              <p:nvPr/>
            </p:nvCxnSpPr>
            <p:spPr>
              <a:xfrm>
                <a:off x="3525926" y="526694"/>
                <a:ext cx="0" cy="468173"/>
              </a:xfrm>
              <a:prstGeom prst="bentConnector3">
                <a:avLst/>
              </a:prstGeom>
              <a:ln w="127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Текстово поле 49"/>
            <p:cNvSpPr txBox="1"/>
            <p:nvPr/>
          </p:nvSpPr>
          <p:spPr>
            <a:xfrm>
              <a:off x="1097280" y="329184"/>
              <a:ext cx="548005" cy="28511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600" kern="50" dirty="0">
                  <a:solidFill>
                    <a:srgbClr val="1F4E79"/>
                  </a:solidFill>
                  <a:ea typeface="Times New Roman" panose="02020603050405020304" pitchFamily="18" charset="0"/>
                </a:rPr>
                <a:t>.NET</a:t>
              </a:r>
              <a:endParaRPr lang="bg-BG" kern="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0" name="Текстово поле 50"/>
            <p:cNvSpPr txBox="1"/>
            <p:nvPr/>
          </p:nvSpPr>
          <p:spPr>
            <a:xfrm>
              <a:off x="4147718" y="357544"/>
              <a:ext cx="548284" cy="285293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600" kern="50">
                  <a:solidFill>
                    <a:srgbClr val="1F4E79"/>
                  </a:solidFill>
                  <a:ea typeface="Times New Roman" panose="02020603050405020304" pitchFamily="18" charset="0"/>
                </a:rPr>
                <a:t>USB</a:t>
              </a:r>
              <a:endParaRPr lang="bg-BG" kern="5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1" name="Текстово поле 51"/>
            <p:cNvSpPr txBox="1"/>
            <p:nvPr/>
          </p:nvSpPr>
          <p:spPr>
            <a:xfrm>
              <a:off x="2318614" y="696688"/>
              <a:ext cx="1126541" cy="285293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kern="50" dirty="0">
                  <a:solidFill>
                    <a:srgbClr val="1F4E79"/>
                  </a:solidFill>
                  <a:ea typeface="Times New Roman" panose="02020603050405020304" pitchFamily="18" charset="0"/>
                </a:rPr>
                <a:t>TCP sockets</a:t>
              </a:r>
              <a:endParaRPr lang="bg-BG" kern="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38" name="Date Placeholder 3">
            <a:extLst>
              <a:ext uri="{FF2B5EF4-FFF2-40B4-BE49-F238E27FC236}">
                <a16:creationId xmlns:a16="http://schemas.microsoft.com/office/drawing/2014/main" id="{5BB2CCD2-381A-4AE4-98BA-B5A8F99076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52650" y="6356352"/>
            <a:ext cx="2057400" cy="365125"/>
          </a:xfrm>
        </p:spPr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39" name="Footer Placeholder 4">
            <a:extLst>
              <a:ext uri="{FF2B5EF4-FFF2-40B4-BE49-F238E27FC236}">
                <a16:creationId xmlns:a16="http://schemas.microsoft.com/office/drawing/2014/main" id="{12ECF97D-E495-468A-8A57-341706AB0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356352"/>
            <a:ext cx="3086100" cy="365125"/>
          </a:xfrm>
        </p:spPr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pic>
        <p:nvPicPr>
          <p:cNvPr id="40" name="Picture 39" descr="D:\Dropbox\Projects\ADAPTIMES\Dissemination\Web-site\images\adaptimes-logo.1.png">
            <a:extLst>
              <a:ext uri="{FF2B5EF4-FFF2-40B4-BE49-F238E27FC236}">
                <a16:creationId xmlns:a16="http://schemas.microsoft.com/office/drawing/2014/main" id="{337FCD7B-9712-43B8-B33D-23473D5D11F9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9000" contras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3786" y="126709"/>
            <a:ext cx="3105150" cy="51171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6B7666-4352-4307-A3BB-46FD6D875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14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1021" y="136524"/>
            <a:ext cx="12120979" cy="923828"/>
          </a:xfrm>
        </p:spPr>
        <p:txBody>
          <a:bodyPr>
            <a:normAutofit fontScale="90000"/>
          </a:bodyPr>
          <a:lstStyle/>
          <a:p>
            <a:r>
              <a:rPr lang="en-US" dirty="0"/>
              <a:t>The maze structure of STRAMAG </a:t>
            </a:r>
            <a:r>
              <a:rPr lang="bg-BG" dirty="0"/>
              <a:t>(</a:t>
            </a:r>
            <a:r>
              <a:rPr lang="bg-BG" dirty="0" err="1"/>
              <a:t>STRAtegic</a:t>
            </a:r>
            <a:r>
              <a:rPr lang="bg-BG" dirty="0"/>
              <a:t> </a:t>
            </a:r>
            <a:r>
              <a:rPr lang="bg-BG" dirty="0" err="1"/>
              <a:t>MAnagement</a:t>
            </a:r>
            <a:r>
              <a:rPr lang="bg-BG" dirty="0"/>
              <a:t> </a:t>
            </a:r>
            <a:r>
              <a:rPr lang="bg-BG" dirty="0" err="1"/>
              <a:t>Game</a:t>
            </a:r>
            <a:r>
              <a:rPr lang="bg-BG" dirty="0"/>
              <a:t>) </a:t>
            </a:r>
          </a:p>
        </p:txBody>
      </p:sp>
      <p:pic>
        <p:nvPicPr>
          <p:cNvPr id="7" name="Картина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83" y="927493"/>
            <a:ext cx="11292395" cy="546354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2896D8F9-F0D0-463E-BCA0-11AF3EE9F1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52650" y="6356352"/>
            <a:ext cx="2057400" cy="365125"/>
          </a:xfrm>
        </p:spPr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26CDFEF-E162-43E2-B449-2E798DA75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356352"/>
            <a:ext cx="3086100" cy="365125"/>
          </a:xfrm>
        </p:spPr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C85B88-FED2-4A6A-8478-1090FA8C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66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81C95-0642-4849-A304-B8651D74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459" y="0"/>
            <a:ext cx="10515600" cy="861134"/>
          </a:xfrm>
        </p:spPr>
        <p:txBody>
          <a:bodyPr>
            <a:normAutofit/>
          </a:bodyPr>
          <a:lstStyle/>
          <a:p>
            <a:r>
              <a:rPr lang="en-US" dirty="0"/>
              <a:t>Content Distribution Across Maze Game Rooms</a:t>
            </a:r>
            <a:endParaRPr lang="bg-B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47D7C-2E1D-48F2-9926-F0390BE1B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70B7A-CC02-4F68-A5FD-1D5D8BAA3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pic>
        <p:nvPicPr>
          <p:cNvPr id="7" name="Picture 6" descr="A diagram of a company&#10;&#10;AI-generated content may be incorrect.">
            <a:extLst>
              <a:ext uri="{FF2B5EF4-FFF2-40B4-BE49-F238E27FC236}">
                <a16:creationId xmlns:a16="http://schemas.microsoft.com/office/drawing/2014/main" id="{94DD3A47-20DA-4741-BB8D-9250C2BC040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788" y="683581"/>
            <a:ext cx="6601808" cy="579711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846D15-5783-4292-8731-DECB1AA5F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5710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Картина 1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176" y="-316"/>
            <a:ext cx="6067811" cy="3335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Картина 1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812"/>
            <a:ext cx="5932805" cy="3343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1405039" y="-15845"/>
            <a:ext cx="39133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Rush For Gold (playing style found)</a:t>
            </a:r>
          </a:p>
        </p:txBody>
      </p:sp>
      <p:sp>
        <p:nvSpPr>
          <p:cNvPr id="7" name="Правоъгълник 6"/>
          <p:cNvSpPr/>
          <p:nvPr/>
        </p:nvSpPr>
        <p:spPr>
          <a:xfrm>
            <a:off x="7917849" y="-62454"/>
            <a:ext cx="39421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STRAMAG maze game – central room </a:t>
            </a:r>
            <a:endParaRPr lang="es-E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5427F8-765C-4E53-B11F-2D4837635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71713"/>
            <a:ext cx="5932805" cy="3486287"/>
          </a:xfrm>
          <a:prstGeom prst="rect">
            <a:avLst/>
          </a:prstGeom>
        </p:spPr>
      </p:pic>
      <p:sp>
        <p:nvSpPr>
          <p:cNvPr id="28" name="Правоъгълник 6">
            <a:extLst>
              <a:ext uri="{FF2B5EF4-FFF2-40B4-BE49-F238E27FC236}">
                <a16:creationId xmlns:a16="http://schemas.microsoft.com/office/drawing/2014/main" id="{FCBA5AE6-6BD3-4B33-AD43-409D0CC56382}"/>
              </a:ext>
            </a:extLst>
          </p:cNvPr>
          <p:cNvSpPr/>
          <p:nvPr/>
        </p:nvSpPr>
        <p:spPr>
          <a:xfrm>
            <a:off x="1855675" y="3371713"/>
            <a:ext cx="39421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The PEST room </a:t>
            </a:r>
            <a:endParaRPr lang="es-E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2B336B3-3688-4BB7-883A-615891E260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176" y="3371712"/>
            <a:ext cx="6067811" cy="3486287"/>
          </a:xfrm>
          <a:prstGeom prst="rect">
            <a:avLst/>
          </a:prstGeom>
        </p:spPr>
      </p:pic>
      <p:sp>
        <p:nvSpPr>
          <p:cNvPr id="31" name="Правоъгълник 6">
            <a:extLst>
              <a:ext uri="{FF2B5EF4-FFF2-40B4-BE49-F238E27FC236}">
                <a16:creationId xmlns:a16="http://schemas.microsoft.com/office/drawing/2014/main" id="{4FA04B6F-A5F9-4C84-AB39-EEF080796FDA}"/>
              </a:ext>
            </a:extLst>
          </p:cNvPr>
          <p:cNvSpPr/>
          <p:nvPr/>
        </p:nvSpPr>
        <p:spPr>
          <a:xfrm>
            <a:off x="7448365" y="3429000"/>
            <a:ext cx="33743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 shooting room with a flying key</a:t>
            </a:r>
            <a:endParaRPr lang="es-E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381A2E-C986-486C-9BF1-03294356E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909CA-82C3-4B86-A749-3774BCBD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79356A-9AD1-4BD0-A36C-AE66B7DF4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928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28" grpId="0"/>
      <p:bldP spid="3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34CB7-8E5C-4B0D-A478-124817BBC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2D32C-56BA-425C-B628-03E3B9EF2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A33D60-00B1-4CCC-A0FC-1209C7A91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39790" cy="33749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38D156-92C9-494E-AF33-F013A2CF2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838" y="2"/>
            <a:ext cx="6121161" cy="3371216"/>
          </a:xfrm>
          <a:prstGeom prst="rect">
            <a:avLst/>
          </a:prstGeom>
        </p:spPr>
      </p:pic>
      <p:pic>
        <p:nvPicPr>
          <p:cNvPr id="14" name="Картина 19">
            <a:extLst>
              <a:ext uri="{FF2B5EF4-FFF2-40B4-BE49-F238E27FC236}">
                <a16:creationId xmlns:a16="http://schemas.microsoft.com/office/drawing/2014/main" id="{B2C7A3FF-3D45-4F60-A299-E64F78A320E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13784"/>
            <a:ext cx="6080139" cy="335026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Правоъгълник 9">
            <a:extLst>
              <a:ext uri="{FF2B5EF4-FFF2-40B4-BE49-F238E27FC236}">
                <a16:creationId xmlns:a16="http://schemas.microsoft.com/office/drawing/2014/main" id="{14FCE99D-E11F-46CF-8C43-6B237E5365C5}"/>
              </a:ext>
            </a:extLst>
          </p:cNvPr>
          <p:cNvSpPr/>
          <p:nvPr/>
        </p:nvSpPr>
        <p:spPr>
          <a:xfrm>
            <a:off x="8399506" y="3542481"/>
            <a:ext cx="1659172" cy="319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3D zoom puzzle</a:t>
            </a:r>
            <a:endParaRPr lang="bg-BG" alt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6" name="Картина 18">
            <a:extLst>
              <a:ext uri="{FF2B5EF4-FFF2-40B4-BE49-F238E27FC236}">
                <a16:creationId xmlns:a16="http://schemas.microsoft.com/office/drawing/2014/main" id="{35BC041C-4345-4425-94BC-2770793286B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17538"/>
            <a:ext cx="5939790" cy="334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Date Placeholder 1">
            <a:extLst>
              <a:ext uri="{FF2B5EF4-FFF2-40B4-BE49-F238E27FC236}">
                <a16:creationId xmlns:a16="http://schemas.microsoft.com/office/drawing/2014/main" id="{615E9C96-0977-4767-92F7-4523C0485DF6}"/>
              </a:ext>
            </a:extLst>
          </p:cNvPr>
          <p:cNvSpPr txBox="1">
            <a:spLocks/>
          </p:cNvSpPr>
          <p:nvPr/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25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/>
              <a:t>FedCSIS'25</a:t>
            </a:r>
            <a:endParaRPr lang="en-US"/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10F49FF5-7CFD-46C7-8BDA-5A36700E1821}"/>
              </a:ext>
            </a:extLst>
          </p:cNvPr>
          <p:cNvSpPr txBox="1">
            <a:spLocks/>
          </p:cNvSpPr>
          <p:nvPr/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25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19" name="Правоъгълник 8">
            <a:extLst>
              <a:ext uri="{FF2B5EF4-FFF2-40B4-BE49-F238E27FC236}">
                <a16:creationId xmlns:a16="http://schemas.microsoft.com/office/drawing/2014/main" id="{F91BC824-810F-4342-A9C9-F28B0623650D}"/>
              </a:ext>
            </a:extLst>
          </p:cNvPr>
          <p:cNvSpPr/>
          <p:nvPr/>
        </p:nvSpPr>
        <p:spPr>
          <a:xfrm>
            <a:off x="1055693" y="3517538"/>
            <a:ext cx="34097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3D quiz  (assessment) </a:t>
            </a:r>
            <a:endParaRPr lang="es-E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Правоъгълник 9">
            <a:extLst>
              <a:ext uri="{FF2B5EF4-FFF2-40B4-BE49-F238E27FC236}">
                <a16:creationId xmlns:a16="http://schemas.microsoft.com/office/drawing/2014/main" id="{C4C7AC3D-621C-4B16-A5DC-DBBE8815A69B}"/>
              </a:ext>
            </a:extLst>
          </p:cNvPr>
          <p:cNvSpPr/>
          <p:nvPr/>
        </p:nvSpPr>
        <p:spPr>
          <a:xfrm>
            <a:off x="10250442" y="2673949"/>
            <a:ext cx="1941558" cy="319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Unlocking a tunnel</a:t>
            </a:r>
            <a:endParaRPr lang="bg-BG" alt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Правоъгълник 9">
            <a:extLst>
              <a:ext uri="{FF2B5EF4-FFF2-40B4-BE49-F238E27FC236}">
                <a16:creationId xmlns:a16="http://schemas.microsoft.com/office/drawing/2014/main" id="{72CFCE0E-9FDE-41B7-8B08-EC5EB2789CF4}"/>
              </a:ext>
            </a:extLst>
          </p:cNvPr>
          <p:cNvSpPr/>
          <p:nvPr/>
        </p:nvSpPr>
        <p:spPr>
          <a:xfrm>
            <a:off x="0" y="2585173"/>
            <a:ext cx="3414076" cy="319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Solving a puzzle to unlock a tunnel</a:t>
            </a:r>
            <a:endParaRPr lang="bg-BG" alt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9A6791-420E-40CE-887B-2016B5475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38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0" grpId="0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B011-8587-470A-971B-8F14C7F8E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416" y="0"/>
            <a:ext cx="10515600" cy="817088"/>
          </a:xfrm>
        </p:spPr>
        <p:txBody>
          <a:bodyPr>
            <a:normAutofit fontScale="90000"/>
          </a:bodyPr>
          <a:lstStyle/>
          <a:p>
            <a:r>
              <a:rPr lang="en-US" dirty="0"/>
              <a:t>Game Experience Questionnaire (GEQ) – Mean Values for 3D Maze, Quiz, and Zoom Games </a:t>
            </a:r>
            <a:endParaRPr lang="bg-B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F09AF-2F9D-4D36-8125-B06D0BE95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30B96-AA2C-4A50-BA18-927B460D3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3CFE77C-D43C-4BD7-8FB0-CA18EDF6E5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3921316"/>
              </p:ext>
            </p:extLst>
          </p:nvPr>
        </p:nvGraphicFramePr>
        <p:xfrm>
          <a:off x="766759" y="817088"/>
          <a:ext cx="10186913" cy="5852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27722">
                  <a:extLst>
                    <a:ext uri="{9D8B030D-6E8A-4147-A177-3AD203B41FA5}">
                      <a16:colId xmlns:a16="http://schemas.microsoft.com/office/drawing/2014/main" val="175470265"/>
                    </a:ext>
                  </a:extLst>
                </a:gridCol>
                <a:gridCol w="2019029">
                  <a:extLst>
                    <a:ext uri="{9D8B030D-6E8A-4147-A177-3AD203B41FA5}">
                      <a16:colId xmlns:a16="http://schemas.microsoft.com/office/drawing/2014/main" val="1167177491"/>
                    </a:ext>
                  </a:extLst>
                </a:gridCol>
                <a:gridCol w="1948111">
                  <a:extLst>
                    <a:ext uri="{9D8B030D-6E8A-4147-A177-3AD203B41FA5}">
                      <a16:colId xmlns:a16="http://schemas.microsoft.com/office/drawing/2014/main" val="736268068"/>
                    </a:ext>
                  </a:extLst>
                </a:gridCol>
                <a:gridCol w="1937682">
                  <a:extLst>
                    <a:ext uri="{9D8B030D-6E8A-4147-A177-3AD203B41FA5}">
                      <a16:colId xmlns:a16="http://schemas.microsoft.com/office/drawing/2014/main" val="120155171"/>
                    </a:ext>
                  </a:extLst>
                </a:gridCol>
                <a:gridCol w="1954369">
                  <a:extLst>
                    <a:ext uri="{9D8B030D-6E8A-4147-A177-3AD203B41FA5}">
                      <a16:colId xmlns:a16="http://schemas.microsoft.com/office/drawing/2014/main" val="837654505"/>
                    </a:ext>
                  </a:extLst>
                </a:gridCol>
              </a:tblGrid>
              <a:tr h="331856"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Dimension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Questions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3D Maze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3D Quiz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3D Zoom 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3962062"/>
                  </a:ext>
                </a:extLst>
              </a:tr>
              <a:tr h="663711"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Competence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2, 10, 15, 17, 21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3.91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3.74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4.09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36821469"/>
                  </a:ext>
                </a:extLst>
              </a:tr>
              <a:tr h="995566"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Immersion (sensory &amp; imaginative)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3, 12, 18, 19, 27, 30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4.35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4.13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4.17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32359110"/>
                  </a:ext>
                </a:extLst>
              </a:tr>
              <a:tr h="663711"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Flow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5, 13, 25, 28, 31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</a:rPr>
                        <a:t>3.70</a:t>
                      </a:r>
                      <a:endParaRPr lang="bg-BG" sz="2800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3.96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3.87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94608275"/>
                  </a:ext>
                </a:extLst>
              </a:tr>
              <a:tr h="663711"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Tension/</a:t>
                      </a:r>
                      <a:br>
                        <a:rPr lang="en-US" sz="2400">
                          <a:effectLst/>
                        </a:rPr>
                      </a:br>
                      <a:r>
                        <a:rPr lang="en-US" sz="2400">
                          <a:effectLst/>
                        </a:rPr>
                        <a:t>Annoyance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22, 24, 29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2.32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2.04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2.17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51907428"/>
                  </a:ext>
                </a:extLst>
              </a:tr>
              <a:tr h="663711"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Challenge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11, 23, 26, 32, 33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2.09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2.17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2.26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66233712"/>
                  </a:ext>
                </a:extLst>
              </a:tr>
              <a:tr h="663711"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Negative </a:t>
                      </a:r>
                      <a:br>
                        <a:rPr lang="en-US" sz="2400">
                          <a:effectLst/>
                        </a:rPr>
                      </a:br>
                      <a:r>
                        <a:rPr lang="en-US" sz="2400">
                          <a:effectLst/>
                        </a:rPr>
                        <a:t>Affect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7, 8, 9, 16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2.14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2.06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2.36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93639694"/>
                  </a:ext>
                </a:extLst>
              </a:tr>
              <a:tr h="663711"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Positive </a:t>
                      </a:r>
                      <a:br>
                        <a:rPr lang="en-US" sz="2400">
                          <a:effectLst/>
                        </a:rPr>
                      </a:br>
                      <a:r>
                        <a:rPr lang="en-US" sz="2400">
                          <a:effectLst/>
                        </a:rPr>
                        <a:t>Affect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1, 4, 6, 14, 20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3.96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3.74</a:t>
                      </a:r>
                      <a:endParaRPr lang="bg-BG" sz="280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</a:rPr>
                        <a:t>4.09</a:t>
                      </a:r>
                      <a:endParaRPr lang="bg-BG" sz="2800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6108103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81149C-4D72-4247-888B-1B39F08D8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1504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3C3E8-1573-4E03-A03A-AFF288C8A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459" y="247495"/>
            <a:ext cx="10515600" cy="817088"/>
          </a:xfrm>
        </p:spPr>
        <p:txBody>
          <a:bodyPr>
            <a:normAutofit fontScale="90000"/>
          </a:bodyPr>
          <a:lstStyle/>
          <a:p>
            <a:r>
              <a:rPr lang="en-US" dirty="0"/>
              <a:t>GEQ Responses for 3D Maze, Quiz, and Zoom Games</a:t>
            </a:r>
            <a:endParaRPr lang="bg-B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AE70A-4442-41A3-9AE1-956FD148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4172D-06C2-432F-9671-6A89F9D5E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A9BB4C-73EC-4E61-8509-774441F5936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984" y="928695"/>
            <a:ext cx="6428031" cy="568181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E1B181-C625-4C86-A773-D93D9DE10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6732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459" y="1428741"/>
            <a:ext cx="10370581" cy="533876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Player-centric adaptive gameplay possesses essential advantages compared to non-adaptive gameplay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The synergy of using players´ performance, emotions, and playing styles is very promising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All they are identified in an implicit way at run time and used for adapting game mechanics, dynamics, and audio-visual content, in a </a:t>
            </a:r>
            <a:r>
              <a:rPr lang="en-US" i="1" dirty="0"/>
              <a:t>dynamic and implicit </a:t>
            </a:r>
            <a:r>
              <a:rPr lang="en-US" dirty="0"/>
              <a:t>way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b="1" i="1" dirty="0"/>
              <a:t>Emotion-based adaptations affect game experience and playability, learning outcomes, and consequences of flow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2707D55-023C-4858-9259-8AA26F9C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2970" y="6309677"/>
            <a:ext cx="2057400" cy="365125"/>
          </a:xfrm>
        </p:spPr>
        <p:txBody>
          <a:bodyPr/>
          <a:lstStyle/>
          <a:p>
            <a:r>
              <a:rPr lang="bg-BG" dirty="0"/>
              <a:t>FedCSIS'25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7BA97FD-213D-43DF-8DAB-16808C9F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356352"/>
            <a:ext cx="3086100" cy="365125"/>
          </a:xfrm>
        </p:spPr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E6423-3AC5-47C6-A9E1-25207C2DD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99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9F0AE-DB42-4096-A3AD-8C2D49F19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960" y="365760"/>
            <a:ext cx="8892084" cy="706902"/>
          </a:xfrm>
        </p:spPr>
        <p:txBody>
          <a:bodyPr>
            <a:normAutofit fontScale="90000"/>
          </a:bodyPr>
          <a:lstStyle/>
          <a:p>
            <a:r>
              <a:rPr lang="en-US" dirty="0"/>
              <a:t>Personalization vs Adaptation – </a:t>
            </a:r>
            <a:br>
              <a:rPr lang="en-US" dirty="0"/>
            </a:br>
            <a:r>
              <a:rPr lang="en-US" i="1" dirty="0"/>
              <a:t>Who Drives the Decisions and How?</a:t>
            </a:r>
            <a:endParaRPr lang="bg-BG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C3860-B2C7-49E6-A891-BF1926172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24687-4B2B-49AD-B247-A5D9595B7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78B6DD-4C63-47F3-98F9-0B340B57BD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873272"/>
              </p:ext>
            </p:extLst>
          </p:nvPr>
        </p:nvGraphicFramePr>
        <p:xfrm>
          <a:off x="1259840" y="1325562"/>
          <a:ext cx="10535919" cy="499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524">
                  <a:extLst>
                    <a:ext uri="{9D8B030D-6E8A-4147-A177-3AD203B41FA5}">
                      <a16:colId xmlns:a16="http://schemas.microsoft.com/office/drawing/2014/main" val="3622252438"/>
                    </a:ext>
                  </a:extLst>
                </a:gridCol>
                <a:gridCol w="4280888">
                  <a:extLst>
                    <a:ext uri="{9D8B030D-6E8A-4147-A177-3AD203B41FA5}">
                      <a16:colId xmlns:a16="http://schemas.microsoft.com/office/drawing/2014/main" val="2866637036"/>
                    </a:ext>
                  </a:extLst>
                </a:gridCol>
                <a:gridCol w="4731507">
                  <a:extLst>
                    <a:ext uri="{9D8B030D-6E8A-4147-A177-3AD203B41FA5}">
                      <a16:colId xmlns:a16="http://schemas.microsoft.com/office/drawing/2014/main" val="191706527"/>
                    </a:ext>
                  </a:extLst>
                </a:gridCol>
              </a:tblGrid>
              <a:tr h="380245"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Personalization</a:t>
                      </a:r>
                      <a:endParaRPr lang="bg-B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Adaptation</a:t>
                      </a:r>
                      <a:endParaRPr lang="bg-B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55856"/>
                  </a:ext>
                </a:extLst>
              </a:tr>
              <a:tr h="1992379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24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Decision Driver</a:t>
                      </a:r>
                      <a:endParaRPr lang="bg-BG" sz="24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/>
                      <a:r>
                        <a:rPr lang="en-US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Decisions are primarily driven by the learner.</a:t>
                      </a:r>
                    </a:p>
                    <a:p>
                      <a:pPr marL="0" lvl="1"/>
                      <a:r>
                        <a:rPr lang="en-US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Examples: selecting topics, choosing difficulty level, setting learning goals, choosing interface themes, or opting into certain feedback styles.</a:t>
                      </a:r>
                    </a:p>
                    <a:p>
                      <a:pPr marL="0"/>
                      <a:endParaRPr lang="bg-BG" sz="2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/>
                      <a:r>
                        <a:rPr lang="en-US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Decisions are driven by the system (often using analytics, assessments, or models).</a:t>
                      </a:r>
                    </a:p>
                    <a:p>
                      <a:pPr marL="0" lvl="1"/>
                      <a:r>
                        <a:rPr lang="en-US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Examples: dynamically changing task difficulty, routing to prerequisite content, adjusting pacing, or modifying feedback based on performance.</a:t>
                      </a:r>
                      <a:endParaRPr lang="bg-BG" sz="2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342892"/>
                  </a:ext>
                </a:extLst>
              </a:tr>
              <a:tr h="515674"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Customi-zation</a:t>
                      </a:r>
                      <a:r>
                        <a:rPr lang="en-US" sz="24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 Subject</a:t>
                      </a:r>
                      <a:endParaRPr lang="bg-BG" sz="24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/>
                      <a:r>
                        <a:rPr lang="en-US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Customization of user experience and learning objectives.</a:t>
                      </a:r>
                    </a:p>
                    <a:p>
                      <a:pPr marL="0" lvl="1"/>
                      <a:r>
                        <a:rPr lang="en-US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Includes preferences, goals, and self-directed sequencing.</a:t>
                      </a:r>
                      <a:endParaRPr lang="bg-BG" sz="2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/>
                      <a:r>
                        <a:rPr lang="en-US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Customization of instructional design elements to fit the learner’s performance profile.</a:t>
                      </a:r>
                    </a:p>
                    <a:p>
                      <a:pPr marL="0" lvl="1"/>
                      <a:r>
                        <a:rPr lang="en-US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Includes difficulty, tasks, hints, pacing, feedback type, and resource scaffolding.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11804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D45667-F1DD-4258-8B97-D09EF4B1E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55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FF1E5-B3D0-4983-AADC-A43F1A254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Personalization vs Adaptation – </a:t>
            </a:r>
            <a:br>
              <a:rPr lang="en-US" dirty="0"/>
            </a:br>
            <a:r>
              <a:rPr lang="en-US" i="1" dirty="0"/>
              <a:t>Goals, Outcomes, Design, and Evaluation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15C8A-90A5-4013-8610-633E304D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125" y="5577840"/>
            <a:ext cx="8565160" cy="1055713"/>
          </a:xfrm>
        </p:spPr>
        <p:txBody>
          <a:bodyPr>
            <a:normAutofit fontScale="92500" lnSpcReduction="20000"/>
          </a:bodyPr>
          <a:lstStyle/>
          <a:p>
            <a:pPr marL="171450" lvl="1">
              <a:spcBef>
                <a:spcPts val="750"/>
              </a:spcBef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Common for both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: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en-US" sz="1900" dirty="0"/>
              <a:t>Validity and reliability of the learner model</a:t>
            </a:r>
          </a:p>
          <a:p>
            <a:pPr lvl="1"/>
            <a:r>
              <a:rPr lang="en-US" sz="1900" dirty="0"/>
              <a:t>Measuring satisfaction, perceived relevance, and motivation (plus fairness across diverse learners)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67A3F-E206-493F-8186-B45739F9B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77240-9550-4F20-AE6E-F60171519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FF6FE1-4BB9-41FE-81E3-0B39941E6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277706"/>
              </p:ext>
            </p:extLst>
          </p:nvPr>
        </p:nvGraphicFramePr>
        <p:xfrm>
          <a:off x="838200" y="1280160"/>
          <a:ext cx="10515600" cy="432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3503">
                  <a:extLst>
                    <a:ext uri="{9D8B030D-6E8A-4147-A177-3AD203B41FA5}">
                      <a16:colId xmlns:a16="http://schemas.microsoft.com/office/drawing/2014/main" val="3622252438"/>
                    </a:ext>
                  </a:extLst>
                </a:gridCol>
                <a:gridCol w="4379715">
                  <a:extLst>
                    <a:ext uri="{9D8B030D-6E8A-4147-A177-3AD203B41FA5}">
                      <a16:colId xmlns:a16="http://schemas.microsoft.com/office/drawing/2014/main" val="2866637036"/>
                    </a:ext>
                  </a:extLst>
                </a:gridCol>
                <a:gridCol w="4722382">
                  <a:extLst>
                    <a:ext uri="{9D8B030D-6E8A-4147-A177-3AD203B41FA5}">
                      <a16:colId xmlns:a16="http://schemas.microsoft.com/office/drawing/2014/main" val="191706527"/>
                    </a:ext>
                  </a:extLst>
                </a:gridCol>
              </a:tblGrid>
              <a:tr h="380245"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Personalization</a:t>
                      </a:r>
                      <a:endParaRPr lang="bg-B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Adaptation</a:t>
                      </a:r>
                      <a:endParaRPr lang="bg-B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55856"/>
                  </a:ext>
                </a:extLst>
              </a:tr>
              <a:tr h="1992379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24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Goals and </a:t>
                      </a:r>
                      <a:r>
                        <a:rPr lang="en-US" sz="2400" b="1" kern="120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Outco-mes</a:t>
                      </a:r>
                      <a:endParaRPr lang="bg-BG" sz="24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/>
                      <a:r>
                        <a:rPr lang="en-US" sz="2200" dirty="0"/>
                        <a:t>Enhances motivation, engagement, autonomy, and relevance.</a:t>
                      </a:r>
                    </a:p>
                    <a:p>
                      <a:pPr marL="0" lvl="1"/>
                      <a:r>
                        <a:rPr lang="en-US" sz="2200" dirty="0"/>
                        <a:t>Supports individual preferences and self-regulated learning.</a:t>
                      </a:r>
                    </a:p>
                    <a:p>
                      <a:pPr marL="0" lvl="1"/>
                      <a:r>
                        <a:rPr lang="en-US" sz="2200" dirty="0"/>
                        <a:t>Often aims to improve long-term engagement and persistence.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/>
                      <a:r>
                        <a:rPr lang="en-US" sz="2200" dirty="0"/>
                        <a:t>Seeks to maintain an appropriate challenge and optimize knowledge construction.</a:t>
                      </a:r>
                    </a:p>
                    <a:p>
                      <a:pPr marL="0" lvl="1"/>
                      <a:r>
                        <a:rPr lang="en-US" sz="2200" dirty="0"/>
                        <a:t>Often evaluated via learning gains, retention, and mastery.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342892"/>
                  </a:ext>
                </a:extLst>
              </a:tr>
              <a:tr h="515674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Design &amp; </a:t>
                      </a:r>
                      <a:r>
                        <a:rPr lang="en-US" sz="24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Evalua-tion</a:t>
                      </a:r>
                      <a:endParaRPr lang="bg-BG" sz="24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2"/>
                      <a:r>
                        <a:rPr lang="en-US" sz="2200" dirty="0"/>
                        <a:t>How to authentically capture learner preferences without overwhelming them.</a:t>
                      </a:r>
                    </a:p>
                    <a:p>
                      <a:pPr marL="0" lvl="2"/>
                      <a:r>
                        <a:rPr lang="en-US" sz="2200" dirty="0"/>
                        <a:t>Balancing autonomy with seamless guidance</a:t>
                      </a:r>
                      <a:endParaRPr lang="bg-BG" sz="2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2"/>
                      <a:r>
                        <a:rPr lang="en-US" sz="2200" dirty="0"/>
                        <a:t>Transparency and </a:t>
                      </a:r>
                      <a:r>
                        <a:rPr lang="en-US" sz="2200" dirty="0" err="1"/>
                        <a:t>explainability</a:t>
                      </a:r>
                      <a:r>
                        <a:rPr lang="en-US" sz="2200" dirty="0"/>
                        <a:t> of adaptive decisions (to avoid confusion).</a:t>
                      </a:r>
                    </a:p>
                    <a:p>
                      <a:pPr marL="0" lvl="2"/>
                      <a:r>
                        <a:rPr lang="en-US" sz="2200" dirty="0"/>
                        <a:t>Evaluating learning outcomes, not just engagement.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118044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A176D-8460-4494-B2EC-60CE864F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446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1655-8DB9-4280-93C1-1CD63348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Personalization vs Adaptation – </a:t>
            </a:r>
            <a:br>
              <a:rPr lang="en-US" dirty="0"/>
            </a:br>
            <a:r>
              <a:rPr lang="en-US" i="1" dirty="0"/>
              <a:t>Data and Signals Used</a:t>
            </a:r>
            <a:endParaRPr lang="bg-BG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893D8-4738-4F14-9E90-18B8C3D34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C8687-A1BA-4BF0-BBAB-B335F3D43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11C0351-83D8-4955-B1D1-B86DC675A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450956"/>
              </p:ext>
            </p:extLst>
          </p:nvPr>
        </p:nvGraphicFramePr>
        <p:xfrm>
          <a:off x="838200" y="1280160"/>
          <a:ext cx="11170920" cy="551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8324">
                  <a:extLst>
                    <a:ext uri="{9D8B030D-6E8A-4147-A177-3AD203B41FA5}">
                      <a16:colId xmlns:a16="http://schemas.microsoft.com/office/drawing/2014/main" val="3622252438"/>
                    </a:ext>
                  </a:extLst>
                </a:gridCol>
                <a:gridCol w="4326764">
                  <a:extLst>
                    <a:ext uri="{9D8B030D-6E8A-4147-A177-3AD203B41FA5}">
                      <a16:colId xmlns:a16="http://schemas.microsoft.com/office/drawing/2014/main" val="2866637036"/>
                    </a:ext>
                  </a:extLst>
                </a:gridCol>
                <a:gridCol w="5225832">
                  <a:extLst>
                    <a:ext uri="{9D8B030D-6E8A-4147-A177-3AD203B41FA5}">
                      <a16:colId xmlns:a16="http://schemas.microsoft.com/office/drawing/2014/main" val="191706527"/>
                    </a:ext>
                  </a:extLst>
                </a:gridCol>
              </a:tblGrid>
              <a:tr h="380245">
                <a:tc>
                  <a:txBody>
                    <a:bodyPr/>
                    <a:lstStyle/>
                    <a:p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Personalization</a:t>
                      </a:r>
                      <a:endParaRPr lang="bg-B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Adaptation</a:t>
                      </a:r>
                      <a:endParaRPr lang="bg-B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55856"/>
                  </a:ext>
                </a:extLst>
              </a:tr>
              <a:tr h="1992379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20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Data and Signals </a:t>
                      </a:r>
                      <a:endParaRPr lang="bg-BG" sz="20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/>
                      <a:r>
                        <a:rPr lang="en-US" sz="2000" dirty="0"/>
                        <a:t>Signals are typically explicit and user-driven (e.g., chosen topics, preferred feedback style, accessibility options).</a:t>
                      </a:r>
                    </a:p>
                    <a:p>
                      <a:pPr marL="0" lvl="1"/>
                      <a:r>
                        <a:rPr lang="en-US" sz="2000" dirty="0"/>
                        <a:t>May also incorporate inferred preferences from past behavior, but the learner has control to adjust.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/>
                      <a:r>
                        <a:rPr lang="en-US" sz="2000" dirty="0"/>
                        <a:t>Signals are primarily inferred from learner data (e.g., response accuracy, response time, knowledge state, engagement metrics, gaze data in some setups).</a:t>
                      </a:r>
                    </a:p>
                    <a:p>
                      <a:pPr marL="0" lvl="1"/>
                      <a:r>
                        <a:rPr lang="en-US" sz="2000" dirty="0"/>
                        <a:t>Often relies on models (e.g., mastery learning, Bayesian Knowledge Tracing, reinforcement learning) to guide changes.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342892"/>
                  </a:ext>
                </a:extLst>
              </a:tr>
              <a:tr h="515674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Examples</a:t>
                      </a:r>
                      <a:endParaRPr lang="bg-BG" sz="20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2"/>
                      <a:r>
                        <a:rPr lang="en-US" sz="2000" dirty="0"/>
                        <a:t>Allowing learners to choose which subject modules to study.</a:t>
                      </a:r>
                    </a:p>
                    <a:p>
                      <a:pPr marL="0" lvl="2"/>
                      <a:r>
                        <a:rPr lang="en-US" sz="2000" dirty="0"/>
                        <a:t>Letting users select the level of hints or the type of feedback (textual vs. visual).</a:t>
                      </a:r>
                    </a:p>
                    <a:p>
                      <a:pPr marL="0" lvl="2"/>
                      <a:r>
                        <a:rPr lang="en-US" sz="2000" dirty="0"/>
                        <a:t>Choosing the game’s visual theme or avatar, or selecting whether to learn via stories, simulations, or practice modes.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2"/>
                      <a:r>
                        <a:rPr lang="en-US" sz="2000" dirty="0"/>
                        <a:t>Increasing/decreasing task difficulty based on accuracy &amp; speed.</a:t>
                      </a:r>
                    </a:p>
                    <a:p>
                      <a:pPr marL="0" lvl="2"/>
                      <a:r>
                        <a:rPr lang="en-US" sz="2000" dirty="0"/>
                        <a:t>Providing tailored remediation tasks when a learner struggles with a concept.</a:t>
                      </a:r>
                    </a:p>
                    <a:p>
                      <a:pPr marL="0" lvl="2"/>
                      <a:r>
                        <a:rPr lang="en-US" sz="2000" dirty="0"/>
                        <a:t>Reordering or routing content to address specific knowledge gaps (adaptive mastery paths).</a:t>
                      </a:r>
                    </a:p>
                    <a:p>
                      <a:pPr marL="0" lvl="2"/>
                      <a:r>
                        <a:rPr lang="en-US" sz="2000" dirty="0"/>
                        <a:t>Changing pacing or presentation format (e.g., from text to video explanations) in response to engagement signals.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11804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5823DB-4891-485A-A19B-E1FC80C84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577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F3FE-C057-474E-814A-F74FF93BF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 for Smart A&amp;P: Data Sources and Signals 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19835-0EFC-4A60-A47F-26251A76C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881" y="1451296"/>
            <a:ext cx="10415846" cy="4728843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2400" b="1" dirty="0"/>
              <a:t>Performance data</a:t>
            </a:r>
            <a:r>
              <a:rPr lang="en-US" sz="2400" dirty="0"/>
              <a:t>: task success/failure, time on task, error types, hint usage, and retries.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2400" b="1" dirty="0"/>
              <a:t>Behavioral data</a:t>
            </a:r>
            <a:r>
              <a:rPr lang="en-US" sz="2400" dirty="0"/>
              <a:t>: action sequences, decision patterns, gaze or click streams (when privacy/tech allows).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2400" b="1" dirty="0"/>
              <a:t>Learning state proxies</a:t>
            </a:r>
            <a:r>
              <a:rPr lang="en-US" sz="2400" dirty="0"/>
              <a:t>: inferred mastery levels, misconceptions, cognitive load estimates.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2400" b="1" dirty="0"/>
              <a:t>Affective and engagement signals</a:t>
            </a:r>
            <a:r>
              <a:rPr lang="en-US" sz="2400" dirty="0"/>
              <a:t>: engagement trends, frustration indicators (e.g., rapid error bursts, hesitation).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2400" b="1" dirty="0"/>
              <a:t>Contextual data</a:t>
            </a:r>
            <a:r>
              <a:rPr lang="en-US" sz="2400" dirty="0"/>
              <a:t>: learner goals, prior knowledge, role preferences, accessibility needs.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2400" b="1" dirty="0"/>
              <a:t>Environmental data</a:t>
            </a:r>
            <a:r>
              <a:rPr lang="en-US" sz="2400" dirty="0"/>
              <a:t>: device capabilities, network conditions, time-of-day.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bg-BG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A8EA9-E973-434D-8DEC-269831234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7A01F-02CA-4AD6-B596-E0FBC52E8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BCF8E-B974-4BC9-A2B4-ECC9C27FA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009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F3FE-C057-474E-814A-F74FF93B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13360"/>
            <a:ext cx="9829800" cy="969488"/>
          </a:xfrm>
        </p:spPr>
        <p:txBody>
          <a:bodyPr>
            <a:normAutofit/>
          </a:bodyPr>
          <a:lstStyle/>
          <a:p>
            <a:r>
              <a:rPr lang="en-US" dirty="0"/>
              <a:t>AI for Smart A&amp;P: Modeling Approaches 1/2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19835-0EFC-4A60-A47F-26251A76C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841" y="1116624"/>
            <a:ext cx="11440160" cy="53756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A. Knowledge tracing and mastery estimation</a:t>
            </a:r>
          </a:p>
          <a:p>
            <a:r>
              <a:rPr lang="en-US" sz="2200" b="1" dirty="0"/>
              <a:t>Bayesian Knowledge Tracing (BKT)</a:t>
            </a:r>
            <a:r>
              <a:rPr lang="en-US" sz="2200" dirty="0"/>
              <a:t> and </a:t>
            </a:r>
            <a:r>
              <a:rPr lang="en-US" sz="2200" b="1" dirty="0"/>
              <a:t>Deep Knowledge Tracing (DKT)</a:t>
            </a:r>
            <a:r>
              <a:rPr lang="en-US" sz="2200" dirty="0"/>
              <a:t> </a:t>
            </a:r>
            <a:r>
              <a:rPr lang="en-US" sz="2200" dirty="0">
                <a:solidFill>
                  <a:schemeClr val="accent5">
                    <a:lumMod val="50000"/>
                  </a:schemeClr>
                </a:solidFill>
              </a:rPr>
              <a:t>- for building temporal models of student learning</a:t>
            </a:r>
            <a:r>
              <a:rPr lang="en-US" sz="2200" dirty="0"/>
              <a:t>: estimate a learner’s mastery of skills over time.</a:t>
            </a:r>
          </a:p>
          <a:p>
            <a:r>
              <a:rPr lang="en-US" sz="2200" b="1" dirty="0"/>
              <a:t>Outcome-aware models</a:t>
            </a:r>
            <a:r>
              <a:rPr lang="en-US" sz="2200" dirty="0"/>
              <a:t>: incorporate hints, scaffolds, and feedback effectiveness to refine mastery estimates.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B. Adaptive difficulty and content selection</a:t>
            </a:r>
          </a:p>
          <a:p>
            <a:r>
              <a:rPr lang="en-US" sz="2200" b="1" dirty="0"/>
              <a:t>Reinforcement Learning (RL)</a:t>
            </a:r>
            <a:r>
              <a:rPr lang="en-US" sz="2200" dirty="0"/>
              <a:t> for sequential decision making: “</a:t>
            </a:r>
            <a:r>
              <a:rPr lang="en-US" sz="2200" dirty="0">
                <a:solidFill>
                  <a:schemeClr val="accent5">
                    <a:lumMod val="50000"/>
                  </a:schemeClr>
                </a:solidFill>
              </a:rPr>
              <a:t>learns to make optimal decisions through trial and error by interacting with an environment”</a:t>
            </a:r>
            <a:r>
              <a:rPr lang="en-US" sz="2200" dirty="0"/>
              <a:t> and chooses next tasks, hints, or scenarios to maximize long-term learning gain.</a:t>
            </a:r>
          </a:p>
          <a:p>
            <a:r>
              <a:rPr lang="en-US" sz="2200" b="1" dirty="0"/>
              <a:t>Multi-Armed Bandits (MAB)</a:t>
            </a:r>
            <a:r>
              <a:rPr lang="en-US" sz="2200" dirty="0"/>
              <a:t>: </a:t>
            </a:r>
            <a:r>
              <a:rPr lang="en-US" sz="2200" dirty="0">
                <a:solidFill>
                  <a:schemeClr val="accent5">
                    <a:lumMod val="50000"/>
                  </a:schemeClr>
                </a:solidFill>
              </a:rPr>
              <a:t>“a framework for decision-making under uncertainty, based on the challenge of playing multiple slot machines to maximize cumulative reward over time”</a:t>
            </a:r>
            <a:r>
              <a:rPr lang="en-US" sz="2200" dirty="0"/>
              <a:t> - selects among a small set of task variants or instructional strategies with efficient exploration-exploitation.</a:t>
            </a:r>
          </a:p>
          <a:p>
            <a:r>
              <a:rPr lang="en-US" sz="2200" b="1" dirty="0"/>
              <a:t>Item Response Theory (IRT) </a:t>
            </a:r>
            <a:r>
              <a:rPr lang="en-US" sz="2200" dirty="0">
                <a:solidFill>
                  <a:schemeClr val="accent5">
                    <a:lumMod val="50000"/>
                  </a:schemeClr>
                </a:solidFill>
              </a:rPr>
              <a:t>- latent response theory</a:t>
            </a:r>
            <a:r>
              <a:rPr lang="en-US" sz="2200" dirty="0"/>
              <a:t>: tailors item difficulty to the learner’s estimated 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A8EA9-E973-434D-8DEC-269831234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7A01F-02CA-4AD6-B596-E0FBC52E8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4CE57-5A50-4568-8171-B2DD16DF4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724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F3FE-C057-474E-814A-F74FF93B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136523"/>
            <a:ext cx="9388231" cy="1046325"/>
          </a:xfrm>
        </p:spPr>
        <p:txBody>
          <a:bodyPr>
            <a:normAutofit/>
          </a:bodyPr>
          <a:lstStyle/>
          <a:p>
            <a:r>
              <a:rPr lang="en-US" dirty="0"/>
              <a:t>AI for Smart A&amp;P: Modeling Approaches 2/2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19835-0EFC-4A60-A47F-26251A76C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624"/>
            <a:ext cx="10642600" cy="550398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C. Personalization of content, context, and narrative</a:t>
            </a:r>
          </a:p>
          <a:p>
            <a:r>
              <a:rPr lang="en-US" b="1" dirty="0"/>
              <a:t>Dynamic content generation</a:t>
            </a:r>
            <a:r>
              <a:rPr lang="en-US" dirty="0"/>
              <a:t>: procedurally generate scenarios, characters, or worker contexts aligned with learner interests or domain goals.</a:t>
            </a:r>
          </a:p>
          <a:p>
            <a:r>
              <a:rPr lang="en-US" b="1" dirty="0"/>
              <a:t>Narrative adaptation</a:t>
            </a:r>
            <a:r>
              <a:rPr lang="en-US" dirty="0"/>
              <a:t>: adjust storylines, goals, and ethical dilemmas to resonate with learner values and motivation.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b="1" dirty="0">
                <a:solidFill>
                  <a:srgbClr val="C00000"/>
                </a:solidFill>
              </a:rPr>
              <a:t>D. Intelligent feedback and scaffolding</a:t>
            </a:r>
          </a:p>
          <a:p>
            <a:r>
              <a:rPr lang="en-US" b="1" dirty="0"/>
              <a:t>Natural Language Processing (NLP)</a:t>
            </a:r>
            <a:r>
              <a:rPr lang="en-US" dirty="0"/>
              <a:t> for conversational tutors and hints.</a:t>
            </a:r>
          </a:p>
          <a:p>
            <a:r>
              <a:rPr lang="en-US" b="1" dirty="0"/>
              <a:t>Rule-based + ML hybrid systems</a:t>
            </a:r>
            <a:r>
              <a:rPr lang="en-US" dirty="0"/>
              <a:t> to deliver contextually relevant, timely feedback and remediation.</a:t>
            </a:r>
          </a:p>
          <a:p>
            <a:r>
              <a:rPr lang="en-US" b="1" dirty="0"/>
              <a:t>Emotion-aware agents</a:t>
            </a:r>
            <a:r>
              <a:rPr lang="en-US" dirty="0"/>
              <a:t>: adapt feedback style based on inferred affective state.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b="1" dirty="0">
                <a:solidFill>
                  <a:srgbClr val="C00000"/>
                </a:solidFill>
              </a:rPr>
              <a:t>E. Skill and competency modeling</a:t>
            </a:r>
          </a:p>
          <a:p>
            <a:r>
              <a:rPr lang="en-US" b="1" dirty="0"/>
              <a:t>Ontology- and graph-based models</a:t>
            </a:r>
            <a:r>
              <a:rPr lang="en-US" dirty="0"/>
              <a:t>: map skills, sub-skills, and dependencies; reason about prerequisites and remediation paths.</a:t>
            </a:r>
          </a:p>
          <a:p>
            <a:r>
              <a:rPr lang="en-US" b="1" dirty="0"/>
              <a:t>Few-shot and personalized calibration</a:t>
            </a:r>
            <a:r>
              <a:rPr lang="en-US" dirty="0"/>
              <a:t>: quickly adapt to rare but critical misconceptions.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A8EA9-E973-434D-8DEC-269831234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7A01F-02CA-4AD6-B596-E0FBC52E8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18D35-B3B4-4350-A7D7-929B4A342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17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F3FE-C057-474E-814A-F74FF93BF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 for Smart A&amp;P: System Architecture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19835-0EFC-4A60-A47F-26251A76C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296"/>
            <a:ext cx="10083799" cy="4728843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b="1" dirty="0"/>
              <a:t>Learner model</a:t>
            </a:r>
            <a:r>
              <a:rPr lang="en-US" dirty="0"/>
              <a:t>: stores mastery estimates, preferences, goals, and accessibility settings.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b="1" dirty="0"/>
              <a:t>Domain model</a:t>
            </a:r>
            <a:r>
              <a:rPr lang="en-US" dirty="0"/>
              <a:t>: encodes skills, progressions, and content taxonomy.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b="1" dirty="0"/>
              <a:t>Adaptation engine</a:t>
            </a:r>
            <a:r>
              <a:rPr lang="en-US" dirty="0"/>
              <a:t>: selects tasks, hints, and narrative, using AI models.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b="1" dirty="0"/>
              <a:t>Content generator</a:t>
            </a:r>
            <a:r>
              <a:rPr lang="en-US" dirty="0"/>
              <a:t>: creates or curates tasks, scenarios, and feedback in real time.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b="1" dirty="0"/>
              <a:t>Feedback and assessment module</a:t>
            </a:r>
            <a:r>
              <a:rPr lang="en-US" dirty="0"/>
              <a:t>: records outcomes, updates models, and triggers reflections.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b="1" dirty="0"/>
              <a:t>Privacy and ethics layer</a:t>
            </a:r>
            <a:r>
              <a:rPr lang="en-US" dirty="0"/>
              <a:t>: manages consent, data minimization, and transparency.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A8EA9-E973-434D-8DEC-269831234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7A01F-02CA-4AD6-B596-E0FBC52E8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5A335-BEE6-4050-8D22-F2FC4AE5E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8262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F3FE-C057-474E-814A-F74FF93BF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 for Smart A&amp;P: Dimensions 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19835-0EFC-4A60-A47F-26251A76C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51294"/>
            <a:ext cx="10522526" cy="514254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 Pace and difficulty</a:t>
            </a:r>
            <a:r>
              <a:rPr lang="en-US" sz="2400" dirty="0"/>
              <a:t>: adjust task complexity, time constraints, and rate of progression.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 Content alignment</a:t>
            </a:r>
            <a:r>
              <a:rPr lang="en-US" sz="2400" dirty="0"/>
              <a:t>: tailor problems to learner interests, cultural background, and real-world relevance.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 Scaffolding strategies</a:t>
            </a:r>
            <a:r>
              <a:rPr lang="en-US" sz="2400" dirty="0"/>
              <a:t>: provide just-in-time hints, scaffolds, or gradual fading based on need.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 Feedback modality</a:t>
            </a:r>
            <a:r>
              <a:rPr lang="en-US" sz="2400" dirty="0"/>
              <a:t>: switch between visual cues, textual explanations, or verbal/narrative feedback.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 Assessment strategy</a:t>
            </a:r>
            <a:r>
              <a:rPr lang="en-US" sz="2400" dirty="0"/>
              <a:t>: choose between formative micro-assessments or broader summative checks.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 Accessibility and inclusivity</a:t>
            </a:r>
            <a:r>
              <a:rPr lang="en-US" sz="2400" dirty="0"/>
              <a:t>: adapt language level, readability, color schemes, and alternative input methods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bg-BG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A8EA9-E973-434D-8DEC-269831234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7A01F-02CA-4AD6-B596-E0FBC52E8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52048-DD34-48CF-BD7F-FA6F0E386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792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F3FE-C057-474E-814A-F74FF93BF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 for Smart A&amp;P: Expected Benefits 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19835-0EFC-4A60-A47F-26251A76C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273" y="1301263"/>
            <a:ext cx="10529454" cy="5055089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b="1" dirty="0"/>
              <a:t>Improved learning efficiency</a:t>
            </a:r>
            <a:r>
              <a:rPr lang="en-US" sz="2400" dirty="0"/>
              <a:t>: faster mastery by focusing on actual gaps. 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For example, in a science simulator, an AI-driven physics game senses misconception patterns (e.g., misunderstanding of acceleration), adapts to problems, provides targeted hints, and dynamically adjusts lab scenarios.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b="1" dirty="0"/>
              <a:t>Higher engagement and motivation</a:t>
            </a:r>
            <a:r>
              <a:rPr lang="en-US" sz="2400" dirty="0"/>
              <a:t>: relevant contexts and adaptive challenges sustain interest.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b="1" dirty="0"/>
              <a:t>Better transfer and retention</a:t>
            </a:r>
            <a:r>
              <a:rPr lang="en-US" sz="2400" dirty="0"/>
              <a:t>: spaced, scaffolded practice aligned with domain requirements.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b="1" dirty="0"/>
              <a:t>Equitable learning experiences</a:t>
            </a:r>
            <a:r>
              <a:rPr lang="en-US" sz="2400" dirty="0"/>
              <a:t>: accessibility adaptations and culturally responsive content.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A8EA9-E973-434D-8DEC-269831234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7A01F-02CA-4AD6-B596-E0FBC52E8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F616F-A5AF-44E8-A75B-1EC6A5F2B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018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57F39-A439-4C80-8182-9DA0B799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998806"/>
            <a:ext cx="8963204" cy="817088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Conclusions:</a:t>
            </a:r>
            <a:br>
              <a:rPr lang="en-US" dirty="0"/>
            </a:br>
            <a:r>
              <a:rPr lang="en-US" dirty="0"/>
              <a:t>Personalization vs Adaptation – </a:t>
            </a:r>
            <a:br>
              <a:rPr lang="en-US" dirty="0"/>
            </a:br>
            <a:r>
              <a:rPr lang="en-US" i="1" dirty="0"/>
              <a:t>Overlaps and Synergies</a:t>
            </a:r>
            <a:endParaRPr lang="bg-BG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D9161-A7DD-48B7-B9B2-FB59D2159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2734409"/>
            <a:ext cx="10347960" cy="5252524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v"/>
            </a:pPr>
            <a:r>
              <a:rPr lang="en-US" sz="2400" dirty="0"/>
              <a:t> Personalization can be a precursor to adaptation (learner sets the frame, then the system adapts within that frame).</a:t>
            </a: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v"/>
            </a:pPr>
            <a:r>
              <a:rPr lang="en-US" sz="2400" dirty="0"/>
              <a:t> Adaptive systems can support personalized experiences by aligning with stated goals and preferences.</a:t>
            </a: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v"/>
            </a:pPr>
            <a:r>
              <a:rPr lang="en-US" sz="2400" dirty="0"/>
              <a:t> Both approaches should be underpinned by sound pedagogy, ethical data practices, and clear articulation of how changes affect learning.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C2C41-774B-43DB-9A3E-A0A8CA8E0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F6110-E193-4553-BA5A-E9B783132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586D4-E32A-4590-89A5-46DE08D5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24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57F39-A439-4C80-8182-9DA0B799B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Conclusions: </a:t>
            </a:r>
            <a:br>
              <a:rPr lang="en-US" dirty="0"/>
            </a:br>
            <a:r>
              <a:rPr lang="en-US" dirty="0"/>
              <a:t>Personalization vs Adaptation – </a:t>
            </a:r>
            <a:br>
              <a:rPr lang="en-US" dirty="0"/>
            </a:br>
            <a:r>
              <a:rPr lang="en-US" i="1" dirty="0"/>
              <a:t>Guidance for Designers</a:t>
            </a:r>
            <a:endParaRPr lang="bg-BG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D9161-A7DD-48B7-B9B2-FB59D2159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532"/>
            <a:ext cx="10825480" cy="5040945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400" dirty="0"/>
              <a:t>Clarify your primary objective:</a:t>
            </a:r>
          </a:p>
          <a:p>
            <a:pPr lvl="1">
              <a:spcBef>
                <a:spcPts val="1800"/>
              </a:spcBef>
            </a:pPr>
            <a:r>
              <a:rPr lang="en-US" dirty="0">
                <a:solidFill>
                  <a:srgbClr val="C00000"/>
                </a:solidFill>
              </a:rPr>
              <a:t>Personalization – if the goal is to maximize learner ownership and motivation.</a:t>
            </a:r>
          </a:p>
          <a:p>
            <a:pPr lvl="1">
              <a:spcBef>
                <a:spcPts val="1800"/>
              </a:spcBef>
            </a:pPr>
            <a:r>
              <a:rPr lang="en-US" dirty="0">
                <a:solidFill>
                  <a:srgbClr val="C00000"/>
                </a:solidFill>
              </a:rPr>
              <a:t>Adaptation – if the goal is to optimize learning outcomes and mastery.</a:t>
            </a: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400" dirty="0"/>
              <a:t>Hybrid approaches – e.g., with default adaptive pathways while allowing learners to customize aspects of their gaming.</a:t>
            </a: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400" dirty="0"/>
              <a:t>Ensure transparency – communicate when and why the game is adapting or offering choices.</a:t>
            </a: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400" dirty="0"/>
              <a:t>Safeguard fairness – avoid biased adaptations that favor some learners over others and might create inequalities in access, outcomes, or engagement</a:t>
            </a:r>
          </a:p>
          <a:p>
            <a:pPr>
              <a:spcBef>
                <a:spcPts val="1800"/>
              </a:spcBef>
            </a:pPr>
            <a:endParaRPr lang="bg-BG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C2C41-774B-43DB-9A3E-A0A8CA8E0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FedCSIS'25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F6110-E193-4553-BA5A-E9B783132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 Serious Game for Teaching Entrepreneurship and Strategic 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79A29-2015-4532-9216-6CE0FE61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5211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Games create illusions but are reality</a:t>
            </a:r>
            <a:endParaRPr lang="bg-BG" dirty="0"/>
          </a:p>
        </p:txBody>
      </p:sp>
      <p:sp>
        <p:nvSpPr>
          <p:cNvPr id="6" name="Контейнер за дата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bg-BG"/>
              <a:t>FedCSIS'25</a:t>
            </a:r>
            <a:endParaRPr lang="bg-BG" dirty="0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 Serious Game for Teaching Entrepreneurship and Strategic Management</a:t>
            </a:r>
            <a:endParaRPr lang="bg-BG" dirty="0"/>
          </a:p>
        </p:txBody>
      </p:sp>
      <p:pic>
        <p:nvPicPr>
          <p:cNvPr id="3074" name="Picture 2" descr="http://jilo.bg/sites/default/files/styles/original/public/images/2016/05/27/optical_illusions_5.jpg?itok=pcAiEo4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219201"/>
            <a:ext cx="5181600" cy="518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0AFD9B-E959-45BC-A256-1E78226D0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500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your attention!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27711"/>
            <a:ext cx="7924800" cy="5196889"/>
          </a:xfrm>
        </p:spPr>
        <p:txBody>
          <a:bodyPr>
            <a:normAutofit fontScale="62500" lnSpcReduction="20000"/>
          </a:bodyPr>
          <a:lstStyle/>
          <a:p>
            <a:endParaRPr lang="en-US" sz="3800" dirty="0"/>
          </a:p>
          <a:p>
            <a:r>
              <a:rPr lang="en-US" sz="3800" dirty="0"/>
              <a:t>Questions </a:t>
            </a:r>
            <a:r>
              <a:rPr lang="en-US" sz="3800" dirty="0">
                <a:solidFill>
                  <a:srgbClr val="FF0000"/>
                </a:solidFill>
              </a:rPr>
              <a:t>?</a:t>
            </a:r>
          </a:p>
          <a:p>
            <a:r>
              <a:rPr lang="en-US" sz="3800" dirty="0"/>
              <a:t>Proposals </a:t>
            </a:r>
            <a:r>
              <a:rPr lang="en-US" sz="3800" dirty="0">
                <a:solidFill>
                  <a:srgbClr val="FF0000"/>
                </a:solidFill>
              </a:rPr>
              <a:t>!</a:t>
            </a:r>
          </a:p>
          <a:p>
            <a:r>
              <a:rPr lang="en-US" sz="3800" dirty="0"/>
              <a:t>Remarks </a:t>
            </a:r>
            <a:r>
              <a:rPr lang="en-US" sz="3800" dirty="0">
                <a:solidFill>
                  <a:srgbClr val="FF0000"/>
                </a:solidFill>
              </a:rPr>
              <a:t>…</a:t>
            </a:r>
          </a:p>
          <a:p>
            <a:r>
              <a:rPr lang="en-US" sz="3800" dirty="0"/>
              <a:t>Disappointments </a:t>
            </a:r>
            <a:r>
              <a:rPr lang="en-US" sz="3800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r>
              <a:rPr lang="en-US" sz="3800" dirty="0"/>
              <a:t> </a:t>
            </a:r>
          </a:p>
          <a:p>
            <a:r>
              <a:rPr lang="en-US" sz="3800" dirty="0"/>
              <a:t>Doubts </a:t>
            </a:r>
            <a:r>
              <a:rPr lang="en-US" sz="3800" dirty="0">
                <a:solidFill>
                  <a:srgbClr val="FF0000"/>
                </a:solidFill>
                <a:sym typeface="Wingdings" panose="05000000000000000000" pitchFamily="2" charset="2"/>
              </a:rPr>
              <a:t></a:t>
            </a:r>
            <a:endParaRPr lang="en-US" sz="3800" dirty="0">
              <a:solidFill>
                <a:srgbClr val="FF0000"/>
              </a:solidFill>
            </a:endParaRPr>
          </a:p>
          <a:p>
            <a:r>
              <a:rPr lang="en-US" sz="3800" dirty="0"/>
              <a:t>Congrats </a:t>
            </a:r>
            <a:r>
              <a:rPr lang="en-US" sz="3800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</a:p>
          <a:p>
            <a:r>
              <a:rPr lang="en-US" sz="3800" dirty="0">
                <a:sym typeface="Wingdings" panose="05000000000000000000" pitchFamily="2" charset="2"/>
              </a:rPr>
              <a:t>Donations </a:t>
            </a:r>
            <a:r>
              <a:rPr lang="en-US" sz="3800" dirty="0">
                <a:solidFill>
                  <a:srgbClr val="FF0000"/>
                </a:solidFill>
              </a:rPr>
              <a:t>€</a:t>
            </a:r>
            <a:endParaRPr lang="en-US" sz="38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en-US" sz="3800" dirty="0" err="1">
                <a:sym typeface="Wingdings" panose="05000000000000000000" pitchFamily="2" charset="2"/>
              </a:rPr>
              <a:t>Sth</a:t>
            </a:r>
            <a:r>
              <a:rPr lang="en-US" sz="3800" dirty="0">
                <a:sym typeface="Wingdings" panose="05000000000000000000" pitchFamily="2" charset="2"/>
              </a:rPr>
              <a:t> else </a:t>
            </a:r>
            <a:r>
              <a:rPr lang="en-US" sz="3800" dirty="0">
                <a:solidFill>
                  <a:srgbClr val="FF0000"/>
                </a:solidFill>
              </a:rPr>
              <a:t>®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3300" dirty="0"/>
              <a:t>Write to:</a:t>
            </a:r>
          </a:p>
          <a:p>
            <a:r>
              <a:rPr lang="en-US" sz="3300" dirty="0"/>
              <a:t>Boyan Bontchev, </a:t>
            </a:r>
            <a:r>
              <a:rPr lang="en-US" sz="3300" dirty="0">
                <a:hlinkClick r:id="rId2"/>
              </a:rPr>
              <a:t>bbontchev@fmi.uni-sofia.bg</a:t>
            </a:r>
            <a:endParaRPr lang="en-US" sz="3300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bg-BG" sz="1400"/>
              <a:t>FedCSIS'25</a:t>
            </a:r>
            <a:endParaRPr lang="bg-BG" sz="140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1"/>
          </p:nvPr>
        </p:nvSpPr>
        <p:spPr>
          <a:xfrm>
            <a:off x="4114800" y="6496050"/>
            <a:ext cx="3962400" cy="457200"/>
          </a:xfrm>
          <a:ln/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400"/>
              <a:t>A Serious Game for Teaching Entrepreneurship and Strategic Management</a:t>
            </a:r>
            <a:endParaRPr lang="bg-BG" sz="1400" dirty="0"/>
          </a:p>
        </p:txBody>
      </p:sp>
      <p:pic>
        <p:nvPicPr>
          <p:cNvPr id="15362" name="Picture 2" descr="Image result for question mar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220" y="1579563"/>
            <a:ext cx="5107037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7B0D6B-70B0-48DE-B907-FD3A74D54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HDOfficeLightV0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TM02900743[[fn=Органични]]</Template>
  <TotalTime>12667</TotalTime>
  <Words>4671</Words>
  <Application>Microsoft Office PowerPoint</Application>
  <PresentationFormat>Widescreen</PresentationFormat>
  <Paragraphs>556</Paragraphs>
  <Slides>46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Dotum</vt:lpstr>
      <vt:lpstr>Arial</vt:lpstr>
      <vt:lpstr>Calibri</vt:lpstr>
      <vt:lpstr>Calibri Light</vt:lpstr>
      <vt:lpstr>Times</vt:lpstr>
      <vt:lpstr>Times New Roman</vt:lpstr>
      <vt:lpstr>Wingdings</vt:lpstr>
      <vt:lpstr>Wingdings 2</vt:lpstr>
      <vt:lpstr>HDOfficeLightV0</vt:lpstr>
      <vt:lpstr>Picture</vt:lpstr>
      <vt:lpstr>     A Serious Game for Teaching Entrepreneurship and Strategic Management</vt:lpstr>
      <vt:lpstr>Agenda</vt:lpstr>
      <vt:lpstr>Serious Games (SGs)</vt:lpstr>
      <vt:lpstr>A Taxonomy of Serious Games </vt:lpstr>
      <vt:lpstr>Serious Problems with the Serious Games</vt:lpstr>
      <vt:lpstr>Goals of Personalization &amp; Adaptation of SG 1/3</vt:lpstr>
      <vt:lpstr>Goals of Personalization &amp; Adaptation of SG 2/3</vt:lpstr>
      <vt:lpstr>Goals of Personalization &amp; Adaptation of SG 3/3</vt:lpstr>
      <vt:lpstr>Personalization in Video Games for Education</vt:lpstr>
      <vt:lpstr>The                         Personalization Model</vt:lpstr>
      <vt:lpstr>Core Aspects of Personalization</vt:lpstr>
      <vt:lpstr>Adaptation in Video Games for Education</vt:lpstr>
      <vt:lpstr>Player-Centric Adaptation in SG</vt:lpstr>
      <vt:lpstr>The                             Adaptation Model</vt:lpstr>
      <vt:lpstr>Learning / Playing Style</vt:lpstr>
      <vt:lpstr>Style Models</vt:lpstr>
      <vt:lpstr>Player Style Measurement</vt:lpstr>
      <vt:lpstr>Adaptable Game Features 1/3</vt:lpstr>
      <vt:lpstr>Adaptable Game Features 2/3</vt:lpstr>
      <vt:lpstr>Adaptable Game Features 3/3</vt:lpstr>
      <vt:lpstr>Case study 1 – “Rush for Gold” game</vt:lpstr>
      <vt:lpstr>Rush for Gold</vt:lpstr>
      <vt:lpstr>Player Style Measurement</vt:lpstr>
      <vt:lpstr>Case Study 2 –STRAMAG Game </vt:lpstr>
      <vt:lpstr>Results about Playing Styles</vt:lpstr>
      <vt:lpstr>Case Study Set-Up</vt:lpstr>
      <vt:lpstr>The maze structure of STRAMAG (STRAtegic MAnagement Game) </vt:lpstr>
      <vt:lpstr>Content Distribution Across Maze Game Rooms</vt:lpstr>
      <vt:lpstr>PowerPoint Presentation</vt:lpstr>
      <vt:lpstr>PowerPoint Presentation</vt:lpstr>
      <vt:lpstr>Game Experience Questionnaire (GEQ) – Mean Values for 3D Maze, Quiz, and Zoom Games </vt:lpstr>
      <vt:lpstr>GEQ Responses for 3D Maze, Quiz, and Zoom Games</vt:lpstr>
      <vt:lpstr>Lessons Learned</vt:lpstr>
      <vt:lpstr>Personalization vs Adaptation –  Who Drives the Decisions and How?</vt:lpstr>
      <vt:lpstr>Personalization vs Adaptation –  Goals, Outcomes, Design, and Evaluation</vt:lpstr>
      <vt:lpstr>Personalization vs Adaptation –  Data and Signals Used</vt:lpstr>
      <vt:lpstr>AI for Smart A&amp;P: Data Sources and Signals </vt:lpstr>
      <vt:lpstr>AI for Smart A&amp;P: Modeling Approaches 1/2</vt:lpstr>
      <vt:lpstr>AI for Smart A&amp;P: Modeling Approaches 2/2</vt:lpstr>
      <vt:lpstr>AI for Smart A&amp;P: System Architecture</vt:lpstr>
      <vt:lpstr>AI for Smart A&amp;P: Dimensions </vt:lpstr>
      <vt:lpstr>AI for Smart A&amp;P: Expected Benefits </vt:lpstr>
      <vt:lpstr>Conclusions: Personalization vs Adaptation –  Overlaps and Synergies</vt:lpstr>
      <vt:lpstr>Conclusions:  Personalization vs Adaptation –  Guidance for Designers</vt:lpstr>
      <vt:lpstr>Games create illusions but are reality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Serious Games   for and as    Cultural Heritage</dc:title>
  <dc:creator>User</dc:creator>
  <cp:lastModifiedBy>Boyan</cp:lastModifiedBy>
  <cp:revision>245</cp:revision>
  <dcterms:created xsi:type="dcterms:W3CDTF">2006-08-16T00:00:00Z</dcterms:created>
  <dcterms:modified xsi:type="dcterms:W3CDTF">2025-09-08T14:13:00Z</dcterms:modified>
</cp:coreProperties>
</file>